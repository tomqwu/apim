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6a663c09174470a" /><Relationship Type="http://schemas.openxmlformats.org/officeDocument/2006/relationships/extended-properties" Target="/docProps/app.xml" Id="R17f50023531f4300" /><Relationship Type="http://schemas.openxmlformats.org/officeDocument/2006/relationships/officeDocument" Target="/ppt/presentation.xml" Id="R9a115a3c454047fe" /></Relationships>
</file>

<file path=ppt/presentation.xml><?xml version="1.0" encoding="utf-8"?>
<p:presentation xmlns:p="http://schemas.openxmlformats.org/presentationml/2006/main">
  <p:sldMasterIdLst>
    <p:sldMasterId xmlns:r="http://schemas.openxmlformats.org/officeDocument/2006/relationships" id="2147483648" r:id="R975861b5c8804d56"/>
  </p:sldMasterIdLst>
  <p:notesMasterIdLst>
    <p:notesMasterId xmlns:r="http://schemas.openxmlformats.org/officeDocument/2006/relationships" r:id="R922eed57b6a641ad"/>
  </p:notesMasterIdLst>
  <p:sldIdLst>
    <p:sldId xmlns:r="http://schemas.openxmlformats.org/officeDocument/2006/relationships" id="256" r:id="R9e70a360828e44f9"/>
    <p:sldId xmlns:r="http://schemas.openxmlformats.org/officeDocument/2006/relationships" id="257" r:id="R083f11c5772744ec"/>
    <p:sldId xmlns:r="http://schemas.openxmlformats.org/officeDocument/2006/relationships" id="258" r:id="Rbe22d6f50c4d4d42"/>
    <p:sldId xmlns:r="http://schemas.openxmlformats.org/officeDocument/2006/relationships" id="259" r:id="R3519d4f3ff3544b8"/>
    <p:sldId xmlns:r="http://schemas.openxmlformats.org/officeDocument/2006/relationships" id="260" r:id="R9eb020fddcc444f0"/>
    <p:sldId xmlns:r="http://schemas.openxmlformats.org/officeDocument/2006/relationships" id="261" r:id="R94485daa3e0e4c8f"/>
    <p:sldId xmlns:r="http://schemas.openxmlformats.org/officeDocument/2006/relationships" id="262" r:id="Rb6751758b970431b"/>
    <p:sldId xmlns:r="http://schemas.openxmlformats.org/officeDocument/2006/relationships" id="263" r:id="R92935a1cd7a14976"/>
    <p:sldId xmlns:r="http://schemas.openxmlformats.org/officeDocument/2006/relationships" id="264" r:id="R3dadd38e036245ec"/>
    <p:sldId xmlns:r="http://schemas.openxmlformats.org/officeDocument/2006/relationships" id="265" r:id="R3205d701fde4405f"/>
    <p:sldId xmlns:r="http://schemas.openxmlformats.org/officeDocument/2006/relationships" id="266" r:id="R39985952344b4606"/>
    <p:sldId xmlns:r="http://schemas.openxmlformats.org/officeDocument/2006/relationships" id="267" r:id="Rf448f58b70694253"/>
    <p:sldId xmlns:r="http://schemas.openxmlformats.org/officeDocument/2006/relationships" id="268" r:id="R090135c77e294254"/>
    <p:sldId xmlns:r="http://schemas.openxmlformats.org/officeDocument/2006/relationships" id="269" r:id="R6622dfbad56c4f0c"/>
    <p:sldId xmlns:r="http://schemas.openxmlformats.org/officeDocument/2006/relationships" id="270" r:id="R0b2befc46e6d4c88"/>
    <p:sldId xmlns:r="http://schemas.openxmlformats.org/officeDocument/2006/relationships" id="271" r:id="Rb206314e6fd541a8"/>
    <p:sldId xmlns:r="http://schemas.openxmlformats.org/officeDocument/2006/relationships" id="272" r:id="Rda0673765add44a5"/>
    <p:sldId xmlns:r="http://schemas.openxmlformats.org/officeDocument/2006/relationships" id="273" r:id="R85b5241bdda74030"/>
    <p:sldId xmlns:r="http://schemas.openxmlformats.org/officeDocument/2006/relationships" id="274" r:id="Rbfbb077bfdbf44ea"/>
    <p:sldId xmlns:r="http://schemas.openxmlformats.org/officeDocument/2006/relationships" id="275" r:id="Rfe6e5236d69b4b5a"/>
    <p:sldId xmlns:r="http://schemas.openxmlformats.org/officeDocument/2006/relationships" id="276" r:id="R2926369e4c2343b8"/>
    <p:sldId xmlns:r="http://schemas.openxmlformats.org/officeDocument/2006/relationships" id="277" r:id="R625759e43a16404a"/>
    <p:sldId xmlns:r="http://schemas.openxmlformats.org/officeDocument/2006/relationships" id="278" r:id="R1b919f9b039d4020"/>
    <p:sldId xmlns:r="http://schemas.openxmlformats.org/officeDocument/2006/relationships" id="279" r:id="R87edbf3ab0884e57"/>
    <p:sldId xmlns:r="http://schemas.openxmlformats.org/officeDocument/2006/relationships" id="280" r:id="R3ce78a58660746e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76e51cd7ceb4610" /><Relationship Type="http://schemas.openxmlformats.org/officeDocument/2006/relationships/slideMaster" Target="/ppt/slideMasters/slideMaster1.xml" Id="R975861b5c8804d56" /><Relationship Type="http://schemas.openxmlformats.org/officeDocument/2006/relationships/notesMaster" Target="/ppt/notesMasters/notesMaster1.xml" Id="R922eed57b6a641ad" /><Relationship Type="http://schemas.openxmlformats.org/officeDocument/2006/relationships/presProps" Target="/ppt/presProps.xml" Id="R610daa3053414ca1" /><Relationship Type="http://schemas.openxmlformats.org/officeDocument/2006/relationships/tableStyles" Target="/ppt/tableStyles.xml" Id="R121b5eaaed2145c1" /><Relationship Type="http://schemas.openxmlformats.org/officeDocument/2006/relationships/slide" Target="/ppt/slides/slide1.xml" Id="R9e70a360828e44f9" /><Relationship Type="http://schemas.openxmlformats.org/officeDocument/2006/relationships/slide" Target="/ppt/slides/slide2.xml" Id="R083f11c5772744ec" /><Relationship Type="http://schemas.openxmlformats.org/officeDocument/2006/relationships/slide" Target="/ppt/slides/slide3.xml" Id="Rbe22d6f50c4d4d42" /><Relationship Type="http://schemas.openxmlformats.org/officeDocument/2006/relationships/slide" Target="/ppt/slides/slide4.xml" Id="R3519d4f3ff3544b8" /><Relationship Type="http://schemas.openxmlformats.org/officeDocument/2006/relationships/slide" Target="/ppt/slides/slide5.xml" Id="R9eb020fddcc444f0" /><Relationship Type="http://schemas.openxmlformats.org/officeDocument/2006/relationships/slide" Target="/ppt/slides/slide6.xml" Id="R94485daa3e0e4c8f" /><Relationship Type="http://schemas.openxmlformats.org/officeDocument/2006/relationships/slide" Target="/ppt/slides/slide7.xml" Id="Rb6751758b970431b" /><Relationship Type="http://schemas.openxmlformats.org/officeDocument/2006/relationships/slide" Target="/ppt/slides/slide8.xml" Id="R92935a1cd7a14976" /><Relationship Type="http://schemas.openxmlformats.org/officeDocument/2006/relationships/slide" Target="/ppt/slides/slide9.xml" Id="R3dadd38e036245ec" /><Relationship Type="http://schemas.openxmlformats.org/officeDocument/2006/relationships/slide" Target="/ppt/slides/slide10.xml" Id="R3205d701fde4405f" /><Relationship Type="http://schemas.openxmlformats.org/officeDocument/2006/relationships/slide" Target="/ppt/slides/slide11.xml" Id="R39985952344b4606" /><Relationship Type="http://schemas.openxmlformats.org/officeDocument/2006/relationships/slide" Target="/ppt/slides/slide12.xml" Id="Rf448f58b70694253" /><Relationship Type="http://schemas.openxmlformats.org/officeDocument/2006/relationships/slide" Target="/ppt/slides/slide13.xml" Id="R090135c77e294254" /><Relationship Type="http://schemas.openxmlformats.org/officeDocument/2006/relationships/slide" Target="/ppt/slides/slide14.xml" Id="R6622dfbad56c4f0c" /><Relationship Type="http://schemas.openxmlformats.org/officeDocument/2006/relationships/slide" Target="/ppt/slides/slide15.xml" Id="R0b2befc46e6d4c88" /><Relationship Type="http://schemas.openxmlformats.org/officeDocument/2006/relationships/slide" Target="/ppt/slides/slide16.xml" Id="Rb206314e6fd541a8" /><Relationship Type="http://schemas.openxmlformats.org/officeDocument/2006/relationships/slide" Target="/ppt/slides/slide17.xml" Id="Rda0673765add44a5" /><Relationship Type="http://schemas.openxmlformats.org/officeDocument/2006/relationships/slide" Target="/ppt/slides/slide18.xml" Id="R85b5241bdda74030" /><Relationship Type="http://schemas.openxmlformats.org/officeDocument/2006/relationships/slide" Target="/ppt/slides/slide19.xml" Id="Rbfbb077bfdbf44ea" /><Relationship Type="http://schemas.openxmlformats.org/officeDocument/2006/relationships/slide" Target="/ppt/slides/slide20.xml" Id="Rfe6e5236d69b4b5a" /><Relationship Type="http://schemas.openxmlformats.org/officeDocument/2006/relationships/slide" Target="/ppt/slides/slide21.xml" Id="R2926369e4c2343b8" /><Relationship Type="http://schemas.openxmlformats.org/officeDocument/2006/relationships/slide" Target="/ppt/slides/slide22.xml" Id="R625759e43a16404a" /><Relationship Type="http://schemas.openxmlformats.org/officeDocument/2006/relationships/slide" Target="/ppt/slides/slide23.xml" Id="R1b919f9b039d4020" /><Relationship Type="http://schemas.openxmlformats.org/officeDocument/2006/relationships/slide" Target="/ppt/slides/slide24.xml" Id="R87edbf3ab0884e57" /><Relationship Type="http://schemas.openxmlformats.org/officeDocument/2006/relationships/slide" Target="/ppt/slides/slide25.xml" Id="R3ce78a58660746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52d6504bb75451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3e05c0cf7754b60" /><Relationship Type="http://schemas.openxmlformats.org/officeDocument/2006/relationships/notesMaster" Target="/ppt/notesMasters/notesMaster1.xml" Id="R47eee0c5a3284901" /></Relationships>
</file>

<file path=ppt/notesSlides/_rels/notesSlide2.xml.rels>&#65279;<?xml version="1.0" encoding="utf-8"?><Relationships xmlns="http://schemas.openxmlformats.org/package/2006/relationships"><Relationship Type="http://schemas.openxmlformats.org/officeDocument/2006/relationships/slide" Target="/ppt/slides/slide2.xml" Id="Rd5be0c98c9d34eed" /><Relationship Type="http://schemas.openxmlformats.org/officeDocument/2006/relationships/notesMaster" Target="/ppt/notesMasters/notesMaster1.xml" Id="R8d1f418901314cd9"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fd2f9bf4de4ad8" /><Relationship Type="http://schemas.openxmlformats.org/officeDocument/2006/relationships/notesMaster" Target="/ppt/notesMasters/notesMaster1.xml" Id="Rfa45903aa5294b47" /></Relationships>
</file>

<file path=ppt/notesSlides/_rels/notesSlide4.xml.rels>&#65279;<?xml version="1.0" encoding="utf-8"?><Relationships xmlns="http://schemas.openxmlformats.org/package/2006/relationships"><Relationship Type="http://schemas.openxmlformats.org/officeDocument/2006/relationships/slide" Target="/ppt/slides/slide4.xml" Id="R002a41faaf844ccd" /><Relationship Type="http://schemas.openxmlformats.org/officeDocument/2006/relationships/notesMaster" Target="/ppt/notesMasters/notesMaster1.xml" Id="R16faa5ef60e346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3838efb55f874f0c" /><Relationship Type="http://schemas.openxmlformats.org/officeDocument/2006/relationships/notesMaster" Target="/ppt/notesMasters/notesMaster1.xml" Id="R65c9eebabf164cbc"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b16a547adc4d14" /><Relationship Type="http://schemas.openxmlformats.org/officeDocument/2006/relationships/notesMaster" Target="/ppt/notesMasters/notesMaster1.xml" Id="Rf9e39856cc1a4a68" /></Relationships>
</file>

<file path=ppt/notesSlides/_rels/notesSlide7.xml.rels>&#65279;<?xml version="1.0" encoding="utf-8"?><Relationships xmlns="http://schemas.openxmlformats.org/package/2006/relationships"><Relationship Type="http://schemas.openxmlformats.org/officeDocument/2006/relationships/slide" Target="/ppt/slides/slide7.xml" Id="Rbf86c9b43c864908" /><Relationship Type="http://schemas.openxmlformats.org/officeDocument/2006/relationships/notesMaster" Target="/ppt/notesMasters/notesMaster1.xml" Id="Rb8b73fb135244a04" /></Relationships>
</file>

<file path=ppt/notesSlides/_rels/notesSlide8.xml.rels>&#65279;<?xml version="1.0" encoding="utf-8"?><Relationships xmlns="http://schemas.openxmlformats.org/package/2006/relationships"><Relationship Type="http://schemas.openxmlformats.org/officeDocument/2006/relationships/slide" Target="/ppt/slides/slide8.xml" Id="R0032685f77824ef8" /><Relationship Type="http://schemas.openxmlformats.org/officeDocument/2006/relationships/notesMaster" Target="/ppt/notesMasters/notesMaster1.xml" Id="R1393ea44f0ad47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5a39345e41964602" /><Relationship Type="http://schemas.openxmlformats.org/officeDocument/2006/relationships/notesMaster" Target="/ppt/notesMasters/notesMaster1.xml" Id="R4025a06063ac471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19b5a064bb14f05" /><Relationship Type="http://schemas.openxmlformats.org/officeDocument/2006/relationships/notesMaster" Target="/ppt/notesMasters/notesMaster1.xml" Id="Rf96446518ea1452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e45028a8d4e4ab4" /><Relationship Type="http://schemas.openxmlformats.org/officeDocument/2006/relationships/notesMaster" Target="/ppt/notesMasters/notesMaster1.xml" Id="Rdef75ff4ab1a49b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9930fc8d5234d17" /><Relationship Type="http://schemas.openxmlformats.org/officeDocument/2006/relationships/notesMaster" Target="/ppt/notesMasters/notesMaster1.xml" Id="R1cfbc73037ba4e2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f1763a126844aa1" /><Relationship Type="http://schemas.openxmlformats.org/officeDocument/2006/relationships/notesMaster" Target="/ppt/notesMasters/notesMaster1.xml" Id="R3789ec409be648c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4f581ea53e74622" /><Relationship Type="http://schemas.openxmlformats.org/officeDocument/2006/relationships/notesMaster" Target="/ppt/notesMasters/notesMaster1.xml" Id="R4e94ab0b195d4af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0769adb9efc43c7" /><Relationship Type="http://schemas.openxmlformats.org/officeDocument/2006/relationships/notesMaster" Target="/ppt/notesMasters/notesMaster1.xml" Id="R17d2d60b457749b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30bd907cb074210" /><Relationship Type="http://schemas.openxmlformats.org/officeDocument/2006/relationships/notesMaster" Target="/ppt/notesMasters/notesMaster1.xml" Id="Re079b17779e447b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f71a54e0cef49dc" /><Relationship Type="http://schemas.openxmlformats.org/officeDocument/2006/relationships/notesMaster" Target="/ppt/notesMasters/notesMaster1.xml" Id="R39a5fdb65670416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98300b3ebe44c39" /><Relationship Type="http://schemas.openxmlformats.org/officeDocument/2006/relationships/notesMaster" Target="/ppt/notesMasters/notesMaster1.xml" Id="Reae919c68bf4478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0b85f015d76446b" /><Relationship Type="http://schemas.openxmlformats.org/officeDocument/2006/relationships/notesMaster" Target="/ppt/notesMasters/notesMaster1.xml" Id="R02b71f5fdafc43e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566e08cae4d459a" /><Relationship Type="http://schemas.openxmlformats.org/officeDocument/2006/relationships/notesMaster" Target="/ppt/notesMasters/notesMaster1.xml" Id="R336ca9d80c6944c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5a64c3905964795" /><Relationship Type="http://schemas.openxmlformats.org/officeDocument/2006/relationships/notesMaster" Target="/ppt/notesMasters/notesMaster1.xml" Id="R3a42df2206d545f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20181ade0ab4758" /><Relationship Type="http://schemas.openxmlformats.org/officeDocument/2006/relationships/notesMaster" Target="/ppt/notesMasters/notesMaster1.xml" Id="Rbdfe0e61a2e141d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37da86620304516" /><Relationship Type="http://schemas.openxmlformats.org/officeDocument/2006/relationships/notesMaster" Target="/ppt/notesMasters/notesMaster1.xml" Id="R277a34f840e043d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a5553d8861349b5" /><Relationship Type="http://schemas.openxmlformats.org/officeDocument/2006/relationships/notesMaster" Target="/ppt/notesMasters/notesMaster1.xml" Id="R7e5824fd9dd74bb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6f65720053a426f" /><Relationship Type="http://schemas.openxmlformats.org/officeDocument/2006/relationships/notesMaster" Target="/ppt/notesMasters/notesMaster1.xml" Id="R09057e5ba93742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Set the scope: this is a guided decision and proof journey, not a product marketing deck.</a:t>
            </a:r>
          </a:p>
          <a:p xmlns:a="http://schemas.openxmlformats.org/drawingml/2006/main">
            <a:r>
              <a:t/>
            </a:r>
          </a:p>
          <a:p xmlns:a="http://schemas.openxmlformats.org/drawingml/2006/main">
            <a:r>
              <a:t>[Talk track]</a:t>
            </a:r>
          </a:p>
          <a:p xmlns:a="http://schemas.openxmlformats.org/drawingml/2006/main">
            <a:r>
              <a:t>We start from the stated target operating model, explain why Kong leads under that model, and then make the ownership, migration, evidence and exit gates explicit.</a:t>
            </a:r>
          </a:p>
          <a:p xmlns:a="http://schemas.openxmlformats.org/drawingml/2006/main">
            <a:r>
              <a:t/>
            </a:r>
          </a:p>
          <a:p xmlns:a="http://schemas.openxmlformats.org/drawingml/2006/main">
            <a:r>
              <a:t>[Ask]</a:t>
            </a:r>
          </a:p>
          <a:p xmlns:a="http://schemas.openxmlformats.org/drawingml/2006/main">
            <a:r>
              <a:t>Align on the decision question: approve a bounded Kong direction and proof programme—not critical production scale.</a:t>
            </a:r>
          </a:p>
          <a:p xmlns:a="http://schemas.openxmlformats.org/drawingml/2006/main">
            <a:r>
              <a:t/>
            </a:r>
          </a:p>
          <a:p xmlns:a="http://schemas.openxmlformats.org/drawingml/2006/main">
            <a:r>
              <a:t>[Bridge]</a:t>
            </a:r>
          </a:p>
          <a:p xmlns:a="http://schemas.openxmlformats.org/drawingml/2006/main">
            <a:r>
              <a:t>First, make the target operating model visible because it drives the scoring and the platform fit.</a:t>
            </a:r>
          </a:p>
          <a:p xmlns:a="http://schemas.openxmlformats.org/drawingml/2006/main">
            <a:r>
              <a:t/>
            </a:r>
          </a:p>
          <a:p xmlns:a="http://schemas.openxmlformats.org/drawingml/2006/main">
            <a:r>
              <a:t>[Caveat]</a:t>
            </a:r>
          </a:p>
          <a:p xmlns:a="http://schemas.openxmlformats.org/drawingml/2006/main">
            <a:r>
              <a:t>The supplied Word document is stakeholder input. Its ratings and recommendation are not independent comparative proof.</a:t>
            </a:r>
          </a:p>
          <a:p xmlns:a="http://schemas.openxmlformats.org/drawingml/2006/main">
            <a:r>
              <a:t/>
            </a:r>
          </a:p>
          <a:p xmlns:a="http://schemas.openxmlformats.org/drawingml/2006/main">
            <a:r>
              <a:t>[Sources]</a:t>
            </a:r>
          </a:p>
          <a:p xmlns:a="http://schemas.openxmlformats.org/drawingml/2006/main">
            <a:r>
              <a:t>- docs/48-kong-guided-evaluation.md</a:t>
            </a:r>
          </a:p>
          <a:p xmlns:a="http://schemas.openxmlformats.org/drawingml/2006/main">
            <a:r>
              <a:t>- docs/47-kong-enterprise-platform-strategy.md</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Explain why the same product can be a good or poor choice depending on the target operating model.</a:t>
            </a:r>
          </a:p>
          <a:p xmlns:a="http://schemas.openxmlformats.org/drawingml/2006/main">
            <a:r>
              <a:t/>
            </a:r>
          </a:p>
          <a:p xmlns:a="http://schemas.openxmlformats.org/drawingml/2006/main">
            <a:r>
              <a:t>[Talk track]</a:t>
            </a:r>
          </a:p>
          <a:p xmlns:a="http://schemas.openxmlformats.org/drawingml/2006/main">
            <a:r>
              <a:t>The supplied assessment favors Kubernetes, GitOps, platform engineering, self-service, observability and emerging AI traffic governance. Those priorities explain why Kong scores well. They should be confirmed with accountable owners.</a:t>
            </a:r>
          </a:p>
          <a:p xmlns:a="http://schemas.openxmlformats.org/drawingml/2006/main">
            <a:r>
              <a:t/>
            </a:r>
          </a:p>
          <a:p xmlns:a="http://schemas.openxmlformats.org/drawingml/2006/main">
            <a:r>
              <a:t>[Ask]</a:t>
            </a:r>
          </a:p>
          <a:p xmlns:a="http://schemas.openxmlformats.org/drawingml/2006/main">
            <a:r>
              <a:t>Confirm or amend these target-state assumptions before using them as decision weights.</a:t>
            </a:r>
          </a:p>
          <a:p xmlns:a="http://schemas.openxmlformats.org/drawingml/2006/main">
            <a:r>
              <a:t/>
            </a:r>
          </a:p>
          <a:p xmlns:a="http://schemas.openxmlformats.org/drawingml/2006/main">
            <a:r>
              <a:t>[Bridge]</a:t>
            </a:r>
          </a:p>
          <a:p xmlns:a="http://schemas.openxmlformats.org/drawingml/2006/main">
            <a:r>
              <a:t>The next slide shows how those priorities were encoded in the supplied scorecard.</a:t>
            </a:r>
          </a:p>
          <a:p xmlns:a="http://schemas.openxmlformats.org/drawingml/2006/main">
            <a:r>
              <a:t/>
            </a:r>
          </a:p>
          <a:p xmlns:a="http://schemas.openxmlformats.org/drawingml/2006/main">
            <a:r>
              <a:t>[Caveat]</a:t>
            </a:r>
          </a:p>
          <a:p xmlns:a="http://schemas.openxmlformats.org/drawingml/2006/main">
            <a:r>
              <a:t>These are stakeholder-stated objectives; the document does not provide a verified workload inventory or current-state baseline.</a:t>
            </a:r>
          </a:p>
          <a:p xmlns:a="http://schemas.openxmlformats.org/drawingml/2006/main">
            <a:r>
              <a:t/>
            </a:r>
          </a:p>
          <a:p xmlns:a="http://schemas.openxmlformats.org/drawingml/2006/main">
            <a:r>
              <a:t>[Sources]</a:t>
            </a:r>
          </a:p>
          <a:p xmlns:a="http://schemas.openxmlformats.org/drawingml/2006/main">
            <a:r>
              <a:t>- docs/48-kong-guided-evaluation.md#stated-target-operating-model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historical weighting model transparent and expose the dimensions required for a governed re-score.</a:t>
            </a:r>
          </a:p>
          <a:p xmlns:a="http://schemas.openxmlformats.org/drawingml/2006/main">
            <a:r>
              <a:t/>
            </a:r>
          </a:p>
          <a:p xmlns:a="http://schemas.openxmlformats.org/drawingml/2006/main">
            <a:r>
              <a:t>[Talk track]</a:t>
            </a:r>
          </a:p>
          <a:p xmlns:a="http://schemas.openxmlformats.org/drawingml/2006/main">
            <a:r>
              <a:t>Eight supplied categories sum to 100%, and Kubernetes plus GitOps carry 35%. Multicloud, robustness, reversibility/vendor dependency, fully allocated TCO, and control-plane operating responsibility are absent or compressed in that simplified model, but they are already present in the canonical 120-criterion matrix. The proposed `GRS-01`–`GRS-06` specification exposes them without duplicating the taxonomy. Its weights and ratings remain `TBD`.</a:t>
            </a:r>
          </a:p>
          <a:p xmlns:a="http://schemas.openxmlformats.org/drawingml/2006/main">
            <a:r>
              <a:t/>
            </a:r>
          </a:p>
          <a:p xmlns:a="http://schemas.openxmlformats.org/drawingml/2006/main">
            <a:r>
              <a:t>[Ask]</a:t>
            </a:r>
          </a:p>
          <a:p xmlns:a="http://schemas.openxmlformats.org/drawingml/2006/main">
            <a:r>
              <a:t>Approve the re-score dimensions, exact-option boundary, mandatory gates, evidence floor, role-based scorer and approver panel, weight ranges, confidence treatment, sensitivity method, dissent rule, and permitted decision use. Do not assign ratings in this meeting.</a:t>
            </a:r>
          </a:p>
          <a:p xmlns:a="http://schemas.openxmlformats.org/drawingml/2006/main">
            <a:r>
              <a:t/>
            </a:r>
          </a:p>
          <a:p xmlns:a="http://schemas.openxmlformats.org/drawingml/2006/main">
            <a:r>
              <a:t>[Bridge]</a:t>
            </a:r>
          </a:p>
          <a:p xmlns:a="http://schemas.openxmlformats.org/drawingml/2006/main">
            <a:r>
              <a:t>Now compare operating-model fit rather than treating these products as interchangeable feature bundles.</a:t>
            </a:r>
          </a:p>
          <a:p xmlns:a="http://schemas.openxmlformats.org/drawingml/2006/main">
            <a:r>
              <a:t/>
            </a:r>
          </a:p>
          <a:p xmlns:a="http://schemas.openxmlformats.org/drawingml/2006/main">
            <a:r>
              <a:t>[Caveat]</a:t>
            </a:r>
          </a:p>
          <a:p xmlns:a="http://schemas.openxmlformats.org/drawingml/2006/main">
            <a:r>
              <a:t>The proposed re-score is pending, not a revised ranking. Ratings still lack an approved rubric, score-capable evidence, exact options, scorer panel, confidence, common-evidence treatment, bounds, maximum-regret analysis, and sensitivity approval.</a:t>
            </a:r>
          </a:p>
          <a:p xmlns:a="http://schemas.openxmlformats.org/drawingml/2006/main">
            <a:r>
              <a:t/>
            </a:r>
          </a:p>
          <a:p xmlns:a="http://schemas.openxmlformats.org/drawingml/2006/main">
            <a:r>
              <a:t>[Sources]</a:t>
            </a:r>
          </a:p>
          <a:p xmlns:a="http://schemas.openxmlformats.org/drawingml/2006/main">
            <a:r>
              <a:t>- 48-kong-guided-evaluation.md#supplied-weighting-model</a:t>
            </a:r>
          </a:p>
          <a:p xmlns:a="http://schemas.openxmlformats.org/drawingml/2006/main">
            <a:r>
              <a:t>- 48-kong-guided-evaluation.md#meeting-feedback-assurance-crosswalk</a:t>
            </a:r>
          </a:p>
          <a:p xmlns:a="http://schemas.openxmlformats.org/drawingml/2006/main">
            <a:r>
              <a:t>- 48-kong-guided-evaluation.md#proposed-governed-re-score</a:t>
            </a:r>
          </a:p>
          <a:p xmlns:a="http://schemas.openxmlformats.org/drawingml/2006/main">
            <a:r>
              <a:t>- ../decision-matrix/scoring-guide.md</a:t>
            </a:r>
          </a:p>
          <a:p xmlns:a="http://schemas.openxmlformats.org/drawingml/2006/main">
            <a:r>
              <a:t>- https://developer.konghq.com/gateway/deployment-topologies/</a:t>
            </a:r>
          </a:p>
          <a:p xmlns:a="http://schemas.openxmlformats.org/drawingml/2006/main">
            <a:r>
              <a:t>- https://developer.konghq.com/gateway/hybrid-mode/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Reframe the product comparison as conditional operating-model choices.</a:t>
            </a:r>
          </a:p>
          <a:p xmlns:a="http://schemas.openxmlformats.org/drawingml/2006/main">
            <a:r>
              <a:t/>
            </a:r>
          </a:p>
          <a:p xmlns:a="http://schemas.openxmlformats.org/drawingml/2006/main">
            <a:r>
              <a:t>[Talk track]</a:t>
            </a:r>
          </a:p>
          <a:p xmlns:a="http://schemas.openxmlformats.org/drawingml/2006/main">
            <a:r>
              <a:t>Kong is strongest when Kubernetes, GitOps and platform ownership dominate. Apigee is plausible when external API product management dominates. MuleSoft is plausible when Anypoint remains strategic. Azure APIM remains a no-build benchmark if Azure consolidation dominates.</a:t>
            </a:r>
          </a:p>
          <a:p xmlns:a="http://schemas.openxmlformats.org/drawingml/2006/main">
            <a:r>
              <a:t/>
            </a:r>
          </a:p>
          <a:p xmlns:a="http://schemas.openxmlformats.org/drawingml/2006/main">
            <a:r>
              <a:t>[Ask]</a:t>
            </a:r>
          </a:p>
          <a:p xmlns:a="http://schemas.openxmlformats.org/drawingml/2006/main">
            <a:r>
              <a:t>Agree on the counterfactuals that would change the platform direction.</a:t>
            </a:r>
          </a:p>
          <a:p xmlns:a="http://schemas.openxmlformats.org/drawingml/2006/main">
            <a:r>
              <a:t/>
            </a:r>
          </a:p>
          <a:p xmlns:a="http://schemas.openxmlformats.org/drawingml/2006/main">
            <a:r>
              <a:t>[Bridge]</a:t>
            </a:r>
          </a:p>
          <a:p xmlns:a="http://schemas.openxmlformats.org/drawingml/2006/main">
            <a:r>
              <a:t>The supplied scorecard encodes one of these preferences. We correct its arithmetic on the next slide.</a:t>
            </a:r>
          </a:p>
          <a:p xmlns:a="http://schemas.openxmlformats.org/drawingml/2006/main">
            <a:r>
              <a:t/>
            </a:r>
          </a:p>
          <a:p xmlns:a="http://schemas.openxmlformats.org/drawingml/2006/main">
            <a:r>
              <a:t>[Caveat]</a:t>
            </a:r>
          </a:p>
          <a:p xmlns:a="http://schemas.openxmlformats.org/drawingml/2006/main">
            <a:r>
              <a:t>The source document's qualitative ratings and cost/lock-in labels are supplied assessments, not independently verified facts.</a:t>
            </a:r>
          </a:p>
          <a:p xmlns:a="http://schemas.openxmlformats.org/drawingml/2006/main">
            <a:r>
              <a:t/>
            </a:r>
          </a:p>
          <a:p xmlns:a="http://schemas.openxmlformats.org/drawingml/2006/main">
            <a:r>
              <a:t>[Sources]</a:t>
            </a:r>
          </a:p>
          <a:p xmlns:a="http://schemas.openxmlformats.org/drawingml/2006/main">
            <a:r>
              <a:t>- docs/48-kong-guided-evaluation.md#conditional-option-archetypes</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 the scorecard transparently without overstating its evidentiary value.</a:t>
            </a:r>
          </a:p>
          <a:p xmlns:a="http://schemas.openxmlformats.org/drawingml/2006/main">
            <a:r>
              <a:t/>
            </a:r>
          </a:p>
          <a:p xmlns:a="http://schemas.openxmlformats.org/drawingml/2006/main">
            <a:r>
              <a:t>[Talk track]</a:t>
            </a:r>
          </a:p>
          <a:p xmlns:a="http://schemas.openxmlformats.org/drawingml/2006/main">
            <a:r>
              <a:t>The historical inputs recalculate to 93 for Kong, 85.5 for Apigee, and 77 for MuleSoft rather than 87 and 78 in the source results table. Preserve those inputs and the correction for audit. Do not publish an expanded total until `GRS-01`–`GRS-06`, exact options, mandatory gates, rubric, score-capable evidence, weights, confidence, scorer panel, sensitivity, bounds, regret treatment, and dissent are approved.</a:t>
            </a:r>
          </a:p>
          <a:p xmlns:a="http://schemas.openxmlformats.org/drawingml/2006/main">
            <a:r>
              <a:t/>
            </a:r>
          </a:p>
          <a:p xmlns:a="http://schemas.openxmlformats.org/drawingml/2006/main">
            <a:r>
              <a:t>[Ask]</a:t>
            </a:r>
          </a:p>
          <a:p xmlns:a="http://schemas.openxmlformats.org/drawingml/2006/main">
            <a:r>
              <a:t>Confirm that the historical score remains directional preference input only, then assign role ownership for a governed recalculation that is allowed to change—not preserve—the order.</a:t>
            </a:r>
          </a:p>
          <a:p xmlns:a="http://schemas.openxmlformats.org/drawingml/2006/main">
            <a:r>
              <a:t/>
            </a:r>
          </a:p>
          <a:p xmlns:a="http://schemas.openxmlformats.org/drawingml/2006/main">
            <a:r>
              <a:t>[Bridge]</a:t>
            </a:r>
          </a:p>
          <a:p xmlns:a="http://schemas.openxmlformats.org/drawingml/2006/main">
            <a:r>
              <a:t>We can now state a bounded decision that preserves falsifiability.</a:t>
            </a:r>
          </a:p>
          <a:p xmlns:a="http://schemas.openxmlformats.org/drawingml/2006/main">
            <a:r>
              <a:t/>
            </a:r>
          </a:p>
          <a:p xmlns:a="http://schemas.openxmlformats.org/drawingml/2006/main">
            <a:r>
              <a:t>[Caveat]</a:t>
            </a:r>
          </a:p>
          <a:p xmlns:a="http://schemas.openxmlformats.org/drawingml/2006/main">
            <a:r>
              <a:t>No governed recalculation has been run. The added dimensions still have `TBD` weights and ratings, and the historical scores should not be presented as an independent benchmark, confidence percentage, or production-fit result.</a:t>
            </a:r>
          </a:p>
          <a:p xmlns:a="http://schemas.openxmlformats.org/drawingml/2006/main">
            <a:r>
              <a:t/>
            </a:r>
          </a:p>
          <a:p xmlns:a="http://schemas.openxmlformats.org/drawingml/2006/main">
            <a:r>
              <a:t>[Sources]</a:t>
            </a:r>
          </a:p>
          <a:p xmlns:a="http://schemas.openxmlformats.org/drawingml/2006/main">
            <a:r>
              <a:t>- 48-kong-guided-evaluation.md#supplied-scoring-audit</a:t>
            </a:r>
          </a:p>
          <a:p xmlns:a="http://schemas.openxmlformats.org/drawingml/2006/main">
            <a:r>
              <a:t>- 48-kong-guided-evaluation.md#proposed-governed-re-score</a:t>
            </a:r>
          </a:p>
          <a:p xmlns:a="http://schemas.openxmlformats.org/drawingml/2006/main">
            <a:r>
              <a:t>- ../decision-matrix/scoring-guide.md</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Turn the assessment recommendation into a reversible authorization boundary.</a:t>
            </a:r>
          </a:p>
          <a:p xmlns:a="http://schemas.openxmlformats.org/drawingml/2006/main">
            <a:r>
              <a:t/>
            </a:r>
          </a:p>
          <a:p xmlns:a="http://schemas.openxmlformats.org/drawingml/2006/main">
            <a:r>
              <a:t>[Talk track]</a:t>
            </a:r>
          </a:p>
          <a:p xmlns:a="http://schemas.openxmlformats.org/drawingml/2006/main">
            <a:r>
              <a:t>Proceed with Kong as the leading planning direction, but authorize only the foundation and proof programme. Critical scale stays blocked until the outcome gates close.</a:t>
            </a:r>
          </a:p>
          <a:p xmlns:a="http://schemas.openxmlformats.org/drawingml/2006/main">
            <a:r>
              <a:t/>
            </a:r>
          </a:p>
          <a:p xmlns:a="http://schemas.openxmlformats.org/drawingml/2006/main">
            <a:r>
              <a:t>[Ask]</a:t>
            </a:r>
          </a:p>
          <a:p xmlns:a="http://schemas.openxmlformats.org/drawingml/2006/main">
            <a:r>
              <a:t>Approve the bounded direction, owners and evidence budget.</a:t>
            </a:r>
          </a:p>
          <a:p xmlns:a="http://schemas.openxmlformats.org/drawingml/2006/main">
            <a:r>
              <a:t/>
            </a:r>
          </a:p>
          <a:p xmlns:a="http://schemas.openxmlformats.org/drawingml/2006/main">
            <a:r>
              <a:t>[Bridge]</a:t>
            </a:r>
          </a:p>
          <a:p xmlns:a="http://schemas.openxmlformats.org/drawingml/2006/main">
            <a:r>
              <a:t>The first design decision is not topology. It is who controls and operates the management plane.</a:t>
            </a:r>
          </a:p>
          <a:p xmlns:a="http://schemas.openxmlformats.org/drawingml/2006/main">
            <a:r>
              <a:t/>
            </a:r>
          </a:p>
          <a:p xmlns:a="http://schemas.openxmlformats.org/drawingml/2006/main">
            <a:r>
              <a:t>[Caveat]</a:t>
            </a:r>
          </a:p>
          <a:p xmlns:a="http://schemas.openxmlformats.org/drawingml/2006/main">
            <a:r>
              <a:t>This is not a universal product ranking or a claim of production readiness.</a:t>
            </a:r>
          </a:p>
          <a:p xmlns:a="http://schemas.openxmlformats.org/drawingml/2006/main">
            <a:r>
              <a:t/>
            </a:r>
          </a:p>
          <a:p xmlns:a="http://schemas.openxmlformats.org/drawingml/2006/main">
            <a:r>
              <a:t>[Sources]</a:t>
            </a:r>
          </a:p>
          <a:p xmlns:a="http://schemas.openxmlformats.org/drawingml/2006/main">
            <a:r>
              <a:t>- docs/48-kong-guided-evaluation.md#bounded-authorization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Prevent the operating-model decision from being hidden inside an architecture diagram.</a:t>
            </a:r>
          </a:p>
          <a:p xmlns:a="http://schemas.openxmlformats.org/drawingml/2006/main">
            <a:r>
              <a:t/>
            </a:r>
          </a:p>
          <a:p xmlns:a="http://schemas.openxmlformats.org/drawingml/2006/main">
            <a:r>
              <a:t>[Talk track]</a:t>
            </a:r>
          </a:p>
          <a:p xmlns:a="http://schemas.openxmlformats.org/drawingml/2006/main">
            <a:r>
              <a:t>The leading target is self-managed hybrid. Konnect is a same-vendor custody benchmark, not a vendor exit. A true non-Kong exit remains a separate obligation.</a:t>
            </a:r>
          </a:p>
          <a:p xmlns:a="http://schemas.openxmlformats.org/drawingml/2006/main">
            <a:r>
              <a:t/>
            </a:r>
          </a:p>
          <a:p xmlns:a="http://schemas.openxmlformats.org/drawingml/2006/main">
            <a:r>
              <a:t>[Ask]</a:t>
            </a:r>
          </a:p>
          <a:p xmlns:a="http://schemas.openxmlformats.org/drawingml/2006/main">
            <a:r>
              <a:t>Confirm the leading target and authorize the two counterfactual benchmarks.</a:t>
            </a:r>
          </a:p>
          <a:p xmlns:a="http://schemas.openxmlformats.org/drawingml/2006/main">
            <a:r>
              <a:t/>
            </a:r>
          </a:p>
          <a:p xmlns:a="http://schemas.openxmlformats.org/drawingml/2006/main">
            <a:r>
              <a:t>[Bridge]</a:t>
            </a:r>
          </a:p>
          <a:p xmlns:a="http://schemas.openxmlformats.org/drawingml/2006/main">
            <a:r>
              <a:t>If self-managed control leads, the enterprise must accept the permanent duty that comes with it.</a:t>
            </a:r>
          </a:p>
          <a:p xmlns:a="http://schemas.openxmlformats.org/drawingml/2006/main">
            <a:r>
              <a:t/>
            </a:r>
          </a:p>
          <a:p xmlns:a="http://schemas.openxmlformats.org/drawingml/2006/main">
            <a:r>
              <a:t>[Caveat]</a:t>
            </a:r>
          </a:p>
          <a:p xmlns:a="http://schemas.openxmlformats.org/drawingml/2006/main">
            <a:r>
              <a:t>The option records are planning hypotheses until custody, migration and outcome evidence are executed.</a:t>
            </a:r>
          </a:p>
          <a:p xmlns:a="http://schemas.openxmlformats.org/drawingml/2006/main">
            <a:r>
              <a:t/>
            </a:r>
          </a:p>
          <a:p xmlns:a="http://schemas.openxmlformats.org/drawingml/2006/main">
            <a:r>
              <a:t>[Sources]</a:t>
            </a:r>
          </a:p>
          <a:p xmlns:a="http://schemas.openxmlformats.org/drawingml/2006/main">
            <a:r>
              <a:t>- docs/44-kong-multicloud-study-roadmap.md</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accountability, risk, and fully allocated cost side of the target operating boundary visible without making an unsupported legal conclusion.</a:t>
            </a:r>
          </a:p>
          <a:p xmlns:a="http://schemas.openxmlformats.org/drawingml/2006/main">
            <a:r>
              <a:t/>
            </a:r>
          </a:p>
          <a:p xmlns:a="http://schemas.openxmlformats.org/drawingml/2006/main">
            <a:r>
              <a:t>[Talk track]</a:t>
            </a:r>
          </a:p>
          <a:p xmlns:a="http://schemas.openxmlformats.org/drawingml/2006/main">
            <a:r>
              <a:t>The same custody that makes self-managed Kong attractive transfers permanent CP, PostgreSQL, PKI, Admin API, plugin/license, audit, upgrade, restore, support, and 24×7 service duties to enterprise roles. Cached data-plane service narrows one failure consequence; it does not remove control-plane recovery, urgent mutation/revocation, clean-node scale, reconciliation, or service accountability.</a:t>
            </a:r>
          </a:p>
          <a:p xmlns:a="http://schemas.openxmlformats.org/drawingml/2006/main">
            <a:r>
              <a:t/>
            </a:r>
          </a:p>
          <a:p xmlns:a="http://schemas.openxmlformats.org/drawingml/2006/main">
            <a:r>
              <a:t>[Ask]</a:t>
            </a:r>
          </a:p>
          <a:p xmlns:a="http://schemas.openxmlformats.org/drawingml/2006/main">
            <a:r>
              <a:t>Confirm whether platform product, database/SRE, PKI/security, release engineering, service management, sourcing/FinOps, and support roles accept the duty, capacity, objectives, evidence, and escalation path.</a:t>
            </a:r>
          </a:p>
          <a:p xmlns:a="http://schemas.openxmlformats.org/drawingml/2006/main">
            <a:r>
              <a:t/>
            </a:r>
          </a:p>
          <a:p xmlns:a="http://schemas.openxmlformats.org/drawingml/2006/main">
            <a:r>
              <a:t>[Bridge]</a:t>
            </a:r>
          </a:p>
          <a:p xmlns:a="http://schemas.openxmlformats.org/drawingml/2006/main">
            <a:r>
              <a:t>With the boundary explicit, the target topology becomes simple enough to explain.</a:t>
            </a:r>
          </a:p>
          <a:p xmlns:a="http://schemas.openxmlformats.org/drawingml/2006/main">
            <a:r>
              <a:t/>
            </a:r>
          </a:p>
          <a:p xmlns:a="http://schemas.openxmlformats.org/drawingml/2006/main">
            <a:r>
              <a:t>[Caveat]</a:t>
            </a:r>
          </a:p>
          <a:p xmlns:a="http://schemas.openxmlformats.org/drawingml/2006/main">
            <a:r>
              <a:t>This is an operating-accountability and risk-exposure statement. Contractual allocation depends on exact support and commercial evidence; legal liability requires counsel in the approved restricted process. Control-plane continuity does not imply mutation, revocation, clean-node admission, or recovery guarantees.</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../research/glossary.md#kong-terminology-crosswalk</a:t>
            </a:r>
          </a:p>
          <a:p xmlns:a="http://schemas.openxmlformats.org/drawingml/2006/main">
            <a:r>
              <a:t>- https://developer.konghq.com/gateway/hybrid-mode/</a:t>
            </a:r>
          </a:p>
          <a:p xmlns:a="http://schemas.openxmlformats.org/drawingml/2006/main">
            <a:r>
              <a:t>- https://developer.konghq.com/gateway/version-support-policy/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Give the audience a readable mental model of the target architecture.</a:t>
            </a:r>
          </a:p>
          <a:p xmlns:a="http://schemas.openxmlformats.org/drawingml/2006/main">
            <a:r>
              <a:t/>
            </a:r>
          </a:p>
          <a:p xmlns:a="http://schemas.openxmlformats.org/drawingml/2006/main">
            <a:r>
              <a:t>[Talk track]</a:t>
            </a:r>
          </a:p>
          <a:p xmlns:a="http://schemas.openxmlformats.org/drawingml/2006/main">
            <a:r>
              <a:t>Configuration authority is centralized in the enterprise control zone. Data planes proxy near workloads using accepted cached configuration. Local collectors preserve evidence close to the runtime. This is a simplification of the canonical engineering diagram.</a:t>
            </a:r>
          </a:p>
          <a:p xmlns:a="http://schemas.openxmlformats.org/drawingml/2006/main">
            <a:r>
              <a:t/>
            </a:r>
          </a:p>
          <a:p xmlns:a="http://schemas.openxmlformats.org/drawingml/2006/main">
            <a:r>
              <a:t>[Ask]</a:t>
            </a:r>
          </a:p>
          <a:p xmlns:a="http://schemas.openxmlformats.org/drawingml/2006/main">
            <a:r>
              <a:t>Validate control-zone ownership, data-plane placement and evidence boundaries.</a:t>
            </a:r>
          </a:p>
          <a:p xmlns:a="http://schemas.openxmlformats.org/drawingml/2006/main">
            <a:r>
              <a:t/>
            </a:r>
          </a:p>
          <a:p xmlns:a="http://schemas.openxmlformats.org/drawingml/2006/main">
            <a:r>
              <a:t>[Bridge]</a:t>
            </a:r>
          </a:p>
          <a:p xmlns:a="http://schemas.openxmlformats.org/drawingml/2006/main">
            <a:r>
              <a:t>This topology has multiple health paths; a healthy proxy alone is not a healthy platform.</a:t>
            </a:r>
          </a:p>
          <a:p xmlns:a="http://schemas.openxmlformats.org/drawingml/2006/main">
            <a:r>
              <a:t/>
            </a:r>
          </a:p>
          <a:p xmlns:a="http://schemas.openxmlformats.org/drawingml/2006/main">
            <a:r>
              <a:t>[Caveat]</a:t>
            </a:r>
          </a:p>
          <a:p xmlns:a="http://schemas.openxmlformats.org/drawingml/2006/main">
            <a:r>
              <a:t>Cached configuration continuity does not authorize emergency mutation or prove recovery objectives.</a:t>
            </a:r>
          </a:p>
          <a:p xmlns:a="http://schemas.openxmlformats.org/drawingml/2006/main">
            <a:r>
              <a:t/>
            </a:r>
          </a:p>
          <a:p xmlns:a="http://schemas.openxmlformats.org/drawingml/2006/main">
            <a:r>
              <a:t>[Sources]</a:t>
            </a:r>
          </a:p>
          <a:p xmlns:a="http://schemas.openxmlformats.org/drawingml/2006/main">
            <a:r>
              <a:t>- https://developer.konghq.com/gateway/hybrid-mode/</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Prevent availability claims from collapsing independent health paths.</a:t>
            </a:r>
          </a:p>
          <a:p xmlns:a="http://schemas.openxmlformats.org/drawingml/2006/main">
            <a:r>
              <a:t/>
            </a:r>
          </a:p>
          <a:p xmlns:a="http://schemas.openxmlformats.org/drawingml/2006/main">
            <a:r>
              <a:t>[Talk track]</a:t>
            </a:r>
          </a:p>
          <a:p xmlns:a="http://schemas.openxmlformats.org/drawingml/2006/main">
            <a:r>
              <a:t>Kong hybrid separates configuration distribution from request proxying. Trust admission is another path. Each can fail independently, so admission and recovery evidence must be evaluated separately.</a:t>
            </a:r>
          </a:p>
          <a:p xmlns:a="http://schemas.openxmlformats.org/drawingml/2006/main">
            <a:r>
              <a:t/>
            </a:r>
          </a:p>
          <a:p xmlns:a="http://schemas.openxmlformats.org/drawingml/2006/main">
            <a:r>
              <a:t>[Ask]</a:t>
            </a:r>
          </a:p>
          <a:p xmlns:a="http://schemas.openxmlformats.org/drawingml/2006/main">
            <a:r>
              <a:t>Approve separate proof gates for configuration, trust and request continuity.</a:t>
            </a:r>
          </a:p>
          <a:p xmlns:a="http://schemas.openxmlformats.org/drawingml/2006/main">
            <a:r>
              <a:t/>
            </a:r>
          </a:p>
          <a:p xmlns:a="http://schemas.openxmlformats.org/drawingml/2006/main">
            <a:r>
              <a:t>[Bridge]</a:t>
            </a:r>
          </a:p>
          <a:p xmlns:a="http://schemas.openxmlformats.org/drawingml/2006/main">
            <a:r>
              <a:t>Control-plane loss then becomes an admission-policy problem, not a binary up/down state.</a:t>
            </a:r>
          </a:p>
          <a:p xmlns:a="http://schemas.openxmlformats.org/drawingml/2006/main">
            <a:r>
              <a:t/>
            </a:r>
          </a:p>
          <a:p xmlns:a="http://schemas.openxmlformats.org/drawingml/2006/main">
            <a:r>
              <a:t>[Caveat]</a:t>
            </a:r>
          </a:p>
          <a:p xmlns:a="http://schemas.openxmlformats.org/drawingml/2006/main">
            <a:r>
              <a:t>These states are organizational policy constructs around Kong behavior; they are not automatic product guarantees.</a:t>
            </a:r>
          </a:p>
          <a:p xmlns:a="http://schemas.openxmlformats.org/drawingml/2006/main">
            <a:r>
              <a:t/>
            </a:r>
          </a:p>
          <a:p xmlns:a="http://schemas.openxmlformats.org/drawingml/2006/main">
            <a:r>
              <a:t>[Sources]</a:t>
            </a:r>
          </a:p>
          <a:p xmlns:a="http://schemas.openxmlformats.org/drawingml/2006/main">
            <a:r>
              <a:t>- https://developer.konghq.com/gateway/hybrid-mode/</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Show how degraded operation is governed without implying that proxy continuity equals full platform health.</a:t>
            </a:r>
          </a:p>
          <a:p xmlns:a="http://schemas.openxmlformats.org/drawingml/2006/main">
            <a:r>
              <a:t/>
            </a:r>
          </a:p>
          <a:p xmlns:a="http://schemas.openxmlformats.org/drawingml/2006/main">
            <a:r>
              <a:t>[Talk track]</a:t>
            </a:r>
          </a:p>
          <a:p xmlns:a="http://schemas.openxmlformats.org/drawingml/2006/main">
            <a:r>
              <a:t>A data plane can continue proxying accepted state while isolated. Reconnection must compare desired and effective state and run business probes. Admission, hold, quarantine and stop are policy decisions with evidence.</a:t>
            </a:r>
          </a:p>
          <a:p xmlns:a="http://schemas.openxmlformats.org/drawingml/2006/main">
            <a:r>
              <a:t/>
            </a:r>
          </a:p>
          <a:p xmlns:a="http://schemas.openxmlformats.org/drawingml/2006/main">
            <a:r>
              <a:t>[Ask]</a:t>
            </a:r>
          </a:p>
          <a:p xmlns:a="http://schemas.openxmlformats.org/drawingml/2006/main">
            <a:r>
              <a:t>Assign decision rights and response times for each state.</a:t>
            </a:r>
          </a:p>
          <a:p xmlns:a="http://schemas.openxmlformats.org/drawingml/2006/main">
            <a:r>
              <a:t/>
            </a:r>
          </a:p>
          <a:p xmlns:a="http://schemas.openxmlformats.org/drawingml/2006/main">
            <a:r>
              <a:t>[Bridge]</a:t>
            </a:r>
          </a:p>
          <a:p xmlns:a="http://schemas.openxmlformats.org/drawingml/2006/main">
            <a:r>
              <a:t>Those decisions require a funded operating model with named owners.</a:t>
            </a:r>
          </a:p>
          <a:p xmlns:a="http://schemas.openxmlformats.org/drawingml/2006/main">
            <a:r>
              <a:t/>
            </a:r>
          </a:p>
          <a:p xmlns:a="http://schemas.openxmlformats.org/drawingml/2006/main">
            <a:r>
              <a:t>[Caveat]</a:t>
            </a:r>
          </a:p>
          <a:p xmlns:a="http://schemas.openxmlformats.org/drawingml/2006/main">
            <a:r>
              <a:t>The state model is a target operating policy, not an out-of-the-box automated Kong workflow.</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Translate architecture into durable operating ownership.</a:t>
            </a:r>
          </a:p>
          <a:p xmlns:a="http://schemas.openxmlformats.org/drawingml/2006/main">
            <a:r>
              <a:t/>
            </a:r>
          </a:p>
          <a:p xmlns:a="http://schemas.openxmlformats.org/drawingml/2006/main">
            <a:r>
              <a:t>[Talk track]</a:t>
            </a:r>
          </a:p>
          <a:p xmlns:a="http://schemas.openxmlformats.org/drawingml/2006/main">
            <a:r>
              <a:t>Self-managed Kong succeeds only when the platform team owns the service lifecycle, product teams own API outcomes, security and SRE own admission and reliability gates, and the vendor remains support—not the accountable owner.</a:t>
            </a:r>
          </a:p>
          <a:p xmlns:a="http://schemas.openxmlformats.org/drawingml/2006/main">
            <a:r>
              <a:t/>
            </a:r>
          </a:p>
          <a:p xmlns:a="http://schemas.openxmlformats.org/drawingml/2006/main">
            <a:r>
              <a:t>[Ask]</a:t>
            </a:r>
          </a:p>
          <a:p xmlns:a="http://schemas.openxmlformats.org/drawingml/2006/main">
            <a:r>
              <a:t>Name accountable teams and capacity before foundation build starts.</a:t>
            </a:r>
          </a:p>
          <a:p xmlns:a="http://schemas.openxmlformats.org/drawingml/2006/main">
            <a:r>
              <a:t/>
            </a:r>
          </a:p>
          <a:p xmlns:a="http://schemas.openxmlformats.org/drawingml/2006/main">
            <a:r>
              <a:t>[Bridge]</a:t>
            </a:r>
          </a:p>
          <a:p xmlns:a="http://schemas.openxmlformats.org/drawingml/2006/main">
            <a:r>
              <a:t>The adoption roadmap sequences those responsibilities and evidence gates.</a:t>
            </a:r>
          </a:p>
          <a:p xmlns:a="http://schemas.openxmlformats.org/drawingml/2006/main">
            <a:r>
              <a:t/>
            </a:r>
          </a:p>
          <a:p xmlns:a="http://schemas.openxmlformats.org/drawingml/2006/main">
            <a:r>
              <a:t>[Caveat]</a:t>
            </a:r>
          </a:p>
          <a:p xmlns:a="http://schemas.openxmlformats.org/drawingml/2006/main">
            <a:r>
              <a:t>The exact RACI is a target model and must be reconciled with the enterprise organizational design.</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Separate foundation delivery from production scale authorization.</a:t>
            </a:r>
          </a:p>
          <a:p xmlns:a="http://schemas.openxmlformats.org/drawingml/2006/main">
            <a:r>
              <a:t/>
            </a:r>
          </a:p>
          <a:p xmlns:a="http://schemas.openxmlformats.org/drawingml/2006/main">
            <a:r>
              <a:t>[Talk track]</a:t>
            </a:r>
          </a:p>
          <a:p xmlns:a="http://schemas.openxmlformats.org/drawingml/2006/main">
            <a:r>
              <a:t>The roadmap begins with owners and inventory, builds a reversible foundation, runs representative proof, then grows coexistence and operating scale. The source windows deliberately overlap; all 0–18 month windows are scenario assumptions, not commitments.</a:t>
            </a:r>
          </a:p>
          <a:p xmlns:a="http://schemas.openxmlformats.org/drawingml/2006/main">
            <a:r>
              <a:t/>
            </a:r>
          </a:p>
          <a:p xmlns:a="http://schemas.openxmlformats.org/drawingml/2006/main">
            <a:r>
              <a:t>[Ask]</a:t>
            </a:r>
          </a:p>
          <a:p xmlns:a="http://schemas.openxmlformats.org/drawingml/2006/main">
            <a:r>
              <a:t>Approve the gate sequence and the evidence required to leave each phase.</a:t>
            </a:r>
          </a:p>
          <a:p xmlns:a="http://schemas.openxmlformats.org/drawingml/2006/main">
            <a:r>
              <a:t/>
            </a:r>
          </a:p>
          <a:p xmlns:a="http://schemas.openxmlformats.org/drawingml/2006/main">
            <a:r>
              <a:t>[Bridge]</a:t>
            </a:r>
          </a:p>
          <a:p xmlns:a="http://schemas.openxmlformats.org/drawingml/2006/main">
            <a:r>
              <a:t>Selection does not authorize package-by-package migration. The migration unit is responsibility and state.</a:t>
            </a:r>
          </a:p>
          <a:p xmlns:a="http://schemas.openxmlformats.org/drawingml/2006/main">
            <a:r>
              <a:t/>
            </a:r>
          </a:p>
          <a:p xmlns:a="http://schemas.openxmlformats.org/drawingml/2006/main">
            <a:r>
              <a:t>[Caveat]</a:t>
            </a:r>
          </a:p>
          <a:p xmlns:a="http://schemas.openxmlformats.org/drawingml/2006/main">
            <a:r>
              <a:t>The overlapping timeline windows are planning forms; actual duration depends on workload inventory, platform capacity and evidence closure.</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Change the migration unit from package to responsibility and state.</a:t>
            </a:r>
          </a:p>
          <a:p xmlns:a="http://schemas.openxmlformats.org/drawingml/2006/main">
            <a:r>
              <a:t/>
            </a:r>
          </a:p>
          <a:p xmlns:a="http://schemas.openxmlformats.org/drawingml/2006/main">
            <a:r>
              <a:t>[Talk track]</a:t>
            </a:r>
          </a:p>
          <a:p xmlns:a="http://schemas.openxmlformats.org/drawingml/2006/main">
            <a:r>
              <a:t>Only gateway policy is unambiguously a Kong destination. Thin facades may stay at the edge or move into an owned service. Transformation, orchestration, messaging, batch and connectors require their own destination owners. Retirement occurs only after parity and route-back proof.</a:t>
            </a:r>
          </a:p>
          <a:p xmlns:a="http://schemas.openxmlformats.org/drawingml/2006/main">
            <a:r>
              <a:t/>
            </a:r>
          </a:p>
          <a:p xmlns:a="http://schemas.openxmlformats.org/drawingml/2006/main">
            <a:r>
              <a:t>[Ask]</a:t>
            </a:r>
          </a:p>
          <a:p xmlns:a="http://schemas.openxmlformats.org/drawingml/2006/main">
            <a:r>
              <a:t>Adopt the responsibility taxonomy for inventory and wave planning.</a:t>
            </a:r>
          </a:p>
          <a:p xmlns:a="http://schemas.openxmlformats.org/drawingml/2006/main">
            <a:r>
              <a:t/>
            </a:r>
          </a:p>
          <a:p xmlns:a="http://schemas.openxmlformats.org/drawingml/2006/main">
            <a:r>
              <a:t>[Bridge]</a:t>
            </a:r>
          </a:p>
          <a:p xmlns:a="http://schemas.openxmlformats.org/drawingml/2006/main">
            <a:r>
              <a:t>That decomposition supports bounded coexistence rather than a big-bang cutover.</a:t>
            </a:r>
          </a:p>
          <a:p xmlns:a="http://schemas.openxmlformats.org/drawingml/2006/main">
            <a:r>
              <a:t/>
            </a:r>
          </a:p>
          <a:p xmlns:a="http://schemas.openxmlformats.org/drawingml/2006/main">
            <a:r>
              <a:t>[Caveat]</a:t>
            </a:r>
          </a:p>
          <a:p xmlns:a="http://schemas.openxmlformats.org/drawingml/2006/main">
            <a:r>
              <a:t>This is a migration doctrine. Actual destination selection requires workload-level classification and dependency evidence.</a:t>
            </a:r>
          </a:p>
          <a:p xmlns:a="http://schemas.openxmlformats.org/drawingml/2006/main">
            <a:r>
              <a:t/>
            </a:r>
          </a:p>
          <a:p xmlns:a="http://schemas.openxmlformats.org/drawingml/2006/main">
            <a:r>
              <a:t>[Sources]</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Show a safe migration control surface without tying it to a specific product claim.</a:t>
            </a:r>
          </a:p>
          <a:p xmlns:a="http://schemas.openxmlformats.org/drawingml/2006/main">
            <a:r>
              <a:t/>
            </a:r>
          </a:p>
          <a:p xmlns:a="http://schemas.openxmlformats.org/drawingml/2006/main">
            <a:r>
              <a:t>[Talk track]</a:t>
            </a:r>
          </a:p>
          <a:p xmlns:a="http://schemas.openxmlformats.org/drawingml/2006/main">
            <a:r>
              <a:t>Consumers see a stable API edge. A bounded cohort can route to the existing Mule runtime or a new owned runtime. Parity evidence compares semantics, side effects and SLOs. Route-back remains active until the exit evidence closes.</a:t>
            </a:r>
          </a:p>
          <a:p xmlns:a="http://schemas.openxmlformats.org/drawingml/2006/main">
            <a:r>
              <a:t/>
            </a:r>
          </a:p>
          <a:p xmlns:a="http://schemas.openxmlformats.org/drawingml/2006/main">
            <a:r>
              <a:t>[Ask]</a:t>
            </a:r>
          </a:p>
          <a:p xmlns:a="http://schemas.openxmlformats.org/drawingml/2006/main">
            <a:r>
              <a:t>Approve cohorting, parity probes and route-back as mandatory migration controls.</a:t>
            </a:r>
          </a:p>
          <a:p xmlns:a="http://schemas.openxmlformats.org/drawingml/2006/main">
            <a:r>
              <a:t/>
            </a:r>
          </a:p>
          <a:p xmlns:a="http://schemas.openxmlformats.org/drawingml/2006/main">
            <a:r>
              <a:t>[Bridge]</a:t>
            </a:r>
          </a:p>
          <a:p xmlns:a="http://schemas.openxmlformats.org/drawingml/2006/main">
            <a:r>
              <a:t>The controls are applied in waves, each with explicit entry and exit evidence.</a:t>
            </a:r>
          </a:p>
          <a:p xmlns:a="http://schemas.openxmlformats.org/drawingml/2006/main">
            <a:r>
              <a:t/>
            </a:r>
          </a:p>
          <a:p xmlns:a="http://schemas.openxmlformats.org/drawingml/2006/main">
            <a:r>
              <a:t>[Caveat]</a:t>
            </a:r>
          </a:p>
          <a:p xmlns:a="http://schemas.openxmlformats.org/drawingml/2006/main">
            <a:r>
              <a:t>The coexistence figure deliberately says stable API edge; the source migration strategy does not choose the exact gateway product for this pattern.</a:t>
            </a:r>
          </a:p>
          <a:p xmlns:a="http://schemas.openxmlformats.org/drawingml/2006/main">
            <a:r>
              <a:t/>
            </a:r>
          </a:p>
          <a:p xmlns:a="http://schemas.openxmlformats.org/drawingml/2006/main">
            <a:r>
              <a:t>[Sources]</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 one stable-edge and evidence-gate doctrine while preserving the different migration units and state boundaries of Mule and Apigee.</a:t>
            </a:r>
          </a:p>
          <a:p xmlns:a="http://schemas.openxmlformats.org/drawingml/2006/main">
            <a:r>
              <a:t/>
            </a:r>
          </a:p>
          <a:p xmlns:a="http://schemas.openxmlformats.org/drawingml/2006/main">
            <a:r>
              <a:t>[Talk track]</a:t>
            </a:r>
          </a:p>
          <a:p xmlns:a="http://schemas.openxmlformats.org/drawingml/2006/main">
            <a:r>
              <a:t>For Mule, M0 establishes inventory and safety; M1 handles gateway-dominant work; M2 proves representative hard integrations; M3 establishes the domain factory; M4 resolves the connector and batch tail; and M5 retires the shared runtime only after dependency zero. For Apigee, A0 inventories the complete object/state graph; A1 classifies semantic disposition; A2 builds a reversible target; A3 proves a hard representative slice; A4 runs bounded coexistence; A5 collects production-canary evidence; and A6 closes technical, operating, recovery, data, support, and commercial dependency zero.</a:t>
            </a:r>
          </a:p>
          <a:p xmlns:a="http://schemas.openxmlformats.org/drawingml/2006/main">
            <a:r>
              <a:t/>
            </a:r>
          </a:p>
          <a:p xmlns:a="http://schemas.openxmlformats.org/drawingml/2006/main">
            <a:r>
              <a:t>[Ask]</a:t>
            </a:r>
          </a:p>
          <a:p xmlns:a="http://schemas.openxmlformats.org/drawingml/2006/main">
            <a:r>
              <a:t>Confirm the actual source archetype, choose the relevant rail, and adopt entry/exit evidence rather than elapsed time, package count, or exported proxy count. Assign migration architecture, API product, IAM/security, SRE, domain, FinOps/sourcing, and independent-review roles.</a:t>
            </a:r>
          </a:p>
          <a:p xmlns:a="http://schemas.openxmlformats.org/drawingml/2006/main">
            <a:r>
              <a:t/>
            </a:r>
          </a:p>
          <a:p xmlns:a="http://schemas.openxmlformats.org/drawingml/2006/main">
            <a:r>
              <a:t>[Bridge]</a:t>
            </a:r>
          </a:p>
          <a:p xmlns:a="http://schemas.openxmlformats.org/drawingml/2006/main">
            <a:r>
              <a:t>The current PoC evidence is far earlier than these production gates.</a:t>
            </a:r>
          </a:p>
          <a:p xmlns:a="http://schemas.openxmlformats.org/drawingml/2006/main">
            <a:r>
              <a:t/>
            </a:r>
          </a:p>
          <a:p xmlns:a="http://schemas.openxmlformats.org/drawingml/2006/main">
            <a:r>
              <a:t>[Caveat]</a:t>
            </a:r>
          </a:p>
          <a:p xmlns:a="http://schemas.openxmlformats.org/drawingml/2006/main">
            <a:r>
              <a:t>These phases are proposed and not run. They do not assert current programme progress, duration, object count, converter success, or semantic parity. The terminology crosswalk supplies nearest analogues only; each mapping still requires behavior, state, lifecycle, authority, evidence, and ownership proof.</a:t>
            </a:r>
          </a:p>
          <a:p xmlns:a="http://schemas.openxmlformats.org/drawingml/2006/main">
            <a:r>
              <a:t/>
            </a:r>
          </a:p>
          <a:p xmlns:a="http://schemas.openxmlformats.org/drawingml/2006/main">
            <a:r>
              <a:t>[Sources]</a:t>
            </a:r>
          </a:p>
          <a:p xmlns:a="http://schemas.openxmlformats.org/drawingml/2006/main">
            <a:r>
              <a:t>- 35-mule-migration-strategy.md</a:t>
            </a:r>
          </a:p>
          <a:p xmlns:a="http://schemas.openxmlformats.org/drawingml/2006/main">
            <a:r>
              <a:t>- 50-apigee-migration-strategy.md#proposed-a0a6-migration-roadmap</a:t>
            </a:r>
          </a:p>
          <a:p xmlns:a="http://schemas.openxmlformats.org/drawingml/2006/main">
            <a:r>
              <a:t>- 48-kong-guided-evaluation.md</a:t>
            </a:r>
          </a:p>
          <a:p xmlns:a="http://schemas.openxmlformats.org/drawingml/2006/main">
            <a:r>
              <a:t>- ../research/glossary.md#kong-terminology-crosswalk</a:t>
            </a:r>
          </a:p>
          <a:p xmlns:a="http://schemas.openxmlformats.org/drawingml/2006/main">
            <a:r>
              <a:t>- https://docs.mulesoft.com/gateway/latest/</a:t>
            </a:r>
          </a:p>
          <a:p xmlns:a="http://schemas.openxmlformats.org/drawingml/2006/main">
            <a:r>
              <a:t>- https://docs.cloud.google.com/apigee/docs/api-platform/fundamentals/download-api-proxies</a:t>
            </a:r>
          </a:p>
          <a:p xmlns:a="http://schemas.openxmlformats.org/drawingml/2006/main">
            <a:r>
              <a:t>- https://docs.cloud.google.com/apigee/docs/api-platform/reference/api-proxy-configuration-reference</a:t>
            </a:r>
          </a:p>
          <a:p xmlns:a="http://schemas.openxmlformats.org/drawingml/2006/main">
            <a:r>
              <a:t>- https://developer.konghq.com/gateway/deployment-topologies/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Reset confidence before discussing production outcomes.</a:t>
            </a:r>
          </a:p>
          <a:p xmlns:a="http://schemas.openxmlformats.org/drawingml/2006/main">
            <a:r>
              <a:t/>
            </a:r>
          </a:p>
          <a:p xmlns:a="http://schemas.openxmlformats.org/drawingml/2006/main">
            <a:r>
              <a:t>[Talk track]</a:t>
            </a:r>
          </a:p>
          <a:p xmlns:a="http://schemas.openxmlformats.org/drawingml/2006/main">
            <a:r>
              <a:t>Five of sixteen aggregate register items are automated local-baseline checks; eleven are not run. A separate protocol defines 28 atomic comparison cases. Neither system contains target-option E3/E4 results for KP-SMH1.</a:t>
            </a:r>
          </a:p>
          <a:p xmlns:a="http://schemas.openxmlformats.org/drawingml/2006/main">
            <a:r>
              <a:t/>
            </a:r>
          </a:p>
          <a:p xmlns:a="http://schemas.openxmlformats.org/drawingml/2006/main">
            <a:r>
              <a:t>[Ask]</a:t>
            </a:r>
          </a:p>
          <a:p xmlns:a="http://schemas.openxmlformats.org/drawingml/2006/main">
            <a:r>
              <a:t>Authorize the evidence programme and keep all not-run states explicit.</a:t>
            </a:r>
          </a:p>
          <a:p xmlns:a="http://schemas.openxmlformats.org/drawingml/2006/main">
            <a:r>
              <a:t/>
            </a:r>
          </a:p>
          <a:p xmlns:a="http://schemas.openxmlformats.org/drawingml/2006/main">
            <a:r>
              <a:t>[Bridge]</a:t>
            </a:r>
          </a:p>
          <a:p xmlns:a="http://schemas.openxmlformats.org/drawingml/2006/main">
            <a:r>
              <a:t>The gap is not a lack of scripts—it is a lack of target-aligned execution evidence. The next slide defines the proof programme.</a:t>
            </a:r>
          </a:p>
          <a:p xmlns:a="http://schemas.openxmlformats.org/drawingml/2006/main">
            <a:r>
              <a:t/>
            </a:r>
          </a:p>
          <a:p xmlns:a="http://schemas.openxmlformats.org/drawingml/2006/main">
            <a:r>
              <a:t>[Caveat]</a:t>
            </a:r>
          </a:p>
          <a:p xmlns:a="http://schemas.openxmlformats.org/drawingml/2006/main">
            <a:r>
              <a:t>The 16 aggregate items and 28 atomic cases are different systems and must not be added together.</a:t>
            </a:r>
          </a:p>
          <a:p xmlns:a="http://schemas.openxmlformats.org/drawingml/2006/main">
            <a:r>
              <a:t/>
            </a:r>
          </a:p>
          <a:p xmlns:a="http://schemas.openxmlformats.org/drawingml/2006/main">
            <a:r>
              <a:t>[Sources]</a:t>
            </a:r>
          </a:p>
          <a:p xmlns:a="http://schemas.openxmlformats.org/drawingml/2006/main">
            <a:r>
              <a:t>- poc/README.md</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Turn the current evidence gap into an executable, target-shaped proof programme.</a:t>
            </a:r>
          </a:p>
          <a:p xmlns:a="http://schemas.openxmlformats.org/drawingml/2006/main">
            <a:r>
              <a:t/>
            </a:r>
          </a:p>
          <a:p xmlns:a="http://schemas.openxmlformats.org/drawingml/2006/main">
            <a:r>
              <a:t>[Talk track]</a:t>
            </a:r>
          </a:p>
          <a:p xmlns:a="http://schemas.openxmlformats.org/drawingml/2006/main">
            <a:r>
              <a:t>This is not a larger feature demonstration. GEP-01–06 prove the target, APIOps, regional resilience, enterprise IAM, separate agentic study, and evidence-gated recommendation. GEP-07 is a separate security-adjunct feasibility line for Kong plus Traceable against the security team’s Mule baseline. Each workstream needs a representative environment, public role owner, exact BOM, method, measure, acceptance artifact, threshold, independent reviewer, and stop condition.</a:t>
            </a:r>
          </a:p>
          <a:p xmlns:a="http://schemas.openxmlformats.org/drawingml/2006/main">
            <a:r>
              <a:t/>
            </a:r>
          </a:p>
          <a:p xmlns:a="http://schemas.openxmlformats.org/drawingml/2006/main">
            <a:r>
              <a:t>[Ask]</a:t>
            </a:r>
          </a:p>
          <a:p xmlns:a="http://schemas.openxmlformats.org/drawingml/2006/main">
            <a:r>
              <a:t>Approve these seven workstreams, their role owners, capacity, evidence budget, reviewers, and stop authority—not production scale and not a Traceable production recommendation.</a:t>
            </a:r>
          </a:p>
          <a:p xmlns:a="http://schemas.openxmlformats.org/drawingml/2006/main">
            <a:r>
              <a:t/>
            </a:r>
          </a:p>
          <a:p xmlns:a="http://schemas.openxmlformats.org/drawingml/2006/main">
            <a:r>
              <a:t>[Bridge]</a:t>
            </a:r>
          </a:p>
          <a:p xmlns:a="http://schemas.openxmlformats.org/drawingml/2006/main">
            <a:r>
              <a:t>Once the proof scope is fixed, production readiness is judged through the outcome measures and acceptance artifacts that follow.</a:t>
            </a:r>
          </a:p>
          <a:p xmlns:a="http://schemas.openxmlformats.org/drawingml/2006/main">
            <a:r>
              <a:t/>
            </a:r>
          </a:p>
          <a:p xmlns:a="http://schemas.openxmlformats.org/drawingml/2006/main">
            <a:r>
              <a:t>[Caveat]</a:t>
            </a:r>
          </a:p>
          <a:p xmlns:a="http://schemas.openxmlformats.org/drawingml/2006/main">
            <a:r>
              <a:t>These are required proof activities, not completed results. For GEP-07, current documentation supports only an `E1` plugin/agent feasibility path. It does not certify the exact Kong Enterprise 3.14 patch, plugin/TPA/EDS BOM, topology, entitlement, support, performance, protocol/payload/streaming coverage, data handling, fail behavior, comparative parity, lifecycle, cost, or production outcome.</a:t>
            </a:r>
          </a:p>
          <a:p xmlns:a="http://schemas.openxmlformats.org/drawingml/2006/main">
            <a:r>
              <a:t/>
            </a:r>
          </a:p>
          <a:p xmlns:a="http://schemas.openxmlformats.org/drawingml/2006/main">
            <a:r>
              <a:t>[Sources]</a:t>
            </a:r>
          </a:p>
          <a:p xmlns:a="http://schemas.openxmlformats.org/drawingml/2006/main">
            <a:r>
              <a:t>- 48-kong-guided-evaluation.md#seven-workstream-target-aligned-proof-programme</a:t>
            </a:r>
          </a:p>
          <a:p xmlns:a="http://schemas.openxmlformats.org/drawingml/2006/main">
            <a:r>
              <a:t>- 48-kong-guided-evaluation.md#traceable-by-harness-security-adjunct-feasibility</a:t>
            </a:r>
          </a:p>
          <a:p xmlns:a="http://schemas.openxmlformats.org/drawingml/2006/main">
            <a:r>
              <a:t>- https://developer.konghq.com/gateway/version-support-policy/</a:t>
            </a:r>
          </a:p>
          <a:p xmlns:a="http://schemas.openxmlformats.org/drawingml/2006/main">
            <a:r>
              <a:t>- https://developer.konghq.com/gateway/hybrid-mode/</a:t>
            </a:r>
          </a:p>
          <a:p xmlns:a="http://schemas.openxmlformats.org/drawingml/2006/main">
            <a:r>
              <a:t>- https://developer.konghq.com/gateway/monitoring/</a:t>
            </a:r>
          </a:p>
          <a:p xmlns:a="http://schemas.openxmlformats.org/drawingml/2006/main">
            <a:r>
              <a:t>- https://developer.konghq.com/ai-gateway/</a:t>
            </a:r>
          </a:p>
          <a:p xmlns:a="http://schemas.openxmlformats.org/drawingml/2006/main">
            <a:r>
              <a:t>- https://docs.traceable.ai/docs/kong</a:t>
            </a:r>
          </a:p>
          <a:p xmlns:a="http://schemas.openxmlformats.org/drawingml/2006/main">
            <a:r>
              <a:t>- https://developer.konghq.com/plugins/harness-waap/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Translate the first five production outcomes into decision evidence.</a:t>
            </a:r>
          </a:p>
          <a:p xmlns:a="http://schemas.openxmlformats.org/drawingml/2006/main">
            <a:r>
              <a:t/>
            </a:r>
          </a:p>
          <a:p xmlns:a="http://schemas.openxmlformats.org/drawingml/2006/main">
            <a:r>
              <a:t>[Talk track]</a:t>
            </a:r>
          </a:p>
          <a:p xmlns:a="http://schemas.openxmlformats.org/drawingml/2006/main">
            <a:r>
              <a:t>Each mechanism is paired with a measurable outcome and a reviewable artifact. State fidelity, request reliability, trust admission, recovery and safe change are all separate admission dimensions.</a:t>
            </a:r>
          </a:p>
          <a:p xmlns:a="http://schemas.openxmlformats.org/drawingml/2006/main">
            <a:r>
              <a:t/>
            </a:r>
          </a:p>
          <a:p xmlns:a="http://schemas.openxmlformats.org/drawingml/2006/main">
            <a:r>
              <a:t>[Ask]</a:t>
            </a:r>
          </a:p>
          <a:p xmlns:a="http://schemas.openxmlformats.org/drawingml/2006/main">
            <a:r>
              <a:t>Confirm target forms, artifacts, cadence and accountable owners for KO-1 through KO-5.</a:t>
            </a:r>
          </a:p>
          <a:p xmlns:a="http://schemas.openxmlformats.org/drawingml/2006/main">
            <a:r>
              <a:t/>
            </a:r>
          </a:p>
          <a:p xmlns:a="http://schemas.openxmlformats.org/drawingml/2006/main">
            <a:r>
              <a:t>[Bridge]</a:t>
            </a:r>
          </a:p>
          <a:p xmlns:a="http://schemas.openxmlformats.org/drawingml/2006/main">
            <a:r>
              <a:t>Scale also depends on capacity, adoption, economics, exit and estate truth.</a:t>
            </a:r>
          </a:p>
          <a:p xmlns:a="http://schemas.openxmlformats.org/drawingml/2006/main">
            <a:r>
              <a:t/>
            </a:r>
          </a:p>
          <a:p xmlns:a="http://schemas.openxmlformats.org/drawingml/2006/main">
            <a:r>
              <a:t>[Caveat]</a:t>
            </a:r>
          </a:p>
          <a:p xmlns:a="http://schemas.openxmlformats.org/drawingml/2006/main">
            <a:r>
              <a:t>The slide shows target forms, not achieved results.</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Complete the production decision with non-functional and organizational outcomes.</a:t>
            </a:r>
          </a:p>
          <a:p xmlns:a="http://schemas.openxmlformats.org/drawingml/2006/main">
            <a:r>
              <a:t/>
            </a:r>
          </a:p>
          <a:p xmlns:a="http://schemas.openxmlformats.org/drawingml/2006/main">
            <a:r>
              <a:t>[Talk track]</a:t>
            </a:r>
          </a:p>
          <a:p xmlns:a="http://schemas.openxmlformats.org/drawingml/2006/main">
            <a:r>
              <a:t>Capacity and evidence safety matter, but so do adoption, operating sustainability, exit readiness and accurate estate ownership. KO-7 is an outcome: administrative/configuration audit, request and security-decision correlation, business evidence, quantified produced/queued/dropped/delivered gaps, and prohibited-field control. Traceable may be one candidate mechanism, but no product name can make KO-7 pass.</a:t>
            </a:r>
          </a:p>
          <a:p xmlns:a="http://schemas.openxmlformats.org/drawingml/2006/main">
            <a:r>
              <a:t/>
            </a:r>
          </a:p>
          <a:p xmlns:a="http://schemas.openxmlformats.org/drawingml/2006/main">
            <a:r>
              <a:t>[Ask]</a:t>
            </a:r>
          </a:p>
          <a:p xmlns:a="http://schemas.openxmlformats.org/drawingml/2006/main">
            <a:r>
              <a:t>Confirm which outcome is currently the likely scale blocker, which public role owns it, and whether any Traceable dependency is being treated as a mechanism to prove rather than an achieved outcome.</a:t>
            </a:r>
          </a:p>
          <a:p xmlns:a="http://schemas.openxmlformats.org/drawingml/2006/main">
            <a:r>
              <a:t/>
            </a:r>
          </a:p>
          <a:p xmlns:a="http://schemas.openxmlformats.org/drawingml/2006/main">
            <a:r>
              <a:t>[Bridge]</a:t>
            </a:r>
          </a:p>
          <a:p xmlns:a="http://schemas.openxmlformats.org/drawingml/2006/main">
            <a:r>
              <a:t>The final decision must preserve four outcomes: scale, narrow, switch custody or exit.</a:t>
            </a:r>
          </a:p>
          <a:p xmlns:a="http://schemas.openxmlformats.org/drawingml/2006/main">
            <a:r>
              <a:t/>
            </a:r>
          </a:p>
          <a:p xmlns:a="http://schemas.openxmlformats.org/drawingml/2006/main">
            <a:r>
              <a:t>[Caveat]</a:t>
            </a:r>
          </a:p>
          <a:p xmlns:a="http://schemas.openxmlformats.org/drawingml/2006/main">
            <a:r>
              <a:t>These are acceptance categories; no result is asserted on this slide. GEP-07 evidence may inform KO-7 only inside its exact tested boundary and cannot substitute for configuration audit, signal-gap accounting, business correlation, or enterprise evidence controls.</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- 48-kong-guided-evaluation.md#traceable-by-harness-security-adjunct-feasibility</a:t>
            </a:r>
          </a:p>
          <a:p xmlns:a="http://schemas.openxmlformats.org/drawingml/2006/main">
            <a:r>
              <a:t>- https://developer.konghq.com/gateway/hybrid-mode/</a:t>
            </a:r>
          </a:p>
          <a:p xmlns:a="http://schemas.openxmlformats.org/drawingml/2006/main">
            <a:r>
              <a:t>- https://developer.konghq.com/gateway/monitoring/</a:t>
            </a:r>
          </a:p>
          <a:p xmlns:a="http://schemas.openxmlformats.org/drawingml/2006/main">
            <a:r>
              <a:t>- https://docs.traceable.ai/docs/kong</a:t>
            </a:r>
          </a:p>
          <a:p xmlns:a="http://schemas.openxmlformats.org/drawingml/2006/main">
            <a:r>
              <a:t>- https://developer.konghq.com/plugins/harness-waap/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Close with a falsifiable decision rather than a predetermined rollout.</a:t>
            </a:r>
          </a:p>
          <a:p xmlns:a="http://schemas.openxmlformats.org/drawingml/2006/main">
            <a:r>
              <a:t/>
            </a:r>
          </a:p>
          <a:p xmlns:a="http://schemas.openxmlformats.org/drawingml/2006/main">
            <a:r>
              <a:t>[Talk track]</a:t>
            </a:r>
          </a:p>
          <a:p xmlns:a="http://schemas.openxmlformats.org/drawingml/2006/main">
            <a:r>
              <a:t>Before evidence runs, commit to four possible outcomes: scale, narrow, switch custody or exit the platform. Recommendation changes when external API governance dominates, Anypoint remains strategic, Azure consolidation outweighs neutrality, custody/offline requirements fail, or E3/E4 and TCO evidence does not close.</a:t>
            </a:r>
          </a:p>
          <a:p xmlns:a="http://schemas.openxmlformats.org/drawingml/2006/main">
            <a:r>
              <a:t/>
            </a:r>
          </a:p>
          <a:p xmlns:a="http://schemas.openxmlformats.org/drawingml/2006/main">
            <a:r>
              <a:t>[Ask]</a:t>
            </a:r>
          </a:p>
          <a:p xmlns:a="http://schemas.openxmlformats.org/drawingml/2006/main">
            <a:r>
              <a:t>Approve the decision outcomes and the authority to stop or change course.</a:t>
            </a:r>
          </a:p>
          <a:p xmlns:a="http://schemas.openxmlformats.org/drawingml/2006/main">
            <a:r>
              <a:t/>
            </a:r>
          </a:p>
          <a:p xmlns:a="http://schemas.openxmlformats.org/drawingml/2006/main">
            <a:r>
              <a:t>[Bridge]</a:t>
            </a:r>
          </a:p>
          <a:p xmlns:a="http://schemas.openxmlformats.org/drawingml/2006/main">
            <a:r>
              <a:t>The appendix preserves the supplied comparison inputs without presenting them as proven facts.</a:t>
            </a:r>
          </a:p>
          <a:p xmlns:a="http://schemas.openxmlformats.org/drawingml/2006/main">
            <a:r>
              <a:t/>
            </a:r>
          </a:p>
          <a:p xmlns:a="http://schemas.openxmlformats.org/drawingml/2006/main">
            <a:r>
              <a:t>[Caveat]</a:t>
            </a:r>
          </a:p>
          <a:p xmlns:a="http://schemas.openxmlformats.org/drawingml/2006/main">
            <a:r>
              <a:t>No outcome is preselected. Konnect is a custody switch; a true platform exit remains separate.</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Preserve the sanitized supplied evaluation’s architectural comparison while making the new multicloud, scalability, and robustness obligations explicit.</a:t>
            </a:r>
          </a:p>
          <a:p xmlns:a="http://schemas.openxmlformats.org/drawingml/2006/main">
            <a:r>
              <a:t/>
            </a:r>
          </a:p>
          <a:p xmlns:a="http://schemas.openxmlformats.org/drawingml/2006/main">
            <a:r>
              <a:t>[Talk track]</a:t>
            </a:r>
          </a:p>
          <a:p xmlns:a="http://schemas.openxmlformats.org/drawingml/2006/main">
            <a:r>
              <a:t>The supplied labels remain stakeholder assessments preserved in docs/48. Official documentation supports high-level deployment mechanisms, not relative outcomes. GEC-19 keeps scalability and robustness explicitly unscored until equivalent target-shaped load, saturation, clean-node scale, failure, recovery, and reconciliation evidence exists. Multicloud must separate runtime placement from management dependency, sovereignty, failure independence, support, and operating cost.</a:t>
            </a:r>
          </a:p>
          <a:p xmlns:a="http://schemas.openxmlformats.org/drawingml/2006/main">
            <a:r>
              <a:t/>
            </a:r>
          </a:p>
          <a:p xmlns:a="http://schemas.openxmlformats.org/drawingml/2006/main">
            <a:r>
              <a:t>[Ask]</a:t>
            </a:r>
          </a:p>
          <a:p xmlns:a="http://schemas.openxmlformats.org/drawingml/2006/main">
            <a:r>
              <a:t>Use this table to assign symmetric architecture/SRE proof questions, not to add favorable labels or ratings in the room.</a:t>
            </a:r>
          </a:p>
          <a:p xmlns:a="http://schemas.openxmlformats.org/drawingml/2006/main">
            <a:r>
              <a:t/>
            </a:r>
          </a:p>
          <a:p xmlns:a="http://schemas.openxmlformats.org/drawingml/2006/main">
            <a:r>
              <a:t>[Bridge]</a:t>
            </a:r>
          </a:p>
          <a:p xmlns:a="http://schemas.openxmlformats.org/drawingml/2006/main">
            <a:r>
              <a:t>The next appendix page covers API management, experience and AI claims.</a:t>
            </a:r>
          </a:p>
          <a:p xmlns:a="http://schemas.openxmlformats.org/drawingml/2006/main">
            <a:r>
              <a:t/>
            </a:r>
          </a:p>
          <a:p xmlns:a="http://schemas.openxmlformats.org/drawingml/2006/main">
            <a:r>
              <a:t>[Caveat]</a:t>
            </a:r>
          </a:p>
          <a:p xmlns:a="http://schemas.openxmlformats.org/drawingml/2006/main">
            <a:r>
              <a:t>Qualitative ratings are not independently validated and may change by exact edition, release, topology, entitlement, workload, region, dependency, and operating model. “Multicloud” and “scalable” are not scoreable yes/no features.</a:t>
            </a:r>
          </a:p>
          <a:p xmlns:a="http://schemas.openxmlformats.org/drawingml/2006/main">
            <a:r>
              <a:t/>
            </a:r>
          </a:p>
          <a:p xmlns:a="http://schemas.openxmlformats.org/drawingml/2006/main">
            <a:r>
              <a:t>[Sources]</a:t>
            </a:r>
          </a:p>
          <a:p xmlns:a="http://schemas.openxmlformats.org/drawingml/2006/main">
            <a:r>
              <a:t>- 48-kong-guided-evaluation.md#supplied-comparison-input-architecture-and-delivery</a:t>
            </a:r>
          </a:p>
          <a:p xmlns:a="http://schemas.openxmlformats.org/drawingml/2006/main">
            <a:r>
              <a:t>- 48-kong-guided-evaluation.md#meeting-feedback-assurance-crosswalk</a:t>
            </a:r>
          </a:p>
          <a:p xmlns:a="http://schemas.openxmlformats.org/drawingml/2006/main">
            <a:r>
              <a:t>- 48-kong-guided-evaluation.md#proposed-governed-re-score</a:t>
            </a:r>
          </a:p>
          <a:p xmlns:a="http://schemas.openxmlformats.org/drawingml/2006/main">
            <a:r>
              <a:t>- https://developer.konghq.com/gateway/deployment-topologies/</a:t>
            </a:r>
          </a:p>
          <a:p xmlns:a="http://schemas.openxmlformats.org/drawingml/2006/main">
            <a:r>
              <a:t>- https://developer.konghq.com/gateway/hybrid-mode/</a:t>
            </a:r>
          </a:p>
          <a:p xmlns:a="http://schemas.openxmlformats.org/drawingml/2006/main">
            <a:r>
              <a:t>- https://developer.konghq.com/ai-gateway/</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Preserve the management and experience claims while making emerging AI and third-party security-adjunct evidence boundaries explicit.</a:t>
            </a:r>
          </a:p>
          <a:p xmlns:a="http://schemas.openxmlformats.org/drawingml/2006/main">
            <a:r>
              <a:t/>
            </a:r>
          </a:p>
          <a:p xmlns:a="http://schemas.openxmlformats.org/drawingml/2006/main">
            <a:r>
              <a:t>[Talk track]</a:t>
            </a:r>
          </a:p>
          <a:p xmlns:a="http://schemas.openxmlformats.org/drawingml/2006/main">
            <a:r>
              <a:t>Lifecycle, governance, portal, developer experience, AI, customization, and best-fit claims must be tested against required use cases. GEC-20 records Kong-plus-Traceable as documented feasibility only: a plugin/agent path does not prove exact 3.14 support, security effectiveness, traceability, data safety, performance, scaling, comparative parity, cost, or safe lifecycle behavior.</a:t>
            </a:r>
          </a:p>
          <a:p xmlns:a="http://schemas.openxmlformats.org/drawingml/2006/main">
            <a:r>
              <a:t/>
            </a:r>
          </a:p>
          <a:p xmlns:a="http://schemas.openxmlformats.org/drawingml/2006/main">
            <a:r>
              <a:t>[Ask]</a:t>
            </a:r>
          </a:p>
          <a:p xmlns:a="http://schemas.openxmlformats.org/drawingml/2006/main">
            <a:r>
              <a:t>Move every unverified adjective into the proof backlog with a public role owner, exact option/BOM, artifact, reviewer, and stop rule. Confirm that Traceable remains GEP-07 rather than a gateway option or score.</a:t>
            </a:r>
          </a:p>
          <a:p xmlns:a="http://schemas.openxmlformats.org/drawingml/2006/main">
            <a:r>
              <a:t/>
            </a:r>
          </a:p>
          <a:p xmlns:a="http://schemas.openxmlformats.org/drawingml/2006/main">
            <a:r>
              <a:t>[Bridge]</a:t>
            </a:r>
          </a:p>
          <a:p xmlns:a="http://schemas.openxmlformats.org/drawingml/2006/main">
            <a:r>
              <a:t>The next appendix page covers lock-in, cost, the supplied overall recommendation, and the evidence ceiling.</a:t>
            </a:r>
          </a:p>
          <a:p xmlns:a="http://schemas.openxmlformats.org/drawingml/2006/main">
            <a:r>
              <a:t/>
            </a:r>
          </a:p>
          <a:p xmlns:a="http://schemas.openxmlformats.org/drawingml/2006/main">
            <a:r>
              <a:t>[Caveat]</a:t>
            </a:r>
          </a:p>
          <a:p xmlns:a="http://schemas.openxmlformats.org/drawingml/2006/main">
            <a:r>
              <a:t>Product, plugin, agent, entitlement, support, and commercial terms are edition-, version-, topology-, and date-dependent. Current Traceable/Kong documentation is `E1` mechanism evidence only.</a:t>
            </a:r>
          </a:p>
          <a:p xmlns:a="http://schemas.openxmlformats.org/drawingml/2006/main">
            <a:r>
              <a:t/>
            </a:r>
          </a:p>
          <a:p xmlns:a="http://schemas.openxmlformats.org/drawingml/2006/main">
            <a:r>
              <a:t>[Sources]</a:t>
            </a:r>
          </a:p>
          <a:p xmlns:a="http://schemas.openxmlformats.org/drawingml/2006/main">
            <a:r>
              <a:t>- 48-kong-guided-evaluation.md#supplied-comparison-input-management-experience-and-ai</a:t>
            </a:r>
          </a:p>
          <a:p xmlns:a="http://schemas.openxmlformats.org/drawingml/2006/main">
            <a:r>
              <a:t>- 48-kong-guided-evaluation.md#traceable-by-harness-security-adjunct-feasibility</a:t>
            </a:r>
          </a:p>
          <a:p xmlns:a="http://schemas.openxmlformats.org/drawingml/2006/main">
            <a:r>
              <a:t>- https://developer.konghq.com/gateway/deployment-topologies/</a:t>
            </a:r>
          </a:p>
          <a:p xmlns:a="http://schemas.openxmlformats.org/drawingml/2006/main">
            <a:r>
              <a:t>- https://developer.konghq.com/ai-gateway/</a:t>
            </a:r>
          </a:p>
          <a:p xmlns:a="http://schemas.openxmlformats.org/drawingml/2006/main">
            <a:r>
              <a:t>- https://docs.traceable.ai/docs/kong</a:t>
            </a:r>
          </a:p>
          <a:p xmlns:a="http://schemas.openxmlformats.org/drawingml/2006/main">
            <a:r>
              <a:t>- https://developer.konghq.com/plugins/harness-waap/</a:t>
            </a:r>
          </a:p>
          <a:p xmlns:a="http://schemas.openxmlformats.org/drawingml/2006/main">
            <a:r>
              <a:t>- https://docs.traceable.ai/docs/tracing-agents-rule-evaluation-for-protection</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Expose pricing, operating-duty, adjunct-cost, lock-in, and exit claims as separate proof obligations rather than conclusions.</a:t>
            </a:r>
          </a:p>
          <a:p xmlns:a="http://schemas.openxmlformats.org/drawingml/2006/main">
            <a:r>
              <a:t/>
            </a:r>
          </a:p>
          <a:p xmlns:a="http://schemas.openxmlformats.org/drawingml/2006/main">
            <a:r>
              <a:t>[Talk track]</a:t>
            </a:r>
          </a:p>
          <a:p xmlns:a="http://schemas.openxmlformats.org/drawingml/2006/main">
            <a:r>
              <a:t>Public price pages define meters or quote boundaries, not a comparable price rank. Fully allocated TCO requires exact options and quotes plus infrastructure, PostgreSQL, PKI, platform/SRE/on-call labor, HA/DR, telemetry, portal/product tooling, network/egress, plugins and security adjuncts, support, migration, dual run, incident exposure, custody switch, and clean exit. Lock-in requires an observed representative non-source rebuild and a ledger of configuration/policy, identity/product state, data/analytics, plugin, procedure, support, and commercial dependencies.</a:t>
            </a:r>
          </a:p>
          <a:p xmlns:a="http://schemas.openxmlformats.org/drawingml/2006/main">
            <a:r>
              <a:t/>
            </a:r>
          </a:p>
          <a:p xmlns:a="http://schemas.openxmlformats.org/drawingml/2006/main">
            <a:r>
              <a:t>[Ask]</a:t>
            </a:r>
          </a:p>
          <a:p xmlns:a="http://schemas.openxmlformats.org/drawingml/2006/main">
            <a:r>
              <a:t>Assign public FinOps, sourcing, platform/SRE, security-adjunct, migration, and independent-review roles for the normalized low/base/high model, rebuild, custody switch, and clean-exit evidence.</a:t>
            </a:r>
          </a:p>
          <a:p xmlns:a="http://schemas.openxmlformats.org/drawingml/2006/main">
            <a:r>
              <a:t/>
            </a:r>
          </a:p>
          <a:p xmlns:a="http://schemas.openxmlformats.org/drawingml/2006/main">
            <a:r>
              <a:t>[Bridge]</a:t>
            </a:r>
          </a:p>
          <a:p xmlns:a="http://schemas.openxmlformats.org/drawingml/2006/main">
            <a:r>
              <a:t>The final appendix page exposes the raw score inputs and corrected arithmetic.</a:t>
            </a:r>
          </a:p>
          <a:p xmlns:a="http://schemas.openxmlformats.org/drawingml/2006/main">
            <a:r>
              <a:t/>
            </a:r>
          </a:p>
          <a:p xmlns:a="http://schemas.openxmlformats.org/drawingml/2006/main">
            <a:r>
              <a:t>[Caveat]</a:t>
            </a:r>
          </a:p>
          <a:p xmlns:a="http://schemas.openxmlformats.org/drawingml/2006/main">
            <a:r>
              <a:t>Commercial terms and estate leverage are organization- and date-specific. Do not publish restricted quotes. The public record should expose meter/quote boundaries, assumptions, role ownership, evidence state, and disposition only. Operating accountability is not a legal-liability verdict.</a:t>
            </a:r>
          </a:p>
          <a:p xmlns:a="http://schemas.openxmlformats.org/drawingml/2006/main">
            <a:r>
              <a:t/>
            </a:r>
          </a:p>
          <a:p xmlns:a="http://schemas.openxmlformats.org/drawingml/2006/main">
            <a:r>
              <a:t>[Sources]</a:t>
            </a:r>
          </a:p>
          <a:p xmlns:a="http://schemas.openxmlformats.org/drawingml/2006/main">
            <a:r>
              <a:t>- 48-kong-guided-evaluation.md#supplied-comparison-input-economics-and-evidence-ceiling</a:t>
            </a:r>
          </a:p>
          <a:p xmlns:a="http://schemas.openxmlformats.org/drawingml/2006/main">
            <a:r>
              <a:t>- 48-kong-guided-evaluation.md#proposed-governed-re-score</a:t>
            </a:r>
          </a:p>
          <a:p xmlns:a="http://schemas.openxmlformats.org/drawingml/2006/main">
            <a:r>
              <a:t>- https://konghq.com/pricing</a:t>
            </a:r>
          </a:p>
          <a:p xmlns:a="http://schemas.openxmlformats.org/drawingml/2006/main">
            <a:r>
              <a:t>- https://cloud.google.com/apigee/pricing</a:t>
            </a:r>
          </a:p>
          <a:p xmlns:a="http://schemas.openxmlformats.org/drawingml/2006/main">
            <a:r>
              <a:t>- https://www.mulesoft.com/anypoint-pricing</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https://docs.traceable.ai/docs/kong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Provide an auditable record of the source scorecard while making the unfinished governed recalculation visible.</a:t>
            </a:r>
          </a:p>
          <a:p xmlns:a="http://schemas.openxmlformats.org/drawingml/2006/main">
            <a:r>
              <a:t/>
            </a:r>
          </a:p>
          <a:p xmlns:a="http://schemas.openxmlformats.org/drawingml/2006/main">
            <a:r>
              <a:t>[Talk track]</a:t>
            </a:r>
          </a:p>
          <a:p xmlns:a="http://schemas.openxmlformats.org/drawingml/2006/main">
            <a:r>
              <a:t>The inputs are preserved from the sanitized supplied evaluation. Recalculating weight times rating yields 93 for Kong, 85.5 for Apigee, and 77 for MuleSoft. Those values remain historical stakeholder input. `GRS-01`–`GRS-06` adds multicloud, scalability/robustness, security/IAM/traceability, reversibility/vendor dependency, fully allocated TCO, and control-plane operating responsibility to a future governed specification; every added weight and rating remains `TBD`.</a:t>
            </a:r>
          </a:p>
          <a:p xmlns:a="http://schemas.openxmlformats.org/drawingml/2006/main">
            <a:r>
              <a:t/>
            </a:r>
          </a:p>
          <a:p xmlns:a="http://schemas.openxmlformats.org/drawingml/2006/main">
            <a:r>
              <a:t>[Ask]</a:t>
            </a:r>
          </a:p>
          <a:p xmlns:a="http://schemas.openxmlformats.org/drawingml/2006/main">
            <a:r>
              <a:t>If the scorecard remains a governance artifact, approve exact options, mandatory gates, the scoring rubric, score-capable common evidence, dimensions and weights/ranges, confidence/unknown treatment, role-based scorers and approvers, sensitivity, lower/upper bounds, maximum regret, dissent, and independent sign-off. Do not calculate a new total in the room.</a:t>
            </a:r>
          </a:p>
          <a:p xmlns:a="http://schemas.openxmlformats.org/drawingml/2006/main">
            <a:r>
              <a:t/>
            </a:r>
          </a:p>
          <a:p xmlns:a="http://schemas.openxmlformats.org/drawingml/2006/main">
            <a:r>
              <a:t>[Bridge]</a:t>
            </a:r>
          </a:p>
          <a:p xmlns:a="http://schemas.openxmlformats.org/drawingml/2006/main">
            <a:r>
              <a:t>Return to the bounded decision: direction plus proof, not critical scale.</a:t>
            </a:r>
          </a:p>
          <a:p xmlns:a="http://schemas.openxmlformats.org/drawingml/2006/main">
            <a:r>
              <a:t/>
            </a:r>
          </a:p>
          <a:p xmlns:a="http://schemas.openxmlformats.org/drawingml/2006/main">
            <a:r>
              <a:t>[Caveat]</a:t>
            </a:r>
          </a:p>
          <a:p xmlns:a="http://schemas.openxmlformats.org/drawingml/2006/main">
            <a:r>
              <a:t>Scores are illustrative stakeholder inputs, not an independent benchmark or production outcome. The pending re-score cannot be tuned to preserve a preferred order, and unknown evidence cannot silently become zero or earn points.</a:t>
            </a:r>
          </a:p>
          <a:p xmlns:a="http://schemas.openxmlformats.org/drawingml/2006/main">
            <a:r>
              <a:t/>
            </a:r>
          </a:p>
          <a:p xmlns:a="http://schemas.openxmlformats.org/drawingml/2006/main">
            <a:r>
              <a:t>[Sources]</a:t>
            </a:r>
          </a:p>
          <a:p xmlns:a="http://schemas.openxmlformats.org/drawingml/2006/main">
            <a:r>
              <a:t>- 48-kong-guided-evaluation.md#supplied-scoring-audit</a:t>
            </a:r>
          </a:p>
          <a:p xmlns:a="http://schemas.openxmlformats.org/drawingml/2006/main">
            <a:r>
              <a:t>- 48-kong-guided-evaluation.md#proposed-governed-re-score</a:t>
            </a:r>
          </a:p>
          <a:p xmlns:a="http://schemas.openxmlformats.org/drawingml/2006/main">
            <a:r>
              <a:t>- ../decision-matrix/scoring-guide.md</a:t>
            </a:r>
          </a:p>
          <a:p xmlns:a="http://schemas.openxmlformats.org/drawingml/2006/main">
            <a:r>
              <a:t>- https://developer.konghq.com/gateway/deployment-topologies/</a:t>
            </a:r>
          </a:p>
          <a:p xmlns:a="http://schemas.openxmlformats.org/drawingml/2006/main">
            <a:r>
              <a:t>- https://developer.konghq.com/ai-gateway/</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05a2ab82a04ab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6da81e66ea54597" /><Relationship Type="http://schemas.openxmlformats.org/officeDocument/2006/relationships/slideLayout" Target="/ppt/slideLayouts/slideLayout1.xml" Id="Rdc7a1757064443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7a1757064443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4667762d8694f23" /><Relationship Type="http://schemas.openxmlformats.org/officeDocument/2006/relationships/hyperlink" Target="https://github.com/tomqwu/apim/blob/main/docs/48-kong-guided-evaluation.md" TargetMode="External" Id="R18b3931df0674cbd" /><Relationship Type="http://schemas.openxmlformats.org/officeDocument/2006/relationships/hyperlink" Target="https://developer.konghq.com/gateway/deployment-topologies/" TargetMode="External" Id="R6f2cc002186e4538" /><Relationship Type="http://schemas.openxmlformats.org/officeDocument/2006/relationships/notesSlide" Target="/ppt/notesSlides/notesSlide1.xml" Id="R9de7696fbbe747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b7e1f5ac57d418d" /><Relationship Type="http://schemas.openxmlformats.org/officeDocument/2006/relationships/hyperlink" Target="https://github.com/tomqwu/apim/blob/main/docs/48-kong-guided-evaluation.md" TargetMode="External" Id="R192e07b295744540" /><Relationship Type="http://schemas.openxmlformats.org/officeDocument/2006/relationships/hyperlink" Target="https://developer.konghq.com/gateway/hybrid-mode/" TargetMode="External" Id="R499af43ac8924fbe" /><Relationship Type="http://schemas.openxmlformats.org/officeDocument/2006/relationships/notesSlide" Target="/ppt/notesSlides/notesSlide2.xml" Id="R473f3692750349c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f03b78e4dd743e9" /><Relationship Type="http://schemas.openxmlformats.org/officeDocument/2006/relationships/hyperlink" Target="https://github.com/tomqwu/apim/blob/main/docs/48-kong-guided-evaluation.md" TargetMode="External" Id="Rb3fc4f30f3cb47d9" /><Relationship Type="http://schemas.openxmlformats.org/officeDocument/2006/relationships/hyperlink" Target="https://developer.konghq.com/gateway/hybrid-mode/" TargetMode="External" Id="Rcf6e412bb60f4d85" /><Relationship Type="http://schemas.openxmlformats.org/officeDocument/2006/relationships/notesSlide" Target="/ppt/notesSlides/notesSlide3.xml" Id="Rb7cabafc1d8e4f6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19e2b679da149f1" /><Relationship Type="http://schemas.openxmlformats.org/officeDocument/2006/relationships/hyperlink" Target="https://github.com/tomqwu/apim/blob/main/docs/48-kong-guided-evaluation.md" TargetMode="External" Id="R1bbf74f275ce4491" /><Relationship Type="http://schemas.openxmlformats.org/officeDocument/2006/relationships/hyperlink" Target="https://docs.cloud.google.com/apigee/docs/hybrid/v1.16/what-is-hybrid" TargetMode="External" Id="R79b752accd5a476d" /><Relationship Type="http://schemas.openxmlformats.org/officeDocument/2006/relationships/notesSlide" Target="/ppt/notesSlides/notesSlide4.xml" Id="R76f0e77128e346d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2bc476eff49433a" /><Relationship Type="http://schemas.openxmlformats.org/officeDocument/2006/relationships/hyperlink" Target="https://github.com/tomqwu/apim/blob/main/docs/48-kong-guided-evaluation.md" TargetMode="External" Id="R169ecf520e9a4de8" /><Relationship Type="http://schemas.openxmlformats.org/officeDocument/2006/relationships/hyperlink" Target="https://developer.konghq.com/gateway/deployment-topologies/" TargetMode="External" Id="Rec3f0979ab254c34" /><Relationship Type="http://schemas.openxmlformats.org/officeDocument/2006/relationships/notesSlide" Target="/ppt/notesSlides/notesSlide5.xml" Id="R8f7765fea63049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bdc228c67c547f6" /><Relationship Type="http://schemas.openxmlformats.org/officeDocument/2006/relationships/hyperlink" Target="https://github.com/tomqwu/apim/blob/main/docs/48-kong-guided-evaluation.md" TargetMode="External" Id="R48c49c48f20c4a3a" /><Relationship Type="http://schemas.openxmlformats.org/officeDocument/2006/relationships/hyperlink" Target="https://developer.konghq.com/gateway/hybrid-mode/" TargetMode="External" Id="R478c41f9df1e4257" /><Relationship Type="http://schemas.openxmlformats.org/officeDocument/2006/relationships/notesSlide" Target="/ppt/notesSlides/notesSlide6.xml" Id="R19e0eb46fe39418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c642553c76f45ca" /><Relationship Type="http://schemas.openxmlformats.org/officeDocument/2006/relationships/hyperlink" Target="https://github.com/tomqwu/apim/blob/main/docs/44-kong-multicloud-study-roadmap.md" TargetMode="External" Id="Rfa7856dc91e14807" /><Relationship Type="http://schemas.openxmlformats.org/officeDocument/2006/relationships/hyperlink" Target="https://developer.konghq.com/gateway/hybrid-mode/" TargetMode="External" Id="Ra2f840fc46fd473b" /><Relationship Type="http://schemas.openxmlformats.org/officeDocument/2006/relationships/notesSlide" Target="/ppt/notesSlides/notesSlide7.xml" Id="R65aa025f2fab493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103000428ef4135" /><Relationship Type="http://schemas.openxmlformats.org/officeDocument/2006/relationships/hyperlink" Target="https://github.com/tomqwu/apim/blob/main/docs/47-kong-enterprise-platform-strategy.md" TargetMode="External" Id="R4e67341ed29f4aae" /><Relationship Type="http://schemas.openxmlformats.org/officeDocument/2006/relationships/hyperlink" Target="https://developer.konghq.com/gateway/hybrid-mode/" TargetMode="External" Id="R3c0d23fb5fb546f2" /><Relationship Type="http://schemas.openxmlformats.org/officeDocument/2006/relationships/notesSlide" Target="/ppt/notesSlides/notesSlide8.xml" Id="Rcf666b1d4c25409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6892220aad440bd" /><Relationship Type="http://schemas.openxmlformats.org/officeDocument/2006/relationships/hyperlink" Target="https://github.com/tomqwu/apim/blob/main/docs/47-kong-enterprise-platform-strategy.md" TargetMode="External" Id="R265fee4e8fb44b2e" /><Relationship Type="http://schemas.openxmlformats.org/officeDocument/2006/relationships/hyperlink" Target="https://developer.konghq.com/gateway/hybrid-mode/" TargetMode="External" Id="R7a167986bee34b7d" /><Relationship Type="http://schemas.openxmlformats.org/officeDocument/2006/relationships/notesSlide" Target="/ppt/notesSlides/notesSlide9.xml" Id="R8eca44c16195499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04add6fb75546fb" /><Relationship Type="http://schemas.openxmlformats.org/officeDocument/2006/relationships/hyperlink" Target="https://github.com/tomqwu/apim/blob/main/docs/47-kong-enterprise-platform-strategy.md" TargetMode="External" Id="R486679cd395d4f4b" /><Relationship Type="http://schemas.openxmlformats.org/officeDocument/2006/relationships/hyperlink" Target="https://developer.konghq.com/gateway/hybrid-mode/" TargetMode="External" Id="R882b0e3b9ba8486c" /><Relationship Type="http://schemas.openxmlformats.org/officeDocument/2006/relationships/notesSlide" Target="/ppt/notesSlides/notesSlide10.xml" Id="Rfdc236abeda2473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a30a243cdba4aab" /><Relationship Type="http://schemas.openxmlformats.org/officeDocument/2006/relationships/hyperlink" Target="https://github.com/tomqwu/apim/blob/main/docs/47-kong-enterprise-platform-strategy.md" TargetMode="External" Id="Rbc372a36e6814a61" /><Relationship Type="http://schemas.openxmlformats.org/officeDocument/2006/relationships/hyperlink" Target="https://developer.konghq.com/gateway/hybrid-mode/" TargetMode="External" Id="R1f842da340dc4db5" /><Relationship Type="http://schemas.openxmlformats.org/officeDocument/2006/relationships/notesSlide" Target="/ppt/notesSlides/notesSlide11.xml" Id="R6eefc69825bb410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d806586ad4048a0" /><Relationship Type="http://schemas.openxmlformats.org/officeDocument/2006/relationships/hyperlink" Target="https://github.com/tomqwu/apim/blob/main/docs/47-kong-enterprise-platform-strategy.md" TargetMode="External" Id="R986a96f400774a58" /><Relationship Type="http://schemas.openxmlformats.org/officeDocument/2006/relationships/hyperlink" Target="https://developer.konghq.com/gateway/monitoring/" TargetMode="External" Id="R26160a55e6e247e6" /><Relationship Type="http://schemas.openxmlformats.org/officeDocument/2006/relationships/notesSlide" Target="/ppt/notesSlides/notesSlide12.xml" Id="R1c52654aaf7540b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dd83c992b9d41e4" /><Relationship Type="http://schemas.openxmlformats.org/officeDocument/2006/relationships/hyperlink" Target="https://github.com/tomqwu/apim/blob/main/docs/47-kong-enterprise-platform-strategy.md" TargetMode="External" Id="R064ac837132c4098" /><Relationship Type="http://schemas.openxmlformats.org/officeDocument/2006/relationships/hyperlink" Target="https://developer.konghq.com/gateway/hybrid-mode/" TargetMode="External" Id="R15942daaa3cf4b43" /><Relationship Type="http://schemas.openxmlformats.org/officeDocument/2006/relationships/notesSlide" Target="/ppt/notesSlides/notesSlide13.xml" Id="Red815a0ab690488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aadeee8848a4610" /><Relationship Type="http://schemas.openxmlformats.org/officeDocument/2006/relationships/hyperlink" Target="https://github.com/tomqwu/apim/blob/main/docs/35-mule-migration-strategy.md" TargetMode="External" Id="Rdc1d9af182974e34" /><Relationship Type="http://schemas.openxmlformats.org/officeDocument/2006/relationships/hyperlink" Target="https://developer.konghq.com/gateway/entities/" TargetMode="External" Id="R15f6e7610c514a41" /><Relationship Type="http://schemas.openxmlformats.org/officeDocument/2006/relationships/notesSlide" Target="/ppt/notesSlides/notesSlide14.xml" Id="Rce0929b45a21425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c8a86826290433a" /><Relationship Type="http://schemas.openxmlformats.org/officeDocument/2006/relationships/hyperlink" Target="https://github.com/tomqwu/apim/blob/main/docs/35-mule-migration-strategy.md" TargetMode="External" Id="R09d9dda4f9024890" /><Relationship Type="http://schemas.openxmlformats.org/officeDocument/2006/relationships/hyperlink" Target="https://docs.mulesoft.com/gateway/latest/" TargetMode="External" Id="R4f6e0cf26e9042b3" /><Relationship Type="http://schemas.openxmlformats.org/officeDocument/2006/relationships/notesSlide" Target="/ppt/notesSlides/notesSlide15.xml" Id="R58da0697ab964ce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1ab64fd48b748ea" /><Relationship Type="http://schemas.openxmlformats.org/officeDocument/2006/relationships/hyperlink" Target="https://github.com/tomqwu/apim/blob/main/docs/50-apigee-migration-strategy.md#proposed-a0a6-migration-roadmap" TargetMode="External" Id="R911fb143ee444a90" /><Relationship Type="http://schemas.openxmlformats.org/officeDocument/2006/relationships/hyperlink" Target="https://github.com/tomqwu/apim/blob/main/docs/35-mule-migration-strategy.md" TargetMode="External" Id="Rac7c1ddceb70471f" /><Relationship Type="http://schemas.openxmlformats.org/officeDocument/2006/relationships/hyperlink" Target="https://docs.cloud.google.com/apigee/docs/api-platform/fundamentals/download-api-proxies" TargetMode="External" Id="R9e76e9e80ab14a5c" /><Relationship Type="http://schemas.openxmlformats.org/officeDocument/2006/relationships/notesSlide" Target="/ppt/notesSlides/notesSlide16.xml" Id="R092cd32fdcb74ad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e97830d5d824c0c" /><Relationship Type="http://schemas.openxmlformats.org/officeDocument/2006/relationships/hyperlink" Target="https://github.com/tomqwu/apim/blob/main/poc/README.md" TargetMode="External" Id="R7b24b5b1d5ec44bd" /><Relationship Type="http://schemas.openxmlformats.org/officeDocument/2006/relationships/hyperlink" Target="https://developer.konghq.com/gateway/monitoring/" TargetMode="External" Id="R6058eb4ba4084118" /><Relationship Type="http://schemas.openxmlformats.org/officeDocument/2006/relationships/notesSlide" Target="/ppt/notesSlides/notesSlide17.xml" Id="R265944dfac5644e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435fdbeb2804a2b" /><Relationship Type="http://schemas.openxmlformats.org/officeDocument/2006/relationships/hyperlink" Target="https://github.com/tomqwu/apim/blob/main/docs/48-kong-guided-evaluation.md" TargetMode="External" Id="R1cca879826c049e8" /><Relationship Type="http://schemas.openxmlformats.org/officeDocument/2006/relationships/hyperlink" Target="https://docs.traceable.ai/docs/kong" TargetMode="External" Id="R8eb50f367df945fb" /><Relationship Type="http://schemas.openxmlformats.org/officeDocument/2006/relationships/notesSlide" Target="/ppt/notesSlides/notesSlide18.xml" Id="R82fc6451c8d4416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d81449237e24adb" /><Relationship Type="http://schemas.openxmlformats.org/officeDocument/2006/relationships/hyperlink" Target="https://github.com/tomqwu/apim/blob/main/docs/47-kong-enterprise-platform-strategy.md" TargetMode="External" Id="R274505ff38eb4d77" /><Relationship Type="http://schemas.openxmlformats.org/officeDocument/2006/relationships/hyperlink" Target="https://developer.konghq.com/gateway/monitoring/" TargetMode="External" Id="Rfdb9c78545bf484f" /><Relationship Type="http://schemas.openxmlformats.org/officeDocument/2006/relationships/notesSlide" Target="/ppt/notesSlides/notesSlide19.xml" Id="R098ce3444bc64a7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e97ccf26856423b" /><Relationship Type="http://schemas.openxmlformats.org/officeDocument/2006/relationships/hyperlink" Target="https://github.com/tomqwu/apim/blob/main/docs/47-kong-enterprise-platform-strategy.md" TargetMode="External" Id="R6228357ccc72424a" /><Relationship Type="http://schemas.openxmlformats.org/officeDocument/2006/relationships/hyperlink" Target="https://developer.konghq.com/gateway/monitoring/" TargetMode="External" Id="Rddff6a529e0044d1" /><Relationship Type="http://schemas.openxmlformats.org/officeDocument/2006/relationships/notesSlide" Target="/ppt/notesSlides/notesSlide20.xml" Id="Ra42c131729fd490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1c21e34428e4d72" /><Relationship Type="http://schemas.openxmlformats.org/officeDocument/2006/relationships/hyperlink" Target="https://github.com/tomqwu/apim/blob/main/docs/47-kong-enterprise-platform-strategy.md" TargetMode="External" Id="Ra0871fde61a842ae" /><Relationship Type="http://schemas.openxmlformats.org/officeDocument/2006/relationships/hyperlink" Target="https://developer.konghq.com/gateway/monitoring/" TargetMode="External" Id="R1d5e1775c2ef4f4d" /><Relationship Type="http://schemas.openxmlformats.org/officeDocument/2006/relationships/notesSlide" Target="/ppt/notesSlides/notesSlide21.xml" Id="Rc6a28c6baf0c48c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25a17590128425d" /><Relationship Type="http://schemas.openxmlformats.org/officeDocument/2006/relationships/hyperlink" Target="https://github.com/tomqwu/apim/blob/main/docs/48-kong-guided-evaluation.md" TargetMode="External" Id="Rbfdb6c0cc3c34b29" /><Relationship Type="http://schemas.openxmlformats.org/officeDocument/2006/relationships/hyperlink" Target="https://developer.konghq.com/gateway/deployment-topologies/" TargetMode="External" Id="Racb5107a8469471b" /><Relationship Type="http://schemas.openxmlformats.org/officeDocument/2006/relationships/notesSlide" Target="/ppt/notesSlides/notesSlide22.xml" Id="Rf17abbe121c8495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6fa7945ca764753" /><Relationship Type="http://schemas.openxmlformats.org/officeDocument/2006/relationships/hyperlink" Target="https://github.com/tomqwu/apim/blob/main/docs/48-kong-guided-evaluation.md" TargetMode="External" Id="Rb42ccb04d4174c75" /><Relationship Type="http://schemas.openxmlformats.org/officeDocument/2006/relationships/hyperlink" Target="https://docs.traceable.ai/docs/kong" TargetMode="External" Id="R5bf9243421164134" /><Relationship Type="http://schemas.openxmlformats.org/officeDocument/2006/relationships/notesSlide" Target="/ppt/notesSlides/notesSlide23.xml" Id="Rb39c271d674a48c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aeff88ad17a4e47" /><Relationship Type="http://schemas.openxmlformats.org/officeDocument/2006/relationships/hyperlink" Target="https://github.com/tomqwu/apim/blob/main/docs/48-kong-guided-evaluation.md" TargetMode="External" Id="R698e43ea352f4cec" /><Relationship Type="http://schemas.openxmlformats.org/officeDocument/2006/relationships/hyperlink" Target="https://konghq.com/pricing" TargetMode="External" Id="Rd64158f14a5a48af" /><Relationship Type="http://schemas.openxmlformats.org/officeDocument/2006/relationships/notesSlide" Target="/ppt/notesSlides/notesSlide24.xml" Id="R9108bbe23a1e4c7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021ac04f12a4748" /><Relationship Type="http://schemas.openxmlformats.org/officeDocument/2006/relationships/hyperlink" Target="https://github.com/tomqwu/apim/blob/main/docs/48-kong-guided-evaluation.md" TargetMode="External" Id="Rf7d71e730c90463c" /><Relationship Type="http://schemas.openxmlformats.org/officeDocument/2006/relationships/hyperlink" Target="https://konghq.com/pricing" TargetMode="External" Id="R97ddcb1bf39042cd" /><Relationship Type="http://schemas.openxmlformats.org/officeDocument/2006/relationships/notesSlide" Target="/ppt/notesSlides/notesSlide25.xml" Id="R38bec3f29591441e" /></Relationships>
</file>

<file path=ppt/slides/slide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9B7B2B-3FC6-4E20-A1EB-47EE06CB9A23}"/>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10B1027-8704-4CD2-AB9C-6738D5E38DAC}"/>
              </a:ext>
            </a:extLst>
          </p:cNvPr>
          <p:cNvSpPr>
            <a:spLocks xmlns:a="http://schemas.openxmlformats.org/drawingml/2006/main" noGrp="1"/>
          </p:cNvSpPr>
          <p:nvPr/>
        </p:nvSpPr>
        <p:spPr>
          <a:xfrm xmlns:a="http://schemas.openxmlformats.org/drawingml/2006/main">
            <a:off x="10287000" y="0"/>
            <a:ext cx="1905000" cy="13335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7BD4DFB-F258-41BC-A20A-DCF625BE7B27}"/>
              </a:ext>
            </a:extLst>
          </p:cNvPr>
          <p:cNvSpPr>
            <a:spLocks xmlns:a="http://schemas.openxmlformats.org/drawingml/2006/main" noGrp="1"/>
          </p:cNvSpPr>
          <p:nvPr/>
        </p:nvSpPr>
        <p:spPr>
          <a:xfrm xmlns:a="http://schemas.openxmlformats.org/drawingml/2006/main">
            <a:off x="685800" y="6096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GUIDED DECISION DECK</a:t>
            </a:r>
          </a:p>
        </p:txBody>
      </p:sp>
      <p:sp>
        <p:nvSpPr>
          <p:cNvPr id="4" name="">
            <a:extLst xmlns:a="http://schemas.openxmlformats.org/drawingml/2006/main">
              <a:ext uri="{FF2B5EF4-FFF2-40B4-BE49-F238E27FC236}">
                <a16:creationId xmlns:a16="http://schemas.microsoft.com/office/drawing/2014/main" id="{B110D842-6E78-4D59-84FF-324A2F147523}"/>
              </a:ext>
            </a:extLst>
          </p:cNvPr>
          <p:cNvSpPr>
            <a:spLocks xmlns:a="http://schemas.openxmlformats.org/drawingml/2006/main" noGrp="1"/>
          </p:cNvSpPr>
          <p:nvPr/>
        </p:nvSpPr>
        <p:spPr>
          <a:xfrm xmlns:a="http://schemas.openxmlformats.org/drawingml/2006/main">
            <a:off x="685800" y="1200150"/>
            <a:ext cx="8858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API management</a:t>
            </a:r>
          </a:p>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from platform choice</a:t>
            </a:r>
          </a:p>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to production proof</a:t>
            </a:r>
          </a:p>
        </p:txBody>
      </p:sp>
      <p:sp>
        <p:nvSpPr>
          <p:cNvPr id="5" name="">
            <a:extLst xmlns:a="http://schemas.openxmlformats.org/drawingml/2006/main">
              <a:ext uri="{FF2B5EF4-FFF2-40B4-BE49-F238E27FC236}">
                <a16:creationId xmlns:a16="http://schemas.microsoft.com/office/drawing/2014/main" id="{72D1D412-55F2-4320-BF68-DECDFCF3DBEA}"/>
              </a:ext>
            </a:extLst>
          </p:cNvPr>
          <p:cNvSpPr>
            <a:spLocks xmlns:a="http://schemas.openxmlformats.org/drawingml/2006/main" noGrp="1"/>
          </p:cNvSpPr>
          <p:nvPr/>
        </p:nvSpPr>
        <p:spPr>
          <a:xfrm xmlns:a="http://schemas.openxmlformats.org/drawingml/2006/main">
            <a:off x="723900" y="4343400"/>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686A66"/>
                </a:solidFill>
                <a:latin typeface="Arial"/>
                <a:ea typeface="Arial"/>
                <a:cs typeface="Arial"/>
              </a:defRPr>
            </a:pPr>
            <a:r>
              <a:rPr sz="1800" b="0" i="0">
                <a:solidFill>
                  <a:srgbClr val="686A66"/>
                </a:solidFill>
                <a:latin typeface="Arial"/>
                <a:ea typeface="Arial"/>
                <a:cs typeface="Arial"/>
              </a:rPr>
              <a:t>A Kong-specific journey that merges the supplied assessment with architecture, adoption, migration and outcome gates.</a:t>
            </a:r>
          </a:p>
        </p:txBody>
      </p:sp>
      <p:sp>
        <p:nvSpPr>
          <p:cNvPr id="6" name="">
            <a:extLst xmlns:a="http://schemas.openxmlformats.org/drawingml/2006/main">
              <a:ext uri="{FF2B5EF4-FFF2-40B4-BE49-F238E27FC236}">
                <a16:creationId xmlns:a16="http://schemas.microsoft.com/office/drawing/2014/main" id="{4CDAEA33-4A1C-49BB-834D-4A451F11BEC0}"/>
              </a:ext>
            </a:extLst>
          </p:cNvPr>
          <p:cNvSpPr>
            <a:spLocks xmlns:a="http://schemas.openxmlformats.org/drawingml/2006/main" noGrp="1"/>
          </p:cNvSpPr>
          <p:nvPr/>
        </p:nvSpPr>
        <p:spPr>
          <a:xfrm xmlns:a="http://schemas.openxmlformats.org/drawingml/2006/main">
            <a:off x="685800" y="5524500"/>
            <a:ext cx="108204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DE88FC0-A3F7-4C12-B35F-360A9ABEF4BB}"/>
              </a:ext>
            </a:extLst>
          </p:cNvPr>
          <p:cNvSpPr>
            <a:spLocks xmlns:a="http://schemas.openxmlformats.org/drawingml/2006/main" noGrp="1"/>
          </p:cNvSpPr>
          <p:nvPr/>
        </p:nvSpPr>
        <p:spPr>
          <a:xfrm xmlns:a="http://schemas.openxmlformats.org/drawingml/2006/main">
            <a:off x="685800" y="5772150"/>
            <a:ext cx="1771650" cy="361950"/>
          </a:xfrm>
          <a:prstGeom xmlns:a="http://schemas.openxmlformats.org/drawingml/2006/main" prst="roundRect">
            <a:avLst>
              <a:gd name="adj" fmla="val 21053"/>
            </a:avLst>
          </a:prstGeom>
          <a:solidFill xmlns:a="http://schemas.openxmlformats.org/drawingml/2006/main">
            <a:srgbClr val="FFC72C"/>
          </a:solidFill>
          <a:ln xmlns:a="http://schemas.openxmlformats.org/drawingml/2006/main" w="9525">
            <a:solidFill>
              <a:srgbClr val="FFC72C"/>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OPTIONS</a:t>
            </a:r>
          </a:p>
        </p:txBody>
      </p:sp>
      <p:sp>
        <p:nvSpPr>
          <p:cNvPr id="8" name="">
            <a:extLst xmlns:a="http://schemas.openxmlformats.org/drawingml/2006/main">
              <a:ext uri="{FF2B5EF4-FFF2-40B4-BE49-F238E27FC236}">
                <a16:creationId xmlns:a16="http://schemas.microsoft.com/office/drawing/2014/main" id="{15504A6E-1C7D-49BF-8457-BEECE448524F}"/>
              </a:ext>
            </a:extLst>
          </p:cNvPr>
          <p:cNvSpPr>
            <a:spLocks xmlns:a="http://schemas.openxmlformats.org/drawingml/2006/main" noGrp="1"/>
          </p:cNvSpPr>
          <p:nvPr/>
        </p:nvSpPr>
        <p:spPr>
          <a:xfrm xmlns:a="http://schemas.openxmlformats.org/drawingml/2006/main">
            <a:off x="272415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ARCHITECTURE</a:t>
            </a:r>
          </a:p>
        </p:txBody>
      </p:sp>
      <p:sp>
        <p:nvSpPr>
          <p:cNvPr id="9" name="">
            <a:extLst xmlns:a="http://schemas.openxmlformats.org/drawingml/2006/main">
              <a:ext uri="{FF2B5EF4-FFF2-40B4-BE49-F238E27FC236}">
                <a16:creationId xmlns:a16="http://schemas.microsoft.com/office/drawing/2014/main" id="{DA1F3E58-2009-40D8-B5AC-B53482913FF7}"/>
              </a:ext>
            </a:extLst>
          </p:cNvPr>
          <p:cNvSpPr>
            <a:spLocks xmlns:a="http://schemas.openxmlformats.org/drawingml/2006/main" noGrp="1"/>
          </p:cNvSpPr>
          <p:nvPr/>
        </p:nvSpPr>
        <p:spPr>
          <a:xfrm xmlns:a="http://schemas.openxmlformats.org/drawingml/2006/main">
            <a:off x="476250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ADOPTION</a:t>
            </a:r>
          </a:p>
        </p:txBody>
      </p:sp>
      <p:sp>
        <p:nvSpPr>
          <p:cNvPr id="10" name="">
            <a:extLst xmlns:a="http://schemas.openxmlformats.org/drawingml/2006/main">
              <a:ext uri="{FF2B5EF4-FFF2-40B4-BE49-F238E27FC236}">
                <a16:creationId xmlns:a16="http://schemas.microsoft.com/office/drawing/2014/main" id="{EECB76A1-87BE-412E-8501-74CE79906F97}"/>
              </a:ext>
            </a:extLst>
          </p:cNvPr>
          <p:cNvSpPr>
            <a:spLocks xmlns:a="http://schemas.openxmlformats.org/drawingml/2006/main" noGrp="1"/>
          </p:cNvSpPr>
          <p:nvPr/>
        </p:nvSpPr>
        <p:spPr>
          <a:xfrm xmlns:a="http://schemas.openxmlformats.org/drawingml/2006/main">
            <a:off x="680085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MIGRATION</a:t>
            </a:r>
          </a:p>
        </p:txBody>
      </p:sp>
      <p:sp>
        <p:nvSpPr>
          <p:cNvPr id="11" name="">
            <a:extLst xmlns:a="http://schemas.openxmlformats.org/drawingml/2006/main">
              <a:ext uri="{FF2B5EF4-FFF2-40B4-BE49-F238E27FC236}">
                <a16:creationId xmlns:a16="http://schemas.microsoft.com/office/drawing/2014/main" id="{EB9806EC-D628-498B-BCD8-A96A46EABD74}"/>
              </a:ext>
            </a:extLst>
          </p:cNvPr>
          <p:cNvSpPr>
            <a:spLocks xmlns:a="http://schemas.openxmlformats.org/drawingml/2006/main" noGrp="1"/>
          </p:cNvSpPr>
          <p:nvPr/>
        </p:nvSpPr>
        <p:spPr>
          <a:xfrm xmlns:a="http://schemas.openxmlformats.org/drawingml/2006/main">
            <a:off x="883920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PRODUCTION</a:t>
            </a:r>
          </a:p>
        </p:txBody>
      </p:sp>
      <p:sp>
        <p:nvSpPr>
          <p:cNvPr id="12" name="">
            <a:extLst xmlns:a="http://schemas.openxmlformats.org/drawingml/2006/main">
              <a:ext uri="{FF2B5EF4-FFF2-40B4-BE49-F238E27FC236}">
                <a16:creationId xmlns:a16="http://schemas.microsoft.com/office/drawing/2014/main" id="{50E7E7EC-796D-4B58-9497-3861E5A17270}"/>
              </a:ext>
            </a:extLst>
          </p:cNvPr>
          <p:cNvSpPr>
            <a:spLocks xmlns:a="http://schemas.openxmlformats.org/drawingml/2006/main" noGrp="1"/>
          </p:cNvSpPr>
          <p:nvPr/>
        </p:nvSpPr>
        <p:spPr>
          <a:xfrm xmlns:a="http://schemas.openxmlformats.org/drawingml/2006/main">
            <a:off x="8343900" y="6400800"/>
            <a:ext cx="3162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i="0">
                <a:solidFill>
                  <a:srgbClr val="686A66"/>
                </a:solidFill>
                <a:latin typeface="Consolas"/>
                <a:ea typeface="Consolas"/>
                <a:cs typeface="Consolas"/>
              </a:defRPr>
            </a:pPr>
            <a:r>
              <a:rPr sz="975" b="0" i="0">
                <a:solidFill>
                  <a:srgbClr val="686A66"/>
                </a:solidFill>
                <a:latin typeface="Consolas"/>
                <a:ea typeface="Consolas"/>
                <a:cs typeface="Consolas"/>
              </a:rPr>
              <a:t>20 AUG 2026  •  WORKING DECISION BRIEF</a:t>
            </a:r>
          </a:p>
        </p:txBody>
      </p:sp>
      <p:sp>
        <p:nvSpPr>
          <p:cNvPr id="14" name="Visible references">
            <a:extLst xmlns:a="http://schemas.openxmlformats.org/drawingml/2006/main">
              <a:ext uri="{FF2B5EF4-FFF2-40B4-BE49-F238E27FC236}">
                <a16:creationId xmlns:a16="http://schemas.microsoft.com/office/drawing/2014/main" id="{736D3494-27C1-4FD2-BDDB-CB6199D5301A}"/>
              </a:ext>
            </a:extLst>
          </p:cNvPr>
          <p:cNvSpPr>
            <a:spLocks xmlns:a="http://schemas.openxmlformats.org/drawingml/2006/main" noGrp="1"/>
          </p:cNvSpPr>
          <p:nvPr/>
        </p:nvSpPr>
        <p:spPr>
          <a:xfrm xmlns:a="http://schemas.openxmlformats.org/drawingml/2006/main">
            <a:off x="685800" y="6400800"/>
            <a:ext cx="657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8b3931df0674cbd"/>
              </a:rPr>
              <a:t>Repo reference</a:t>
            </a:r>
            <a:r>
              <a:rPr sz="825">
                <a:solidFill>
                  <a:srgbClr val="666762"/>
                </a:solidFill>
              </a:rPr>
              <a:t>  ·  </a:t>
            </a:r>
            <a:r>
              <a:rPr sz="825" u="sng">
                <a:solidFill>
                  <a:srgbClr val="666762"/>
                </a:solidFill>
                <a:hlinkClick xmlns:r="http://schemas.openxmlformats.org/officeDocument/2006/relationships" r:id="R6f2cc002186e4538"/>
              </a:rPr>
              <a:t>Official docs</a:t>
            </a:r>
          </a:p>
        </p:txBody>
      </p:sp>
    </p:spTree>
    <p:extLst>
      <p:ext uri="{BB962C8B-B14F-4D97-AF65-F5344CB8AC3E}">
        <p14:creationId xmlns:p14="http://schemas.microsoft.com/office/powerpoint/2010/main" val="1665905984"/>
      </p:ext>
    </p:extLst>
  </p:cSld>
</p:sld>
</file>

<file path=ppt/slides/slide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993B77B1-25A1-43D9-B77B-0D600B3F464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F19E404-3DAF-4DF0-96B3-D97FAB85E50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20A15C9-3F58-49DD-A72C-C3A63B02987B}"/>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02 / WHY NOW</a:t>
            </a:r>
          </a:p>
        </p:txBody>
      </p:sp>
      <p:sp>
        <p:nvSpPr>
          <p:cNvPr id="4" name="">
            <a:extLst xmlns:a="http://schemas.openxmlformats.org/drawingml/2006/main">
              <a:ext uri="{FF2B5EF4-FFF2-40B4-BE49-F238E27FC236}">
                <a16:creationId xmlns:a16="http://schemas.microsoft.com/office/drawing/2014/main" id="{9C6DD5AE-4E53-4E57-91DC-1AA97D7A09C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operating model—not the feature list—drives the decision</a:t>
            </a:r>
          </a:p>
        </p:txBody>
      </p:sp>
      <p:sp>
        <p:nvSpPr>
          <p:cNvPr id="5" name="">
            <a:extLst xmlns:a="http://schemas.openxmlformats.org/drawingml/2006/main">
              <a:ext uri="{FF2B5EF4-FFF2-40B4-BE49-F238E27FC236}">
                <a16:creationId xmlns:a16="http://schemas.microsoft.com/office/drawing/2014/main" id="{0931CF01-14EC-4654-BA8E-302B9FFA832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Treat these as stated target inputs to confirm, not yet as observed current-state facts.</a:t>
            </a:r>
          </a:p>
        </p:txBody>
      </p:sp>
      <p:sp>
        <p:nvSpPr>
          <p:cNvPr id="6" name="">
            <a:extLst xmlns:a="http://schemas.openxmlformats.org/drawingml/2006/main">
              <a:ext uri="{FF2B5EF4-FFF2-40B4-BE49-F238E27FC236}">
                <a16:creationId xmlns:a16="http://schemas.microsoft.com/office/drawing/2014/main" id="{14FFC468-3156-466E-9AFD-3C6F91090422}"/>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CDE6897-B2F9-4D23-89BE-C8C9622B09FA}"/>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92e07b295744540"/>
              </a:rPr>
              <a:t>Repo reference</a:t>
            </a:r>
            <a:r>
              <a:rPr sz="825">
                <a:solidFill>
                  <a:srgbClr val="666762"/>
                </a:solidFill>
              </a:rPr>
              <a:t>  ·  </a:t>
            </a:r>
            <a:r>
              <a:rPr sz="825" u="sng">
                <a:solidFill>
                  <a:srgbClr val="666762"/>
                </a:solidFill>
                <a:hlinkClick xmlns:r="http://schemas.openxmlformats.org/officeDocument/2006/relationships" r:id="R499af43ac8924fbe"/>
              </a:rPr>
              <a:t>Official docs</a:t>
            </a:r>
          </a:p>
        </p:txBody>
      </p:sp>
      <p:sp>
        <p:nvSpPr>
          <p:cNvPr id="8" name="">
            <a:extLst xmlns:a="http://schemas.openxmlformats.org/drawingml/2006/main">
              <a:ext uri="{FF2B5EF4-FFF2-40B4-BE49-F238E27FC236}">
                <a16:creationId xmlns:a16="http://schemas.microsoft.com/office/drawing/2014/main" id="{CC93353B-E785-4C86-B8C3-1418AB129331}"/>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02 / 25</a:t>
            </a:r>
          </a:p>
        </p:txBody>
      </p:sp>
      <p:sp>
        <p:nvSpPr>
          <p:cNvPr id="9" name="">
            <a:extLst xmlns:a="http://schemas.openxmlformats.org/drawingml/2006/main">
              <a:ext uri="{FF2B5EF4-FFF2-40B4-BE49-F238E27FC236}">
                <a16:creationId xmlns:a16="http://schemas.microsoft.com/office/drawing/2014/main" id="{335E7EDC-F6E5-449F-B5CC-028E297153AC}"/>
              </a:ext>
            </a:extLst>
          </p:cNvPr>
          <p:cNvSpPr>
            <a:spLocks xmlns:a="http://schemas.openxmlformats.org/drawingml/2006/main" noGrp="1"/>
          </p:cNvSpPr>
          <p:nvPr/>
        </p:nvSpPr>
        <p:spPr>
          <a:xfrm xmlns:a="http://schemas.openxmlformats.org/drawingml/2006/main">
            <a:off x="666750" y="23050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DELIVERY</a:t>
            </a:r>
          </a:p>
        </p:txBody>
      </p:sp>
      <p:sp>
        <p:nvSpPr>
          <p:cNvPr id="10" name="">
            <a:extLst xmlns:a="http://schemas.openxmlformats.org/drawingml/2006/main">
              <a:ext uri="{FF2B5EF4-FFF2-40B4-BE49-F238E27FC236}">
                <a16:creationId xmlns:a16="http://schemas.microsoft.com/office/drawing/2014/main" id="{1D1D045D-9672-49E1-8BD1-0A19A7A13D54}"/>
              </a:ext>
            </a:extLst>
          </p:cNvPr>
          <p:cNvSpPr>
            <a:spLocks xmlns:a="http://schemas.openxmlformats.org/drawingml/2006/main" noGrp="1"/>
          </p:cNvSpPr>
          <p:nvPr/>
        </p:nvSpPr>
        <p:spPr>
          <a:xfrm xmlns:a="http://schemas.openxmlformats.org/drawingml/2006/main">
            <a:off x="1790700" y="24193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797AACD-BC52-424B-B5D9-2E408DAF057F}"/>
              </a:ext>
            </a:extLst>
          </p:cNvPr>
          <p:cNvSpPr>
            <a:spLocks xmlns:a="http://schemas.openxmlformats.org/drawingml/2006/main" noGrp="1"/>
          </p:cNvSpPr>
          <p:nvPr/>
        </p:nvSpPr>
        <p:spPr>
          <a:xfrm xmlns:a="http://schemas.openxmlformats.org/drawingml/2006/main">
            <a:off x="207645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2" name="">
            <a:extLst xmlns:a="http://schemas.openxmlformats.org/drawingml/2006/main">
              <a:ext uri="{FF2B5EF4-FFF2-40B4-BE49-F238E27FC236}">
                <a16:creationId xmlns:a16="http://schemas.microsoft.com/office/drawing/2014/main" id="{CC4A0BC2-246C-4B32-83CD-47B19C81C67D}"/>
              </a:ext>
            </a:extLst>
          </p:cNvPr>
          <p:cNvSpPr>
            <a:spLocks xmlns:a="http://schemas.openxmlformats.org/drawingml/2006/main" noGrp="1"/>
          </p:cNvSpPr>
          <p:nvPr/>
        </p:nvSpPr>
        <p:spPr>
          <a:xfrm xmlns:a="http://schemas.openxmlformats.org/drawingml/2006/main">
            <a:off x="222885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AKS / Kubernetes</a:t>
            </a:r>
          </a:p>
        </p:txBody>
      </p:sp>
      <p:sp>
        <p:nvSpPr>
          <p:cNvPr id="13" name="">
            <a:extLst xmlns:a="http://schemas.openxmlformats.org/drawingml/2006/main">
              <a:ext uri="{FF2B5EF4-FFF2-40B4-BE49-F238E27FC236}">
                <a16:creationId xmlns:a16="http://schemas.microsoft.com/office/drawing/2014/main" id="{33FB4CF2-F398-4646-9FBB-0C693CB6FA97}"/>
              </a:ext>
            </a:extLst>
          </p:cNvPr>
          <p:cNvSpPr>
            <a:spLocks xmlns:a="http://schemas.openxmlformats.org/drawingml/2006/main" noGrp="1"/>
          </p:cNvSpPr>
          <p:nvPr/>
        </p:nvSpPr>
        <p:spPr>
          <a:xfrm xmlns:a="http://schemas.openxmlformats.org/drawingml/2006/main">
            <a:off x="510540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4" name="">
            <a:extLst xmlns:a="http://schemas.openxmlformats.org/drawingml/2006/main">
              <a:ext uri="{FF2B5EF4-FFF2-40B4-BE49-F238E27FC236}">
                <a16:creationId xmlns:a16="http://schemas.microsoft.com/office/drawing/2014/main" id="{C4F622E0-A972-4383-8042-820FD6866A38}"/>
              </a:ext>
            </a:extLst>
          </p:cNvPr>
          <p:cNvSpPr>
            <a:spLocks xmlns:a="http://schemas.openxmlformats.org/drawingml/2006/main" noGrp="1"/>
          </p:cNvSpPr>
          <p:nvPr/>
        </p:nvSpPr>
        <p:spPr>
          <a:xfrm xmlns:a="http://schemas.openxmlformats.org/drawingml/2006/main">
            <a:off x="525780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Spring Boot modernization</a:t>
            </a:r>
          </a:p>
        </p:txBody>
      </p:sp>
      <p:sp>
        <p:nvSpPr>
          <p:cNvPr id="15" name="">
            <a:extLst xmlns:a="http://schemas.openxmlformats.org/drawingml/2006/main">
              <a:ext uri="{FF2B5EF4-FFF2-40B4-BE49-F238E27FC236}">
                <a16:creationId xmlns:a16="http://schemas.microsoft.com/office/drawing/2014/main" id="{00DA3AA5-C266-4548-A5F1-5F415EC49A90}"/>
              </a:ext>
            </a:extLst>
          </p:cNvPr>
          <p:cNvSpPr>
            <a:spLocks xmlns:a="http://schemas.openxmlformats.org/drawingml/2006/main" noGrp="1"/>
          </p:cNvSpPr>
          <p:nvPr/>
        </p:nvSpPr>
        <p:spPr>
          <a:xfrm xmlns:a="http://schemas.openxmlformats.org/drawingml/2006/main">
            <a:off x="813435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ED2F272B-D56C-4A4A-99F2-75E4A12EB711}"/>
              </a:ext>
            </a:extLst>
          </p:cNvPr>
          <p:cNvSpPr>
            <a:spLocks xmlns:a="http://schemas.openxmlformats.org/drawingml/2006/main" noGrp="1"/>
          </p:cNvSpPr>
          <p:nvPr/>
        </p:nvSpPr>
        <p:spPr>
          <a:xfrm xmlns:a="http://schemas.openxmlformats.org/drawingml/2006/main">
            <a:off x="828675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GitOps deployment</a:t>
            </a:r>
          </a:p>
        </p:txBody>
      </p:sp>
      <p:sp>
        <p:nvSpPr>
          <p:cNvPr id="17" name="">
            <a:extLst xmlns:a="http://schemas.openxmlformats.org/drawingml/2006/main">
              <a:ext uri="{FF2B5EF4-FFF2-40B4-BE49-F238E27FC236}">
                <a16:creationId xmlns:a16="http://schemas.microsoft.com/office/drawing/2014/main" id="{9AEB2BC6-5035-4651-A1F8-A746FB57B58A}"/>
              </a:ext>
            </a:extLst>
          </p:cNvPr>
          <p:cNvSpPr>
            <a:spLocks xmlns:a="http://schemas.openxmlformats.org/drawingml/2006/main" noGrp="1"/>
          </p:cNvSpPr>
          <p:nvPr/>
        </p:nvSpPr>
        <p:spPr>
          <a:xfrm xmlns:a="http://schemas.openxmlformats.org/drawingml/2006/main">
            <a:off x="666750" y="35242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PLATFORM</a:t>
            </a:r>
          </a:p>
        </p:txBody>
      </p:sp>
      <p:sp>
        <p:nvSpPr>
          <p:cNvPr id="18" name="">
            <a:extLst xmlns:a="http://schemas.openxmlformats.org/drawingml/2006/main">
              <a:ext uri="{FF2B5EF4-FFF2-40B4-BE49-F238E27FC236}">
                <a16:creationId xmlns:a16="http://schemas.microsoft.com/office/drawing/2014/main" id="{264E2770-8141-440D-A82B-59F5B2077D87}"/>
              </a:ext>
            </a:extLst>
          </p:cNvPr>
          <p:cNvSpPr>
            <a:spLocks xmlns:a="http://schemas.openxmlformats.org/drawingml/2006/main" noGrp="1"/>
          </p:cNvSpPr>
          <p:nvPr/>
        </p:nvSpPr>
        <p:spPr>
          <a:xfrm xmlns:a="http://schemas.openxmlformats.org/drawingml/2006/main">
            <a:off x="1790700" y="36385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0608DC6-1F32-40B4-AC41-8561C4A08BC7}"/>
              </a:ext>
            </a:extLst>
          </p:cNvPr>
          <p:cNvSpPr>
            <a:spLocks xmlns:a="http://schemas.openxmlformats.org/drawingml/2006/main" noGrp="1"/>
          </p:cNvSpPr>
          <p:nvPr/>
        </p:nvSpPr>
        <p:spPr>
          <a:xfrm xmlns:a="http://schemas.openxmlformats.org/drawingml/2006/main">
            <a:off x="207645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A7028B28-EE76-4786-82F8-97BD8903E685}"/>
              </a:ext>
            </a:extLst>
          </p:cNvPr>
          <p:cNvSpPr>
            <a:spLocks xmlns:a="http://schemas.openxmlformats.org/drawingml/2006/main" noGrp="1"/>
          </p:cNvSpPr>
          <p:nvPr/>
        </p:nvSpPr>
        <p:spPr>
          <a:xfrm xmlns:a="http://schemas.openxmlformats.org/drawingml/2006/main">
            <a:off x="222885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Platform engineering</a:t>
            </a:r>
          </a:p>
        </p:txBody>
      </p:sp>
      <p:sp>
        <p:nvSpPr>
          <p:cNvPr id="21" name="">
            <a:extLst xmlns:a="http://schemas.openxmlformats.org/drawingml/2006/main">
              <a:ext uri="{FF2B5EF4-FFF2-40B4-BE49-F238E27FC236}">
                <a16:creationId xmlns:a16="http://schemas.microsoft.com/office/drawing/2014/main" id="{6C5C9550-3BFF-46BD-A6F4-25056765255C}"/>
              </a:ext>
            </a:extLst>
          </p:cNvPr>
          <p:cNvSpPr>
            <a:spLocks xmlns:a="http://schemas.openxmlformats.org/drawingml/2006/main" noGrp="1"/>
          </p:cNvSpPr>
          <p:nvPr/>
        </p:nvSpPr>
        <p:spPr>
          <a:xfrm xmlns:a="http://schemas.openxmlformats.org/drawingml/2006/main">
            <a:off x="510540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2" name="">
            <a:extLst xmlns:a="http://schemas.openxmlformats.org/drawingml/2006/main">
              <a:ext uri="{FF2B5EF4-FFF2-40B4-BE49-F238E27FC236}">
                <a16:creationId xmlns:a16="http://schemas.microsoft.com/office/drawing/2014/main" id="{30777818-B7EB-41B7-A63F-1F94B617006F}"/>
              </a:ext>
            </a:extLst>
          </p:cNvPr>
          <p:cNvSpPr>
            <a:spLocks xmlns:a="http://schemas.openxmlformats.org/drawingml/2006/main" noGrp="1"/>
          </p:cNvSpPr>
          <p:nvPr/>
        </p:nvSpPr>
        <p:spPr>
          <a:xfrm xmlns:a="http://schemas.openxmlformats.org/drawingml/2006/main">
            <a:off x="525780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Internal developer platform</a:t>
            </a:r>
          </a:p>
        </p:txBody>
      </p:sp>
      <p:sp>
        <p:nvSpPr>
          <p:cNvPr id="23" name="">
            <a:extLst xmlns:a="http://schemas.openxmlformats.org/drawingml/2006/main">
              <a:ext uri="{FF2B5EF4-FFF2-40B4-BE49-F238E27FC236}">
                <a16:creationId xmlns:a16="http://schemas.microsoft.com/office/drawing/2014/main" id="{152DAC69-C2D7-471F-BBE6-37E65F309755}"/>
              </a:ext>
            </a:extLst>
          </p:cNvPr>
          <p:cNvSpPr>
            <a:spLocks xmlns:a="http://schemas.openxmlformats.org/drawingml/2006/main" noGrp="1"/>
          </p:cNvSpPr>
          <p:nvPr/>
        </p:nvSpPr>
        <p:spPr>
          <a:xfrm xmlns:a="http://schemas.openxmlformats.org/drawingml/2006/main">
            <a:off x="813435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6BF0BFE0-F415-431C-AD7E-4108B460A995}"/>
              </a:ext>
            </a:extLst>
          </p:cNvPr>
          <p:cNvSpPr>
            <a:spLocks xmlns:a="http://schemas.openxmlformats.org/drawingml/2006/main" noGrp="1"/>
          </p:cNvSpPr>
          <p:nvPr/>
        </p:nvSpPr>
        <p:spPr>
          <a:xfrm xmlns:a="http://schemas.openxmlformats.org/drawingml/2006/main">
            <a:off x="828675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Developer self-service</a:t>
            </a:r>
          </a:p>
        </p:txBody>
      </p:sp>
      <p:sp>
        <p:nvSpPr>
          <p:cNvPr id="25" name="">
            <a:extLst xmlns:a="http://schemas.openxmlformats.org/drawingml/2006/main">
              <a:ext uri="{FF2B5EF4-FFF2-40B4-BE49-F238E27FC236}">
                <a16:creationId xmlns:a16="http://schemas.microsoft.com/office/drawing/2014/main" id="{5FC52D63-6605-4E74-A7C0-2A53AEBAFC41}"/>
              </a:ext>
            </a:extLst>
          </p:cNvPr>
          <p:cNvSpPr>
            <a:spLocks xmlns:a="http://schemas.openxmlformats.org/drawingml/2006/main" noGrp="1"/>
          </p:cNvSpPr>
          <p:nvPr/>
        </p:nvSpPr>
        <p:spPr>
          <a:xfrm xmlns:a="http://schemas.openxmlformats.org/drawingml/2006/main">
            <a:off x="666750" y="47434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CONTROL</a:t>
            </a:r>
          </a:p>
        </p:txBody>
      </p:sp>
      <p:sp>
        <p:nvSpPr>
          <p:cNvPr id="26" name="">
            <a:extLst xmlns:a="http://schemas.openxmlformats.org/drawingml/2006/main">
              <a:ext uri="{FF2B5EF4-FFF2-40B4-BE49-F238E27FC236}">
                <a16:creationId xmlns:a16="http://schemas.microsoft.com/office/drawing/2014/main" id="{0E153F0B-6F24-4E7D-BC6F-BAC99E40F4D5}"/>
              </a:ext>
            </a:extLst>
          </p:cNvPr>
          <p:cNvSpPr>
            <a:spLocks xmlns:a="http://schemas.openxmlformats.org/drawingml/2006/main" noGrp="1"/>
          </p:cNvSpPr>
          <p:nvPr/>
        </p:nvSpPr>
        <p:spPr>
          <a:xfrm xmlns:a="http://schemas.openxmlformats.org/drawingml/2006/main">
            <a:off x="1790700" y="48577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9C978E2-281E-42AE-A703-F4A7CF299835}"/>
              </a:ext>
            </a:extLst>
          </p:cNvPr>
          <p:cNvSpPr>
            <a:spLocks xmlns:a="http://schemas.openxmlformats.org/drawingml/2006/main" noGrp="1"/>
          </p:cNvSpPr>
          <p:nvPr/>
        </p:nvSpPr>
        <p:spPr>
          <a:xfrm xmlns:a="http://schemas.openxmlformats.org/drawingml/2006/main">
            <a:off x="207645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8" name="">
            <a:extLst xmlns:a="http://schemas.openxmlformats.org/drawingml/2006/main">
              <a:ext uri="{FF2B5EF4-FFF2-40B4-BE49-F238E27FC236}">
                <a16:creationId xmlns:a16="http://schemas.microsoft.com/office/drawing/2014/main" id="{93096274-681A-4131-A2ED-6AA56969B456}"/>
              </a:ext>
            </a:extLst>
          </p:cNvPr>
          <p:cNvSpPr>
            <a:spLocks xmlns:a="http://schemas.openxmlformats.org/drawingml/2006/main" noGrp="1"/>
          </p:cNvSpPr>
          <p:nvPr/>
        </p:nvSpPr>
        <p:spPr>
          <a:xfrm xmlns:a="http://schemas.openxmlformats.org/drawingml/2006/main">
            <a:off x="222885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Security + observability</a:t>
            </a:r>
          </a:p>
        </p:txBody>
      </p:sp>
      <p:sp>
        <p:nvSpPr>
          <p:cNvPr id="29" name="">
            <a:extLst xmlns:a="http://schemas.openxmlformats.org/drawingml/2006/main">
              <a:ext uri="{FF2B5EF4-FFF2-40B4-BE49-F238E27FC236}">
                <a16:creationId xmlns:a16="http://schemas.microsoft.com/office/drawing/2014/main" id="{0E7C7B84-0A15-41B7-B6B1-852992A649D7}"/>
              </a:ext>
            </a:extLst>
          </p:cNvPr>
          <p:cNvSpPr>
            <a:spLocks xmlns:a="http://schemas.openxmlformats.org/drawingml/2006/main" noGrp="1"/>
          </p:cNvSpPr>
          <p:nvPr/>
        </p:nvSpPr>
        <p:spPr>
          <a:xfrm xmlns:a="http://schemas.openxmlformats.org/drawingml/2006/main">
            <a:off x="510540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30" name="">
            <a:extLst xmlns:a="http://schemas.openxmlformats.org/drawingml/2006/main">
              <a:ext uri="{FF2B5EF4-FFF2-40B4-BE49-F238E27FC236}">
                <a16:creationId xmlns:a16="http://schemas.microsoft.com/office/drawing/2014/main" id="{988FD800-1915-4EDA-B9AA-85CC0E538C9A}"/>
              </a:ext>
            </a:extLst>
          </p:cNvPr>
          <p:cNvSpPr>
            <a:spLocks xmlns:a="http://schemas.openxmlformats.org/drawingml/2006/main" noGrp="1"/>
          </p:cNvSpPr>
          <p:nvPr/>
        </p:nvSpPr>
        <p:spPr>
          <a:xfrm xmlns:a="http://schemas.openxmlformats.org/drawingml/2006/main">
            <a:off x="525780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Multicloud placement</a:t>
            </a:r>
          </a:p>
        </p:txBody>
      </p:sp>
      <p:sp>
        <p:nvSpPr>
          <p:cNvPr id="31" name="">
            <a:extLst xmlns:a="http://schemas.openxmlformats.org/drawingml/2006/main">
              <a:ext uri="{FF2B5EF4-FFF2-40B4-BE49-F238E27FC236}">
                <a16:creationId xmlns:a16="http://schemas.microsoft.com/office/drawing/2014/main" id="{6C6DE888-EE8A-4D10-AE88-FA392BE67209}"/>
              </a:ext>
            </a:extLst>
          </p:cNvPr>
          <p:cNvSpPr>
            <a:spLocks xmlns:a="http://schemas.openxmlformats.org/drawingml/2006/main" noGrp="1"/>
          </p:cNvSpPr>
          <p:nvPr/>
        </p:nvSpPr>
        <p:spPr>
          <a:xfrm xmlns:a="http://schemas.openxmlformats.org/drawingml/2006/main">
            <a:off x="813435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32" name="">
            <a:extLst xmlns:a="http://schemas.openxmlformats.org/drawingml/2006/main">
              <a:ext uri="{FF2B5EF4-FFF2-40B4-BE49-F238E27FC236}">
                <a16:creationId xmlns:a16="http://schemas.microsoft.com/office/drawing/2014/main" id="{BD6F468D-F2D5-4523-ADC2-39FFF9520D37}"/>
              </a:ext>
            </a:extLst>
          </p:cNvPr>
          <p:cNvSpPr>
            <a:spLocks xmlns:a="http://schemas.openxmlformats.org/drawingml/2006/main" noGrp="1"/>
          </p:cNvSpPr>
          <p:nvPr/>
        </p:nvSpPr>
        <p:spPr>
          <a:xfrm xmlns:a="http://schemas.openxmlformats.org/drawingml/2006/main">
            <a:off x="828675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AI / agentic traffic</a:t>
            </a:r>
          </a:p>
        </p:txBody>
      </p:sp>
      <p:sp>
        <p:nvSpPr>
          <p:cNvPr id="33" name="">
            <a:extLst xmlns:a="http://schemas.openxmlformats.org/drawingml/2006/main">
              <a:ext uri="{FF2B5EF4-FFF2-40B4-BE49-F238E27FC236}">
                <a16:creationId xmlns:a16="http://schemas.microsoft.com/office/drawing/2014/main" id="{82166C70-84D1-41B2-A3E7-3F6C65F02202}"/>
              </a:ext>
            </a:extLst>
          </p:cNvPr>
          <p:cNvSpPr>
            <a:spLocks xmlns:a="http://schemas.openxmlformats.org/drawingml/2006/main" noGrp="1"/>
          </p:cNvSpPr>
          <p:nvPr/>
        </p:nvSpPr>
        <p:spPr>
          <a:xfrm xmlns:a="http://schemas.openxmlformats.org/drawingml/2006/main">
            <a:off x="2076450" y="5819775"/>
            <a:ext cx="8801100" cy="4000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24C17F99-8C78-4F10-B889-03B88774EB73}"/>
              </a:ext>
            </a:extLst>
          </p:cNvPr>
          <p:cNvSpPr>
            <a:spLocks xmlns:a="http://schemas.openxmlformats.org/drawingml/2006/main" noGrp="1"/>
          </p:cNvSpPr>
          <p:nvPr/>
        </p:nvSpPr>
        <p:spPr>
          <a:xfrm xmlns:a="http://schemas.openxmlformats.org/drawingml/2006/main">
            <a:off x="2228850" y="5895975"/>
            <a:ext cx="8496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Decision lens: which operating boundary best enables this model with acceptable permanent duty?</a:t>
            </a:r>
          </a:p>
        </p:txBody>
      </p:sp>
    </p:spTree>
    <p:extLst>
      <p:ext uri="{BB962C8B-B14F-4D97-AF65-F5344CB8AC3E}">
        <p14:creationId xmlns:p14="http://schemas.microsoft.com/office/powerpoint/2010/main" val="1127766592"/>
      </p:ext>
    </p:extLst>
  </p:cSld>
</p:sld>
</file>

<file path=ppt/slides/slide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DC995484-FE59-4A54-AC8B-B70CC555413D}"/>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4E1E85B-4907-44F3-B3F3-30CA44CC9BDD}"/>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2E8364E-3AF6-4B6B-A9AC-736E6A92C06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03 / WHY NOW</a:t>
            </a:r>
          </a:p>
        </p:txBody>
      </p:sp>
      <p:sp>
        <p:nvSpPr>
          <p:cNvPr id="4" name="">
            <a:extLst xmlns:a="http://schemas.openxmlformats.org/drawingml/2006/main">
              <a:ext uri="{FF2B5EF4-FFF2-40B4-BE49-F238E27FC236}">
                <a16:creationId xmlns:a16="http://schemas.microsoft.com/office/drawing/2014/main" id="{12D85729-2CB3-4219-8470-B936ACC11A3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scorecard favors cloud-native delivery</a:t>
            </a:r>
          </a:p>
        </p:txBody>
      </p:sp>
      <p:sp>
        <p:nvSpPr>
          <p:cNvPr id="5" name="">
            <a:extLst xmlns:a="http://schemas.openxmlformats.org/drawingml/2006/main">
              <a:ext uri="{FF2B5EF4-FFF2-40B4-BE49-F238E27FC236}">
                <a16:creationId xmlns:a16="http://schemas.microsoft.com/office/drawing/2014/main" id="{266CE50A-98C5-4374-8F72-CC8CC2B51B88}"/>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Kubernetes and GitOps carry 35%; the historical eight weights remain unchanged.</a:t>
            </a:r>
          </a:p>
        </p:txBody>
      </p:sp>
      <p:sp>
        <p:nvSpPr>
          <p:cNvPr id="6" name="">
            <a:extLst xmlns:a="http://schemas.openxmlformats.org/drawingml/2006/main">
              <a:ext uri="{FF2B5EF4-FFF2-40B4-BE49-F238E27FC236}">
                <a16:creationId xmlns:a16="http://schemas.microsoft.com/office/drawing/2014/main" id="{ADB1DBB9-C1D8-4F0E-B793-1F3E974AAE2C}"/>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5DE1D53-DBB2-4360-8E9A-0FEDF33F256C}"/>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b3fc4f30f3cb47d9"/>
              </a:rPr>
              <a:t>Repo reference</a:t>
            </a:r>
            <a:r>
              <a:rPr sz="825">
                <a:solidFill>
                  <a:srgbClr val="666762"/>
                </a:solidFill>
              </a:rPr>
              <a:t>  ·  </a:t>
            </a:r>
            <a:r>
              <a:rPr sz="825" u="sng">
                <a:solidFill>
                  <a:srgbClr val="666762"/>
                </a:solidFill>
                <a:hlinkClick xmlns:r="http://schemas.openxmlformats.org/officeDocument/2006/relationships" r:id="Rcf6e412bb60f4d85"/>
              </a:rPr>
              <a:t>Official docs</a:t>
            </a:r>
          </a:p>
        </p:txBody>
      </p:sp>
      <p:sp>
        <p:nvSpPr>
          <p:cNvPr id="8" name="">
            <a:extLst xmlns:a="http://schemas.openxmlformats.org/drawingml/2006/main">
              <a:ext uri="{FF2B5EF4-FFF2-40B4-BE49-F238E27FC236}">
                <a16:creationId xmlns:a16="http://schemas.microsoft.com/office/drawing/2014/main" id="{3DB7BB16-FDBD-4FCB-8992-D7D49E5F9E1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03 / 25</a:t>
            </a:r>
          </a:p>
        </p:txBody>
      </p:sp>
      <p:sp>
        <p:nvSpPr>
          <p:cNvPr id="9" name="">
            <a:extLst xmlns:a="http://schemas.openxmlformats.org/drawingml/2006/main">
              <a:ext uri="{FF2B5EF4-FFF2-40B4-BE49-F238E27FC236}">
                <a16:creationId xmlns:a16="http://schemas.microsoft.com/office/drawing/2014/main" id="{83999E3B-B592-469C-8D41-B4164F6ED5F4}"/>
              </a:ext>
            </a:extLst>
          </p:cNvPr>
          <p:cNvSpPr>
            <a:spLocks xmlns:a="http://schemas.openxmlformats.org/drawingml/2006/main" noGrp="1"/>
          </p:cNvSpPr>
          <p:nvPr/>
        </p:nvSpPr>
        <p:spPr>
          <a:xfrm xmlns:a="http://schemas.openxmlformats.org/drawingml/2006/main">
            <a:off x="647700" y="21336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Kubernetes &amp; cloud native</a:t>
            </a:r>
          </a:p>
        </p:txBody>
      </p:sp>
      <p:sp>
        <p:nvSpPr>
          <p:cNvPr id="10" name="">
            <a:extLst xmlns:a="http://schemas.openxmlformats.org/drawingml/2006/main">
              <a:ext uri="{FF2B5EF4-FFF2-40B4-BE49-F238E27FC236}">
                <a16:creationId xmlns:a16="http://schemas.microsoft.com/office/drawing/2014/main" id="{DCA90892-E157-4E68-8788-E175B5FEB646}"/>
              </a:ext>
            </a:extLst>
          </p:cNvPr>
          <p:cNvSpPr>
            <a:spLocks xmlns:a="http://schemas.openxmlformats.org/drawingml/2006/main" noGrp="1"/>
          </p:cNvSpPr>
          <p:nvPr/>
        </p:nvSpPr>
        <p:spPr>
          <a:xfrm xmlns:a="http://schemas.openxmlformats.org/drawingml/2006/main">
            <a:off x="3314700" y="218122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BBDC538-88E7-4D3F-B255-6D2D45CD43EA}"/>
              </a:ext>
            </a:extLst>
          </p:cNvPr>
          <p:cNvSpPr>
            <a:spLocks xmlns:a="http://schemas.openxmlformats.org/drawingml/2006/main" noGrp="1"/>
          </p:cNvSpPr>
          <p:nvPr/>
        </p:nvSpPr>
        <p:spPr>
          <a:xfrm xmlns:a="http://schemas.openxmlformats.org/drawingml/2006/main">
            <a:off x="3314700" y="2181225"/>
            <a:ext cx="3714750" cy="18097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ECF084A-2265-47E1-88CA-FFAF863D3346}"/>
              </a:ext>
            </a:extLst>
          </p:cNvPr>
          <p:cNvSpPr>
            <a:spLocks xmlns:a="http://schemas.openxmlformats.org/drawingml/2006/main" noGrp="1"/>
          </p:cNvSpPr>
          <p:nvPr/>
        </p:nvSpPr>
        <p:spPr>
          <a:xfrm xmlns:a="http://schemas.openxmlformats.org/drawingml/2006/main">
            <a:off x="7124700" y="211455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20%</a:t>
            </a:r>
          </a:p>
        </p:txBody>
      </p:sp>
      <p:sp>
        <p:nvSpPr>
          <p:cNvPr id="13" name="">
            <a:extLst xmlns:a="http://schemas.openxmlformats.org/drawingml/2006/main">
              <a:ext uri="{FF2B5EF4-FFF2-40B4-BE49-F238E27FC236}">
                <a16:creationId xmlns:a16="http://schemas.microsoft.com/office/drawing/2014/main" id="{407C0A2A-4553-4DE7-AB51-886EF5D228B9}"/>
              </a:ext>
            </a:extLst>
          </p:cNvPr>
          <p:cNvSpPr>
            <a:spLocks xmlns:a="http://schemas.openxmlformats.org/drawingml/2006/main" noGrp="1"/>
          </p:cNvSpPr>
          <p:nvPr/>
        </p:nvSpPr>
        <p:spPr>
          <a:xfrm xmlns:a="http://schemas.openxmlformats.org/drawingml/2006/main">
            <a:off x="647700" y="26003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GitOps &amp; DevOps</a:t>
            </a:r>
          </a:p>
        </p:txBody>
      </p:sp>
      <p:sp>
        <p:nvSpPr>
          <p:cNvPr id="14" name="">
            <a:extLst xmlns:a="http://schemas.openxmlformats.org/drawingml/2006/main">
              <a:ext uri="{FF2B5EF4-FFF2-40B4-BE49-F238E27FC236}">
                <a16:creationId xmlns:a16="http://schemas.microsoft.com/office/drawing/2014/main" id="{8EE13771-E623-4CD2-8628-E935B10BAB78}"/>
              </a:ext>
            </a:extLst>
          </p:cNvPr>
          <p:cNvSpPr>
            <a:spLocks xmlns:a="http://schemas.openxmlformats.org/drawingml/2006/main" noGrp="1"/>
          </p:cNvSpPr>
          <p:nvPr/>
        </p:nvSpPr>
        <p:spPr>
          <a:xfrm xmlns:a="http://schemas.openxmlformats.org/drawingml/2006/main">
            <a:off x="3314700" y="264795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737DB41-35AB-4B66-AF02-A486876F3044}"/>
              </a:ext>
            </a:extLst>
          </p:cNvPr>
          <p:cNvSpPr>
            <a:spLocks xmlns:a="http://schemas.openxmlformats.org/drawingml/2006/main" noGrp="1"/>
          </p:cNvSpPr>
          <p:nvPr/>
        </p:nvSpPr>
        <p:spPr>
          <a:xfrm xmlns:a="http://schemas.openxmlformats.org/drawingml/2006/main">
            <a:off x="3314700" y="2647950"/>
            <a:ext cx="2786063" cy="18097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51B1E4F-0B29-4FB5-B952-AF63A8AE764B}"/>
              </a:ext>
            </a:extLst>
          </p:cNvPr>
          <p:cNvSpPr>
            <a:spLocks xmlns:a="http://schemas.openxmlformats.org/drawingml/2006/main" noGrp="1"/>
          </p:cNvSpPr>
          <p:nvPr/>
        </p:nvSpPr>
        <p:spPr>
          <a:xfrm xmlns:a="http://schemas.openxmlformats.org/drawingml/2006/main">
            <a:off x="7124700" y="25812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15%</a:t>
            </a:r>
          </a:p>
        </p:txBody>
      </p:sp>
      <p:sp>
        <p:nvSpPr>
          <p:cNvPr id="17" name="">
            <a:extLst xmlns:a="http://schemas.openxmlformats.org/drawingml/2006/main">
              <a:ext uri="{FF2B5EF4-FFF2-40B4-BE49-F238E27FC236}">
                <a16:creationId xmlns:a16="http://schemas.microsoft.com/office/drawing/2014/main" id="{8CEA0EB6-ACB8-45C6-A329-720E0EED5D72}"/>
              </a:ext>
            </a:extLst>
          </p:cNvPr>
          <p:cNvSpPr>
            <a:spLocks xmlns:a="http://schemas.openxmlformats.org/drawingml/2006/main" noGrp="1"/>
          </p:cNvSpPr>
          <p:nvPr/>
        </p:nvSpPr>
        <p:spPr>
          <a:xfrm xmlns:a="http://schemas.openxmlformats.org/drawingml/2006/main">
            <a:off x="647700" y="30670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management</a:t>
            </a:r>
          </a:p>
        </p:txBody>
      </p:sp>
      <p:sp>
        <p:nvSpPr>
          <p:cNvPr id="18" name="">
            <a:extLst xmlns:a="http://schemas.openxmlformats.org/drawingml/2006/main">
              <a:ext uri="{FF2B5EF4-FFF2-40B4-BE49-F238E27FC236}">
                <a16:creationId xmlns:a16="http://schemas.microsoft.com/office/drawing/2014/main" id="{210CB3BC-0BB0-4B73-BE33-46152DEBA480}"/>
              </a:ext>
            </a:extLst>
          </p:cNvPr>
          <p:cNvSpPr>
            <a:spLocks xmlns:a="http://schemas.openxmlformats.org/drawingml/2006/main" noGrp="1"/>
          </p:cNvSpPr>
          <p:nvPr/>
        </p:nvSpPr>
        <p:spPr>
          <a:xfrm xmlns:a="http://schemas.openxmlformats.org/drawingml/2006/main">
            <a:off x="3314700" y="311467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06C06BA-183D-420F-A21E-DFE98BA51892}"/>
              </a:ext>
            </a:extLst>
          </p:cNvPr>
          <p:cNvSpPr>
            <a:spLocks xmlns:a="http://schemas.openxmlformats.org/drawingml/2006/main" noGrp="1"/>
          </p:cNvSpPr>
          <p:nvPr/>
        </p:nvSpPr>
        <p:spPr>
          <a:xfrm xmlns:a="http://schemas.openxmlformats.org/drawingml/2006/main">
            <a:off x="3314700" y="3114675"/>
            <a:ext cx="2786063"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912B96C-71EC-477A-B898-3B52A5527A44}"/>
              </a:ext>
            </a:extLst>
          </p:cNvPr>
          <p:cNvSpPr>
            <a:spLocks xmlns:a="http://schemas.openxmlformats.org/drawingml/2006/main" noGrp="1"/>
          </p:cNvSpPr>
          <p:nvPr/>
        </p:nvSpPr>
        <p:spPr>
          <a:xfrm xmlns:a="http://schemas.openxmlformats.org/drawingml/2006/main">
            <a:off x="7124700" y="30480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15%</a:t>
            </a:r>
          </a:p>
        </p:txBody>
      </p:sp>
      <p:sp>
        <p:nvSpPr>
          <p:cNvPr id="21" name="">
            <a:extLst xmlns:a="http://schemas.openxmlformats.org/drawingml/2006/main">
              <a:ext uri="{FF2B5EF4-FFF2-40B4-BE49-F238E27FC236}">
                <a16:creationId xmlns:a16="http://schemas.microsoft.com/office/drawing/2014/main" id="{43CE0393-1EE3-4979-B491-292EC7DC327B}"/>
              </a:ext>
            </a:extLst>
          </p:cNvPr>
          <p:cNvSpPr>
            <a:spLocks xmlns:a="http://schemas.openxmlformats.org/drawingml/2006/main" noGrp="1"/>
          </p:cNvSpPr>
          <p:nvPr/>
        </p:nvSpPr>
        <p:spPr>
          <a:xfrm xmlns:a="http://schemas.openxmlformats.org/drawingml/2006/main">
            <a:off x="647700" y="35337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governance</a:t>
            </a:r>
          </a:p>
        </p:txBody>
      </p:sp>
      <p:sp>
        <p:nvSpPr>
          <p:cNvPr id="22" name="">
            <a:extLst xmlns:a="http://schemas.openxmlformats.org/drawingml/2006/main">
              <a:ext uri="{FF2B5EF4-FFF2-40B4-BE49-F238E27FC236}">
                <a16:creationId xmlns:a16="http://schemas.microsoft.com/office/drawing/2014/main" id="{8C84072F-01C5-4B00-B728-BE8307A07101}"/>
              </a:ext>
            </a:extLst>
          </p:cNvPr>
          <p:cNvSpPr>
            <a:spLocks xmlns:a="http://schemas.openxmlformats.org/drawingml/2006/main" noGrp="1"/>
          </p:cNvSpPr>
          <p:nvPr/>
        </p:nvSpPr>
        <p:spPr>
          <a:xfrm xmlns:a="http://schemas.openxmlformats.org/drawingml/2006/main">
            <a:off x="3314700" y="358140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9E20D3E-041F-493D-8D39-5DE38F5E1EBF}"/>
              </a:ext>
            </a:extLst>
          </p:cNvPr>
          <p:cNvSpPr>
            <a:spLocks xmlns:a="http://schemas.openxmlformats.org/drawingml/2006/main" noGrp="1"/>
          </p:cNvSpPr>
          <p:nvPr/>
        </p:nvSpPr>
        <p:spPr>
          <a:xfrm xmlns:a="http://schemas.openxmlformats.org/drawingml/2006/main">
            <a:off x="3314700" y="358140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CFD24CE-9F71-47C8-9B0F-45AF3A99F104}"/>
              </a:ext>
            </a:extLst>
          </p:cNvPr>
          <p:cNvSpPr>
            <a:spLocks xmlns:a="http://schemas.openxmlformats.org/drawingml/2006/main" noGrp="1"/>
          </p:cNvSpPr>
          <p:nvPr/>
        </p:nvSpPr>
        <p:spPr>
          <a:xfrm xmlns:a="http://schemas.openxmlformats.org/drawingml/2006/main">
            <a:off x="7124700" y="351472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5" name="">
            <a:extLst xmlns:a="http://schemas.openxmlformats.org/drawingml/2006/main">
              <a:ext uri="{FF2B5EF4-FFF2-40B4-BE49-F238E27FC236}">
                <a16:creationId xmlns:a16="http://schemas.microsoft.com/office/drawing/2014/main" id="{6481FCB3-3166-4906-8E7B-0FB192E072FF}"/>
              </a:ext>
            </a:extLst>
          </p:cNvPr>
          <p:cNvSpPr>
            <a:spLocks xmlns:a="http://schemas.openxmlformats.org/drawingml/2006/main" noGrp="1"/>
          </p:cNvSpPr>
          <p:nvPr/>
        </p:nvSpPr>
        <p:spPr>
          <a:xfrm xmlns:a="http://schemas.openxmlformats.org/drawingml/2006/main">
            <a:off x="647700" y="40005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Security &amp; compliance</a:t>
            </a:r>
          </a:p>
        </p:txBody>
      </p:sp>
      <p:sp>
        <p:nvSpPr>
          <p:cNvPr id="26" name="">
            <a:extLst xmlns:a="http://schemas.openxmlformats.org/drawingml/2006/main">
              <a:ext uri="{FF2B5EF4-FFF2-40B4-BE49-F238E27FC236}">
                <a16:creationId xmlns:a16="http://schemas.microsoft.com/office/drawing/2014/main" id="{79E61724-D6CF-4B42-A29F-4A48196F33F8}"/>
              </a:ext>
            </a:extLst>
          </p:cNvPr>
          <p:cNvSpPr>
            <a:spLocks xmlns:a="http://schemas.openxmlformats.org/drawingml/2006/main" noGrp="1"/>
          </p:cNvSpPr>
          <p:nvPr/>
        </p:nvSpPr>
        <p:spPr>
          <a:xfrm xmlns:a="http://schemas.openxmlformats.org/drawingml/2006/main">
            <a:off x="3314700" y="404812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F3B2A7A-B51B-40C3-AF6B-F4D019A1EAF4}"/>
              </a:ext>
            </a:extLst>
          </p:cNvPr>
          <p:cNvSpPr>
            <a:spLocks xmlns:a="http://schemas.openxmlformats.org/drawingml/2006/main" noGrp="1"/>
          </p:cNvSpPr>
          <p:nvPr/>
        </p:nvSpPr>
        <p:spPr>
          <a:xfrm xmlns:a="http://schemas.openxmlformats.org/drawingml/2006/main">
            <a:off x="3314700" y="4048125"/>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6BE2717-1B56-4954-8C1E-9C9B6BB613E3}"/>
              </a:ext>
            </a:extLst>
          </p:cNvPr>
          <p:cNvSpPr>
            <a:spLocks xmlns:a="http://schemas.openxmlformats.org/drawingml/2006/main" noGrp="1"/>
          </p:cNvSpPr>
          <p:nvPr/>
        </p:nvSpPr>
        <p:spPr>
          <a:xfrm xmlns:a="http://schemas.openxmlformats.org/drawingml/2006/main">
            <a:off x="7124700" y="398145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9" name="">
            <a:extLst xmlns:a="http://schemas.openxmlformats.org/drawingml/2006/main">
              <a:ext uri="{FF2B5EF4-FFF2-40B4-BE49-F238E27FC236}">
                <a16:creationId xmlns:a16="http://schemas.microsoft.com/office/drawing/2014/main" id="{E741B9A1-04B6-422E-A877-BF9E15F46601}"/>
              </a:ext>
            </a:extLst>
          </p:cNvPr>
          <p:cNvSpPr>
            <a:spLocks xmlns:a="http://schemas.openxmlformats.org/drawingml/2006/main" noGrp="1"/>
          </p:cNvSpPr>
          <p:nvPr/>
        </p:nvSpPr>
        <p:spPr>
          <a:xfrm xmlns:a="http://schemas.openxmlformats.org/drawingml/2006/main">
            <a:off x="647700" y="44672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Observability</a:t>
            </a:r>
          </a:p>
        </p:txBody>
      </p:sp>
      <p:sp>
        <p:nvSpPr>
          <p:cNvPr id="30" name="">
            <a:extLst xmlns:a="http://schemas.openxmlformats.org/drawingml/2006/main">
              <a:ext uri="{FF2B5EF4-FFF2-40B4-BE49-F238E27FC236}">
                <a16:creationId xmlns:a16="http://schemas.microsoft.com/office/drawing/2014/main" id="{5AA87F98-1E45-46FF-8685-98A66ED96D21}"/>
              </a:ext>
            </a:extLst>
          </p:cNvPr>
          <p:cNvSpPr>
            <a:spLocks xmlns:a="http://schemas.openxmlformats.org/drawingml/2006/main" noGrp="1"/>
          </p:cNvSpPr>
          <p:nvPr/>
        </p:nvSpPr>
        <p:spPr>
          <a:xfrm xmlns:a="http://schemas.openxmlformats.org/drawingml/2006/main">
            <a:off x="3314700" y="451485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F518AB7-6BB2-4E8F-9F16-6227EF805E35}"/>
              </a:ext>
            </a:extLst>
          </p:cNvPr>
          <p:cNvSpPr>
            <a:spLocks xmlns:a="http://schemas.openxmlformats.org/drawingml/2006/main" noGrp="1"/>
          </p:cNvSpPr>
          <p:nvPr/>
        </p:nvSpPr>
        <p:spPr>
          <a:xfrm xmlns:a="http://schemas.openxmlformats.org/drawingml/2006/main">
            <a:off x="3314700" y="451485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180A293-5A45-4409-B554-35508E04EC54}"/>
              </a:ext>
            </a:extLst>
          </p:cNvPr>
          <p:cNvSpPr>
            <a:spLocks xmlns:a="http://schemas.openxmlformats.org/drawingml/2006/main" noGrp="1"/>
          </p:cNvSpPr>
          <p:nvPr/>
        </p:nvSpPr>
        <p:spPr>
          <a:xfrm xmlns:a="http://schemas.openxmlformats.org/drawingml/2006/main">
            <a:off x="7124700" y="44481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3" name="">
            <a:extLst xmlns:a="http://schemas.openxmlformats.org/drawingml/2006/main">
              <a:ext uri="{FF2B5EF4-FFF2-40B4-BE49-F238E27FC236}">
                <a16:creationId xmlns:a16="http://schemas.microsoft.com/office/drawing/2014/main" id="{F79F0558-0D15-40BD-AB57-CB39FE0BBCD5}"/>
              </a:ext>
            </a:extLst>
          </p:cNvPr>
          <p:cNvSpPr>
            <a:spLocks xmlns:a="http://schemas.openxmlformats.org/drawingml/2006/main" noGrp="1"/>
          </p:cNvSpPr>
          <p:nvPr/>
        </p:nvSpPr>
        <p:spPr>
          <a:xfrm xmlns:a="http://schemas.openxmlformats.org/drawingml/2006/main">
            <a:off x="647700" y="49339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AI gateway readiness</a:t>
            </a:r>
          </a:p>
        </p:txBody>
      </p:sp>
      <p:sp>
        <p:nvSpPr>
          <p:cNvPr id="34" name="">
            <a:extLst xmlns:a="http://schemas.openxmlformats.org/drawingml/2006/main">
              <a:ext uri="{FF2B5EF4-FFF2-40B4-BE49-F238E27FC236}">
                <a16:creationId xmlns:a16="http://schemas.microsoft.com/office/drawing/2014/main" id="{8B7D53B6-D275-42A8-B5D3-65CE843B58B0}"/>
              </a:ext>
            </a:extLst>
          </p:cNvPr>
          <p:cNvSpPr>
            <a:spLocks xmlns:a="http://schemas.openxmlformats.org/drawingml/2006/main" noGrp="1"/>
          </p:cNvSpPr>
          <p:nvPr/>
        </p:nvSpPr>
        <p:spPr>
          <a:xfrm xmlns:a="http://schemas.openxmlformats.org/drawingml/2006/main">
            <a:off x="3314700" y="498157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97604918-DF6A-40CB-B8EE-890B52876956}"/>
              </a:ext>
            </a:extLst>
          </p:cNvPr>
          <p:cNvSpPr>
            <a:spLocks xmlns:a="http://schemas.openxmlformats.org/drawingml/2006/main" noGrp="1"/>
          </p:cNvSpPr>
          <p:nvPr/>
        </p:nvSpPr>
        <p:spPr>
          <a:xfrm xmlns:a="http://schemas.openxmlformats.org/drawingml/2006/main">
            <a:off x="3314700" y="4981575"/>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297F347A-759D-4348-BCC5-91B67374E21D}"/>
              </a:ext>
            </a:extLst>
          </p:cNvPr>
          <p:cNvSpPr>
            <a:spLocks xmlns:a="http://schemas.openxmlformats.org/drawingml/2006/main" noGrp="1"/>
          </p:cNvSpPr>
          <p:nvPr/>
        </p:nvSpPr>
        <p:spPr>
          <a:xfrm xmlns:a="http://schemas.openxmlformats.org/drawingml/2006/main">
            <a:off x="7124700" y="49149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7" name="">
            <a:extLst xmlns:a="http://schemas.openxmlformats.org/drawingml/2006/main">
              <a:ext uri="{FF2B5EF4-FFF2-40B4-BE49-F238E27FC236}">
                <a16:creationId xmlns:a16="http://schemas.microsoft.com/office/drawing/2014/main" id="{B0DB533F-F7BF-408B-AA8A-FE32319968BF}"/>
              </a:ext>
            </a:extLst>
          </p:cNvPr>
          <p:cNvSpPr>
            <a:spLocks xmlns:a="http://schemas.openxmlformats.org/drawingml/2006/main" noGrp="1"/>
          </p:cNvSpPr>
          <p:nvPr/>
        </p:nvSpPr>
        <p:spPr>
          <a:xfrm xmlns:a="http://schemas.openxmlformats.org/drawingml/2006/main">
            <a:off x="647700" y="54006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Cost efficiency</a:t>
            </a:r>
          </a:p>
        </p:txBody>
      </p:sp>
      <p:sp>
        <p:nvSpPr>
          <p:cNvPr id="38" name="">
            <a:extLst xmlns:a="http://schemas.openxmlformats.org/drawingml/2006/main">
              <a:ext uri="{FF2B5EF4-FFF2-40B4-BE49-F238E27FC236}">
                <a16:creationId xmlns:a16="http://schemas.microsoft.com/office/drawing/2014/main" id="{CF9ABC88-D340-4650-9E73-75A68B89933E}"/>
              </a:ext>
            </a:extLst>
          </p:cNvPr>
          <p:cNvSpPr>
            <a:spLocks xmlns:a="http://schemas.openxmlformats.org/drawingml/2006/main" noGrp="1"/>
          </p:cNvSpPr>
          <p:nvPr/>
        </p:nvSpPr>
        <p:spPr>
          <a:xfrm xmlns:a="http://schemas.openxmlformats.org/drawingml/2006/main">
            <a:off x="3314700" y="544830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0A98BA8-3755-40C9-9706-6C530AF24706}"/>
              </a:ext>
            </a:extLst>
          </p:cNvPr>
          <p:cNvSpPr>
            <a:spLocks xmlns:a="http://schemas.openxmlformats.org/drawingml/2006/main" noGrp="1"/>
          </p:cNvSpPr>
          <p:nvPr/>
        </p:nvSpPr>
        <p:spPr>
          <a:xfrm xmlns:a="http://schemas.openxmlformats.org/drawingml/2006/main">
            <a:off x="3314700" y="544830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9296AAE2-A164-4FF8-BB54-149F42A65FCE}"/>
              </a:ext>
            </a:extLst>
          </p:cNvPr>
          <p:cNvSpPr>
            <a:spLocks xmlns:a="http://schemas.openxmlformats.org/drawingml/2006/main" noGrp="1"/>
          </p:cNvSpPr>
          <p:nvPr/>
        </p:nvSpPr>
        <p:spPr>
          <a:xfrm xmlns:a="http://schemas.openxmlformats.org/drawingml/2006/main">
            <a:off x="7124700" y="538162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41" name="">
            <a:extLst xmlns:a="http://schemas.openxmlformats.org/drawingml/2006/main">
              <a:ext uri="{FF2B5EF4-FFF2-40B4-BE49-F238E27FC236}">
                <a16:creationId xmlns:a16="http://schemas.microsoft.com/office/drawing/2014/main" id="{65178325-164B-4F75-B7C8-C8DF63589D0B}"/>
              </a:ext>
            </a:extLst>
          </p:cNvPr>
          <p:cNvSpPr>
            <a:spLocks xmlns:a="http://schemas.openxmlformats.org/drawingml/2006/main" noGrp="1"/>
          </p:cNvSpPr>
          <p:nvPr/>
        </p:nvSpPr>
        <p:spPr>
          <a:xfrm xmlns:a="http://schemas.openxmlformats.org/drawingml/2006/main">
            <a:off x="7981950" y="2143125"/>
            <a:ext cx="3333750" cy="29908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42" name="">
            <a:extLst xmlns:a="http://schemas.openxmlformats.org/drawingml/2006/main">
              <a:ext uri="{FF2B5EF4-FFF2-40B4-BE49-F238E27FC236}">
                <a16:creationId xmlns:a16="http://schemas.microsoft.com/office/drawing/2014/main" id="{A68BA586-9BCD-4FAD-B1F3-FE6F20DA92BE}"/>
              </a:ext>
            </a:extLst>
          </p:cNvPr>
          <p:cNvSpPr>
            <a:spLocks xmlns:a="http://schemas.openxmlformats.org/drawingml/2006/main" noGrp="1"/>
          </p:cNvSpPr>
          <p:nvPr/>
        </p:nvSpPr>
        <p:spPr>
          <a:xfrm xmlns:a="http://schemas.openxmlformats.org/drawingml/2006/main">
            <a:off x="7981950" y="2143125"/>
            <a:ext cx="66675" cy="2990850"/>
          </a:xfrm>
          <a:prstGeom xmlns:a="http://schemas.openxmlformats.org/drawingml/2006/main" prst="rect">
            <a:avLst/>
          </a:prstGeom>
          <a:solidFill xmlns:a="http://schemas.openxmlformats.org/drawingml/2006/main">
            <a:srgbClr val="A9630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DE1C88DE-9A02-4123-91BF-49E1E52819DF}"/>
              </a:ext>
            </a:extLst>
          </p:cNvPr>
          <p:cNvSpPr>
            <a:spLocks xmlns:a="http://schemas.openxmlformats.org/drawingml/2006/main" noGrp="1"/>
          </p:cNvSpPr>
          <p:nvPr/>
        </p:nvSpPr>
        <p:spPr>
          <a:xfrm xmlns:a="http://schemas.openxmlformats.org/drawingml/2006/main">
            <a:off x="8191500" y="2314575"/>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A96300"/>
                </a:solidFill>
                <a:latin typeface="Consolas"/>
                <a:ea typeface="Consolas"/>
                <a:cs typeface="Consolas"/>
              </a:defRPr>
            </a:pPr>
            <a:r>
              <a:rPr sz="1050" b="1" i="0">
                <a:solidFill>
                  <a:srgbClr val="A96300"/>
                </a:solidFill>
                <a:latin typeface="Consolas"/>
                <a:ea typeface="Consolas"/>
                <a:cs typeface="Consolas"/>
              </a:rPr>
              <a:t>GOVERNED RE-SCORE</a:t>
            </a:r>
          </a:p>
        </p:txBody>
      </p:sp>
      <p:sp>
        <p:nvSpPr>
          <p:cNvPr id="44" name="">
            <a:extLst xmlns:a="http://schemas.openxmlformats.org/drawingml/2006/main">
              <a:ext uri="{FF2B5EF4-FFF2-40B4-BE49-F238E27FC236}">
                <a16:creationId xmlns:a16="http://schemas.microsoft.com/office/drawing/2014/main" id="{E10912D9-388E-464B-9B3E-F4184BCCAB00}"/>
              </a:ext>
            </a:extLst>
          </p:cNvPr>
          <p:cNvSpPr>
            <a:spLocks xmlns:a="http://schemas.openxmlformats.org/drawingml/2006/main" noGrp="1"/>
          </p:cNvSpPr>
          <p:nvPr/>
        </p:nvSpPr>
        <p:spPr>
          <a:xfrm xmlns:a="http://schemas.openxmlformats.org/drawingml/2006/main">
            <a:off x="8191500" y="2619375"/>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Six dimensions stay pending</a:t>
            </a:r>
          </a:p>
        </p:txBody>
      </p:sp>
      <p:sp>
        <p:nvSpPr>
          <p:cNvPr id="45" name="">
            <a:extLst xmlns:a="http://schemas.openxmlformats.org/drawingml/2006/main">
              <a:ext uri="{FF2B5EF4-FFF2-40B4-BE49-F238E27FC236}">
                <a16:creationId xmlns:a16="http://schemas.microsoft.com/office/drawing/2014/main" id="{32075F24-E6A8-4CF9-895F-EAB751A11278}"/>
              </a:ext>
            </a:extLst>
          </p:cNvPr>
          <p:cNvSpPr>
            <a:spLocks xmlns:a="http://schemas.openxmlformats.org/drawingml/2006/main" noGrp="1"/>
          </p:cNvSpPr>
          <p:nvPr/>
        </p:nvSpPr>
        <p:spPr>
          <a:xfrm xmlns:a="http://schemas.openxmlformats.org/drawingml/2006/main">
            <a:off x="8191500" y="3324225"/>
            <a:ext cx="291465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Multicloud / sovereignty</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Scalability / robustness</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Security, IAM / traceability</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Reversibility / vendor dependency</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Fully allocated TCO</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Control-plane operating duty</a:t>
            </a:r>
          </a:p>
        </p:txBody>
      </p:sp>
      <p:sp>
        <p:nvSpPr>
          <p:cNvPr id="46" name="">
            <a:extLst xmlns:a="http://schemas.openxmlformats.org/drawingml/2006/main">
              <a:ext uri="{FF2B5EF4-FFF2-40B4-BE49-F238E27FC236}">
                <a16:creationId xmlns:a16="http://schemas.microsoft.com/office/drawing/2014/main" id="{DB5287D0-BF74-47C1-83C1-3EA4ABAA5F3A}"/>
              </a:ext>
            </a:extLst>
          </p:cNvPr>
          <p:cNvSpPr>
            <a:spLocks xmlns:a="http://schemas.openxmlformats.org/drawingml/2006/main" noGrp="1"/>
          </p:cNvSpPr>
          <p:nvPr/>
        </p:nvSpPr>
        <p:spPr>
          <a:xfrm xmlns:a="http://schemas.openxmlformats.org/drawingml/2006/main">
            <a:off x="8001000" y="5381625"/>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Rule</a:t>
            </a:r>
          </a:p>
        </p:txBody>
      </p:sp>
      <p:sp>
        <p:nvSpPr>
          <p:cNvPr id="47" name="">
            <a:extLst xmlns:a="http://schemas.openxmlformats.org/drawingml/2006/main">
              <a:ext uri="{FF2B5EF4-FFF2-40B4-BE49-F238E27FC236}">
                <a16:creationId xmlns:a16="http://schemas.microsoft.com/office/drawing/2014/main" id="{80CAC1D4-4AA1-4E0D-AF61-56088665CF07}"/>
              </a:ext>
            </a:extLst>
          </p:cNvPr>
          <p:cNvSpPr>
            <a:spLocks xmlns:a="http://schemas.openxmlformats.org/drawingml/2006/main" noGrp="1"/>
          </p:cNvSpPr>
          <p:nvPr/>
        </p:nvSpPr>
        <p:spPr>
          <a:xfrm xmlns:a="http://schemas.openxmlformats.org/drawingml/2006/main">
            <a:off x="8001000" y="5619750"/>
            <a:ext cx="3295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379"/>
          </a:bodyPr>
          <a:lstStyle xmlns:a="http://schemas.openxmlformats.org/drawingml/2006/main"/>
          <a:p xmlns:a="http://schemas.openxmlformats.org/drawingml/2006/main">
            <a:pPr algn="l">
              <a:buNone/>
              <a:defRPr sz="1575" b="0" i="0">
                <a:solidFill>
                  <a:srgbClr val="111111"/>
                </a:solidFill>
                <a:latin typeface="Georgia"/>
                <a:ea typeface="Georgia"/>
                <a:cs typeface="Georgia"/>
              </a:defRPr>
            </a:pPr>
            <a:r>
              <a:rPr sz="1575" b="0" i="0">
                <a:solidFill>
                  <a:srgbClr val="111111"/>
                </a:solidFill>
                <a:latin typeface="Georgia"/>
                <a:ea typeface="Georgia"/>
                <a:cs typeface="Georgia"/>
              </a:rPr>
              <a:t>Approve weights, rubric, evidence floor, scorers and sensitivity before any new total.</a:t>
            </a:r>
          </a:p>
        </p:txBody>
      </p:sp>
    </p:spTree>
    <p:extLst>
      <p:ext uri="{BB962C8B-B14F-4D97-AF65-F5344CB8AC3E}">
        <p14:creationId xmlns:p14="http://schemas.microsoft.com/office/powerpoint/2010/main" val="1624682624"/>
      </p:ext>
    </p:extLst>
  </p:cSld>
</p:sld>
</file>

<file path=ppt/slides/slide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21CD2DE5-0A26-4ED5-863B-09746AE383A9}"/>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47FC128-9626-4B67-8B2E-D99112C9111A}"/>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75541F8-CADB-4BE1-B2F8-116DD93B4DB1}"/>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04 / OPTIONS</a:t>
            </a:r>
          </a:p>
        </p:txBody>
      </p:sp>
      <p:sp>
        <p:nvSpPr>
          <p:cNvPr id="4" name="">
            <a:extLst xmlns:a="http://schemas.openxmlformats.org/drawingml/2006/main">
              <a:ext uri="{FF2B5EF4-FFF2-40B4-BE49-F238E27FC236}">
                <a16:creationId xmlns:a16="http://schemas.microsoft.com/office/drawing/2014/main" id="{FA04DA56-2A98-454C-920D-010FB01E2C8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Each contender optimizes a different operating model</a:t>
            </a:r>
          </a:p>
        </p:txBody>
      </p:sp>
      <p:sp>
        <p:nvSpPr>
          <p:cNvPr id="5" name="">
            <a:extLst xmlns:a="http://schemas.openxmlformats.org/drawingml/2006/main">
              <a:ext uri="{FF2B5EF4-FFF2-40B4-BE49-F238E27FC236}">
                <a16:creationId xmlns:a16="http://schemas.microsoft.com/office/drawing/2014/main" id="{48BF8589-9FD7-4AC0-A33E-544B193C084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Compare fit conditions and control boundaries—not adjectives or feature counts.</a:t>
            </a:r>
          </a:p>
        </p:txBody>
      </p:sp>
      <p:sp>
        <p:nvSpPr>
          <p:cNvPr id="6" name="">
            <a:extLst xmlns:a="http://schemas.openxmlformats.org/drawingml/2006/main">
              <a:ext uri="{FF2B5EF4-FFF2-40B4-BE49-F238E27FC236}">
                <a16:creationId xmlns:a16="http://schemas.microsoft.com/office/drawing/2014/main" id="{FAB275A7-EAB3-4A9B-BEDC-18D8412DFC89}"/>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A3512C4-FF9C-41AF-B23F-6B7131131D3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bbf74f275ce4491"/>
              </a:rPr>
              <a:t>Repo reference</a:t>
            </a:r>
            <a:r>
              <a:rPr sz="825">
                <a:solidFill>
                  <a:srgbClr val="666762"/>
                </a:solidFill>
              </a:rPr>
              <a:t>  ·  </a:t>
            </a:r>
            <a:r>
              <a:rPr sz="825" u="sng">
                <a:solidFill>
                  <a:srgbClr val="666762"/>
                </a:solidFill>
                <a:hlinkClick xmlns:r="http://schemas.openxmlformats.org/officeDocument/2006/relationships" r:id="R79b752accd5a476d"/>
              </a:rPr>
              <a:t>Official docs</a:t>
            </a:r>
          </a:p>
        </p:txBody>
      </p:sp>
      <p:sp>
        <p:nvSpPr>
          <p:cNvPr id="8" name="">
            <a:extLst xmlns:a="http://schemas.openxmlformats.org/drawingml/2006/main">
              <a:ext uri="{FF2B5EF4-FFF2-40B4-BE49-F238E27FC236}">
                <a16:creationId xmlns:a16="http://schemas.microsoft.com/office/drawing/2014/main" id="{45C77CB4-E86B-4DC5-BD9F-D5BA7774360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04 / 25</a:t>
            </a:r>
          </a:p>
        </p:txBody>
      </p:sp>
      <p:sp>
        <p:nvSpPr>
          <p:cNvPr id="9" name="">
            <a:extLst xmlns:a="http://schemas.openxmlformats.org/drawingml/2006/main">
              <a:ext uri="{FF2B5EF4-FFF2-40B4-BE49-F238E27FC236}">
                <a16:creationId xmlns:a16="http://schemas.microsoft.com/office/drawing/2014/main" id="{A50E7440-AFC6-4F98-A635-B7F6D6659CDD}"/>
              </a:ext>
            </a:extLst>
          </p:cNvPr>
          <p:cNvSpPr>
            <a:spLocks xmlns:a="http://schemas.openxmlformats.org/drawingml/2006/main" noGrp="1"/>
          </p:cNvSpPr>
          <p:nvPr/>
        </p:nvSpPr>
        <p:spPr>
          <a:xfrm xmlns:a="http://schemas.openxmlformats.org/drawingml/2006/main">
            <a:off x="609600" y="2181225"/>
            <a:ext cx="2571750" cy="3714750"/>
          </a:xfrm>
          <a:prstGeom xmlns:a="http://schemas.openxmlformats.org/drawingml/2006/main" prst="rect">
            <a:avLst/>
          </a:prstGeom>
          <a:solidFill xmlns:a="http://schemas.openxmlformats.org/drawingml/2006/main">
            <a:srgbClr val="111111"/>
          </a:solidFill>
          <a:ln xmlns:a="http://schemas.openxmlformats.org/drawingml/2006/main" w="9525">
            <a:solidFill>
              <a:srgbClr val="111111"/>
            </a:solidFill>
            <a:prstDash val="solid"/>
          </a:ln>
        </p:spPr>
      </p:sp>
      <p:sp>
        <p:nvSpPr>
          <p:cNvPr id="10" name="">
            <a:extLst xmlns:a="http://schemas.openxmlformats.org/drawingml/2006/main">
              <a:ext uri="{FF2B5EF4-FFF2-40B4-BE49-F238E27FC236}">
                <a16:creationId xmlns:a16="http://schemas.microsoft.com/office/drawing/2014/main" id="{6FC5A4DC-9BA7-4E55-8FDD-2F7A210617E6}"/>
              </a:ext>
            </a:extLst>
          </p:cNvPr>
          <p:cNvSpPr>
            <a:spLocks xmlns:a="http://schemas.openxmlformats.org/drawingml/2006/main" noGrp="1"/>
          </p:cNvSpPr>
          <p:nvPr/>
        </p:nvSpPr>
        <p:spPr>
          <a:xfrm xmlns:a="http://schemas.openxmlformats.org/drawingml/2006/main">
            <a:off x="8001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FFFFFF"/>
                </a:solidFill>
                <a:latin typeface="Consolas"/>
                <a:ea typeface="Consolas"/>
                <a:cs typeface="Consolas"/>
              </a:defRPr>
            </a:pPr>
            <a:r>
              <a:rPr sz="1350" b="1" i="0">
                <a:solidFill>
                  <a:srgbClr val="FFFFFF"/>
                </a:solidFill>
                <a:latin typeface="Consolas"/>
                <a:ea typeface="Consolas"/>
                <a:cs typeface="Consolas"/>
              </a:rPr>
              <a:t>KONG</a:t>
            </a:r>
          </a:p>
        </p:txBody>
      </p:sp>
      <p:sp>
        <p:nvSpPr>
          <p:cNvPr id="11" name="">
            <a:extLst xmlns:a="http://schemas.openxmlformats.org/drawingml/2006/main">
              <a:ext uri="{FF2B5EF4-FFF2-40B4-BE49-F238E27FC236}">
                <a16:creationId xmlns:a16="http://schemas.microsoft.com/office/drawing/2014/main" id="{EED6B60F-8313-4098-A320-A165DB9EBF1B}"/>
              </a:ext>
            </a:extLst>
          </p:cNvPr>
          <p:cNvSpPr>
            <a:spLocks xmlns:a="http://schemas.openxmlformats.org/drawingml/2006/main" noGrp="1"/>
          </p:cNvSpPr>
          <p:nvPr/>
        </p:nvSpPr>
        <p:spPr>
          <a:xfrm xmlns:a="http://schemas.openxmlformats.org/drawingml/2006/main">
            <a:off x="8001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STRONGEST WHEN</a:t>
            </a:r>
          </a:p>
        </p:txBody>
      </p:sp>
      <p:sp>
        <p:nvSpPr>
          <p:cNvPr id="12" name="">
            <a:extLst xmlns:a="http://schemas.openxmlformats.org/drawingml/2006/main">
              <a:ext uri="{FF2B5EF4-FFF2-40B4-BE49-F238E27FC236}">
                <a16:creationId xmlns:a16="http://schemas.microsoft.com/office/drawing/2014/main" id="{0D390FB8-361C-42E7-9E6C-EC3EC9FD4B33}"/>
              </a:ext>
            </a:extLst>
          </p:cNvPr>
          <p:cNvSpPr>
            <a:spLocks xmlns:a="http://schemas.openxmlformats.org/drawingml/2006/main" noGrp="1"/>
          </p:cNvSpPr>
          <p:nvPr/>
        </p:nvSpPr>
        <p:spPr>
          <a:xfrm xmlns:a="http://schemas.openxmlformats.org/drawingml/2006/main">
            <a:off x="8001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FFFFFF"/>
                </a:solidFill>
                <a:latin typeface="Georgia"/>
                <a:ea typeface="Georgia"/>
                <a:cs typeface="Georgia"/>
              </a:defRPr>
            </a:pPr>
            <a:r>
              <a:rPr sz="1800" b="0" i="0">
                <a:solidFill>
                  <a:srgbClr val="FFFFFF"/>
                </a:solidFill>
                <a:latin typeface="Georgia"/>
                <a:ea typeface="Georgia"/>
                <a:cs typeface="Georgia"/>
              </a:rPr>
              <a:t>Kubernetes / GitOps / platform engineering</a:t>
            </a:r>
          </a:p>
        </p:txBody>
      </p:sp>
      <p:sp>
        <p:nvSpPr>
          <p:cNvPr id="13" name="">
            <a:extLst xmlns:a="http://schemas.openxmlformats.org/drawingml/2006/main">
              <a:ext uri="{FF2B5EF4-FFF2-40B4-BE49-F238E27FC236}">
                <a16:creationId xmlns:a16="http://schemas.microsoft.com/office/drawing/2014/main" id="{200038F2-6CF0-4ECD-86EC-21081A5FDA2E}"/>
              </a:ext>
            </a:extLst>
          </p:cNvPr>
          <p:cNvSpPr>
            <a:spLocks xmlns:a="http://schemas.openxmlformats.org/drawingml/2006/main" noGrp="1"/>
          </p:cNvSpPr>
          <p:nvPr/>
        </p:nvSpPr>
        <p:spPr>
          <a:xfrm xmlns:a="http://schemas.openxmlformats.org/drawingml/2006/main">
            <a:off x="800100" y="4457700"/>
            <a:ext cx="219075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9B57C8-EC2F-4004-9379-FCBB46DD03FA}"/>
              </a:ext>
            </a:extLst>
          </p:cNvPr>
          <p:cNvSpPr>
            <a:spLocks xmlns:a="http://schemas.openxmlformats.org/drawingml/2006/main" noGrp="1"/>
          </p:cNvSpPr>
          <p:nvPr/>
        </p:nvSpPr>
        <p:spPr>
          <a:xfrm xmlns:a="http://schemas.openxmlformats.org/drawingml/2006/main">
            <a:off x="8001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CONCERN TO TEST</a:t>
            </a:r>
          </a:p>
        </p:txBody>
      </p:sp>
      <p:sp>
        <p:nvSpPr>
          <p:cNvPr id="15" name="">
            <a:extLst xmlns:a="http://schemas.openxmlformats.org/drawingml/2006/main">
              <a:ext uri="{FF2B5EF4-FFF2-40B4-BE49-F238E27FC236}">
                <a16:creationId xmlns:a16="http://schemas.microsoft.com/office/drawing/2014/main" id="{C4C3186A-FF4F-4701-A352-E6AF7D05C93E}"/>
              </a:ext>
            </a:extLst>
          </p:cNvPr>
          <p:cNvSpPr>
            <a:spLocks xmlns:a="http://schemas.openxmlformats.org/drawingml/2006/main" noGrp="1"/>
          </p:cNvSpPr>
          <p:nvPr/>
        </p:nvSpPr>
        <p:spPr>
          <a:xfrm xmlns:a="http://schemas.openxmlformats.org/drawingml/2006/main">
            <a:off x="8001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F4F0E7"/>
                </a:solidFill>
                <a:latin typeface="Arial"/>
                <a:ea typeface="Arial"/>
                <a:cs typeface="Arial"/>
              </a:defRPr>
            </a:pPr>
            <a:r>
              <a:rPr sz="1275" b="0" i="0">
                <a:solidFill>
                  <a:srgbClr val="F4F0E7"/>
                </a:solidFill>
                <a:latin typeface="Arial"/>
                <a:ea typeface="Arial"/>
                <a:cs typeface="Arial"/>
              </a:rPr>
              <a:t>Fund CP, PostgreSQL, PKI, upgrades, restore and 24×7 duty</a:t>
            </a:r>
          </a:p>
        </p:txBody>
      </p:sp>
      <p:sp>
        <p:nvSpPr>
          <p:cNvPr id="16" name="">
            <a:extLst xmlns:a="http://schemas.openxmlformats.org/drawingml/2006/main">
              <a:ext uri="{FF2B5EF4-FFF2-40B4-BE49-F238E27FC236}">
                <a16:creationId xmlns:a16="http://schemas.microsoft.com/office/drawing/2014/main" id="{21938BA3-1730-43D9-9225-0E0097B1F5D3}"/>
              </a:ext>
            </a:extLst>
          </p:cNvPr>
          <p:cNvSpPr>
            <a:spLocks xmlns:a="http://schemas.openxmlformats.org/drawingml/2006/main" noGrp="1"/>
          </p:cNvSpPr>
          <p:nvPr/>
        </p:nvSpPr>
        <p:spPr>
          <a:xfrm xmlns:a="http://schemas.openxmlformats.org/drawingml/2006/main">
            <a:off x="33909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7" name="">
            <a:extLst xmlns:a="http://schemas.openxmlformats.org/drawingml/2006/main">
              <a:ext uri="{FF2B5EF4-FFF2-40B4-BE49-F238E27FC236}">
                <a16:creationId xmlns:a16="http://schemas.microsoft.com/office/drawing/2014/main" id="{C13444FA-0F4F-4932-AE7F-032907E3DCD7}"/>
              </a:ext>
            </a:extLst>
          </p:cNvPr>
          <p:cNvSpPr>
            <a:spLocks xmlns:a="http://schemas.openxmlformats.org/drawingml/2006/main" noGrp="1"/>
          </p:cNvSpPr>
          <p:nvPr/>
        </p:nvSpPr>
        <p:spPr>
          <a:xfrm xmlns:a="http://schemas.openxmlformats.org/drawingml/2006/main">
            <a:off x="35814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APIGEE</a:t>
            </a:r>
          </a:p>
        </p:txBody>
      </p:sp>
      <p:sp>
        <p:nvSpPr>
          <p:cNvPr id="18" name="">
            <a:extLst xmlns:a="http://schemas.openxmlformats.org/drawingml/2006/main">
              <a:ext uri="{FF2B5EF4-FFF2-40B4-BE49-F238E27FC236}">
                <a16:creationId xmlns:a16="http://schemas.microsoft.com/office/drawing/2014/main" id="{38F17D3E-A6FA-410F-BD9F-1CD21D2E2953}"/>
              </a:ext>
            </a:extLst>
          </p:cNvPr>
          <p:cNvSpPr>
            <a:spLocks xmlns:a="http://schemas.openxmlformats.org/drawingml/2006/main" noGrp="1"/>
          </p:cNvSpPr>
          <p:nvPr/>
        </p:nvSpPr>
        <p:spPr>
          <a:xfrm xmlns:a="http://schemas.openxmlformats.org/drawingml/2006/main">
            <a:off x="35814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19" name="">
            <a:extLst xmlns:a="http://schemas.openxmlformats.org/drawingml/2006/main">
              <a:ext uri="{FF2B5EF4-FFF2-40B4-BE49-F238E27FC236}">
                <a16:creationId xmlns:a16="http://schemas.microsoft.com/office/drawing/2014/main" id="{EE76BD0B-8CB9-4CC5-8ADB-B9CEDB2BFA54}"/>
              </a:ext>
            </a:extLst>
          </p:cNvPr>
          <p:cNvSpPr>
            <a:spLocks xmlns:a="http://schemas.openxmlformats.org/drawingml/2006/main" noGrp="1"/>
          </p:cNvSpPr>
          <p:nvPr/>
        </p:nvSpPr>
        <p:spPr>
          <a:xfrm xmlns:a="http://schemas.openxmlformats.org/drawingml/2006/main">
            <a:off x="35814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External API products, governance and monetization</a:t>
            </a:r>
          </a:p>
        </p:txBody>
      </p:sp>
      <p:sp>
        <p:nvSpPr>
          <p:cNvPr id="20" name="">
            <a:extLst xmlns:a="http://schemas.openxmlformats.org/drawingml/2006/main">
              <a:ext uri="{FF2B5EF4-FFF2-40B4-BE49-F238E27FC236}">
                <a16:creationId xmlns:a16="http://schemas.microsoft.com/office/drawing/2014/main" id="{C2CDED48-7E66-4FCA-B522-CD6AF9340FBF}"/>
              </a:ext>
            </a:extLst>
          </p:cNvPr>
          <p:cNvSpPr>
            <a:spLocks xmlns:a="http://schemas.openxmlformats.org/drawingml/2006/main" noGrp="1"/>
          </p:cNvSpPr>
          <p:nvPr/>
        </p:nvSpPr>
        <p:spPr>
          <a:xfrm xmlns:a="http://schemas.openxmlformats.org/drawingml/2006/main">
            <a:off x="35814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54A1D8C-2765-43C5-908F-1FF00436635F}"/>
              </a:ext>
            </a:extLst>
          </p:cNvPr>
          <p:cNvSpPr>
            <a:spLocks xmlns:a="http://schemas.openxmlformats.org/drawingml/2006/main" noGrp="1"/>
          </p:cNvSpPr>
          <p:nvPr/>
        </p:nvSpPr>
        <p:spPr>
          <a:xfrm xmlns:a="http://schemas.openxmlformats.org/drawingml/2006/main">
            <a:off x="35814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2" name="">
            <a:extLst xmlns:a="http://schemas.openxmlformats.org/drawingml/2006/main">
              <a:ext uri="{FF2B5EF4-FFF2-40B4-BE49-F238E27FC236}">
                <a16:creationId xmlns:a16="http://schemas.microsoft.com/office/drawing/2014/main" id="{FAF5C526-6602-481C-9717-3633DB22D855}"/>
              </a:ext>
            </a:extLst>
          </p:cNvPr>
          <p:cNvSpPr>
            <a:spLocks xmlns:a="http://schemas.openxmlformats.org/drawingml/2006/main" noGrp="1"/>
          </p:cNvSpPr>
          <p:nvPr/>
        </p:nvSpPr>
        <p:spPr>
          <a:xfrm xmlns:a="http://schemas.openxmlformats.org/drawingml/2006/main">
            <a:off x="35814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Google-managed control-plane custody, runtime operations and economics</a:t>
            </a:r>
          </a:p>
        </p:txBody>
      </p:sp>
      <p:sp>
        <p:nvSpPr>
          <p:cNvPr id="23" name="">
            <a:extLst xmlns:a="http://schemas.openxmlformats.org/drawingml/2006/main">
              <a:ext uri="{FF2B5EF4-FFF2-40B4-BE49-F238E27FC236}">
                <a16:creationId xmlns:a16="http://schemas.microsoft.com/office/drawing/2014/main" id="{FC3F9F7E-69A7-46F6-ADF8-57C5B28F6797}"/>
              </a:ext>
            </a:extLst>
          </p:cNvPr>
          <p:cNvSpPr>
            <a:spLocks xmlns:a="http://schemas.openxmlformats.org/drawingml/2006/main" noGrp="1"/>
          </p:cNvSpPr>
          <p:nvPr/>
        </p:nvSpPr>
        <p:spPr>
          <a:xfrm xmlns:a="http://schemas.openxmlformats.org/drawingml/2006/main">
            <a:off x="61722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E168A83B-0754-41BE-9A82-B7BAA4CB5DF9}"/>
              </a:ext>
            </a:extLst>
          </p:cNvPr>
          <p:cNvSpPr>
            <a:spLocks xmlns:a="http://schemas.openxmlformats.org/drawingml/2006/main" noGrp="1"/>
          </p:cNvSpPr>
          <p:nvPr/>
        </p:nvSpPr>
        <p:spPr>
          <a:xfrm xmlns:a="http://schemas.openxmlformats.org/drawingml/2006/main">
            <a:off x="63627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MULESOFT</a:t>
            </a:r>
          </a:p>
        </p:txBody>
      </p:sp>
      <p:sp>
        <p:nvSpPr>
          <p:cNvPr id="25" name="">
            <a:extLst xmlns:a="http://schemas.openxmlformats.org/drawingml/2006/main">
              <a:ext uri="{FF2B5EF4-FFF2-40B4-BE49-F238E27FC236}">
                <a16:creationId xmlns:a16="http://schemas.microsoft.com/office/drawing/2014/main" id="{11E97EE4-6F5E-4A50-B3E5-E34B57C7F5FE}"/>
              </a:ext>
            </a:extLst>
          </p:cNvPr>
          <p:cNvSpPr>
            <a:spLocks xmlns:a="http://schemas.openxmlformats.org/drawingml/2006/main" noGrp="1"/>
          </p:cNvSpPr>
          <p:nvPr/>
        </p:nvSpPr>
        <p:spPr>
          <a:xfrm xmlns:a="http://schemas.openxmlformats.org/drawingml/2006/main">
            <a:off x="63627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26" name="">
            <a:extLst xmlns:a="http://schemas.openxmlformats.org/drawingml/2006/main">
              <a:ext uri="{FF2B5EF4-FFF2-40B4-BE49-F238E27FC236}">
                <a16:creationId xmlns:a16="http://schemas.microsoft.com/office/drawing/2014/main" id="{59911A79-78D0-4E19-A4B6-150501A365AB}"/>
              </a:ext>
            </a:extLst>
          </p:cNvPr>
          <p:cNvSpPr>
            <a:spLocks xmlns:a="http://schemas.openxmlformats.org/drawingml/2006/main" noGrp="1"/>
          </p:cNvSpPr>
          <p:nvPr/>
        </p:nvSpPr>
        <p:spPr>
          <a:xfrm xmlns:a="http://schemas.openxmlformats.org/drawingml/2006/main">
            <a:off x="63627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Anypoint remains a strategic integration platform</a:t>
            </a:r>
          </a:p>
        </p:txBody>
      </p:sp>
      <p:sp>
        <p:nvSpPr>
          <p:cNvPr id="27" name="">
            <a:extLst xmlns:a="http://schemas.openxmlformats.org/drawingml/2006/main">
              <a:ext uri="{FF2B5EF4-FFF2-40B4-BE49-F238E27FC236}">
                <a16:creationId xmlns:a16="http://schemas.microsoft.com/office/drawing/2014/main" id="{3523FA9A-CF7D-4865-ACC7-A894451B8AA0}"/>
              </a:ext>
            </a:extLst>
          </p:cNvPr>
          <p:cNvSpPr>
            <a:spLocks xmlns:a="http://schemas.openxmlformats.org/drawingml/2006/main" noGrp="1"/>
          </p:cNvSpPr>
          <p:nvPr/>
        </p:nvSpPr>
        <p:spPr>
          <a:xfrm xmlns:a="http://schemas.openxmlformats.org/drawingml/2006/main">
            <a:off x="63627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62D75D6-1982-4974-B436-39F118AEB721}"/>
              </a:ext>
            </a:extLst>
          </p:cNvPr>
          <p:cNvSpPr>
            <a:spLocks xmlns:a="http://schemas.openxmlformats.org/drawingml/2006/main" noGrp="1"/>
          </p:cNvSpPr>
          <p:nvPr/>
        </p:nvSpPr>
        <p:spPr>
          <a:xfrm xmlns:a="http://schemas.openxmlformats.org/drawingml/2006/main">
            <a:off x="63627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9" name="">
            <a:extLst xmlns:a="http://schemas.openxmlformats.org/drawingml/2006/main">
              <a:ext uri="{FF2B5EF4-FFF2-40B4-BE49-F238E27FC236}">
                <a16:creationId xmlns:a16="http://schemas.microsoft.com/office/drawing/2014/main" id="{E5061942-B642-4841-9CAE-36964F41A7C4}"/>
              </a:ext>
            </a:extLst>
          </p:cNvPr>
          <p:cNvSpPr>
            <a:spLocks xmlns:a="http://schemas.openxmlformats.org/drawingml/2006/main" noGrp="1"/>
          </p:cNvSpPr>
          <p:nvPr/>
        </p:nvSpPr>
        <p:spPr>
          <a:xfrm xmlns:a="http://schemas.openxmlformats.org/drawingml/2006/main">
            <a:off x="63627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Kubernetes-native operating fit, commercial model and exit boundary</a:t>
            </a:r>
          </a:p>
        </p:txBody>
      </p:sp>
      <p:sp>
        <p:nvSpPr>
          <p:cNvPr id="30" name="">
            <a:extLst xmlns:a="http://schemas.openxmlformats.org/drawingml/2006/main">
              <a:ext uri="{FF2B5EF4-FFF2-40B4-BE49-F238E27FC236}">
                <a16:creationId xmlns:a16="http://schemas.microsoft.com/office/drawing/2014/main" id="{E955FA2E-650F-4C41-92CD-8795BF949387}"/>
              </a:ext>
            </a:extLst>
          </p:cNvPr>
          <p:cNvSpPr>
            <a:spLocks xmlns:a="http://schemas.openxmlformats.org/drawingml/2006/main" noGrp="1"/>
          </p:cNvSpPr>
          <p:nvPr/>
        </p:nvSpPr>
        <p:spPr>
          <a:xfrm xmlns:a="http://schemas.openxmlformats.org/drawingml/2006/main">
            <a:off x="89535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8B457C6E-8518-4C75-8858-710D7BC50FDC}"/>
              </a:ext>
            </a:extLst>
          </p:cNvPr>
          <p:cNvSpPr>
            <a:spLocks xmlns:a="http://schemas.openxmlformats.org/drawingml/2006/main" noGrp="1"/>
          </p:cNvSpPr>
          <p:nvPr/>
        </p:nvSpPr>
        <p:spPr>
          <a:xfrm xmlns:a="http://schemas.openxmlformats.org/drawingml/2006/main">
            <a:off x="91440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APIM</a:t>
            </a:r>
          </a:p>
        </p:txBody>
      </p:sp>
      <p:sp>
        <p:nvSpPr>
          <p:cNvPr id="32" name="">
            <a:extLst xmlns:a="http://schemas.openxmlformats.org/drawingml/2006/main">
              <a:ext uri="{FF2B5EF4-FFF2-40B4-BE49-F238E27FC236}">
                <a16:creationId xmlns:a16="http://schemas.microsoft.com/office/drawing/2014/main" id="{B2F8431C-AA3B-4D0F-A85D-5E8104F2F12E}"/>
              </a:ext>
            </a:extLst>
          </p:cNvPr>
          <p:cNvSpPr>
            <a:spLocks xmlns:a="http://schemas.openxmlformats.org/drawingml/2006/main" noGrp="1"/>
          </p:cNvSpPr>
          <p:nvPr/>
        </p:nvSpPr>
        <p:spPr>
          <a:xfrm xmlns:a="http://schemas.openxmlformats.org/drawingml/2006/main">
            <a:off x="91440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33" name="">
            <a:extLst xmlns:a="http://schemas.openxmlformats.org/drawingml/2006/main">
              <a:ext uri="{FF2B5EF4-FFF2-40B4-BE49-F238E27FC236}">
                <a16:creationId xmlns:a16="http://schemas.microsoft.com/office/drawing/2014/main" id="{8D10DE02-CBB9-42DB-A48A-7C19C69B2C90}"/>
              </a:ext>
            </a:extLst>
          </p:cNvPr>
          <p:cNvSpPr>
            <a:spLocks xmlns:a="http://schemas.openxmlformats.org/drawingml/2006/main" noGrp="1"/>
          </p:cNvSpPr>
          <p:nvPr/>
        </p:nvSpPr>
        <p:spPr>
          <a:xfrm xmlns:a="http://schemas.openxmlformats.org/drawingml/2006/main">
            <a:off x="91440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Azure consolidation dominates neutrality</a:t>
            </a:r>
          </a:p>
        </p:txBody>
      </p:sp>
      <p:sp>
        <p:nvSpPr>
          <p:cNvPr id="34" name="">
            <a:extLst xmlns:a="http://schemas.openxmlformats.org/drawingml/2006/main">
              <a:ext uri="{FF2B5EF4-FFF2-40B4-BE49-F238E27FC236}">
                <a16:creationId xmlns:a16="http://schemas.microsoft.com/office/drawing/2014/main" id="{06FC38F8-F7FD-43AB-8834-17D2AA14A757}"/>
              </a:ext>
            </a:extLst>
          </p:cNvPr>
          <p:cNvSpPr>
            <a:spLocks xmlns:a="http://schemas.openxmlformats.org/drawingml/2006/main" noGrp="1"/>
          </p:cNvSpPr>
          <p:nvPr/>
        </p:nvSpPr>
        <p:spPr>
          <a:xfrm xmlns:a="http://schemas.openxmlformats.org/drawingml/2006/main">
            <a:off x="91440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E252B2C-B697-4464-9643-D0A4163DCC7D}"/>
              </a:ext>
            </a:extLst>
          </p:cNvPr>
          <p:cNvSpPr>
            <a:spLocks xmlns:a="http://schemas.openxmlformats.org/drawingml/2006/main" noGrp="1"/>
          </p:cNvSpPr>
          <p:nvPr/>
        </p:nvSpPr>
        <p:spPr>
          <a:xfrm xmlns:a="http://schemas.openxmlformats.org/drawingml/2006/main">
            <a:off x="91440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36" name="">
            <a:extLst xmlns:a="http://schemas.openxmlformats.org/drawingml/2006/main">
              <a:ext uri="{FF2B5EF4-FFF2-40B4-BE49-F238E27FC236}">
                <a16:creationId xmlns:a16="http://schemas.microsoft.com/office/drawing/2014/main" id="{F6B18A1A-C27B-436F-A2EA-7724A19E4EFF}"/>
              </a:ext>
            </a:extLst>
          </p:cNvPr>
          <p:cNvSpPr>
            <a:spLocks xmlns:a="http://schemas.openxmlformats.org/drawingml/2006/main" noGrp="1"/>
          </p:cNvSpPr>
          <p:nvPr/>
        </p:nvSpPr>
        <p:spPr>
          <a:xfrm xmlns:a="http://schemas.openxmlformats.org/drawingml/2006/main">
            <a:off x="91440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Keep as counterfactual; exclusion is a scope choice, not a capability verdict</a:t>
            </a:r>
          </a:p>
        </p:txBody>
      </p:sp>
    </p:spTree>
    <p:extLst>
      <p:ext uri="{BB962C8B-B14F-4D97-AF65-F5344CB8AC3E}">
        <p14:creationId xmlns:p14="http://schemas.microsoft.com/office/powerpoint/2010/main" val="1698375820"/>
      </p:ext>
    </p:extLst>
  </p:cSld>
</p:sld>
</file>

<file path=ppt/slides/slide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73B6E8E1-726D-4109-AC7B-2718B7930B58}"/>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38E54C4-EEE8-407A-BBD6-AA9866F44A35}"/>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0870200-A794-43D3-826E-EE5E570A33A6}"/>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05 / OPTIONS</a:t>
            </a:r>
          </a:p>
        </p:txBody>
      </p:sp>
      <p:sp>
        <p:nvSpPr>
          <p:cNvPr id="4" name="">
            <a:extLst xmlns:a="http://schemas.openxmlformats.org/drawingml/2006/main">
              <a:ext uri="{FF2B5EF4-FFF2-40B4-BE49-F238E27FC236}">
                <a16:creationId xmlns:a16="http://schemas.microsoft.com/office/drawing/2014/main" id="{94970D30-DFC0-4BCD-B46E-DDB6185A0FE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Preserve the historical score; govern the re-score</a:t>
            </a:r>
          </a:p>
        </p:txBody>
      </p:sp>
      <p:sp>
        <p:nvSpPr>
          <p:cNvPr id="5" name="">
            <a:extLst xmlns:a="http://schemas.openxmlformats.org/drawingml/2006/main">
              <a:ext uri="{FF2B5EF4-FFF2-40B4-BE49-F238E27FC236}">
                <a16:creationId xmlns:a16="http://schemas.microsoft.com/office/drawing/2014/main" id="{181BD1AA-5FEA-4CE5-9907-022C741A2404}"/>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Corrected totals remain 93 / 85.5 / 77; added dimensions are pending approval.</a:t>
            </a:r>
          </a:p>
        </p:txBody>
      </p:sp>
      <p:sp>
        <p:nvSpPr>
          <p:cNvPr id="6" name="">
            <a:extLst xmlns:a="http://schemas.openxmlformats.org/drawingml/2006/main">
              <a:ext uri="{FF2B5EF4-FFF2-40B4-BE49-F238E27FC236}">
                <a16:creationId xmlns:a16="http://schemas.microsoft.com/office/drawing/2014/main" id="{F4365574-DBC6-4924-BFDB-A8C49F625B4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D3D8221-D075-4251-B1D4-050A21F78560}"/>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69ecf520e9a4de8"/>
              </a:rPr>
              <a:t>Repo reference</a:t>
            </a:r>
            <a:r>
              <a:rPr sz="825">
                <a:solidFill>
                  <a:srgbClr val="666762"/>
                </a:solidFill>
              </a:rPr>
              <a:t>  ·  </a:t>
            </a:r>
            <a:r>
              <a:rPr sz="825" u="sng">
                <a:solidFill>
                  <a:srgbClr val="666762"/>
                </a:solidFill>
                <a:hlinkClick xmlns:r="http://schemas.openxmlformats.org/officeDocument/2006/relationships" r:id="Rec3f0979ab254c34"/>
              </a:rPr>
              <a:t>Official docs</a:t>
            </a:r>
          </a:p>
        </p:txBody>
      </p:sp>
      <p:sp>
        <p:nvSpPr>
          <p:cNvPr id="8" name="">
            <a:extLst xmlns:a="http://schemas.openxmlformats.org/drawingml/2006/main">
              <a:ext uri="{FF2B5EF4-FFF2-40B4-BE49-F238E27FC236}">
                <a16:creationId xmlns:a16="http://schemas.microsoft.com/office/drawing/2014/main" id="{E142CEE8-740E-41C1-98E8-7D7A1D2FF44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05 / 25</a:t>
            </a:r>
          </a:p>
        </p:txBody>
      </p:sp>
      <p:sp>
        <p:nvSpPr>
          <p:cNvPr id="9" name="">
            <a:extLst xmlns:a="http://schemas.openxmlformats.org/drawingml/2006/main">
              <a:ext uri="{FF2B5EF4-FFF2-40B4-BE49-F238E27FC236}">
                <a16:creationId xmlns:a16="http://schemas.microsoft.com/office/drawing/2014/main" id="{69BAD91C-9C83-4F6F-BD35-6344F9645FBB}"/>
              </a:ext>
            </a:extLst>
          </p:cNvPr>
          <p:cNvSpPr>
            <a:spLocks xmlns:a="http://schemas.openxmlformats.org/drawingml/2006/main" noGrp="1"/>
          </p:cNvSpPr>
          <p:nvPr/>
        </p:nvSpPr>
        <p:spPr>
          <a:xfrm xmlns:a="http://schemas.openxmlformats.org/drawingml/2006/main">
            <a:off x="685800" y="246697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Kong</a:t>
            </a:r>
          </a:p>
        </p:txBody>
      </p:sp>
      <p:sp>
        <p:nvSpPr>
          <p:cNvPr id="10" name="">
            <a:extLst xmlns:a="http://schemas.openxmlformats.org/drawingml/2006/main">
              <a:ext uri="{FF2B5EF4-FFF2-40B4-BE49-F238E27FC236}">
                <a16:creationId xmlns:a16="http://schemas.microsoft.com/office/drawing/2014/main" id="{319920B8-1C17-434F-A591-E1CD29536F20}"/>
              </a:ext>
            </a:extLst>
          </p:cNvPr>
          <p:cNvSpPr>
            <a:spLocks xmlns:a="http://schemas.openxmlformats.org/drawingml/2006/main" noGrp="1"/>
          </p:cNvSpPr>
          <p:nvPr/>
        </p:nvSpPr>
        <p:spPr>
          <a:xfrm xmlns:a="http://schemas.openxmlformats.org/drawingml/2006/main">
            <a:off x="2266950" y="2524125"/>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2098EC1-3A48-4E50-8D2E-878CC67DD359}"/>
              </a:ext>
            </a:extLst>
          </p:cNvPr>
          <p:cNvSpPr>
            <a:spLocks xmlns:a="http://schemas.openxmlformats.org/drawingml/2006/main" noGrp="1"/>
          </p:cNvSpPr>
          <p:nvPr/>
        </p:nvSpPr>
        <p:spPr>
          <a:xfrm xmlns:a="http://schemas.openxmlformats.org/drawingml/2006/main">
            <a:off x="2266950" y="2524125"/>
            <a:ext cx="5757863" cy="27622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F601B09-5D06-4C95-8D2E-59BD786F0396}"/>
              </a:ext>
            </a:extLst>
          </p:cNvPr>
          <p:cNvSpPr>
            <a:spLocks xmlns:a="http://schemas.openxmlformats.org/drawingml/2006/main" noGrp="1"/>
          </p:cNvSpPr>
          <p:nvPr/>
        </p:nvSpPr>
        <p:spPr>
          <a:xfrm xmlns:a="http://schemas.openxmlformats.org/drawingml/2006/main">
            <a:off x="8629650" y="2419350"/>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FFC72C"/>
                </a:solidFill>
                <a:latin typeface="Consolas"/>
                <a:ea typeface="Consolas"/>
                <a:cs typeface="Consolas"/>
              </a:defRPr>
            </a:pPr>
            <a:r>
              <a:rPr sz="2400" b="1" i="0">
                <a:solidFill>
                  <a:srgbClr val="FFC72C"/>
                </a:solidFill>
                <a:latin typeface="Consolas"/>
                <a:ea typeface="Consolas"/>
                <a:cs typeface="Consolas"/>
              </a:rPr>
              <a:t>93</a:t>
            </a:r>
          </a:p>
        </p:txBody>
      </p:sp>
      <p:sp>
        <p:nvSpPr>
          <p:cNvPr id="13" name="">
            <a:extLst xmlns:a="http://schemas.openxmlformats.org/drawingml/2006/main">
              <a:ext uri="{FF2B5EF4-FFF2-40B4-BE49-F238E27FC236}">
                <a16:creationId xmlns:a16="http://schemas.microsoft.com/office/drawing/2014/main" id="{C012F067-A385-41DA-A223-53435F134E4E}"/>
              </a:ext>
            </a:extLst>
          </p:cNvPr>
          <p:cNvSpPr>
            <a:spLocks xmlns:a="http://schemas.openxmlformats.org/drawingml/2006/main" noGrp="1"/>
          </p:cNvSpPr>
          <p:nvPr/>
        </p:nvSpPr>
        <p:spPr>
          <a:xfrm xmlns:a="http://schemas.openxmlformats.org/drawingml/2006/main">
            <a:off x="685800" y="34671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Apigee</a:t>
            </a:r>
          </a:p>
        </p:txBody>
      </p:sp>
      <p:sp>
        <p:nvSpPr>
          <p:cNvPr id="14" name="">
            <a:extLst xmlns:a="http://schemas.openxmlformats.org/drawingml/2006/main">
              <a:ext uri="{FF2B5EF4-FFF2-40B4-BE49-F238E27FC236}">
                <a16:creationId xmlns:a16="http://schemas.microsoft.com/office/drawing/2014/main" id="{FD6EED57-9867-4BBD-AA2A-7DF9E4696B09}"/>
              </a:ext>
            </a:extLst>
          </p:cNvPr>
          <p:cNvSpPr>
            <a:spLocks xmlns:a="http://schemas.openxmlformats.org/drawingml/2006/main" noGrp="1"/>
          </p:cNvSpPr>
          <p:nvPr/>
        </p:nvSpPr>
        <p:spPr>
          <a:xfrm xmlns:a="http://schemas.openxmlformats.org/drawingml/2006/main">
            <a:off x="2266950" y="3524250"/>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DA2620D-85B5-405D-BEB7-1A1436598784}"/>
              </a:ext>
            </a:extLst>
          </p:cNvPr>
          <p:cNvSpPr>
            <a:spLocks xmlns:a="http://schemas.openxmlformats.org/drawingml/2006/main" noGrp="1"/>
          </p:cNvSpPr>
          <p:nvPr/>
        </p:nvSpPr>
        <p:spPr>
          <a:xfrm xmlns:a="http://schemas.openxmlformats.org/drawingml/2006/main">
            <a:off x="2266950" y="3524250"/>
            <a:ext cx="5293519" cy="27622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2DF9875-E2A0-4403-93AD-0C39EA38CFF6}"/>
              </a:ext>
            </a:extLst>
          </p:cNvPr>
          <p:cNvSpPr>
            <a:spLocks xmlns:a="http://schemas.openxmlformats.org/drawingml/2006/main" noGrp="1"/>
          </p:cNvSpPr>
          <p:nvPr/>
        </p:nvSpPr>
        <p:spPr>
          <a:xfrm xmlns:a="http://schemas.openxmlformats.org/drawingml/2006/main">
            <a:off x="8629650" y="3419475"/>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111111"/>
                </a:solidFill>
                <a:latin typeface="Consolas"/>
                <a:ea typeface="Consolas"/>
                <a:cs typeface="Consolas"/>
              </a:defRPr>
            </a:pPr>
            <a:r>
              <a:rPr sz="2400" b="1" i="0">
                <a:solidFill>
                  <a:srgbClr val="111111"/>
                </a:solidFill>
                <a:latin typeface="Consolas"/>
                <a:ea typeface="Consolas"/>
                <a:cs typeface="Consolas"/>
              </a:rPr>
              <a:t>85.5</a:t>
            </a:r>
          </a:p>
        </p:txBody>
      </p:sp>
      <p:sp>
        <p:nvSpPr>
          <p:cNvPr id="17" name="">
            <a:extLst xmlns:a="http://schemas.openxmlformats.org/drawingml/2006/main">
              <a:ext uri="{FF2B5EF4-FFF2-40B4-BE49-F238E27FC236}">
                <a16:creationId xmlns:a16="http://schemas.microsoft.com/office/drawing/2014/main" id="{AF819648-71D0-49FF-94A6-C6255A01FCF2}"/>
              </a:ext>
            </a:extLst>
          </p:cNvPr>
          <p:cNvSpPr>
            <a:spLocks xmlns:a="http://schemas.openxmlformats.org/drawingml/2006/main" noGrp="1"/>
          </p:cNvSpPr>
          <p:nvPr/>
        </p:nvSpPr>
        <p:spPr>
          <a:xfrm xmlns:a="http://schemas.openxmlformats.org/drawingml/2006/main">
            <a:off x="685800" y="446722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MuleSoft</a:t>
            </a:r>
          </a:p>
        </p:txBody>
      </p:sp>
      <p:sp>
        <p:nvSpPr>
          <p:cNvPr id="18" name="">
            <a:extLst xmlns:a="http://schemas.openxmlformats.org/drawingml/2006/main">
              <a:ext uri="{FF2B5EF4-FFF2-40B4-BE49-F238E27FC236}">
                <a16:creationId xmlns:a16="http://schemas.microsoft.com/office/drawing/2014/main" id="{87C02D5A-0937-4D0F-B745-AAEDAC2DA6F0}"/>
              </a:ext>
            </a:extLst>
          </p:cNvPr>
          <p:cNvSpPr>
            <a:spLocks xmlns:a="http://schemas.openxmlformats.org/drawingml/2006/main" noGrp="1"/>
          </p:cNvSpPr>
          <p:nvPr/>
        </p:nvSpPr>
        <p:spPr>
          <a:xfrm xmlns:a="http://schemas.openxmlformats.org/drawingml/2006/main">
            <a:off x="2266950" y="4524375"/>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33E95F9-768B-4AEA-AF39-DF47D648C3F0}"/>
              </a:ext>
            </a:extLst>
          </p:cNvPr>
          <p:cNvSpPr>
            <a:spLocks xmlns:a="http://schemas.openxmlformats.org/drawingml/2006/main" noGrp="1"/>
          </p:cNvSpPr>
          <p:nvPr/>
        </p:nvSpPr>
        <p:spPr>
          <a:xfrm xmlns:a="http://schemas.openxmlformats.org/drawingml/2006/main">
            <a:off x="2266950" y="4524375"/>
            <a:ext cx="4767263" cy="2762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C54387A-EEB1-4CF9-9B09-76A746C8866D}"/>
              </a:ext>
            </a:extLst>
          </p:cNvPr>
          <p:cNvSpPr>
            <a:spLocks xmlns:a="http://schemas.openxmlformats.org/drawingml/2006/main" noGrp="1"/>
          </p:cNvSpPr>
          <p:nvPr/>
        </p:nvSpPr>
        <p:spPr>
          <a:xfrm xmlns:a="http://schemas.openxmlformats.org/drawingml/2006/main">
            <a:off x="8629650" y="4419600"/>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8A8B86"/>
                </a:solidFill>
                <a:latin typeface="Consolas"/>
                <a:ea typeface="Consolas"/>
                <a:cs typeface="Consolas"/>
              </a:defRPr>
            </a:pPr>
            <a:r>
              <a:rPr sz="2400" b="1" i="0">
                <a:solidFill>
                  <a:srgbClr val="8A8B86"/>
                </a:solidFill>
                <a:latin typeface="Consolas"/>
                <a:ea typeface="Consolas"/>
                <a:cs typeface="Consolas"/>
              </a:rPr>
              <a:t>77</a:t>
            </a:r>
          </a:p>
        </p:txBody>
      </p:sp>
      <p:sp>
        <p:nvSpPr>
          <p:cNvPr id="21" name="">
            <a:extLst xmlns:a="http://schemas.openxmlformats.org/drawingml/2006/main">
              <a:ext uri="{FF2B5EF4-FFF2-40B4-BE49-F238E27FC236}">
                <a16:creationId xmlns:a16="http://schemas.microsoft.com/office/drawing/2014/main" id="{A3F5F95E-E20F-4529-BA93-A73E3386A4E8}"/>
              </a:ext>
            </a:extLst>
          </p:cNvPr>
          <p:cNvSpPr>
            <a:spLocks xmlns:a="http://schemas.openxmlformats.org/drawingml/2006/main" noGrp="1"/>
          </p:cNvSpPr>
          <p:nvPr/>
        </p:nvSpPr>
        <p:spPr>
          <a:xfrm xmlns:a="http://schemas.openxmlformats.org/drawingml/2006/main">
            <a:off x="9696450" y="228600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Source table</a:t>
            </a:r>
          </a:p>
        </p:txBody>
      </p:sp>
      <p:sp>
        <p:nvSpPr>
          <p:cNvPr id="22" name="">
            <a:extLst xmlns:a="http://schemas.openxmlformats.org/drawingml/2006/main">
              <a:ext uri="{FF2B5EF4-FFF2-40B4-BE49-F238E27FC236}">
                <a16:creationId xmlns:a16="http://schemas.microsoft.com/office/drawing/2014/main" id="{C9D148AD-B0EB-4101-B2E4-8962285509AE}"/>
              </a:ext>
            </a:extLst>
          </p:cNvPr>
          <p:cNvSpPr>
            <a:spLocks xmlns:a="http://schemas.openxmlformats.org/drawingml/2006/main" noGrp="1"/>
          </p:cNvSpPr>
          <p:nvPr/>
        </p:nvSpPr>
        <p:spPr>
          <a:xfrm xmlns:a="http://schemas.openxmlformats.org/drawingml/2006/main">
            <a:off x="9715500" y="2609850"/>
            <a:ext cx="762000"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8A8B86"/>
                </a:solidFill>
                <a:latin typeface="Consolas"/>
                <a:ea typeface="Consolas"/>
                <a:cs typeface="Consolas"/>
              </a:defRPr>
            </a:pPr>
            <a:r>
              <a:rPr sz="2025" b="0" i="0">
                <a:solidFill>
                  <a:srgbClr val="8A8B86"/>
                </a:solidFill>
                <a:latin typeface="Consolas"/>
                <a:ea typeface="Consolas"/>
                <a:cs typeface="Consolas"/>
              </a:rPr>
              <a:t>93</a:t>
            </a:r>
          </a:p>
          <a:p xmlns:a="http://schemas.openxmlformats.org/drawingml/2006/main">
            <a:pPr algn="l">
              <a:buNone/>
              <a:defRPr sz="2025" b="0" i="0">
                <a:solidFill>
                  <a:srgbClr val="8A8B86"/>
                </a:solidFill>
                <a:latin typeface="Consolas"/>
                <a:ea typeface="Consolas"/>
                <a:cs typeface="Consolas"/>
              </a:defRPr>
            </a:pPr>
            <a:r>
              <a:rPr sz="2025" b="0" i="0">
                <a:solidFill>
                  <a:srgbClr val="8A8B86"/>
                </a:solidFill>
                <a:latin typeface="Consolas"/>
                <a:ea typeface="Consolas"/>
                <a:cs typeface="Consolas"/>
              </a:rPr>
              <a:t>87</a:t>
            </a:r>
          </a:p>
          <a:p xmlns:a="http://schemas.openxmlformats.org/drawingml/2006/main">
            <a:pPr algn="l">
              <a:buNone/>
              <a:defRPr sz="2025" b="0" i="0">
                <a:solidFill>
                  <a:srgbClr val="8A8B86"/>
                </a:solidFill>
                <a:latin typeface="Consolas"/>
                <a:ea typeface="Consolas"/>
                <a:cs typeface="Consolas"/>
              </a:defRPr>
            </a:pPr>
            <a:r>
              <a:rPr sz="2025" b="0" i="0">
                <a:solidFill>
                  <a:srgbClr val="8A8B86"/>
                </a:solidFill>
                <a:latin typeface="Consolas"/>
                <a:ea typeface="Consolas"/>
                <a:cs typeface="Consolas"/>
              </a:rPr>
              <a:t>78</a:t>
            </a:r>
          </a:p>
        </p:txBody>
      </p:sp>
      <p:sp>
        <p:nvSpPr>
          <p:cNvPr id="23" name="">
            <a:extLst xmlns:a="http://schemas.openxmlformats.org/drawingml/2006/main">
              <a:ext uri="{FF2B5EF4-FFF2-40B4-BE49-F238E27FC236}">
                <a16:creationId xmlns:a16="http://schemas.microsoft.com/office/drawing/2014/main" id="{E65A7922-47DA-4DE7-8D6D-2CCAD7253E25}"/>
              </a:ext>
            </a:extLst>
          </p:cNvPr>
          <p:cNvSpPr>
            <a:spLocks xmlns:a="http://schemas.openxmlformats.org/drawingml/2006/main" noGrp="1"/>
          </p:cNvSpPr>
          <p:nvPr/>
        </p:nvSpPr>
        <p:spPr>
          <a:xfrm xmlns:a="http://schemas.openxmlformats.org/drawingml/2006/main">
            <a:off x="10477500" y="2286000"/>
            <a:ext cx="990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5537D6"/>
                </a:solidFill>
                <a:latin typeface="Consolas"/>
                <a:ea typeface="Consolas"/>
                <a:cs typeface="Consolas"/>
              </a:defRPr>
            </a:pPr>
            <a:r>
              <a:rPr sz="975" b="1" i="0">
                <a:solidFill>
                  <a:srgbClr val="5537D6"/>
                </a:solidFill>
                <a:latin typeface="Consolas"/>
                <a:ea typeface="Consolas"/>
                <a:cs typeface="Consolas"/>
              </a:rPr>
              <a:t>Recalculated</a:t>
            </a:r>
          </a:p>
        </p:txBody>
      </p:sp>
      <p:sp>
        <p:nvSpPr>
          <p:cNvPr id="24" name="">
            <a:extLst xmlns:a="http://schemas.openxmlformats.org/drawingml/2006/main">
              <a:ext uri="{FF2B5EF4-FFF2-40B4-BE49-F238E27FC236}">
                <a16:creationId xmlns:a16="http://schemas.microsoft.com/office/drawing/2014/main" id="{E23E8704-F307-4161-B225-F82479DE3E7C}"/>
              </a:ext>
            </a:extLst>
          </p:cNvPr>
          <p:cNvSpPr>
            <a:spLocks xmlns:a="http://schemas.openxmlformats.org/drawingml/2006/main" noGrp="1"/>
          </p:cNvSpPr>
          <p:nvPr/>
        </p:nvSpPr>
        <p:spPr>
          <a:xfrm xmlns:a="http://schemas.openxmlformats.org/drawingml/2006/main">
            <a:off x="10477500" y="2609850"/>
            <a:ext cx="990600"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025" b="0" i="0">
                <a:solidFill>
                  <a:srgbClr val="5537D6"/>
                </a:solidFill>
                <a:latin typeface="Consolas"/>
                <a:ea typeface="Consolas"/>
                <a:cs typeface="Consolas"/>
              </a:defRPr>
            </a:pPr>
            <a:r>
              <a:rPr sz="2025" b="0" i="0">
                <a:solidFill>
                  <a:srgbClr val="5537D6"/>
                </a:solidFill>
                <a:latin typeface="Consolas"/>
                <a:ea typeface="Consolas"/>
                <a:cs typeface="Consolas"/>
              </a:rPr>
              <a:t>93</a:t>
            </a:r>
          </a:p>
          <a:p xmlns:a="http://schemas.openxmlformats.org/drawingml/2006/main">
            <a:pPr algn="r">
              <a:buNone/>
              <a:defRPr sz="2025" b="0" i="0">
                <a:solidFill>
                  <a:srgbClr val="5537D6"/>
                </a:solidFill>
                <a:latin typeface="Consolas"/>
                <a:ea typeface="Consolas"/>
                <a:cs typeface="Consolas"/>
              </a:defRPr>
            </a:pPr>
            <a:r>
              <a:rPr sz="2025" b="0" i="0">
                <a:solidFill>
                  <a:srgbClr val="5537D6"/>
                </a:solidFill>
                <a:latin typeface="Consolas"/>
                <a:ea typeface="Consolas"/>
                <a:cs typeface="Consolas"/>
              </a:rPr>
              <a:t>85.5</a:t>
            </a:r>
          </a:p>
          <a:p xmlns:a="http://schemas.openxmlformats.org/drawingml/2006/main">
            <a:pPr algn="r">
              <a:buNone/>
              <a:defRPr sz="2025" b="0" i="0">
                <a:solidFill>
                  <a:srgbClr val="5537D6"/>
                </a:solidFill>
                <a:latin typeface="Consolas"/>
                <a:ea typeface="Consolas"/>
                <a:cs typeface="Consolas"/>
              </a:defRPr>
            </a:pPr>
            <a:r>
              <a:rPr sz="2025" b="0" i="0">
                <a:solidFill>
                  <a:srgbClr val="5537D6"/>
                </a:solidFill>
                <a:latin typeface="Consolas"/>
                <a:ea typeface="Consolas"/>
                <a:cs typeface="Consolas"/>
              </a:rPr>
              <a:t>77</a:t>
            </a:r>
          </a:p>
        </p:txBody>
      </p:sp>
      <p:sp>
        <p:nvSpPr>
          <p:cNvPr id="25" name="">
            <a:extLst xmlns:a="http://schemas.openxmlformats.org/drawingml/2006/main">
              <a:ext uri="{FF2B5EF4-FFF2-40B4-BE49-F238E27FC236}">
                <a16:creationId xmlns:a16="http://schemas.microsoft.com/office/drawing/2014/main" id="{865FB550-5B98-4854-9FD4-914A9ECB9566}"/>
              </a:ext>
            </a:extLst>
          </p:cNvPr>
          <p:cNvSpPr>
            <a:spLocks xmlns:a="http://schemas.openxmlformats.org/drawingml/2006/main" noGrp="1"/>
          </p:cNvSpPr>
          <p:nvPr/>
        </p:nvSpPr>
        <p:spPr>
          <a:xfrm xmlns:a="http://schemas.openxmlformats.org/drawingml/2006/main">
            <a:off x="685800" y="5391150"/>
            <a:ext cx="1080135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7B5D57E-D4C0-4C20-9908-9790BAE0E40F}"/>
              </a:ext>
            </a:extLst>
          </p:cNvPr>
          <p:cNvSpPr>
            <a:spLocks xmlns:a="http://schemas.openxmlformats.org/drawingml/2006/main" noGrp="1"/>
          </p:cNvSpPr>
          <p:nvPr/>
        </p:nvSpPr>
        <p:spPr>
          <a:xfrm xmlns:a="http://schemas.openxmlformats.org/drawingml/2006/main">
            <a:off x="685800" y="5619750"/>
            <a:ext cx="3905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Governed re-score pending</a:t>
            </a:r>
          </a:p>
        </p:txBody>
      </p:sp>
      <p:sp>
        <p:nvSpPr>
          <p:cNvPr id="27" name="">
            <a:extLst xmlns:a="http://schemas.openxmlformats.org/drawingml/2006/main">
              <a:ext uri="{FF2B5EF4-FFF2-40B4-BE49-F238E27FC236}">
                <a16:creationId xmlns:a16="http://schemas.microsoft.com/office/drawing/2014/main" id="{D82D660B-AC6B-4F1F-987F-E8918FCAB6DB}"/>
              </a:ext>
            </a:extLst>
          </p:cNvPr>
          <p:cNvSpPr>
            <a:spLocks xmlns:a="http://schemas.openxmlformats.org/drawingml/2006/main" noGrp="1"/>
          </p:cNvSpPr>
          <p:nvPr/>
        </p:nvSpPr>
        <p:spPr>
          <a:xfrm xmlns:a="http://schemas.openxmlformats.org/drawingml/2006/main">
            <a:off x="4800600" y="5648325"/>
            <a:ext cx="6629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0" i="0">
                <a:solidFill>
                  <a:srgbClr val="686A66"/>
                </a:solidFill>
                <a:latin typeface="Arial"/>
                <a:ea typeface="Arial"/>
                <a:cs typeface="Arial"/>
              </a:defRPr>
            </a:pPr>
            <a:r>
              <a:rPr sz="1275" b="0" i="0">
                <a:solidFill>
                  <a:srgbClr val="686A66"/>
                </a:solidFill>
                <a:latin typeface="Arial"/>
                <a:ea typeface="Arial"/>
                <a:cs typeface="Arial"/>
              </a:rPr>
              <a:t>No new total until exact options · six dimensions · weights/ranges · rubric · evidence floor · scorers · sensitivity · dissent · approval</a:t>
            </a:r>
          </a:p>
        </p:txBody>
      </p:sp>
    </p:spTree>
    <p:extLst>
      <p:ext uri="{BB962C8B-B14F-4D97-AF65-F5344CB8AC3E}">
        <p14:creationId xmlns:p14="http://schemas.microsoft.com/office/powerpoint/2010/main" val="363633440"/>
      </p:ext>
    </p:extLst>
  </p:cSld>
</p:sld>
</file>

<file path=ppt/slides/slide6.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D6B6392-9D1F-4E83-ADE4-91E7CDCFD8C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5A480CE-5E65-40DC-806E-85A1595D2AA7}"/>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6687843-835C-4444-AC53-55EF6A197A1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06 / DECISION</a:t>
            </a:r>
          </a:p>
        </p:txBody>
      </p:sp>
      <p:sp>
        <p:nvSpPr>
          <p:cNvPr id="4" name="">
            <a:extLst xmlns:a="http://schemas.openxmlformats.org/drawingml/2006/main">
              <a:ext uri="{FF2B5EF4-FFF2-40B4-BE49-F238E27FC236}">
                <a16:creationId xmlns:a16="http://schemas.microsoft.com/office/drawing/2014/main" id="{98B3C968-0070-417C-8DBC-E58B4349444C}"/>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Proceed with a bounded, reversible Kong foundation</a:t>
            </a:r>
          </a:p>
        </p:txBody>
      </p:sp>
      <p:sp>
        <p:nvSpPr>
          <p:cNvPr id="5" name="">
            <a:extLst xmlns:a="http://schemas.openxmlformats.org/drawingml/2006/main">
              <a:ext uri="{FF2B5EF4-FFF2-40B4-BE49-F238E27FC236}">
                <a16:creationId xmlns:a16="http://schemas.microsoft.com/office/drawing/2014/main" id="{C9D40B18-DA3A-46E9-B12E-E225774E3B7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Stakeholder-selected direction; production fit and critical scale remain evidence-conditional.</a:t>
            </a:r>
          </a:p>
        </p:txBody>
      </p:sp>
      <p:sp>
        <p:nvSpPr>
          <p:cNvPr id="6" name="">
            <a:extLst xmlns:a="http://schemas.openxmlformats.org/drawingml/2006/main">
              <a:ext uri="{FF2B5EF4-FFF2-40B4-BE49-F238E27FC236}">
                <a16:creationId xmlns:a16="http://schemas.microsoft.com/office/drawing/2014/main" id="{EEFA958D-F4C1-46C9-9198-71BDBC1772B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BE7271C-4B1E-405C-8A4C-35279D1C9A7A}"/>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48c49c48f20c4a3a"/>
              </a:rPr>
              <a:t>Repo reference</a:t>
            </a:r>
            <a:r>
              <a:rPr sz="825">
                <a:solidFill>
                  <a:srgbClr val="666762"/>
                </a:solidFill>
              </a:rPr>
              <a:t>  ·  </a:t>
            </a:r>
            <a:r>
              <a:rPr sz="825" u="sng">
                <a:solidFill>
                  <a:srgbClr val="666762"/>
                </a:solidFill>
                <a:hlinkClick xmlns:r="http://schemas.openxmlformats.org/officeDocument/2006/relationships" r:id="R478c41f9df1e4257"/>
              </a:rPr>
              <a:t>Official docs</a:t>
            </a:r>
          </a:p>
        </p:txBody>
      </p:sp>
      <p:sp>
        <p:nvSpPr>
          <p:cNvPr id="8" name="">
            <a:extLst xmlns:a="http://schemas.openxmlformats.org/drawingml/2006/main">
              <a:ext uri="{FF2B5EF4-FFF2-40B4-BE49-F238E27FC236}">
                <a16:creationId xmlns:a16="http://schemas.microsoft.com/office/drawing/2014/main" id="{E021E270-3784-479F-8501-7B67691A4CF6}"/>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06 / 25</a:t>
            </a:r>
          </a:p>
        </p:txBody>
      </p:sp>
      <p:sp>
        <p:nvSpPr>
          <p:cNvPr id="9" name="">
            <a:extLst xmlns:a="http://schemas.openxmlformats.org/drawingml/2006/main">
              <a:ext uri="{FF2B5EF4-FFF2-40B4-BE49-F238E27FC236}">
                <a16:creationId xmlns:a16="http://schemas.microsoft.com/office/drawing/2014/main" id="{32E98DC8-F738-433D-9BD4-E0D53A8DB6D7}"/>
              </a:ext>
            </a:extLst>
          </p:cNvPr>
          <p:cNvSpPr>
            <a:spLocks xmlns:a="http://schemas.openxmlformats.org/drawingml/2006/main" noGrp="1"/>
          </p:cNvSpPr>
          <p:nvPr/>
        </p:nvSpPr>
        <p:spPr>
          <a:xfrm xmlns:a="http://schemas.openxmlformats.org/drawingml/2006/main">
            <a:off x="628650" y="2247900"/>
            <a:ext cx="52197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9834B0A6-983C-4780-80A9-EFD0D0822254}"/>
              </a:ext>
            </a:extLst>
          </p:cNvPr>
          <p:cNvSpPr>
            <a:spLocks xmlns:a="http://schemas.openxmlformats.org/drawingml/2006/main" noGrp="1"/>
          </p:cNvSpPr>
          <p:nvPr/>
        </p:nvSpPr>
        <p:spPr>
          <a:xfrm xmlns:a="http://schemas.openxmlformats.org/drawingml/2006/main">
            <a:off x="628650" y="2247900"/>
            <a:ext cx="66675" cy="3200400"/>
          </a:xfrm>
          <a:prstGeom xmlns:a="http://schemas.openxmlformats.org/drawingml/2006/main" prst="rect">
            <a:avLst/>
          </a:prstGeom>
          <a:solidFill xmlns:a="http://schemas.openxmlformats.org/drawingml/2006/main">
            <a:srgbClr val="19745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E1C5455-EB9B-403D-A787-EF3790DB1FE1}"/>
              </a:ext>
            </a:extLst>
          </p:cNvPr>
          <p:cNvSpPr>
            <a:spLocks xmlns:a="http://schemas.openxmlformats.org/drawingml/2006/main" noGrp="1"/>
          </p:cNvSpPr>
          <p:nvPr/>
        </p:nvSpPr>
        <p:spPr>
          <a:xfrm xmlns:a="http://schemas.openxmlformats.org/drawingml/2006/main">
            <a:off x="838200" y="2419350"/>
            <a:ext cx="480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AUTHORIZE NOW</a:t>
            </a:r>
          </a:p>
        </p:txBody>
      </p:sp>
      <p:sp>
        <p:nvSpPr>
          <p:cNvPr id="12" name="">
            <a:extLst xmlns:a="http://schemas.openxmlformats.org/drawingml/2006/main">
              <a:ext uri="{FF2B5EF4-FFF2-40B4-BE49-F238E27FC236}">
                <a16:creationId xmlns:a16="http://schemas.microsoft.com/office/drawing/2014/main" id="{F1197408-D712-4183-8312-87B9D8904CE5}"/>
              </a:ext>
            </a:extLst>
          </p:cNvPr>
          <p:cNvSpPr>
            <a:spLocks xmlns:a="http://schemas.openxmlformats.org/drawingml/2006/main" noGrp="1"/>
          </p:cNvSpPr>
          <p:nvPr/>
        </p:nvSpPr>
        <p:spPr>
          <a:xfrm xmlns:a="http://schemas.openxmlformats.org/drawingml/2006/main">
            <a:off x="838200" y="2724150"/>
            <a:ext cx="4800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Foundation + proof</a:t>
            </a:r>
          </a:p>
        </p:txBody>
      </p:sp>
      <p:sp>
        <p:nvSpPr>
          <p:cNvPr id="13" name="">
            <a:extLst xmlns:a="http://schemas.openxmlformats.org/drawingml/2006/main">
              <a:ext uri="{FF2B5EF4-FFF2-40B4-BE49-F238E27FC236}">
                <a16:creationId xmlns:a16="http://schemas.microsoft.com/office/drawing/2014/main" id="{6131C532-4FDD-418F-8ECD-3B37C9BA6CDF}"/>
              </a:ext>
            </a:extLst>
          </p:cNvPr>
          <p:cNvSpPr>
            <a:spLocks xmlns:a="http://schemas.openxmlformats.org/drawingml/2006/main" noGrp="1"/>
          </p:cNvSpPr>
          <p:nvPr/>
        </p:nvSpPr>
        <p:spPr>
          <a:xfrm xmlns:a="http://schemas.openxmlformats.org/drawingml/2006/main">
            <a:off x="838200" y="3429000"/>
            <a:ext cx="4800600"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Fix the operating boundary and owners</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Build one reversible self-managed-hybrid foundation</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Run representative E2/E3/E4 evidence</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Benchmark Konnect custody and preserve non-Kong exit</a:t>
            </a:r>
          </a:p>
        </p:txBody>
      </p:sp>
      <p:sp>
        <p:nvSpPr>
          <p:cNvPr id="14" name="">
            <a:extLst xmlns:a="http://schemas.openxmlformats.org/drawingml/2006/main">
              <a:ext uri="{FF2B5EF4-FFF2-40B4-BE49-F238E27FC236}">
                <a16:creationId xmlns:a16="http://schemas.microsoft.com/office/drawing/2014/main" id="{A5DF6EF7-8996-4EA1-BE74-C0FF9D38732A}"/>
              </a:ext>
            </a:extLst>
          </p:cNvPr>
          <p:cNvSpPr>
            <a:spLocks xmlns:a="http://schemas.openxmlformats.org/drawingml/2006/main" noGrp="1"/>
          </p:cNvSpPr>
          <p:nvPr/>
        </p:nvSpPr>
        <p:spPr>
          <a:xfrm xmlns:a="http://schemas.openxmlformats.org/drawingml/2006/main">
            <a:off x="6343650" y="2247900"/>
            <a:ext cx="52197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1295AA61-48E1-4A8B-8AB7-DEF2D27D7EF3}"/>
              </a:ext>
            </a:extLst>
          </p:cNvPr>
          <p:cNvSpPr>
            <a:spLocks xmlns:a="http://schemas.openxmlformats.org/drawingml/2006/main" noGrp="1"/>
          </p:cNvSpPr>
          <p:nvPr/>
        </p:nvSpPr>
        <p:spPr>
          <a:xfrm xmlns:a="http://schemas.openxmlformats.org/drawingml/2006/main">
            <a:off x="6343650" y="2247900"/>
            <a:ext cx="66675" cy="3200400"/>
          </a:xfrm>
          <a:prstGeom xmlns:a="http://schemas.openxmlformats.org/drawingml/2006/main" prst="rect">
            <a:avLst/>
          </a:prstGeom>
          <a:solidFill xmlns:a="http://schemas.openxmlformats.org/drawingml/2006/main">
            <a:srgbClr val="C73C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EADC07A-E192-469D-AEE6-8FD27F69292C}"/>
              </a:ext>
            </a:extLst>
          </p:cNvPr>
          <p:cNvSpPr>
            <a:spLocks xmlns:a="http://schemas.openxmlformats.org/drawingml/2006/main" noGrp="1"/>
          </p:cNvSpPr>
          <p:nvPr/>
        </p:nvSpPr>
        <p:spPr>
          <a:xfrm xmlns:a="http://schemas.openxmlformats.org/drawingml/2006/main">
            <a:off x="6553200" y="2419350"/>
            <a:ext cx="480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C73C2C"/>
                </a:solidFill>
                <a:latin typeface="Consolas"/>
                <a:ea typeface="Consolas"/>
                <a:cs typeface="Consolas"/>
              </a:defRPr>
            </a:pPr>
            <a:r>
              <a:rPr sz="1050" b="1" i="0">
                <a:solidFill>
                  <a:srgbClr val="C73C2C"/>
                </a:solidFill>
                <a:latin typeface="Consolas"/>
                <a:ea typeface="Consolas"/>
                <a:cs typeface="Consolas"/>
              </a:rPr>
              <a:t>NOT AUTHORIZED</a:t>
            </a:r>
          </a:p>
        </p:txBody>
      </p:sp>
      <p:sp>
        <p:nvSpPr>
          <p:cNvPr id="17" name="">
            <a:extLst xmlns:a="http://schemas.openxmlformats.org/drawingml/2006/main">
              <a:ext uri="{FF2B5EF4-FFF2-40B4-BE49-F238E27FC236}">
                <a16:creationId xmlns:a16="http://schemas.microsoft.com/office/drawing/2014/main" id="{56569B0A-A9A1-448F-BBB1-50C72EC4170F}"/>
              </a:ext>
            </a:extLst>
          </p:cNvPr>
          <p:cNvSpPr>
            <a:spLocks xmlns:a="http://schemas.openxmlformats.org/drawingml/2006/main" noGrp="1"/>
          </p:cNvSpPr>
          <p:nvPr/>
        </p:nvSpPr>
        <p:spPr>
          <a:xfrm xmlns:a="http://schemas.openxmlformats.org/drawingml/2006/main">
            <a:off x="6553200" y="2724150"/>
            <a:ext cx="4800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Critical production scale</a:t>
            </a:r>
          </a:p>
        </p:txBody>
      </p:sp>
      <p:sp>
        <p:nvSpPr>
          <p:cNvPr id="18" name="">
            <a:extLst xmlns:a="http://schemas.openxmlformats.org/drawingml/2006/main">
              <a:ext uri="{FF2B5EF4-FFF2-40B4-BE49-F238E27FC236}">
                <a16:creationId xmlns:a16="http://schemas.microsoft.com/office/drawing/2014/main" id="{42C1AC83-567A-49F8-B66D-10F0278F06C5}"/>
              </a:ext>
            </a:extLst>
          </p:cNvPr>
          <p:cNvSpPr>
            <a:spLocks xmlns:a="http://schemas.openxmlformats.org/drawingml/2006/main" noGrp="1"/>
          </p:cNvSpPr>
          <p:nvPr/>
        </p:nvSpPr>
        <p:spPr>
          <a:xfrm xmlns:a="http://schemas.openxmlformats.org/drawingml/2006/main">
            <a:off x="6553200" y="3429000"/>
            <a:ext cx="4800600"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claim of proven production fit</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irreversible migration factory</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permanent exclusion of counterfactuals</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economics conclusion without labor, HA/DR, support and migration cost</a:t>
            </a:r>
          </a:p>
        </p:txBody>
      </p:sp>
      <p:sp>
        <p:nvSpPr>
          <p:cNvPr id="19" name="">
            <a:extLst xmlns:a="http://schemas.openxmlformats.org/drawingml/2006/main">
              <a:ext uri="{FF2B5EF4-FFF2-40B4-BE49-F238E27FC236}">
                <a16:creationId xmlns:a16="http://schemas.microsoft.com/office/drawing/2014/main" id="{95CE2B76-B7D5-4039-BDF6-4B21F1915C00}"/>
              </a:ext>
            </a:extLst>
          </p:cNvPr>
          <p:cNvSpPr>
            <a:spLocks xmlns:a="http://schemas.openxmlformats.org/drawingml/2006/main" noGrp="1"/>
          </p:cNvSpPr>
          <p:nvPr/>
        </p:nvSpPr>
        <p:spPr>
          <a:xfrm xmlns:a="http://schemas.openxmlformats.org/drawingml/2006/main">
            <a:off x="1143000" y="5734050"/>
            <a:ext cx="990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65"/>
          </a:bodyPr>
          <a:lstStyle xmlns:a="http://schemas.openxmlformats.org/drawingml/2006/main"/>
          <a:p xmlns:a="http://schemas.openxmlformats.org/drawingml/2006/main">
            <a:pPr algn="ctr">
              <a:buNone/>
              <a:defRPr sz="1800" b="0" i="0">
                <a:solidFill>
                  <a:srgbClr val="111111"/>
                </a:solidFill>
                <a:latin typeface="Georgia"/>
                <a:ea typeface="Georgia"/>
                <a:cs typeface="Georgia"/>
              </a:defRPr>
            </a:pPr>
            <a:r>
              <a:rPr sz="1800" b="0" i="0">
                <a:solidFill>
                  <a:srgbClr val="111111"/>
                </a:solidFill>
                <a:latin typeface="Georgia"/>
                <a:ea typeface="Georgia"/>
                <a:cs typeface="Georgia"/>
              </a:rPr>
              <a:t>Decision changes when evidence invalidates the target boundary, operating duty, migration path or economics.</a:t>
            </a:r>
          </a:p>
        </p:txBody>
      </p:sp>
    </p:spTree>
    <p:extLst>
      <p:ext uri="{BB962C8B-B14F-4D97-AF65-F5344CB8AC3E}">
        <p14:creationId xmlns:p14="http://schemas.microsoft.com/office/powerpoint/2010/main" val="1945170437"/>
      </p:ext>
    </p:extLst>
  </p:cSld>
</p:sld>
</file>

<file path=ppt/slides/slide7.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0C4E848-D8B9-4EC7-8C73-A3C17861396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F91064-CD72-439F-985C-54EB4565DE01}"/>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3AE6F89-3F18-4B50-B604-FD1906CA25E5}"/>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07 / ARCHITECTURE</a:t>
            </a:r>
          </a:p>
        </p:txBody>
      </p:sp>
      <p:sp>
        <p:nvSpPr>
          <p:cNvPr id="4" name="">
            <a:extLst xmlns:a="http://schemas.openxmlformats.org/drawingml/2006/main">
              <a:ext uri="{FF2B5EF4-FFF2-40B4-BE49-F238E27FC236}">
                <a16:creationId xmlns:a16="http://schemas.microsoft.com/office/drawing/2014/main" id="{3E305ABE-3042-4C40-B1D4-8E26420520E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Choose the operating boundary before the topology</a:t>
            </a:r>
          </a:p>
        </p:txBody>
      </p:sp>
      <p:sp>
        <p:nvSpPr>
          <p:cNvPr id="5" name="">
            <a:extLst xmlns:a="http://schemas.openxmlformats.org/drawingml/2006/main">
              <a:ext uri="{FF2B5EF4-FFF2-40B4-BE49-F238E27FC236}">
                <a16:creationId xmlns:a16="http://schemas.microsoft.com/office/drawing/2014/main" id="{34545340-3F30-464A-AAB7-31FFB659F0FD}"/>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Separate the leading target, same-vendor custody benchmark and true platform exit.</a:t>
            </a:r>
          </a:p>
        </p:txBody>
      </p:sp>
      <p:sp>
        <p:nvSpPr>
          <p:cNvPr id="6" name="">
            <a:extLst xmlns:a="http://schemas.openxmlformats.org/drawingml/2006/main">
              <a:ext uri="{FF2B5EF4-FFF2-40B4-BE49-F238E27FC236}">
                <a16:creationId xmlns:a16="http://schemas.microsoft.com/office/drawing/2014/main" id="{4342E69D-1601-41DD-9612-39F0400925B9}"/>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D9B2974-7D78-4423-A407-BBF615A3CC9B}"/>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fa7856dc91e14807"/>
              </a:rPr>
              <a:t>Repo reference</a:t>
            </a:r>
            <a:r>
              <a:rPr sz="825">
                <a:solidFill>
                  <a:srgbClr val="666762"/>
                </a:solidFill>
              </a:rPr>
              <a:t>  ·  </a:t>
            </a:r>
            <a:r>
              <a:rPr sz="825" u="sng">
                <a:solidFill>
                  <a:srgbClr val="666762"/>
                </a:solidFill>
                <a:hlinkClick xmlns:r="http://schemas.openxmlformats.org/officeDocument/2006/relationships" r:id="Ra2f840fc46fd473b"/>
              </a:rPr>
              <a:t>Official docs</a:t>
            </a:r>
          </a:p>
        </p:txBody>
      </p:sp>
      <p:sp>
        <p:nvSpPr>
          <p:cNvPr id="8" name="">
            <a:extLst xmlns:a="http://schemas.openxmlformats.org/drawingml/2006/main">
              <a:ext uri="{FF2B5EF4-FFF2-40B4-BE49-F238E27FC236}">
                <a16:creationId xmlns:a16="http://schemas.microsoft.com/office/drawing/2014/main" id="{51F854D5-D8A2-4A92-9079-C8F68A9A1287}"/>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07 / 25</a:t>
            </a:r>
          </a:p>
        </p:txBody>
      </p:sp>
      <p:sp>
        <p:nvSpPr>
          <p:cNvPr id="9" name="">
            <a:extLst xmlns:a="http://schemas.openxmlformats.org/drawingml/2006/main">
              <a:ext uri="{FF2B5EF4-FFF2-40B4-BE49-F238E27FC236}">
                <a16:creationId xmlns:a16="http://schemas.microsoft.com/office/drawing/2014/main" id="{B6B3A171-B8BC-414A-B5BD-65069ABD803D}"/>
              </a:ext>
            </a:extLst>
          </p:cNvPr>
          <p:cNvSpPr>
            <a:spLocks xmlns:a="http://schemas.openxmlformats.org/drawingml/2006/main" noGrp="1"/>
          </p:cNvSpPr>
          <p:nvPr/>
        </p:nvSpPr>
        <p:spPr>
          <a:xfrm xmlns:a="http://schemas.openxmlformats.org/drawingml/2006/main">
            <a:off x="68580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514BE00F-D110-42A2-8D47-FD1E2893F995}"/>
              </a:ext>
            </a:extLst>
          </p:cNvPr>
          <p:cNvSpPr>
            <a:spLocks xmlns:a="http://schemas.openxmlformats.org/drawingml/2006/main" noGrp="1"/>
          </p:cNvSpPr>
          <p:nvPr/>
        </p:nvSpPr>
        <p:spPr>
          <a:xfrm xmlns:a="http://schemas.openxmlformats.org/drawingml/2006/main">
            <a:off x="68580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1A7A3E3-0DC7-4EDE-AA64-C22D51D92AEF}"/>
              </a:ext>
            </a:extLst>
          </p:cNvPr>
          <p:cNvSpPr>
            <a:spLocks xmlns:a="http://schemas.openxmlformats.org/drawingml/2006/main" noGrp="1"/>
          </p:cNvSpPr>
          <p:nvPr/>
        </p:nvSpPr>
        <p:spPr>
          <a:xfrm xmlns:a="http://schemas.openxmlformats.org/drawingml/2006/main">
            <a:off x="89535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LEADING TARGET</a:t>
            </a:r>
          </a:p>
        </p:txBody>
      </p:sp>
      <p:sp>
        <p:nvSpPr>
          <p:cNvPr id="12" name="">
            <a:extLst xmlns:a="http://schemas.openxmlformats.org/drawingml/2006/main">
              <a:ext uri="{FF2B5EF4-FFF2-40B4-BE49-F238E27FC236}">
                <a16:creationId xmlns:a16="http://schemas.microsoft.com/office/drawing/2014/main" id="{0B84BAD4-F073-43C1-B890-8DC82D84F3C2}"/>
              </a:ext>
            </a:extLst>
          </p:cNvPr>
          <p:cNvSpPr>
            <a:spLocks xmlns:a="http://schemas.openxmlformats.org/drawingml/2006/main" noGrp="1"/>
          </p:cNvSpPr>
          <p:nvPr/>
        </p:nvSpPr>
        <p:spPr>
          <a:xfrm xmlns:a="http://schemas.openxmlformats.org/drawingml/2006/main">
            <a:off x="89535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Self-managed hybrid</a:t>
            </a:r>
          </a:p>
        </p:txBody>
      </p:sp>
      <p:sp>
        <p:nvSpPr>
          <p:cNvPr id="13" name="">
            <a:extLst xmlns:a="http://schemas.openxmlformats.org/drawingml/2006/main">
              <a:ext uri="{FF2B5EF4-FFF2-40B4-BE49-F238E27FC236}">
                <a16:creationId xmlns:a16="http://schemas.microsoft.com/office/drawing/2014/main" id="{68B9CAF1-0AEA-4E84-B041-483ADA66EC1C}"/>
              </a:ext>
            </a:extLst>
          </p:cNvPr>
          <p:cNvSpPr>
            <a:spLocks xmlns:a="http://schemas.openxmlformats.org/drawingml/2006/main" noGrp="1"/>
          </p:cNvSpPr>
          <p:nvPr/>
        </p:nvSpPr>
        <p:spPr>
          <a:xfrm xmlns:a="http://schemas.openxmlformats.org/drawingml/2006/main">
            <a:off x="89535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Enterprise operates CP, PostgreSQL, PKI, backups, upgrades and admission policy.</a:t>
            </a:r>
          </a:p>
        </p:txBody>
      </p:sp>
      <p:sp>
        <p:nvSpPr>
          <p:cNvPr id="14" name="">
            <a:extLst xmlns:a="http://schemas.openxmlformats.org/drawingml/2006/main">
              <a:ext uri="{FF2B5EF4-FFF2-40B4-BE49-F238E27FC236}">
                <a16:creationId xmlns:a16="http://schemas.microsoft.com/office/drawing/2014/main" id="{F434688B-2200-48F9-B4D3-6D9196133A3A}"/>
              </a:ext>
            </a:extLst>
          </p:cNvPr>
          <p:cNvSpPr>
            <a:spLocks xmlns:a="http://schemas.openxmlformats.org/drawingml/2006/main" noGrp="1"/>
          </p:cNvSpPr>
          <p:nvPr/>
        </p:nvSpPr>
        <p:spPr>
          <a:xfrm xmlns:a="http://schemas.openxmlformats.org/drawingml/2006/main">
            <a:off x="428625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8977E993-8CB4-4CBA-946C-AF7FD21D5E83}"/>
              </a:ext>
            </a:extLst>
          </p:cNvPr>
          <p:cNvSpPr>
            <a:spLocks xmlns:a="http://schemas.openxmlformats.org/drawingml/2006/main" noGrp="1"/>
          </p:cNvSpPr>
          <p:nvPr/>
        </p:nvSpPr>
        <p:spPr>
          <a:xfrm xmlns:a="http://schemas.openxmlformats.org/drawingml/2006/main">
            <a:off x="4286250" y="2381250"/>
            <a:ext cx="66675" cy="28575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6720A6-96AC-41A5-B967-3633BB944F66}"/>
              </a:ext>
            </a:extLst>
          </p:cNvPr>
          <p:cNvSpPr>
            <a:spLocks xmlns:a="http://schemas.openxmlformats.org/drawingml/2006/main" noGrp="1"/>
          </p:cNvSpPr>
          <p:nvPr/>
        </p:nvSpPr>
        <p:spPr>
          <a:xfrm xmlns:a="http://schemas.openxmlformats.org/drawingml/2006/main">
            <a:off x="449580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CUSTODY BENCHMARK</a:t>
            </a:r>
          </a:p>
        </p:txBody>
      </p:sp>
      <p:sp>
        <p:nvSpPr>
          <p:cNvPr id="17" name="">
            <a:extLst xmlns:a="http://schemas.openxmlformats.org/drawingml/2006/main">
              <a:ext uri="{FF2B5EF4-FFF2-40B4-BE49-F238E27FC236}">
                <a16:creationId xmlns:a16="http://schemas.microsoft.com/office/drawing/2014/main" id="{14AFB2E0-AF26-4A9D-ADE9-14EDFA6C6514}"/>
              </a:ext>
            </a:extLst>
          </p:cNvPr>
          <p:cNvSpPr>
            <a:spLocks xmlns:a="http://schemas.openxmlformats.org/drawingml/2006/main" noGrp="1"/>
          </p:cNvSpPr>
          <p:nvPr/>
        </p:nvSpPr>
        <p:spPr>
          <a:xfrm xmlns:a="http://schemas.openxmlformats.org/drawingml/2006/main">
            <a:off x="449580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Konnect control plane</a:t>
            </a:r>
          </a:p>
        </p:txBody>
      </p:sp>
      <p:sp>
        <p:nvSpPr>
          <p:cNvPr id="18" name="">
            <a:extLst xmlns:a="http://schemas.openxmlformats.org/drawingml/2006/main">
              <a:ext uri="{FF2B5EF4-FFF2-40B4-BE49-F238E27FC236}">
                <a16:creationId xmlns:a16="http://schemas.microsoft.com/office/drawing/2014/main" id="{B7169288-6BB9-4AD0-9397-71A71F1061B0}"/>
              </a:ext>
            </a:extLst>
          </p:cNvPr>
          <p:cNvSpPr>
            <a:spLocks xmlns:a="http://schemas.openxmlformats.org/drawingml/2006/main" noGrp="1"/>
          </p:cNvSpPr>
          <p:nvPr/>
        </p:nvSpPr>
        <p:spPr>
          <a:xfrm xmlns:a="http://schemas.openxmlformats.org/drawingml/2006/main">
            <a:off x="449580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Same-vendor switch test: compare custody, migration effort, parity and route-back.</a:t>
            </a:r>
          </a:p>
        </p:txBody>
      </p:sp>
      <p:sp>
        <p:nvSpPr>
          <p:cNvPr id="19" name="">
            <a:extLst xmlns:a="http://schemas.openxmlformats.org/drawingml/2006/main">
              <a:ext uri="{FF2B5EF4-FFF2-40B4-BE49-F238E27FC236}">
                <a16:creationId xmlns:a16="http://schemas.microsoft.com/office/drawing/2014/main" id="{2A654DD9-F2A1-4803-A02C-5A7CE1644D39}"/>
              </a:ext>
            </a:extLst>
          </p:cNvPr>
          <p:cNvSpPr>
            <a:spLocks xmlns:a="http://schemas.openxmlformats.org/drawingml/2006/main" noGrp="1"/>
          </p:cNvSpPr>
          <p:nvPr/>
        </p:nvSpPr>
        <p:spPr>
          <a:xfrm xmlns:a="http://schemas.openxmlformats.org/drawingml/2006/main">
            <a:off x="788670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C261AEAC-CD16-4AFF-BB4D-2DAE6D5A898E}"/>
              </a:ext>
            </a:extLst>
          </p:cNvPr>
          <p:cNvSpPr>
            <a:spLocks xmlns:a="http://schemas.openxmlformats.org/drawingml/2006/main" noGrp="1"/>
          </p:cNvSpPr>
          <p:nvPr/>
        </p:nvSpPr>
        <p:spPr>
          <a:xfrm xmlns:a="http://schemas.openxmlformats.org/drawingml/2006/main">
            <a:off x="7886700" y="2381250"/>
            <a:ext cx="66675" cy="28575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6CE7D2B-DC95-4347-BEA5-2E1EB78F10F3}"/>
              </a:ext>
            </a:extLst>
          </p:cNvPr>
          <p:cNvSpPr>
            <a:spLocks xmlns:a="http://schemas.openxmlformats.org/drawingml/2006/main" noGrp="1"/>
          </p:cNvSpPr>
          <p:nvPr/>
        </p:nvSpPr>
        <p:spPr>
          <a:xfrm xmlns:a="http://schemas.openxmlformats.org/drawingml/2006/main">
            <a:off x="809625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EXIT</a:t>
            </a:r>
          </a:p>
        </p:txBody>
      </p:sp>
      <p:sp>
        <p:nvSpPr>
          <p:cNvPr id="22" name="">
            <a:extLst xmlns:a="http://schemas.openxmlformats.org/drawingml/2006/main">
              <a:ext uri="{FF2B5EF4-FFF2-40B4-BE49-F238E27FC236}">
                <a16:creationId xmlns:a16="http://schemas.microsoft.com/office/drawing/2014/main" id="{FED26DF4-4403-4F93-A759-567BE33519CD}"/>
              </a:ext>
            </a:extLst>
          </p:cNvPr>
          <p:cNvSpPr>
            <a:spLocks xmlns:a="http://schemas.openxmlformats.org/drawingml/2006/main" noGrp="1"/>
          </p:cNvSpPr>
          <p:nvPr/>
        </p:nvSpPr>
        <p:spPr>
          <a:xfrm xmlns:a="http://schemas.openxmlformats.org/drawingml/2006/main">
            <a:off x="809625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Non-Kong target</a:t>
            </a:r>
          </a:p>
        </p:txBody>
      </p:sp>
      <p:sp>
        <p:nvSpPr>
          <p:cNvPr id="23" name="">
            <a:extLst xmlns:a="http://schemas.openxmlformats.org/drawingml/2006/main">
              <a:ext uri="{FF2B5EF4-FFF2-40B4-BE49-F238E27FC236}">
                <a16:creationId xmlns:a16="http://schemas.microsoft.com/office/drawing/2014/main" id="{87EB9AE9-D3E2-4B7A-860D-BF00C672B026}"/>
              </a:ext>
            </a:extLst>
          </p:cNvPr>
          <p:cNvSpPr>
            <a:spLocks xmlns:a="http://schemas.openxmlformats.org/drawingml/2006/main" noGrp="1"/>
          </p:cNvSpPr>
          <p:nvPr/>
        </p:nvSpPr>
        <p:spPr>
          <a:xfrm xmlns:a="http://schemas.openxmlformats.org/drawingml/2006/main">
            <a:off x="809625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Independent exit obligation: configuration, identity, traffic, evidence and rollback remain portable.</a:t>
            </a:r>
          </a:p>
        </p:txBody>
      </p:sp>
      <p:sp>
        <p:nvSpPr>
          <p:cNvPr id="24" name="">
            <a:extLst xmlns:a="http://schemas.openxmlformats.org/drawingml/2006/main">
              <a:ext uri="{FF2B5EF4-FFF2-40B4-BE49-F238E27FC236}">
                <a16:creationId xmlns:a16="http://schemas.microsoft.com/office/drawing/2014/main" id="{B891EFB6-CCE4-4075-B6F3-A8BF9BF8B564}"/>
              </a:ext>
            </a:extLst>
          </p:cNvPr>
          <p:cNvSpPr>
            <a:spLocks xmlns:a="http://schemas.openxmlformats.org/drawingml/2006/main" noGrp="1"/>
          </p:cNvSpPr>
          <p:nvPr/>
        </p:nvSpPr>
        <p:spPr>
          <a:xfrm xmlns:a="http://schemas.openxmlformats.org/drawingml/2006/main">
            <a:off x="685800" y="5581650"/>
            <a:ext cx="10382250" cy="45720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708D28DB-0505-4194-B2E9-C62817804785}"/>
              </a:ext>
            </a:extLst>
          </p:cNvPr>
          <p:cNvSpPr>
            <a:spLocks xmlns:a="http://schemas.openxmlformats.org/drawingml/2006/main" noGrp="1"/>
          </p:cNvSpPr>
          <p:nvPr/>
        </p:nvSpPr>
        <p:spPr>
          <a:xfrm xmlns:a="http://schemas.openxmlformats.org/drawingml/2006/main">
            <a:off x="876300" y="5676900"/>
            <a:ext cx="1000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466"/>
          </a:bodyPr>
          <a:lstStyle xmlns:a="http://schemas.openxmlformats.org/drawingml/2006/main"/>
          <a:p xmlns:a="http://schemas.openxmlformats.org/drawingml/2006/main">
            <a:pPr algn="ctr">
              <a:buNone/>
              <a:defRPr sz="1425" b="1" i="0">
                <a:solidFill>
                  <a:srgbClr val="111111"/>
                </a:solidFill>
                <a:latin typeface="Arial"/>
                <a:ea typeface="Arial"/>
                <a:cs typeface="Arial"/>
              </a:defRPr>
            </a:pPr>
            <a:r>
              <a:rPr sz="1425" b="1" i="0">
                <a:solidFill>
                  <a:srgbClr val="111111"/>
                </a:solidFill>
                <a:latin typeface="Arial"/>
                <a:ea typeface="Arial"/>
                <a:cs typeface="Arial"/>
              </a:rPr>
              <a:t>The benchmark is not a parallel production build; it is a pre-committed way to change custody or exit when evidence fails.</a:t>
            </a:r>
          </a:p>
        </p:txBody>
      </p:sp>
    </p:spTree>
    <p:extLst>
      <p:ext uri="{BB962C8B-B14F-4D97-AF65-F5344CB8AC3E}">
        <p14:creationId xmlns:p14="http://schemas.microsoft.com/office/powerpoint/2010/main" val="1284643157"/>
      </p:ext>
    </p:extLst>
  </p:cSld>
</p:sld>
</file>

<file path=ppt/slides/slide8.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9156876-75D2-4A73-953C-3E6545D754A8}"/>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0D55D5-0D61-4B1C-9F24-FC7BFCD4D13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1F00C3B-4A20-4A2B-9E0F-AEB12E494FC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08 / ARCHITECTURE</a:t>
            </a:r>
          </a:p>
        </p:txBody>
      </p:sp>
      <p:sp>
        <p:nvSpPr>
          <p:cNvPr id="4" name="">
            <a:extLst xmlns:a="http://schemas.openxmlformats.org/drawingml/2006/main">
              <a:ext uri="{FF2B5EF4-FFF2-40B4-BE49-F238E27FC236}">
                <a16:creationId xmlns:a16="http://schemas.microsoft.com/office/drawing/2014/main" id="{841A9365-8AFA-4C59-BE17-3FA20F06C55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Control-plane custody transfers operating accountability</a:t>
            </a:r>
          </a:p>
        </p:txBody>
      </p:sp>
      <p:sp>
        <p:nvSpPr>
          <p:cNvPr id="5" name="">
            <a:extLst xmlns:a="http://schemas.openxmlformats.org/drawingml/2006/main">
              <a:ext uri="{FF2B5EF4-FFF2-40B4-BE49-F238E27FC236}">
                <a16:creationId xmlns:a16="http://schemas.microsoft.com/office/drawing/2014/main" id="{74B56F5A-34D2-4571-9C53-2711C9E6808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Control advantage must be weighed against permanent CP, database, trust, plugin, support and on-call duty.</a:t>
            </a:r>
          </a:p>
        </p:txBody>
      </p:sp>
      <p:sp>
        <p:nvSpPr>
          <p:cNvPr id="6" name="">
            <a:extLst xmlns:a="http://schemas.openxmlformats.org/drawingml/2006/main">
              <a:ext uri="{FF2B5EF4-FFF2-40B4-BE49-F238E27FC236}">
                <a16:creationId xmlns:a16="http://schemas.microsoft.com/office/drawing/2014/main" id="{2E10ED4A-A1F2-4B33-88B9-CB8C1AC94164}"/>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FF7FC03-DD71-4116-9D5A-993CD7FE8942}"/>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4e67341ed29f4aae"/>
              </a:rPr>
              <a:t>Repo reference</a:t>
            </a:r>
            <a:r>
              <a:rPr sz="825">
                <a:solidFill>
                  <a:srgbClr val="666762"/>
                </a:solidFill>
              </a:rPr>
              <a:t>  ·  </a:t>
            </a:r>
            <a:r>
              <a:rPr sz="825" u="sng">
                <a:solidFill>
                  <a:srgbClr val="666762"/>
                </a:solidFill>
                <a:hlinkClick xmlns:r="http://schemas.openxmlformats.org/officeDocument/2006/relationships" r:id="R3c0d23fb5fb546f2"/>
              </a:rPr>
              <a:t>Official docs</a:t>
            </a:r>
          </a:p>
        </p:txBody>
      </p:sp>
      <p:sp>
        <p:nvSpPr>
          <p:cNvPr id="8" name="">
            <a:extLst xmlns:a="http://schemas.openxmlformats.org/drawingml/2006/main">
              <a:ext uri="{FF2B5EF4-FFF2-40B4-BE49-F238E27FC236}">
                <a16:creationId xmlns:a16="http://schemas.microsoft.com/office/drawing/2014/main" id="{9179D6E3-F736-48EC-9DAE-CB5E14FC5C42}"/>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08 / 25</a:t>
            </a:r>
          </a:p>
        </p:txBody>
      </p:sp>
      <p:sp>
        <p:nvSpPr>
          <p:cNvPr id="9" name="">
            <a:extLst xmlns:a="http://schemas.openxmlformats.org/drawingml/2006/main">
              <a:ext uri="{FF2B5EF4-FFF2-40B4-BE49-F238E27FC236}">
                <a16:creationId xmlns:a16="http://schemas.microsoft.com/office/drawing/2014/main" id="{E4C6145F-0FD0-4DE4-94E7-70F2685704D6}"/>
              </a:ext>
            </a:extLst>
          </p:cNvPr>
          <p:cNvSpPr>
            <a:spLocks xmlns:a="http://schemas.openxmlformats.org/drawingml/2006/main" noGrp="1"/>
          </p:cNvSpPr>
          <p:nvPr/>
        </p:nvSpPr>
        <p:spPr>
          <a:xfrm xmlns:a="http://schemas.openxmlformats.org/drawingml/2006/main">
            <a:off x="685800" y="221932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197457"/>
                </a:solidFill>
                <a:latin typeface="Consolas"/>
                <a:ea typeface="Consolas"/>
                <a:cs typeface="Consolas"/>
              </a:defRPr>
            </a:pPr>
            <a:r>
              <a:rPr sz="1200" b="1" i="0">
                <a:solidFill>
                  <a:srgbClr val="197457"/>
                </a:solidFill>
                <a:latin typeface="Consolas"/>
                <a:ea typeface="Consolas"/>
                <a:cs typeface="Consolas"/>
              </a:rPr>
              <a:t>WHY IT FITS</a:t>
            </a:r>
          </a:p>
        </p:txBody>
      </p:sp>
      <p:sp>
        <p:nvSpPr>
          <p:cNvPr id="10" name="">
            <a:extLst xmlns:a="http://schemas.openxmlformats.org/drawingml/2006/main">
              <a:ext uri="{FF2B5EF4-FFF2-40B4-BE49-F238E27FC236}">
                <a16:creationId xmlns:a16="http://schemas.microsoft.com/office/drawing/2014/main" id="{16B53C52-16CD-48D9-824E-C418CA1A098C}"/>
              </a:ext>
            </a:extLst>
          </p:cNvPr>
          <p:cNvSpPr>
            <a:spLocks xmlns:a="http://schemas.openxmlformats.org/drawingml/2006/main" noGrp="1"/>
          </p:cNvSpPr>
          <p:nvPr/>
        </p:nvSpPr>
        <p:spPr>
          <a:xfrm xmlns:a="http://schemas.openxmlformats.org/drawingml/2006/main">
            <a:off x="723900" y="27527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AF91AFF-46BE-4850-891E-0B033DA99EF2}"/>
              </a:ext>
            </a:extLst>
          </p:cNvPr>
          <p:cNvSpPr>
            <a:spLocks xmlns:a="http://schemas.openxmlformats.org/drawingml/2006/main" noGrp="1"/>
          </p:cNvSpPr>
          <p:nvPr/>
        </p:nvSpPr>
        <p:spPr>
          <a:xfrm xmlns:a="http://schemas.openxmlformats.org/drawingml/2006/main">
            <a:off x="952500" y="26670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Configuration authority remains inside the enterprise boundary</a:t>
            </a:r>
          </a:p>
        </p:txBody>
      </p:sp>
      <p:sp>
        <p:nvSpPr>
          <p:cNvPr id="12" name="">
            <a:extLst xmlns:a="http://schemas.openxmlformats.org/drawingml/2006/main">
              <a:ext uri="{FF2B5EF4-FFF2-40B4-BE49-F238E27FC236}">
                <a16:creationId xmlns:a16="http://schemas.microsoft.com/office/drawing/2014/main" id="{C899E149-702E-4EA5-BE77-9102AD4F8CBC}"/>
              </a:ext>
            </a:extLst>
          </p:cNvPr>
          <p:cNvSpPr>
            <a:spLocks xmlns:a="http://schemas.openxmlformats.org/drawingml/2006/main" noGrp="1"/>
          </p:cNvSpPr>
          <p:nvPr/>
        </p:nvSpPr>
        <p:spPr>
          <a:xfrm xmlns:a="http://schemas.openxmlformats.org/drawingml/2006/main">
            <a:off x="723900" y="34385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59A2730-D870-4DAF-B3AA-1D75FF5613F6}"/>
              </a:ext>
            </a:extLst>
          </p:cNvPr>
          <p:cNvSpPr>
            <a:spLocks xmlns:a="http://schemas.openxmlformats.org/drawingml/2006/main" noGrp="1"/>
          </p:cNvSpPr>
          <p:nvPr/>
        </p:nvSpPr>
        <p:spPr>
          <a:xfrm xmlns:a="http://schemas.openxmlformats.org/drawingml/2006/main">
            <a:off x="952500" y="33528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Data planes stay close to workloads</a:t>
            </a:r>
          </a:p>
        </p:txBody>
      </p:sp>
      <p:sp>
        <p:nvSpPr>
          <p:cNvPr id="14" name="">
            <a:extLst xmlns:a="http://schemas.openxmlformats.org/drawingml/2006/main">
              <a:ext uri="{FF2B5EF4-FFF2-40B4-BE49-F238E27FC236}">
                <a16:creationId xmlns:a16="http://schemas.microsoft.com/office/drawing/2014/main" id="{8D89CE81-DABD-49D8-ADA5-C8E613687172}"/>
              </a:ext>
            </a:extLst>
          </p:cNvPr>
          <p:cNvSpPr>
            <a:spLocks xmlns:a="http://schemas.openxmlformats.org/drawingml/2006/main" noGrp="1"/>
          </p:cNvSpPr>
          <p:nvPr/>
        </p:nvSpPr>
        <p:spPr>
          <a:xfrm xmlns:a="http://schemas.openxmlformats.org/drawingml/2006/main">
            <a:off x="723900" y="41243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4601527-130F-4BF4-AC88-4F685E49C2DE}"/>
              </a:ext>
            </a:extLst>
          </p:cNvPr>
          <p:cNvSpPr>
            <a:spLocks xmlns:a="http://schemas.openxmlformats.org/drawingml/2006/main" noGrp="1"/>
          </p:cNvSpPr>
          <p:nvPr/>
        </p:nvSpPr>
        <p:spPr>
          <a:xfrm xmlns:a="http://schemas.openxmlformats.org/drawingml/2006/main">
            <a:off x="952500" y="40386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Accepted config continues proxying through control-plane loss</a:t>
            </a:r>
          </a:p>
        </p:txBody>
      </p:sp>
      <p:sp>
        <p:nvSpPr>
          <p:cNvPr id="16" name="">
            <a:extLst xmlns:a="http://schemas.openxmlformats.org/drawingml/2006/main">
              <a:ext uri="{FF2B5EF4-FFF2-40B4-BE49-F238E27FC236}">
                <a16:creationId xmlns:a16="http://schemas.microsoft.com/office/drawing/2014/main" id="{79905140-388E-449B-BFFE-D3AF94CEC1C2}"/>
              </a:ext>
            </a:extLst>
          </p:cNvPr>
          <p:cNvSpPr>
            <a:spLocks xmlns:a="http://schemas.openxmlformats.org/drawingml/2006/main" noGrp="1"/>
          </p:cNvSpPr>
          <p:nvPr/>
        </p:nvSpPr>
        <p:spPr>
          <a:xfrm xmlns:a="http://schemas.openxmlformats.org/drawingml/2006/main">
            <a:off x="723900" y="48101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DE52F10-2A9D-4FFD-81E0-9FB446E09F4C}"/>
              </a:ext>
            </a:extLst>
          </p:cNvPr>
          <p:cNvSpPr>
            <a:spLocks xmlns:a="http://schemas.openxmlformats.org/drawingml/2006/main" noGrp="1"/>
          </p:cNvSpPr>
          <p:nvPr/>
        </p:nvSpPr>
        <p:spPr>
          <a:xfrm xmlns:a="http://schemas.openxmlformats.org/drawingml/2006/main">
            <a:off x="952500" y="47244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Open telemetry and plugin ecosystem fit the platform model</a:t>
            </a:r>
          </a:p>
        </p:txBody>
      </p:sp>
      <p:sp>
        <p:nvSpPr>
          <p:cNvPr id="18" name="">
            <a:extLst xmlns:a="http://schemas.openxmlformats.org/drawingml/2006/main">
              <a:ext uri="{FF2B5EF4-FFF2-40B4-BE49-F238E27FC236}">
                <a16:creationId xmlns:a16="http://schemas.microsoft.com/office/drawing/2014/main" id="{FCF8398C-72F3-43A1-A571-9C2B7C44DC23}"/>
              </a:ext>
            </a:extLst>
          </p:cNvPr>
          <p:cNvSpPr>
            <a:spLocks xmlns:a="http://schemas.openxmlformats.org/drawingml/2006/main" noGrp="1"/>
          </p:cNvSpPr>
          <p:nvPr/>
        </p:nvSpPr>
        <p:spPr>
          <a:xfrm xmlns:a="http://schemas.openxmlformats.org/drawingml/2006/main">
            <a:off x="6019800" y="2143125"/>
            <a:ext cx="19050" cy="377190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456E6A0-2B0A-41F8-8750-FA64E7129D2F}"/>
              </a:ext>
            </a:extLst>
          </p:cNvPr>
          <p:cNvSpPr>
            <a:spLocks xmlns:a="http://schemas.openxmlformats.org/drawingml/2006/main" noGrp="1"/>
          </p:cNvSpPr>
          <p:nvPr/>
        </p:nvSpPr>
        <p:spPr>
          <a:xfrm xmlns:a="http://schemas.openxmlformats.org/drawingml/2006/main">
            <a:off x="6457950" y="221932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C73C2C"/>
                </a:solidFill>
                <a:latin typeface="Consolas"/>
                <a:ea typeface="Consolas"/>
                <a:cs typeface="Consolas"/>
              </a:defRPr>
            </a:pPr>
            <a:r>
              <a:rPr sz="1200" b="1" i="0">
                <a:solidFill>
                  <a:srgbClr val="C73C2C"/>
                </a:solidFill>
                <a:latin typeface="Consolas"/>
                <a:ea typeface="Consolas"/>
                <a:cs typeface="Consolas"/>
              </a:rPr>
              <a:t>OPERATING ACCOUNTABILITY</a:t>
            </a:r>
          </a:p>
        </p:txBody>
      </p:sp>
      <p:sp>
        <p:nvSpPr>
          <p:cNvPr id="20" name="">
            <a:extLst xmlns:a="http://schemas.openxmlformats.org/drawingml/2006/main">
              <a:ext uri="{FF2B5EF4-FFF2-40B4-BE49-F238E27FC236}">
                <a16:creationId xmlns:a16="http://schemas.microsoft.com/office/drawing/2014/main" id="{84125748-15A5-4A9C-AD4A-0E37B6247B49}"/>
              </a:ext>
            </a:extLst>
          </p:cNvPr>
          <p:cNvSpPr>
            <a:spLocks xmlns:a="http://schemas.openxmlformats.org/drawingml/2006/main" noGrp="1"/>
          </p:cNvSpPr>
          <p:nvPr/>
        </p:nvSpPr>
        <p:spPr>
          <a:xfrm xmlns:a="http://schemas.openxmlformats.org/drawingml/2006/main">
            <a:off x="6496050" y="27527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DD3A123-2B9E-4528-AC7E-ED347AB8369E}"/>
              </a:ext>
            </a:extLst>
          </p:cNvPr>
          <p:cNvSpPr>
            <a:spLocks xmlns:a="http://schemas.openxmlformats.org/drawingml/2006/main" noGrp="1"/>
          </p:cNvSpPr>
          <p:nvPr/>
        </p:nvSpPr>
        <p:spPr>
          <a:xfrm xmlns:a="http://schemas.openxmlformats.org/drawingml/2006/main">
            <a:off x="6724650" y="26670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Scalability, regional robustness and recovery</a:t>
            </a:r>
          </a:p>
        </p:txBody>
      </p:sp>
      <p:sp>
        <p:nvSpPr>
          <p:cNvPr id="22" name="">
            <a:extLst xmlns:a="http://schemas.openxmlformats.org/drawingml/2006/main">
              <a:ext uri="{FF2B5EF4-FFF2-40B4-BE49-F238E27FC236}">
                <a16:creationId xmlns:a16="http://schemas.microsoft.com/office/drawing/2014/main" id="{D7B11C20-4376-45DA-B368-3522360FD1C1}"/>
              </a:ext>
            </a:extLst>
          </p:cNvPr>
          <p:cNvSpPr>
            <a:spLocks xmlns:a="http://schemas.openxmlformats.org/drawingml/2006/main" noGrp="1"/>
          </p:cNvSpPr>
          <p:nvPr/>
        </p:nvSpPr>
        <p:spPr>
          <a:xfrm xmlns:a="http://schemas.openxmlformats.org/drawingml/2006/main">
            <a:off x="6496050" y="34385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5249425-28CD-4353-AC9A-29D98112DB10}"/>
              </a:ext>
            </a:extLst>
          </p:cNvPr>
          <p:cNvSpPr>
            <a:spLocks xmlns:a="http://schemas.openxmlformats.org/drawingml/2006/main" noGrp="1"/>
          </p:cNvSpPr>
          <p:nvPr/>
        </p:nvSpPr>
        <p:spPr>
          <a:xfrm xmlns:a="http://schemas.openxmlformats.org/drawingml/2006/main">
            <a:off x="6724650" y="33528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Security, IAM, PKI and access lifecycle</a:t>
            </a:r>
          </a:p>
        </p:txBody>
      </p:sp>
      <p:sp>
        <p:nvSpPr>
          <p:cNvPr id="24" name="">
            <a:extLst xmlns:a="http://schemas.openxmlformats.org/drawingml/2006/main">
              <a:ext uri="{FF2B5EF4-FFF2-40B4-BE49-F238E27FC236}">
                <a16:creationId xmlns:a16="http://schemas.microsoft.com/office/drawing/2014/main" id="{E8D699E6-1942-41D7-B9DB-133395F260A5}"/>
              </a:ext>
            </a:extLst>
          </p:cNvPr>
          <p:cNvSpPr>
            <a:spLocks xmlns:a="http://schemas.openxmlformats.org/drawingml/2006/main" noGrp="1"/>
          </p:cNvSpPr>
          <p:nvPr/>
        </p:nvSpPr>
        <p:spPr>
          <a:xfrm xmlns:a="http://schemas.openxmlformats.org/drawingml/2006/main">
            <a:off x="6496050" y="41243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B4B5E08-6F23-4A72-A6F2-BB53935F0405}"/>
              </a:ext>
            </a:extLst>
          </p:cNvPr>
          <p:cNvSpPr>
            <a:spLocks xmlns:a="http://schemas.openxmlformats.org/drawingml/2006/main" noGrp="1"/>
          </p:cNvSpPr>
          <p:nvPr/>
        </p:nvSpPr>
        <p:spPr>
          <a:xfrm xmlns:a="http://schemas.openxmlformats.org/drawingml/2006/main">
            <a:off x="6724650" y="40386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Traceability, evidence custody and privacy</a:t>
            </a:r>
          </a:p>
        </p:txBody>
      </p:sp>
      <p:sp>
        <p:nvSpPr>
          <p:cNvPr id="26" name="">
            <a:extLst xmlns:a="http://schemas.openxmlformats.org/drawingml/2006/main">
              <a:ext uri="{FF2B5EF4-FFF2-40B4-BE49-F238E27FC236}">
                <a16:creationId xmlns:a16="http://schemas.microsoft.com/office/drawing/2014/main" id="{CA3AD698-F594-43F6-978D-DDB07350BBBF}"/>
              </a:ext>
            </a:extLst>
          </p:cNvPr>
          <p:cNvSpPr>
            <a:spLocks xmlns:a="http://schemas.openxmlformats.org/drawingml/2006/main" noGrp="1"/>
          </p:cNvSpPr>
          <p:nvPr/>
        </p:nvSpPr>
        <p:spPr>
          <a:xfrm xmlns:a="http://schemas.openxmlformats.org/drawingml/2006/main">
            <a:off x="6496050" y="48101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524FB0C-4C9E-44DA-AC14-A80480B4B71C}"/>
              </a:ext>
            </a:extLst>
          </p:cNvPr>
          <p:cNvSpPr>
            <a:spLocks xmlns:a="http://schemas.openxmlformats.org/drawingml/2006/main" noGrp="1"/>
          </p:cNvSpPr>
          <p:nvPr/>
        </p:nvSpPr>
        <p:spPr>
          <a:xfrm xmlns:a="http://schemas.openxmlformats.org/drawingml/2006/main">
            <a:off x="6724650" y="47244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Licensing, support and fully allocated TCO</a:t>
            </a:r>
          </a:p>
        </p:txBody>
      </p:sp>
      <p:sp>
        <p:nvSpPr>
          <p:cNvPr id="28" name="">
            <a:extLst xmlns:a="http://schemas.openxmlformats.org/drawingml/2006/main">
              <a:ext uri="{FF2B5EF4-FFF2-40B4-BE49-F238E27FC236}">
                <a16:creationId xmlns:a16="http://schemas.microsoft.com/office/drawing/2014/main" id="{0A4FC0C2-8875-4A35-8D58-1B767CB5AE89}"/>
              </a:ext>
            </a:extLst>
          </p:cNvPr>
          <p:cNvSpPr>
            <a:spLocks xmlns:a="http://schemas.openxmlformats.org/drawingml/2006/main" noGrp="1"/>
          </p:cNvSpPr>
          <p:nvPr/>
        </p:nvSpPr>
        <p:spPr>
          <a:xfrm xmlns:a="http://schemas.openxmlformats.org/drawingml/2006/main">
            <a:off x="1714500" y="5924550"/>
            <a:ext cx="876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 responsibility exposure—not a legal-liability determination.</a:t>
            </a:r>
          </a:p>
        </p:txBody>
      </p:sp>
    </p:spTree>
    <p:extLst>
      <p:ext uri="{BB962C8B-B14F-4D97-AF65-F5344CB8AC3E}">
        <p14:creationId xmlns:p14="http://schemas.microsoft.com/office/powerpoint/2010/main" val="554201404"/>
      </p:ext>
    </p:extLst>
  </p:cSld>
</p:sld>
</file>

<file path=ppt/slides/slide9.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65481323-BA13-49E2-8FD7-E9B394A4B4AE}"/>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0B29446-0486-4C19-AA15-8531D64C5183}"/>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1AE76D9-5623-40DA-8440-BF4019F68DC6}"/>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09 / ARCHITECTURE</a:t>
            </a:r>
          </a:p>
        </p:txBody>
      </p:sp>
      <p:sp>
        <p:nvSpPr>
          <p:cNvPr id="4" name="">
            <a:extLst xmlns:a="http://schemas.openxmlformats.org/drawingml/2006/main">
              <a:ext uri="{FF2B5EF4-FFF2-40B4-BE49-F238E27FC236}">
                <a16:creationId xmlns:a16="http://schemas.microsoft.com/office/drawing/2014/main" id="{C01D6A34-66D0-4E06-AD0C-BE0A0919C6A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One control boundary; distributed request runtimes</a:t>
            </a:r>
          </a:p>
        </p:txBody>
      </p:sp>
      <p:sp>
        <p:nvSpPr>
          <p:cNvPr id="5" name="">
            <a:extLst xmlns:a="http://schemas.openxmlformats.org/drawingml/2006/main">
              <a:ext uri="{FF2B5EF4-FFF2-40B4-BE49-F238E27FC236}">
                <a16:creationId xmlns:a16="http://schemas.microsoft.com/office/drawing/2014/main" id="{66EB2E4F-ACDC-4620-936C-2ABEAFECDF1A}"/>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A simplified target view for discussion—retain the detailed model as engineering reference.</a:t>
            </a:r>
          </a:p>
        </p:txBody>
      </p:sp>
      <p:sp>
        <p:nvSpPr>
          <p:cNvPr id="6" name="">
            <a:extLst xmlns:a="http://schemas.openxmlformats.org/drawingml/2006/main">
              <a:ext uri="{FF2B5EF4-FFF2-40B4-BE49-F238E27FC236}">
                <a16:creationId xmlns:a16="http://schemas.microsoft.com/office/drawing/2014/main" id="{20C27798-3C4D-4F6F-9B1E-0EE617A589E0}"/>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FC47074-9634-4271-B546-5D01174A281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265fee4e8fb44b2e"/>
              </a:rPr>
              <a:t>Repo reference</a:t>
            </a:r>
            <a:r>
              <a:rPr sz="825">
                <a:solidFill>
                  <a:srgbClr val="666762"/>
                </a:solidFill>
              </a:rPr>
              <a:t>  ·  </a:t>
            </a:r>
            <a:r>
              <a:rPr sz="825" u="sng">
                <a:solidFill>
                  <a:srgbClr val="666762"/>
                </a:solidFill>
                <a:hlinkClick xmlns:r="http://schemas.openxmlformats.org/officeDocument/2006/relationships" r:id="R7a167986bee34b7d"/>
              </a:rPr>
              <a:t>Official docs</a:t>
            </a:r>
          </a:p>
        </p:txBody>
      </p:sp>
      <p:sp>
        <p:nvSpPr>
          <p:cNvPr id="8" name="">
            <a:extLst xmlns:a="http://schemas.openxmlformats.org/drawingml/2006/main">
              <a:ext uri="{FF2B5EF4-FFF2-40B4-BE49-F238E27FC236}">
                <a16:creationId xmlns:a16="http://schemas.microsoft.com/office/drawing/2014/main" id="{F7CDBF7E-E5EC-46BE-BD5E-47F035B8B286}"/>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09 / 25</a:t>
            </a:r>
          </a:p>
        </p:txBody>
      </p:sp>
      <p:sp>
        <p:nvSpPr>
          <p:cNvPr id="9" name="">
            <a:extLst xmlns:a="http://schemas.openxmlformats.org/drawingml/2006/main">
              <a:ext uri="{FF2B5EF4-FFF2-40B4-BE49-F238E27FC236}">
                <a16:creationId xmlns:a16="http://schemas.microsoft.com/office/drawing/2014/main" id="{192DB956-9DE4-42F4-ACFC-E8FD0163D76A}"/>
              </a:ext>
            </a:extLst>
          </p:cNvPr>
          <p:cNvSpPr>
            <a:spLocks xmlns:a="http://schemas.openxmlformats.org/drawingml/2006/main" noGrp="1"/>
          </p:cNvSpPr>
          <p:nvPr/>
        </p:nvSpPr>
        <p:spPr>
          <a:xfrm xmlns:a="http://schemas.openxmlformats.org/drawingml/2006/main">
            <a:off x="704850" y="215265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ENTERPRISE CONTROL ZONE</a:t>
            </a:r>
          </a:p>
        </p:txBody>
      </p:sp>
      <p:sp>
        <p:nvSpPr>
          <p:cNvPr id="10" name="">
            <a:extLst xmlns:a="http://schemas.openxmlformats.org/drawingml/2006/main">
              <a:ext uri="{FF2B5EF4-FFF2-40B4-BE49-F238E27FC236}">
                <a16:creationId xmlns:a16="http://schemas.microsoft.com/office/drawing/2014/main" id="{579B5F6F-7602-41FB-868A-467F2DB9FA36}"/>
              </a:ext>
            </a:extLst>
          </p:cNvPr>
          <p:cNvSpPr>
            <a:spLocks xmlns:a="http://schemas.openxmlformats.org/drawingml/2006/main" noGrp="1"/>
          </p:cNvSpPr>
          <p:nvPr/>
        </p:nvSpPr>
        <p:spPr>
          <a:xfrm xmlns:a="http://schemas.openxmlformats.org/drawingml/2006/main">
            <a:off x="685800" y="2505075"/>
            <a:ext cx="2381250" cy="971550"/>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14288">
            <a:solidFill>
              <a:srgbClr val="FFC72C"/>
            </a:solidFill>
            <a:prstDash val="solid"/>
          </a:ln>
        </p:spPr>
      </p:sp>
      <p:sp>
        <p:nvSpPr>
          <p:cNvPr id="11" name="">
            <a:extLst xmlns:a="http://schemas.openxmlformats.org/drawingml/2006/main">
              <a:ext uri="{FF2B5EF4-FFF2-40B4-BE49-F238E27FC236}">
                <a16:creationId xmlns:a16="http://schemas.microsoft.com/office/drawing/2014/main" id="{E30274D3-5AC1-49B4-86AA-618738970EE6}"/>
              </a:ext>
            </a:extLst>
          </p:cNvPr>
          <p:cNvSpPr>
            <a:spLocks xmlns:a="http://schemas.openxmlformats.org/drawingml/2006/main" noGrp="1"/>
          </p:cNvSpPr>
          <p:nvPr/>
        </p:nvSpPr>
        <p:spPr>
          <a:xfrm xmlns:a="http://schemas.openxmlformats.org/drawingml/2006/main">
            <a:off x="838200" y="26384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Kong control plane</a:t>
            </a:r>
          </a:p>
        </p:txBody>
      </p:sp>
      <p:sp>
        <p:nvSpPr>
          <p:cNvPr id="12" name="">
            <a:extLst xmlns:a="http://schemas.openxmlformats.org/drawingml/2006/main">
              <a:ext uri="{FF2B5EF4-FFF2-40B4-BE49-F238E27FC236}">
                <a16:creationId xmlns:a16="http://schemas.microsoft.com/office/drawing/2014/main" id="{5F8D2CE2-FC9F-45E1-917F-CE3005AD76E4}"/>
              </a:ext>
            </a:extLst>
          </p:cNvPr>
          <p:cNvSpPr>
            <a:spLocks xmlns:a="http://schemas.openxmlformats.org/drawingml/2006/main" noGrp="1"/>
          </p:cNvSpPr>
          <p:nvPr/>
        </p:nvSpPr>
        <p:spPr>
          <a:xfrm xmlns:a="http://schemas.openxmlformats.org/drawingml/2006/main">
            <a:off x="819150" y="3038475"/>
            <a:ext cx="21145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multiple CP instances · Admin/API · one governed writer</a:t>
            </a:r>
          </a:p>
        </p:txBody>
      </p:sp>
      <p:sp>
        <p:nvSpPr>
          <p:cNvPr id="13" name="">
            <a:extLst xmlns:a="http://schemas.openxmlformats.org/drawingml/2006/main">
              <a:ext uri="{FF2B5EF4-FFF2-40B4-BE49-F238E27FC236}">
                <a16:creationId xmlns:a16="http://schemas.microsoft.com/office/drawing/2014/main" id="{5AAD8108-9006-4D1D-9B06-D9BDC5F4C43D}"/>
              </a:ext>
            </a:extLst>
          </p:cNvPr>
          <p:cNvSpPr>
            <a:spLocks xmlns:a="http://schemas.openxmlformats.org/drawingml/2006/main" noGrp="1"/>
          </p:cNvSpPr>
          <p:nvPr/>
        </p:nvSpPr>
        <p:spPr>
          <a:xfrm xmlns:a="http://schemas.openxmlformats.org/drawingml/2006/main">
            <a:off x="685800" y="3848100"/>
            <a:ext cx="238125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14288">
            <a:solidFill>
              <a:srgbClr val="111111"/>
            </a:solidFill>
            <a:prstDash val="solid"/>
          </a:ln>
        </p:spPr>
      </p:sp>
      <p:sp>
        <p:nvSpPr>
          <p:cNvPr id="14" name="">
            <a:extLst xmlns:a="http://schemas.openxmlformats.org/drawingml/2006/main">
              <a:ext uri="{FF2B5EF4-FFF2-40B4-BE49-F238E27FC236}">
                <a16:creationId xmlns:a16="http://schemas.microsoft.com/office/drawing/2014/main" id="{DD108D7C-8615-4698-A65A-6DE53E6F9A00}"/>
              </a:ext>
            </a:extLst>
          </p:cNvPr>
          <p:cNvSpPr>
            <a:spLocks xmlns:a="http://schemas.openxmlformats.org/drawingml/2006/main" noGrp="1"/>
          </p:cNvSpPr>
          <p:nvPr/>
        </p:nvSpPr>
        <p:spPr>
          <a:xfrm xmlns:a="http://schemas.openxmlformats.org/drawingml/2006/main">
            <a:off x="838200" y="398145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PostgreSQL HA</a:t>
            </a:r>
          </a:p>
        </p:txBody>
      </p:sp>
      <p:sp>
        <p:nvSpPr>
          <p:cNvPr id="15" name="">
            <a:extLst xmlns:a="http://schemas.openxmlformats.org/drawingml/2006/main">
              <a:ext uri="{FF2B5EF4-FFF2-40B4-BE49-F238E27FC236}">
                <a16:creationId xmlns:a16="http://schemas.microsoft.com/office/drawing/2014/main" id="{44E8DA5A-57CE-4BBF-A042-B66056F95BDF}"/>
              </a:ext>
            </a:extLst>
          </p:cNvPr>
          <p:cNvSpPr>
            <a:spLocks xmlns:a="http://schemas.openxmlformats.org/drawingml/2006/main" noGrp="1"/>
          </p:cNvSpPr>
          <p:nvPr/>
        </p:nvSpPr>
        <p:spPr>
          <a:xfrm xmlns:a="http://schemas.openxmlformats.org/drawingml/2006/main">
            <a:off x="819150" y="438150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857"/>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backup · restore · migration boundary</a:t>
            </a:r>
          </a:p>
        </p:txBody>
      </p:sp>
      <p:sp>
        <p:nvSpPr>
          <p:cNvPr id="16" name="">
            <a:extLst xmlns:a="http://schemas.openxmlformats.org/drawingml/2006/main">
              <a:ext uri="{FF2B5EF4-FFF2-40B4-BE49-F238E27FC236}">
                <a16:creationId xmlns:a16="http://schemas.microsoft.com/office/drawing/2014/main" id="{39F07D25-74BD-451A-B2F9-F96E4DB05621}"/>
              </a:ext>
            </a:extLst>
          </p:cNvPr>
          <p:cNvSpPr>
            <a:spLocks xmlns:a="http://schemas.openxmlformats.org/drawingml/2006/main" noGrp="1"/>
          </p:cNvSpPr>
          <p:nvPr/>
        </p:nvSpPr>
        <p:spPr>
          <a:xfrm xmlns:a="http://schemas.openxmlformats.org/drawingml/2006/main">
            <a:off x="685800" y="5067300"/>
            <a:ext cx="23812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111111"/>
            </a:solidFill>
            <a:prstDash val="solid"/>
          </a:ln>
        </p:spPr>
      </p:sp>
      <p:sp>
        <p:nvSpPr>
          <p:cNvPr id="17" name="">
            <a:extLst xmlns:a="http://schemas.openxmlformats.org/drawingml/2006/main">
              <a:ext uri="{FF2B5EF4-FFF2-40B4-BE49-F238E27FC236}">
                <a16:creationId xmlns:a16="http://schemas.microsoft.com/office/drawing/2014/main" id="{FC90B954-017A-4867-ACA0-5FE5202C0DFF}"/>
              </a:ext>
            </a:extLst>
          </p:cNvPr>
          <p:cNvSpPr>
            <a:spLocks xmlns:a="http://schemas.openxmlformats.org/drawingml/2006/main" noGrp="1"/>
          </p:cNvSpPr>
          <p:nvPr/>
        </p:nvSpPr>
        <p:spPr>
          <a:xfrm xmlns:a="http://schemas.openxmlformats.org/drawingml/2006/main">
            <a:off x="838200" y="5200650"/>
            <a:ext cx="2076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500" b="1" i="0">
                <a:solidFill>
                  <a:srgbClr val="111111"/>
                </a:solidFill>
                <a:latin typeface="Arial"/>
                <a:ea typeface="Arial"/>
                <a:cs typeface="Arial"/>
              </a:defRPr>
            </a:pPr>
            <a:r>
              <a:rPr sz="1500" b="1" i="0">
                <a:solidFill>
                  <a:srgbClr val="111111"/>
                </a:solidFill>
                <a:latin typeface="Arial"/>
                <a:ea typeface="Arial"/>
                <a:cs typeface="Arial"/>
              </a:rPr>
              <a:t>GitOps + PKI + Vault</a:t>
            </a:r>
          </a:p>
        </p:txBody>
      </p:sp>
      <p:cxnSp>
        <p:nvCxnSpPr>
          <p:cNvPr id="570" name=""/>
          <p:cNvCxnSpPr>
            <a:stCxn xmlns:a="http://schemas.openxmlformats.org/drawingml/2006/main" id="16" idx="1"/>
            <a:endCxn xmlns:a="http://schemas.openxmlformats.org/drawingml/2006/main" id="10" idx="1"/>
          </p:cNvCxnSpPr>
          <p:nvPr/>
        </p:nvCxnSpPr>
        <p:spPr>
          <a:xfrm xmlns:a="http://schemas.openxmlformats.org/drawingml/2006/main" flipV="1">
            <a:off x="457200" y="2990850"/>
            <a:ext cx="228600" cy="2419350"/>
          </a:xfrm>
          <a:prstGeom xmlns:a="http://schemas.openxmlformats.org/drawingml/2006/main" prst="bentConnector4">
            <a:avLst/>
          </a:prstGeom>
          <a:ln xmlns:a="http://schemas.openxmlformats.org/drawingml/2006/main" w="19050">
            <a:solidFill>
              <a:srgbClr val="FFC72C"/>
            </a:solidFill>
            <a:prstDash val="solid"/>
            <a:tailEnd type="triangle" w="med" len="med"/>
          </a:ln>
        </p:spPr>
      </p:cxnSp>
      <p:cxnSp>
        <p:nvCxnSpPr>
          <p:cNvPr id="571" name=""/>
          <p:cNvCxnSpPr>
            <a:stCxn xmlns:a="http://schemas.openxmlformats.org/drawingml/2006/main" id="10" idx="2"/>
            <a:endCxn xmlns:a="http://schemas.openxmlformats.org/drawingml/2006/main" id="13" idx="0"/>
          </p:cNvCxnSpPr>
          <p:nvPr/>
        </p:nvCxnSpPr>
        <p:spPr>
          <a:xfrm xmlns:a="http://schemas.openxmlformats.org/drawingml/2006/main">
            <a:off x="1876425" y="3476625"/>
            <a:ext cx="0" cy="371475"/>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E4DCC57A-18DB-4C3E-871C-98A4D1B44341}"/>
              </a:ext>
            </a:extLst>
          </p:cNvPr>
          <p:cNvSpPr>
            <a:spLocks xmlns:a="http://schemas.openxmlformats.org/drawingml/2006/main" noGrp="1"/>
          </p:cNvSpPr>
          <p:nvPr/>
        </p:nvSpPr>
        <p:spPr>
          <a:xfrm xmlns:a="http://schemas.openxmlformats.org/drawingml/2006/main">
            <a:off x="4000500" y="21526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DISTRIBUTED DATA-PLANE CELLS</a:t>
            </a:r>
          </a:p>
        </p:txBody>
      </p:sp>
      <p:sp>
        <p:nvSpPr>
          <p:cNvPr id="21" name="">
            <a:extLst xmlns:a="http://schemas.openxmlformats.org/drawingml/2006/main">
              <a:ext uri="{FF2B5EF4-FFF2-40B4-BE49-F238E27FC236}">
                <a16:creationId xmlns:a16="http://schemas.microsoft.com/office/drawing/2014/main" id="{54A3A411-F89D-4A44-A2AD-6B2A2D88C405}"/>
              </a:ext>
            </a:extLst>
          </p:cNvPr>
          <p:cNvSpPr>
            <a:spLocks xmlns:a="http://schemas.openxmlformats.org/drawingml/2006/main" noGrp="1"/>
          </p:cNvSpPr>
          <p:nvPr/>
        </p:nvSpPr>
        <p:spPr>
          <a:xfrm xmlns:a="http://schemas.openxmlformats.org/drawingml/2006/main">
            <a:off x="4000500" y="261937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2" name="">
            <a:extLst xmlns:a="http://schemas.openxmlformats.org/drawingml/2006/main">
              <a:ext uri="{FF2B5EF4-FFF2-40B4-BE49-F238E27FC236}">
                <a16:creationId xmlns:a16="http://schemas.microsoft.com/office/drawing/2014/main" id="{CECE74C7-5D2F-45AC-B286-65879E2FA0BF}"/>
              </a:ext>
            </a:extLst>
          </p:cNvPr>
          <p:cNvSpPr>
            <a:spLocks xmlns:a="http://schemas.openxmlformats.org/drawingml/2006/main" noGrp="1"/>
          </p:cNvSpPr>
          <p:nvPr/>
        </p:nvSpPr>
        <p:spPr>
          <a:xfrm xmlns:a="http://schemas.openxmlformats.org/drawingml/2006/main">
            <a:off x="4152900" y="27527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DP cell</a:t>
            </a:r>
          </a:p>
        </p:txBody>
      </p:sp>
      <p:sp>
        <p:nvSpPr>
          <p:cNvPr id="23" name="">
            <a:extLst xmlns:a="http://schemas.openxmlformats.org/drawingml/2006/main">
              <a:ext uri="{FF2B5EF4-FFF2-40B4-BE49-F238E27FC236}">
                <a16:creationId xmlns:a16="http://schemas.microsoft.com/office/drawing/2014/main" id="{2C0F95A3-B916-4824-B711-83965A11AAAC}"/>
              </a:ext>
            </a:extLst>
          </p:cNvPr>
          <p:cNvSpPr>
            <a:spLocks xmlns:a="http://schemas.openxmlformats.org/drawingml/2006/main" noGrp="1"/>
          </p:cNvSpPr>
          <p:nvPr/>
        </p:nvSpPr>
        <p:spPr>
          <a:xfrm xmlns:a="http://schemas.openxmlformats.org/drawingml/2006/main">
            <a:off x="4133850" y="315277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4" name="">
            <a:extLst xmlns:a="http://schemas.openxmlformats.org/drawingml/2006/main">
              <a:ext uri="{FF2B5EF4-FFF2-40B4-BE49-F238E27FC236}">
                <a16:creationId xmlns:a16="http://schemas.microsoft.com/office/drawing/2014/main" id="{7E3F4147-02CF-45DD-B28F-C4FF6C47EDE8}"/>
              </a:ext>
            </a:extLst>
          </p:cNvPr>
          <p:cNvSpPr>
            <a:spLocks xmlns:a="http://schemas.openxmlformats.org/drawingml/2006/main" noGrp="1"/>
          </p:cNvSpPr>
          <p:nvPr/>
        </p:nvSpPr>
        <p:spPr>
          <a:xfrm xmlns:a="http://schemas.openxmlformats.org/drawingml/2006/main">
            <a:off x="4000500" y="381952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5" name="">
            <a:extLst xmlns:a="http://schemas.openxmlformats.org/drawingml/2006/main">
              <a:ext uri="{FF2B5EF4-FFF2-40B4-BE49-F238E27FC236}">
                <a16:creationId xmlns:a16="http://schemas.microsoft.com/office/drawing/2014/main" id="{F391C4E6-67A7-4E87-9E89-FC8E847204C5}"/>
              </a:ext>
            </a:extLst>
          </p:cNvPr>
          <p:cNvSpPr>
            <a:spLocks xmlns:a="http://schemas.openxmlformats.org/drawingml/2006/main" noGrp="1"/>
          </p:cNvSpPr>
          <p:nvPr/>
        </p:nvSpPr>
        <p:spPr>
          <a:xfrm xmlns:a="http://schemas.openxmlformats.org/drawingml/2006/main">
            <a:off x="4152900" y="395287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DP cell</a:t>
            </a:r>
          </a:p>
        </p:txBody>
      </p:sp>
      <p:sp>
        <p:nvSpPr>
          <p:cNvPr id="26" name="">
            <a:extLst xmlns:a="http://schemas.openxmlformats.org/drawingml/2006/main">
              <a:ext uri="{FF2B5EF4-FFF2-40B4-BE49-F238E27FC236}">
                <a16:creationId xmlns:a16="http://schemas.microsoft.com/office/drawing/2014/main" id="{CAA7293A-B65C-4721-B12B-92161E2F89BF}"/>
              </a:ext>
            </a:extLst>
          </p:cNvPr>
          <p:cNvSpPr>
            <a:spLocks xmlns:a="http://schemas.openxmlformats.org/drawingml/2006/main" noGrp="1"/>
          </p:cNvSpPr>
          <p:nvPr/>
        </p:nvSpPr>
        <p:spPr>
          <a:xfrm xmlns:a="http://schemas.openxmlformats.org/drawingml/2006/main">
            <a:off x="4133850" y="435292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7" name="">
            <a:extLst xmlns:a="http://schemas.openxmlformats.org/drawingml/2006/main">
              <a:ext uri="{FF2B5EF4-FFF2-40B4-BE49-F238E27FC236}">
                <a16:creationId xmlns:a16="http://schemas.microsoft.com/office/drawing/2014/main" id="{CB093EEA-B3ED-4818-ADA2-086B4BE0BB4C}"/>
              </a:ext>
            </a:extLst>
          </p:cNvPr>
          <p:cNvSpPr>
            <a:spLocks xmlns:a="http://schemas.openxmlformats.org/drawingml/2006/main" noGrp="1"/>
          </p:cNvSpPr>
          <p:nvPr/>
        </p:nvSpPr>
        <p:spPr>
          <a:xfrm xmlns:a="http://schemas.openxmlformats.org/drawingml/2006/main">
            <a:off x="4000500" y="501967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8" name="">
            <a:extLst xmlns:a="http://schemas.openxmlformats.org/drawingml/2006/main">
              <a:ext uri="{FF2B5EF4-FFF2-40B4-BE49-F238E27FC236}">
                <a16:creationId xmlns:a16="http://schemas.microsoft.com/office/drawing/2014/main" id="{4E1B4765-41B2-4C14-BC10-82DAB8CA8DBD}"/>
              </a:ext>
            </a:extLst>
          </p:cNvPr>
          <p:cNvSpPr>
            <a:spLocks xmlns:a="http://schemas.openxmlformats.org/drawingml/2006/main" noGrp="1"/>
          </p:cNvSpPr>
          <p:nvPr/>
        </p:nvSpPr>
        <p:spPr>
          <a:xfrm xmlns:a="http://schemas.openxmlformats.org/drawingml/2006/main">
            <a:off x="4152900" y="51530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DP</a:t>
            </a:r>
          </a:p>
        </p:txBody>
      </p:sp>
      <p:sp>
        <p:nvSpPr>
          <p:cNvPr id="29" name="">
            <a:extLst xmlns:a="http://schemas.openxmlformats.org/drawingml/2006/main">
              <a:ext uri="{FF2B5EF4-FFF2-40B4-BE49-F238E27FC236}">
                <a16:creationId xmlns:a16="http://schemas.microsoft.com/office/drawing/2014/main" id="{19E23119-78E1-4427-9E6B-7468306E5BDC}"/>
              </a:ext>
            </a:extLst>
          </p:cNvPr>
          <p:cNvSpPr>
            <a:spLocks xmlns:a="http://schemas.openxmlformats.org/drawingml/2006/main" noGrp="1"/>
          </p:cNvSpPr>
          <p:nvPr/>
        </p:nvSpPr>
        <p:spPr>
          <a:xfrm xmlns:a="http://schemas.openxmlformats.org/drawingml/2006/main">
            <a:off x="4133850" y="555307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cxnSp>
        <p:nvCxnSpPr>
          <p:cNvPr id="582" name=""/>
          <p:cNvCxnSpPr>
            <a:stCxn xmlns:a="http://schemas.openxmlformats.org/drawingml/2006/main" id="10" idx="3"/>
            <a:endCxn xmlns:a="http://schemas.openxmlformats.org/drawingml/2006/main" id="21" idx="1"/>
          </p:cNvCxnSpPr>
          <p:nvPr/>
        </p:nvCxnSpPr>
        <p:spPr>
          <a:xfrm xmlns:a="http://schemas.openxmlformats.org/drawingml/2006/main">
            <a:off x="3067050" y="2990850"/>
            <a:ext cx="933450" cy="3810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cxnSp>
        <p:nvCxnSpPr>
          <p:cNvPr id="583" name=""/>
          <p:cNvCxnSpPr>
            <a:stCxn xmlns:a="http://schemas.openxmlformats.org/drawingml/2006/main" id="10" idx="3"/>
            <a:endCxn xmlns:a="http://schemas.openxmlformats.org/drawingml/2006/main" id="24" idx="1"/>
          </p:cNvCxnSpPr>
          <p:nvPr/>
        </p:nvCxnSpPr>
        <p:spPr>
          <a:xfrm xmlns:a="http://schemas.openxmlformats.org/drawingml/2006/main">
            <a:off x="3067050" y="2990850"/>
            <a:ext cx="933450" cy="123825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cxnSp>
        <p:nvCxnSpPr>
          <p:cNvPr id="584" name=""/>
          <p:cNvCxnSpPr>
            <a:stCxn xmlns:a="http://schemas.openxmlformats.org/drawingml/2006/main" id="10" idx="3"/>
            <a:endCxn xmlns:a="http://schemas.openxmlformats.org/drawingml/2006/main" id="27" idx="1"/>
          </p:cNvCxnSpPr>
          <p:nvPr/>
        </p:nvCxnSpPr>
        <p:spPr>
          <a:xfrm xmlns:a="http://schemas.openxmlformats.org/drawingml/2006/main">
            <a:off x="3067050" y="2990850"/>
            <a:ext cx="933450" cy="243840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sp>
        <p:nvSpPr>
          <p:cNvPr id="33" name="">
            <a:extLst xmlns:a="http://schemas.openxmlformats.org/drawingml/2006/main">
              <a:ext uri="{FF2B5EF4-FFF2-40B4-BE49-F238E27FC236}">
                <a16:creationId xmlns:a16="http://schemas.microsoft.com/office/drawing/2014/main" id="{507B2F0B-4D47-44DC-8FCA-03239312D4D0}"/>
              </a:ext>
            </a:extLst>
          </p:cNvPr>
          <p:cNvSpPr>
            <a:spLocks xmlns:a="http://schemas.openxmlformats.org/drawingml/2006/main" noGrp="1"/>
          </p:cNvSpPr>
          <p:nvPr/>
        </p:nvSpPr>
        <p:spPr>
          <a:xfrm xmlns:a="http://schemas.openxmlformats.org/drawingml/2006/main">
            <a:off x="7696200" y="2152650"/>
            <a:ext cx="3524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LOCAL SERVICES + EVIDENCE</a:t>
            </a:r>
          </a:p>
        </p:txBody>
      </p:sp>
      <p:sp>
        <p:nvSpPr>
          <p:cNvPr id="34" name="">
            <a:extLst xmlns:a="http://schemas.openxmlformats.org/drawingml/2006/main">
              <a:ext uri="{FF2B5EF4-FFF2-40B4-BE49-F238E27FC236}">
                <a16:creationId xmlns:a16="http://schemas.microsoft.com/office/drawing/2014/main" id="{F6FFB9B2-1E92-4767-89BA-B792F8D260E5}"/>
              </a:ext>
            </a:extLst>
          </p:cNvPr>
          <p:cNvSpPr>
            <a:spLocks xmlns:a="http://schemas.openxmlformats.org/drawingml/2006/main" noGrp="1"/>
          </p:cNvSpPr>
          <p:nvPr/>
        </p:nvSpPr>
        <p:spPr>
          <a:xfrm xmlns:a="http://schemas.openxmlformats.org/drawingml/2006/main">
            <a:off x="7696200" y="261937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35" name="">
            <a:extLst xmlns:a="http://schemas.openxmlformats.org/drawingml/2006/main">
              <a:ext uri="{FF2B5EF4-FFF2-40B4-BE49-F238E27FC236}">
                <a16:creationId xmlns:a16="http://schemas.microsoft.com/office/drawing/2014/main" id="{F1365CFF-7F65-4407-88DB-9306F26B20B4}"/>
              </a:ext>
            </a:extLst>
          </p:cNvPr>
          <p:cNvSpPr>
            <a:spLocks xmlns:a="http://schemas.openxmlformats.org/drawingml/2006/main" noGrp="1"/>
          </p:cNvSpPr>
          <p:nvPr/>
        </p:nvSpPr>
        <p:spPr>
          <a:xfrm xmlns:a="http://schemas.openxmlformats.org/drawingml/2006/main">
            <a:off x="7848600" y="275272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services</a:t>
            </a:r>
          </a:p>
        </p:txBody>
      </p:sp>
      <p:sp>
        <p:nvSpPr>
          <p:cNvPr id="36" name="">
            <a:extLst xmlns:a="http://schemas.openxmlformats.org/drawingml/2006/main">
              <a:ext uri="{FF2B5EF4-FFF2-40B4-BE49-F238E27FC236}">
                <a16:creationId xmlns:a16="http://schemas.microsoft.com/office/drawing/2014/main" id="{8EA724A2-015D-4ABA-ABF8-5D0E89596E20}"/>
              </a:ext>
            </a:extLst>
          </p:cNvPr>
          <p:cNvSpPr>
            <a:spLocks xmlns:a="http://schemas.openxmlformats.org/drawingml/2006/main" noGrp="1"/>
          </p:cNvSpPr>
          <p:nvPr/>
        </p:nvSpPr>
        <p:spPr>
          <a:xfrm xmlns:a="http://schemas.openxmlformats.org/drawingml/2006/main">
            <a:off x="7829550" y="315277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37" name="">
            <a:extLst xmlns:a="http://schemas.openxmlformats.org/drawingml/2006/main">
              <a:ext uri="{FF2B5EF4-FFF2-40B4-BE49-F238E27FC236}">
                <a16:creationId xmlns:a16="http://schemas.microsoft.com/office/drawing/2014/main" id="{4CD4950B-88C9-44E6-A2CD-73A3F7986C54}"/>
              </a:ext>
            </a:extLst>
          </p:cNvPr>
          <p:cNvSpPr>
            <a:spLocks xmlns:a="http://schemas.openxmlformats.org/drawingml/2006/main" noGrp="1"/>
          </p:cNvSpPr>
          <p:nvPr/>
        </p:nvSpPr>
        <p:spPr>
          <a:xfrm xmlns:a="http://schemas.openxmlformats.org/drawingml/2006/main">
            <a:off x="7696200" y="381952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38" name="">
            <a:extLst xmlns:a="http://schemas.openxmlformats.org/drawingml/2006/main">
              <a:ext uri="{FF2B5EF4-FFF2-40B4-BE49-F238E27FC236}">
                <a16:creationId xmlns:a16="http://schemas.microsoft.com/office/drawing/2014/main" id="{CBBE9091-E52A-44AE-8116-2B8B4881F031}"/>
              </a:ext>
            </a:extLst>
          </p:cNvPr>
          <p:cNvSpPr>
            <a:spLocks xmlns:a="http://schemas.openxmlformats.org/drawingml/2006/main" noGrp="1"/>
          </p:cNvSpPr>
          <p:nvPr/>
        </p:nvSpPr>
        <p:spPr>
          <a:xfrm xmlns:a="http://schemas.openxmlformats.org/drawingml/2006/main">
            <a:off x="7848600" y="395287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services</a:t>
            </a:r>
          </a:p>
        </p:txBody>
      </p:sp>
      <p:sp>
        <p:nvSpPr>
          <p:cNvPr id="39" name="">
            <a:extLst xmlns:a="http://schemas.openxmlformats.org/drawingml/2006/main">
              <a:ext uri="{FF2B5EF4-FFF2-40B4-BE49-F238E27FC236}">
                <a16:creationId xmlns:a16="http://schemas.microsoft.com/office/drawing/2014/main" id="{7E0A3459-10D4-469A-860E-501121525C9B}"/>
              </a:ext>
            </a:extLst>
          </p:cNvPr>
          <p:cNvSpPr>
            <a:spLocks xmlns:a="http://schemas.openxmlformats.org/drawingml/2006/main" noGrp="1"/>
          </p:cNvSpPr>
          <p:nvPr/>
        </p:nvSpPr>
        <p:spPr>
          <a:xfrm xmlns:a="http://schemas.openxmlformats.org/drawingml/2006/main">
            <a:off x="7829550" y="435292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40" name="">
            <a:extLst xmlns:a="http://schemas.openxmlformats.org/drawingml/2006/main">
              <a:ext uri="{FF2B5EF4-FFF2-40B4-BE49-F238E27FC236}">
                <a16:creationId xmlns:a16="http://schemas.microsoft.com/office/drawing/2014/main" id="{66FB2B27-D012-4F61-989C-3766F7BFC6BE}"/>
              </a:ext>
            </a:extLst>
          </p:cNvPr>
          <p:cNvSpPr>
            <a:spLocks xmlns:a="http://schemas.openxmlformats.org/drawingml/2006/main" noGrp="1"/>
          </p:cNvSpPr>
          <p:nvPr/>
        </p:nvSpPr>
        <p:spPr>
          <a:xfrm xmlns:a="http://schemas.openxmlformats.org/drawingml/2006/main">
            <a:off x="7696200" y="501967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41" name="">
            <a:extLst xmlns:a="http://schemas.openxmlformats.org/drawingml/2006/main">
              <a:ext uri="{FF2B5EF4-FFF2-40B4-BE49-F238E27FC236}">
                <a16:creationId xmlns:a16="http://schemas.microsoft.com/office/drawing/2014/main" id="{303CD0C2-4935-4448-AD81-314DD3FDA9AE}"/>
              </a:ext>
            </a:extLst>
          </p:cNvPr>
          <p:cNvSpPr>
            <a:spLocks xmlns:a="http://schemas.openxmlformats.org/drawingml/2006/main" noGrp="1"/>
          </p:cNvSpPr>
          <p:nvPr/>
        </p:nvSpPr>
        <p:spPr>
          <a:xfrm xmlns:a="http://schemas.openxmlformats.org/drawingml/2006/main">
            <a:off x="7848600" y="515302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services</a:t>
            </a:r>
          </a:p>
        </p:txBody>
      </p:sp>
      <p:sp>
        <p:nvSpPr>
          <p:cNvPr id="42" name="">
            <a:extLst xmlns:a="http://schemas.openxmlformats.org/drawingml/2006/main">
              <a:ext uri="{FF2B5EF4-FFF2-40B4-BE49-F238E27FC236}">
                <a16:creationId xmlns:a16="http://schemas.microsoft.com/office/drawing/2014/main" id="{91C1A80A-82C1-4AB6-94D3-C0DC0E4D779F}"/>
              </a:ext>
            </a:extLst>
          </p:cNvPr>
          <p:cNvSpPr>
            <a:spLocks xmlns:a="http://schemas.openxmlformats.org/drawingml/2006/main" noGrp="1"/>
          </p:cNvSpPr>
          <p:nvPr/>
        </p:nvSpPr>
        <p:spPr>
          <a:xfrm xmlns:a="http://schemas.openxmlformats.org/drawingml/2006/main">
            <a:off x="7829550" y="555307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coexistence · collectors · business probes</a:t>
            </a:r>
          </a:p>
        </p:txBody>
      </p:sp>
      <p:cxnSp>
        <p:nvCxnSpPr>
          <p:cNvPr id="595" name=""/>
          <p:cNvCxnSpPr>
            <a:stCxn xmlns:a="http://schemas.openxmlformats.org/drawingml/2006/main" id="21" idx="3"/>
            <a:endCxn xmlns:a="http://schemas.openxmlformats.org/drawingml/2006/main" id="34" idx="1"/>
          </p:cNvCxnSpPr>
          <p:nvPr/>
        </p:nvCxnSpPr>
        <p:spPr>
          <a:xfrm xmlns:a="http://schemas.openxmlformats.org/drawingml/2006/main">
            <a:off x="6381750" y="302895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cxnSp>
        <p:nvCxnSpPr>
          <p:cNvPr id="596" name=""/>
          <p:cNvCxnSpPr>
            <a:stCxn xmlns:a="http://schemas.openxmlformats.org/drawingml/2006/main" id="24" idx="3"/>
            <a:endCxn xmlns:a="http://schemas.openxmlformats.org/drawingml/2006/main" id="37" idx="1"/>
          </p:cNvCxnSpPr>
          <p:nvPr/>
        </p:nvCxnSpPr>
        <p:spPr>
          <a:xfrm xmlns:a="http://schemas.openxmlformats.org/drawingml/2006/main" flipV="0">
            <a:off x="6381750" y="422910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cxnSp>
        <p:nvCxnSpPr>
          <p:cNvPr id="597" name=""/>
          <p:cNvCxnSpPr>
            <a:stCxn xmlns:a="http://schemas.openxmlformats.org/drawingml/2006/main" id="27" idx="3"/>
            <a:endCxn xmlns:a="http://schemas.openxmlformats.org/drawingml/2006/main" id="40" idx="1"/>
          </p:cNvCxnSpPr>
          <p:nvPr/>
        </p:nvCxnSpPr>
        <p:spPr>
          <a:xfrm xmlns:a="http://schemas.openxmlformats.org/drawingml/2006/main" flipV="0">
            <a:off x="6381750" y="542925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spTree>
    <p:extLst>
      <p:ext uri="{BB962C8B-B14F-4D97-AF65-F5344CB8AC3E}">
        <p14:creationId xmlns:p14="http://schemas.microsoft.com/office/powerpoint/2010/main" val="1790049549"/>
      </p:ext>
    </p:extLst>
  </p:cSld>
</p:sld>
</file>

<file path=ppt/slides/slide10.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DB58ED5-846C-49FC-9B88-103BD54F3A7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75726F1-C5D7-49E4-A263-F68D2A628EB0}"/>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EAACE9E-FB50-4E70-A1FC-ED5ADF6922D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10 / ARCHITECTURE</a:t>
            </a:r>
          </a:p>
        </p:txBody>
      </p:sp>
      <p:sp>
        <p:nvSpPr>
          <p:cNvPr id="4" name="">
            <a:extLst xmlns:a="http://schemas.openxmlformats.org/drawingml/2006/main">
              <a:ext uri="{FF2B5EF4-FFF2-40B4-BE49-F238E27FC236}">
                <a16:creationId xmlns:a16="http://schemas.microsoft.com/office/drawing/2014/main" id="{75BE9A2A-B966-486D-864F-E241C2E316F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Healthy proxy ≠ healthy platform</a:t>
            </a:r>
          </a:p>
        </p:txBody>
      </p:sp>
      <p:sp>
        <p:nvSpPr>
          <p:cNvPr id="5" name="">
            <a:extLst xmlns:a="http://schemas.openxmlformats.org/drawingml/2006/main">
              <a:ext uri="{FF2B5EF4-FFF2-40B4-BE49-F238E27FC236}">
                <a16:creationId xmlns:a16="http://schemas.microsoft.com/office/drawing/2014/main" id="{B6E17E41-FFA9-4756-922F-073EC13C7AA4}"/>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Trust, configuration and request paths can fail independently; test and admit them separately.</a:t>
            </a:r>
          </a:p>
        </p:txBody>
      </p:sp>
      <p:sp>
        <p:nvSpPr>
          <p:cNvPr id="6" name="">
            <a:extLst xmlns:a="http://schemas.openxmlformats.org/drawingml/2006/main">
              <a:ext uri="{FF2B5EF4-FFF2-40B4-BE49-F238E27FC236}">
                <a16:creationId xmlns:a16="http://schemas.microsoft.com/office/drawing/2014/main" id="{B452F04A-1083-4C6A-AD04-E0DD9D45078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BE9801D-CE46-4884-8D6B-400D59B40637}"/>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486679cd395d4f4b"/>
              </a:rPr>
              <a:t>Repo reference</a:t>
            </a:r>
            <a:r>
              <a:rPr sz="825">
                <a:solidFill>
                  <a:srgbClr val="666762"/>
                </a:solidFill>
              </a:rPr>
              <a:t>  ·  </a:t>
            </a:r>
            <a:r>
              <a:rPr sz="825" u="sng">
                <a:solidFill>
                  <a:srgbClr val="666762"/>
                </a:solidFill>
                <a:hlinkClick xmlns:r="http://schemas.openxmlformats.org/officeDocument/2006/relationships" r:id="R882b0e3b9ba8486c"/>
              </a:rPr>
              <a:t>Official docs</a:t>
            </a:r>
          </a:p>
        </p:txBody>
      </p:sp>
      <p:sp>
        <p:nvSpPr>
          <p:cNvPr id="8" name="">
            <a:extLst xmlns:a="http://schemas.openxmlformats.org/drawingml/2006/main">
              <a:ext uri="{FF2B5EF4-FFF2-40B4-BE49-F238E27FC236}">
                <a16:creationId xmlns:a16="http://schemas.microsoft.com/office/drawing/2014/main" id="{2CAED66A-6CEB-4684-8F25-6CD005F315A7}"/>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10 / 25</a:t>
            </a:r>
          </a:p>
        </p:txBody>
      </p:sp>
      <p:sp>
        <p:nvSpPr>
          <p:cNvPr id="9" name="">
            <a:extLst xmlns:a="http://schemas.openxmlformats.org/drawingml/2006/main">
              <a:ext uri="{FF2B5EF4-FFF2-40B4-BE49-F238E27FC236}">
                <a16:creationId xmlns:a16="http://schemas.microsoft.com/office/drawing/2014/main" id="{26B79BA8-CD83-46E3-B2CA-799811BC63C0}"/>
              </a:ext>
            </a:extLst>
          </p:cNvPr>
          <p:cNvSpPr>
            <a:spLocks xmlns:a="http://schemas.openxmlformats.org/drawingml/2006/main" noGrp="1"/>
          </p:cNvSpPr>
          <p:nvPr/>
        </p:nvSpPr>
        <p:spPr>
          <a:xfrm xmlns:a="http://schemas.openxmlformats.org/drawingml/2006/main">
            <a:off x="68580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9D496CCF-9CA6-415A-9D1D-7A5D6ECB9AC2}"/>
              </a:ext>
            </a:extLst>
          </p:cNvPr>
          <p:cNvSpPr>
            <a:spLocks xmlns:a="http://schemas.openxmlformats.org/drawingml/2006/main" noGrp="1"/>
          </p:cNvSpPr>
          <p:nvPr/>
        </p:nvSpPr>
        <p:spPr>
          <a:xfrm xmlns:a="http://schemas.openxmlformats.org/drawingml/2006/main">
            <a:off x="68580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085C105-8B87-4B98-9D0A-82578418940F}"/>
              </a:ext>
            </a:extLst>
          </p:cNvPr>
          <p:cNvSpPr>
            <a:spLocks xmlns:a="http://schemas.openxmlformats.org/drawingml/2006/main" noGrp="1"/>
          </p:cNvSpPr>
          <p:nvPr/>
        </p:nvSpPr>
        <p:spPr>
          <a:xfrm xmlns:a="http://schemas.openxmlformats.org/drawingml/2006/main">
            <a:off x="89535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CONFIGURATION</a:t>
            </a:r>
          </a:p>
        </p:txBody>
      </p:sp>
      <p:sp>
        <p:nvSpPr>
          <p:cNvPr id="12" name="">
            <a:extLst xmlns:a="http://schemas.openxmlformats.org/drawingml/2006/main">
              <a:ext uri="{FF2B5EF4-FFF2-40B4-BE49-F238E27FC236}">
                <a16:creationId xmlns:a16="http://schemas.microsoft.com/office/drawing/2014/main" id="{10CCD0B1-B566-42DA-B7BD-2B9A889F0814}"/>
              </a:ext>
            </a:extLst>
          </p:cNvPr>
          <p:cNvSpPr>
            <a:spLocks xmlns:a="http://schemas.openxmlformats.org/drawingml/2006/main" noGrp="1"/>
          </p:cNvSpPr>
          <p:nvPr/>
        </p:nvSpPr>
        <p:spPr>
          <a:xfrm xmlns:a="http://schemas.openxmlformats.org/drawingml/2006/main">
            <a:off x="89535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Desired ≠ effective</a:t>
            </a:r>
          </a:p>
        </p:txBody>
      </p:sp>
      <p:sp>
        <p:nvSpPr>
          <p:cNvPr id="13" name="">
            <a:extLst xmlns:a="http://schemas.openxmlformats.org/drawingml/2006/main">
              <a:ext uri="{FF2B5EF4-FFF2-40B4-BE49-F238E27FC236}">
                <a16:creationId xmlns:a16="http://schemas.microsoft.com/office/drawing/2014/main" id="{73074A0B-90A9-4CC7-A27C-C1207A59F3A2}"/>
              </a:ext>
            </a:extLst>
          </p:cNvPr>
          <p:cNvSpPr>
            <a:spLocks xmlns:a="http://schemas.openxmlformats.org/drawingml/2006/main" noGrp="1"/>
          </p:cNvSpPr>
          <p:nvPr/>
        </p:nvSpPr>
        <p:spPr>
          <a:xfrm xmlns:a="http://schemas.openxmlformats.org/drawingml/2006/main">
            <a:off x="89535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control plane publish and can each data plane accept the desired state?</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revision, hash, convergence gap</a:t>
            </a:r>
          </a:p>
        </p:txBody>
      </p:sp>
      <p:sp>
        <p:nvSpPr>
          <p:cNvPr id="14" name="">
            <a:extLst xmlns:a="http://schemas.openxmlformats.org/drawingml/2006/main">
              <a:ext uri="{FF2B5EF4-FFF2-40B4-BE49-F238E27FC236}">
                <a16:creationId xmlns:a16="http://schemas.microsoft.com/office/drawing/2014/main" id="{14196FE6-B12A-4B1A-A84D-349EF827752B}"/>
              </a:ext>
            </a:extLst>
          </p:cNvPr>
          <p:cNvSpPr>
            <a:spLocks xmlns:a="http://schemas.openxmlformats.org/drawingml/2006/main" noGrp="1"/>
          </p:cNvSpPr>
          <p:nvPr/>
        </p:nvSpPr>
        <p:spPr>
          <a:xfrm xmlns:a="http://schemas.openxmlformats.org/drawingml/2006/main">
            <a:off x="428625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5A14D051-0151-438B-9EEF-67E653F8DD94}"/>
              </a:ext>
            </a:extLst>
          </p:cNvPr>
          <p:cNvSpPr>
            <a:spLocks xmlns:a="http://schemas.openxmlformats.org/drawingml/2006/main" noGrp="1"/>
          </p:cNvSpPr>
          <p:nvPr/>
        </p:nvSpPr>
        <p:spPr>
          <a:xfrm xmlns:a="http://schemas.openxmlformats.org/drawingml/2006/main">
            <a:off x="428625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E1E0C57-06DE-456F-90F7-5615692B07D0}"/>
              </a:ext>
            </a:extLst>
          </p:cNvPr>
          <p:cNvSpPr>
            <a:spLocks xmlns:a="http://schemas.openxmlformats.org/drawingml/2006/main" noGrp="1"/>
          </p:cNvSpPr>
          <p:nvPr/>
        </p:nvSpPr>
        <p:spPr>
          <a:xfrm xmlns:a="http://schemas.openxmlformats.org/drawingml/2006/main">
            <a:off x="449580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TRUST + ADMISSION</a:t>
            </a:r>
          </a:p>
        </p:txBody>
      </p:sp>
      <p:sp>
        <p:nvSpPr>
          <p:cNvPr id="17" name="">
            <a:extLst xmlns:a="http://schemas.openxmlformats.org/drawingml/2006/main">
              <a:ext uri="{FF2B5EF4-FFF2-40B4-BE49-F238E27FC236}">
                <a16:creationId xmlns:a16="http://schemas.microsoft.com/office/drawing/2014/main" id="{B189DBBF-301B-4C8E-A33D-765F9F357267}"/>
              </a:ext>
            </a:extLst>
          </p:cNvPr>
          <p:cNvSpPr>
            <a:spLocks xmlns:a="http://schemas.openxmlformats.org/drawingml/2006/main" noGrp="1"/>
          </p:cNvSpPr>
          <p:nvPr/>
        </p:nvSpPr>
        <p:spPr>
          <a:xfrm xmlns:a="http://schemas.openxmlformats.org/drawingml/2006/main">
            <a:off x="449580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Identity ≠ admission</a:t>
            </a:r>
          </a:p>
        </p:txBody>
      </p:sp>
      <p:sp>
        <p:nvSpPr>
          <p:cNvPr id="18" name="">
            <a:extLst xmlns:a="http://schemas.openxmlformats.org/drawingml/2006/main">
              <a:ext uri="{FF2B5EF4-FFF2-40B4-BE49-F238E27FC236}">
                <a16:creationId xmlns:a16="http://schemas.microsoft.com/office/drawing/2014/main" id="{6ABD6651-7D61-456F-AF51-E63F100C5D75}"/>
              </a:ext>
            </a:extLst>
          </p:cNvPr>
          <p:cNvSpPr>
            <a:spLocks xmlns:a="http://schemas.openxmlformats.org/drawingml/2006/main" noGrp="1"/>
          </p:cNvSpPr>
          <p:nvPr/>
        </p:nvSpPr>
        <p:spPr>
          <a:xfrm xmlns:a="http://schemas.openxmlformats.org/drawingml/2006/main">
            <a:off x="449580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Is the joining node named, allowed and governed—not merely signed by a shared CA?</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CN allowlist, negative join, quarantine</a:t>
            </a:r>
          </a:p>
        </p:txBody>
      </p:sp>
      <p:sp>
        <p:nvSpPr>
          <p:cNvPr id="19" name="">
            <a:extLst xmlns:a="http://schemas.openxmlformats.org/drawingml/2006/main">
              <a:ext uri="{FF2B5EF4-FFF2-40B4-BE49-F238E27FC236}">
                <a16:creationId xmlns:a16="http://schemas.microsoft.com/office/drawing/2014/main" id="{D5E0CE59-6BC2-4721-A541-E863AE6102D1}"/>
              </a:ext>
            </a:extLst>
          </p:cNvPr>
          <p:cNvSpPr>
            <a:spLocks xmlns:a="http://schemas.openxmlformats.org/drawingml/2006/main" noGrp="1"/>
          </p:cNvSpPr>
          <p:nvPr/>
        </p:nvSpPr>
        <p:spPr>
          <a:xfrm xmlns:a="http://schemas.openxmlformats.org/drawingml/2006/main">
            <a:off x="788670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93E7A430-196F-40B1-A305-E098195CDD64}"/>
              </a:ext>
            </a:extLst>
          </p:cNvPr>
          <p:cNvSpPr>
            <a:spLocks xmlns:a="http://schemas.openxmlformats.org/drawingml/2006/main" noGrp="1"/>
          </p:cNvSpPr>
          <p:nvPr/>
        </p:nvSpPr>
        <p:spPr>
          <a:xfrm xmlns:a="http://schemas.openxmlformats.org/drawingml/2006/main">
            <a:off x="7886700" y="2381250"/>
            <a:ext cx="66675" cy="2857500"/>
          </a:xfrm>
          <a:prstGeom xmlns:a="http://schemas.openxmlformats.org/drawingml/2006/main" prst="rect">
            <a:avLst/>
          </a:prstGeom>
          <a:solidFill xmlns:a="http://schemas.openxmlformats.org/drawingml/2006/main">
            <a:srgbClr val="197457"/>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54DE87E-E9F1-4759-97B9-0C049FD77B23}"/>
              </a:ext>
            </a:extLst>
          </p:cNvPr>
          <p:cNvSpPr>
            <a:spLocks xmlns:a="http://schemas.openxmlformats.org/drawingml/2006/main" noGrp="1"/>
          </p:cNvSpPr>
          <p:nvPr/>
        </p:nvSpPr>
        <p:spPr>
          <a:xfrm xmlns:a="http://schemas.openxmlformats.org/drawingml/2006/main">
            <a:off x="809625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REQUEST TRAFFIC</a:t>
            </a:r>
          </a:p>
        </p:txBody>
      </p:sp>
      <p:sp>
        <p:nvSpPr>
          <p:cNvPr id="22" name="">
            <a:extLst xmlns:a="http://schemas.openxmlformats.org/drawingml/2006/main">
              <a:ext uri="{FF2B5EF4-FFF2-40B4-BE49-F238E27FC236}">
                <a16:creationId xmlns:a16="http://schemas.microsoft.com/office/drawing/2014/main" id="{E1C57F98-75EF-4944-B8F6-2D8A3D826E0A}"/>
              </a:ext>
            </a:extLst>
          </p:cNvPr>
          <p:cNvSpPr>
            <a:spLocks xmlns:a="http://schemas.openxmlformats.org/drawingml/2006/main" noGrp="1"/>
          </p:cNvSpPr>
          <p:nvPr/>
        </p:nvSpPr>
        <p:spPr>
          <a:xfrm xmlns:a="http://schemas.openxmlformats.org/drawingml/2006/main">
            <a:off x="809625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Proxy ≠ platform</a:t>
            </a:r>
          </a:p>
        </p:txBody>
      </p:sp>
      <p:sp>
        <p:nvSpPr>
          <p:cNvPr id="23" name="">
            <a:extLst xmlns:a="http://schemas.openxmlformats.org/drawingml/2006/main">
              <a:ext uri="{FF2B5EF4-FFF2-40B4-BE49-F238E27FC236}">
                <a16:creationId xmlns:a16="http://schemas.microsoft.com/office/drawing/2014/main" id="{620AB8B3-B877-4228-9582-AC4685DDEFDA}"/>
              </a:ext>
            </a:extLst>
          </p:cNvPr>
          <p:cNvSpPr>
            <a:spLocks xmlns:a="http://schemas.openxmlformats.org/drawingml/2006/main" noGrp="1"/>
          </p:cNvSpPr>
          <p:nvPr/>
        </p:nvSpPr>
        <p:spPr>
          <a:xfrm xmlns:a="http://schemas.openxmlformats.org/drawingml/2006/main">
            <a:off x="809625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proxy continue serving the accepted configuration and local dependencies?</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SLO probe, dependency state, restart</a:t>
            </a:r>
          </a:p>
        </p:txBody>
      </p:sp>
      <p:sp>
        <p:nvSpPr>
          <p:cNvPr id="24" name="">
            <a:extLst xmlns:a="http://schemas.openxmlformats.org/drawingml/2006/main">
              <a:ext uri="{FF2B5EF4-FFF2-40B4-BE49-F238E27FC236}">
                <a16:creationId xmlns:a16="http://schemas.microsoft.com/office/drawing/2014/main" id="{FA2F4986-9E81-43E5-A671-750B8E376E27}"/>
              </a:ext>
            </a:extLst>
          </p:cNvPr>
          <p:cNvSpPr>
            <a:spLocks xmlns:a="http://schemas.openxmlformats.org/drawingml/2006/main" noGrp="1"/>
          </p:cNvSpPr>
          <p:nvPr/>
        </p:nvSpPr>
        <p:spPr>
          <a:xfrm xmlns:a="http://schemas.openxmlformats.org/drawingml/2006/main">
            <a:off x="1428750" y="5676900"/>
            <a:ext cx="933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478"/>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Production admission is conjunctive: all required paths must meet their gate at the same time.</a:t>
            </a:r>
          </a:p>
        </p:txBody>
      </p:sp>
    </p:spTree>
    <p:extLst>
      <p:ext uri="{BB962C8B-B14F-4D97-AF65-F5344CB8AC3E}">
        <p14:creationId xmlns:p14="http://schemas.microsoft.com/office/powerpoint/2010/main" val="1236110595"/>
      </p:ext>
    </p:extLst>
  </p:cSld>
</p:sld>
</file>

<file path=ppt/slides/slide1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DC3B7B3-DB05-4F55-9784-B78515E9C723}"/>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9316DC2-8956-4CA0-BE3B-5D8C45FD4CF1}"/>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B481B66-EF76-4C81-8EB6-B2BB22A4E1E1}"/>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11 / ARCHITECTURE</a:t>
            </a:r>
          </a:p>
        </p:txBody>
      </p:sp>
      <p:sp>
        <p:nvSpPr>
          <p:cNvPr id="4" name="">
            <a:extLst xmlns:a="http://schemas.openxmlformats.org/drawingml/2006/main">
              <a:ext uri="{FF2B5EF4-FFF2-40B4-BE49-F238E27FC236}">
                <a16:creationId xmlns:a16="http://schemas.microsoft.com/office/drawing/2014/main" id="{29D39F8E-07C4-43DB-8F81-02417BD32AC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Control-plane loss requires explicit admission states</a:t>
            </a:r>
          </a:p>
        </p:txBody>
      </p:sp>
      <p:sp>
        <p:nvSpPr>
          <p:cNvPr id="5" name="">
            <a:extLst xmlns:a="http://schemas.openxmlformats.org/drawingml/2006/main">
              <a:ext uri="{FF2B5EF4-FFF2-40B4-BE49-F238E27FC236}">
                <a16:creationId xmlns:a16="http://schemas.microsoft.com/office/drawing/2014/main" id="{9025CC7A-351E-4B7F-8457-41D11690FC26}"/>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Continue, hold, quarantine and reconcile are governed decisions—not automatic labels.</a:t>
            </a:r>
          </a:p>
        </p:txBody>
      </p:sp>
      <p:sp>
        <p:nvSpPr>
          <p:cNvPr id="6" name="">
            <a:extLst xmlns:a="http://schemas.openxmlformats.org/drawingml/2006/main">
              <a:ext uri="{FF2B5EF4-FFF2-40B4-BE49-F238E27FC236}">
                <a16:creationId xmlns:a16="http://schemas.microsoft.com/office/drawing/2014/main" id="{4F54F610-91F7-459F-89B8-D7EA3BB52787}"/>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9E6550A-55F6-4545-92A7-700DD18A89C1}"/>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bc372a36e6814a61"/>
              </a:rPr>
              <a:t>Repo reference</a:t>
            </a:r>
            <a:r>
              <a:rPr sz="825">
                <a:solidFill>
                  <a:srgbClr val="666762"/>
                </a:solidFill>
              </a:rPr>
              <a:t>  ·  </a:t>
            </a:r>
            <a:r>
              <a:rPr sz="825" u="sng">
                <a:solidFill>
                  <a:srgbClr val="666762"/>
                </a:solidFill>
                <a:hlinkClick xmlns:r="http://schemas.openxmlformats.org/officeDocument/2006/relationships" r:id="R1f842da340dc4db5"/>
              </a:rPr>
              <a:t>Official docs</a:t>
            </a:r>
          </a:p>
        </p:txBody>
      </p:sp>
      <p:sp>
        <p:nvSpPr>
          <p:cNvPr id="8" name="">
            <a:extLst xmlns:a="http://schemas.openxmlformats.org/drawingml/2006/main">
              <a:ext uri="{FF2B5EF4-FFF2-40B4-BE49-F238E27FC236}">
                <a16:creationId xmlns:a16="http://schemas.microsoft.com/office/drawing/2014/main" id="{78CF6139-20AB-497B-BDD5-C12EDD4B31D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11 / 25</a:t>
            </a:r>
          </a:p>
        </p:txBody>
      </p:sp>
      <p:sp>
        <p:nvSpPr>
          <p:cNvPr id="9" name="">
            <a:extLst xmlns:a="http://schemas.openxmlformats.org/drawingml/2006/main">
              <a:ext uri="{FF2B5EF4-FFF2-40B4-BE49-F238E27FC236}">
                <a16:creationId xmlns:a16="http://schemas.microsoft.com/office/drawing/2014/main" id="{49E551E6-7132-4AC9-9BEA-B70D06FFBC74}"/>
              </a:ext>
            </a:extLst>
          </p:cNvPr>
          <p:cNvSpPr>
            <a:spLocks xmlns:a="http://schemas.openxmlformats.org/drawingml/2006/main" noGrp="1"/>
          </p:cNvSpPr>
          <p:nvPr/>
        </p:nvSpPr>
        <p:spPr>
          <a:xfrm xmlns:a="http://schemas.openxmlformats.org/drawingml/2006/main">
            <a:off x="68580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0" name="">
            <a:extLst xmlns:a="http://schemas.openxmlformats.org/drawingml/2006/main">
              <a:ext uri="{FF2B5EF4-FFF2-40B4-BE49-F238E27FC236}">
                <a16:creationId xmlns:a16="http://schemas.microsoft.com/office/drawing/2014/main" id="{CA20D4F9-E1CA-4071-A2E9-EC1BD1DE2E7B}"/>
              </a:ext>
            </a:extLst>
          </p:cNvPr>
          <p:cNvSpPr>
            <a:spLocks xmlns:a="http://schemas.openxmlformats.org/drawingml/2006/main" noGrp="1"/>
          </p:cNvSpPr>
          <p:nvPr/>
        </p:nvSpPr>
        <p:spPr>
          <a:xfrm xmlns:a="http://schemas.openxmlformats.org/drawingml/2006/main">
            <a:off x="83820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CONNECTED</a:t>
            </a:r>
          </a:p>
        </p:txBody>
      </p:sp>
      <p:sp>
        <p:nvSpPr>
          <p:cNvPr id="11" name="">
            <a:extLst xmlns:a="http://schemas.openxmlformats.org/drawingml/2006/main">
              <a:ext uri="{FF2B5EF4-FFF2-40B4-BE49-F238E27FC236}">
                <a16:creationId xmlns:a16="http://schemas.microsoft.com/office/drawing/2014/main" id="{7597093A-3D27-41B2-8C0B-3BD395FB2FDA}"/>
              </a:ext>
            </a:extLst>
          </p:cNvPr>
          <p:cNvSpPr>
            <a:spLocks xmlns:a="http://schemas.openxmlformats.org/drawingml/2006/main" noGrp="1"/>
          </p:cNvSpPr>
          <p:nvPr/>
        </p:nvSpPr>
        <p:spPr>
          <a:xfrm xmlns:a="http://schemas.openxmlformats.org/drawingml/2006/main">
            <a:off x="81915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desired = effective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normal evidence cadence</a:t>
            </a:r>
          </a:p>
        </p:txBody>
      </p:sp>
      <p:sp>
        <p:nvSpPr>
          <p:cNvPr id="12" name="">
            <a:extLst xmlns:a="http://schemas.openxmlformats.org/drawingml/2006/main">
              <a:ext uri="{FF2B5EF4-FFF2-40B4-BE49-F238E27FC236}">
                <a16:creationId xmlns:a16="http://schemas.microsoft.com/office/drawing/2014/main" id="{5A362C78-E43D-471C-A6F5-7961A57E1ACD}"/>
              </a:ext>
            </a:extLst>
          </p:cNvPr>
          <p:cNvSpPr>
            <a:spLocks xmlns:a="http://schemas.openxmlformats.org/drawingml/2006/main" noGrp="1"/>
          </p:cNvSpPr>
          <p:nvPr/>
        </p:nvSpPr>
        <p:spPr>
          <a:xfrm xmlns:a="http://schemas.openxmlformats.org/drawingml/2006/main">
            <a:off x="348615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A96300"/>
            </a:solidFill>
            <a:prstDash val="solid"/>
          </a:ln>
        </p:spPr>
      </p:sp>
      <p:sp>
        <p:nvSpPr>
          <p:cNvPr id="13" name="">
            <a:extLst xmlns:a="http://schemas.openxmlformats.org/drawingml/2006/main">
              <a:ext uri="{FF2B5EF4-FFF2-40B4-BE49-F238E27FC236}">
                <a16:creationId xmlns:a16="http://schemas.microsoft.com/office/drawing/2014/main" id="{ED607623-3447-4EF6-9482-581F4CDECE9D}"/>
              </a:ext>
            </a:extLst>
          </p:cNvPr>
          <p:cNvSpPr>
            <a:spLocks xmlns:a="http://schemas.openxmlformats.org/drawingml/2006/main" noGrp="1"/>
          </p:cNvSpPr>
          <p:nvPr/>
        </p:nvSpPr>
        <p:spPr>
          <a:xfrm xmlns:a="http://schemas.openxmlformats.org/drawingml/2006/main">
            <a:off x="363855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ISOLATED</a:t>
            </a:r>
          </a:p>
        </p:txBody>
      </p:sp>
      <p:sp>
        <p:nvSpPr>
          <p:cNvPr id="14" name="">
            <a:extLst xmlns:a="http://schemas.openxmlformats.org/drawingml/2006/main">
              <a:ext uri="{FF2B5EF4-FFF2-40B4-BE49-F238E27FC236}">
                <a16:creationId xmlns:a16="http://schemas.microsoft.com/office/drawing/2014/main" id="{CC1211AF-41FD-43C1-A612-F2DC3E785F32}"/>
              </a:ext>
            </a:extLst>
          </p:cNvPr>
          <p:cNvSpPr>
            <a:spLocks xmlns:a="http://schemas.openxmlformats.org/drawingml/2006/main" noGrp="1"/>
          </p:cNvSpPr>
          <p:nvPr/>
        </p:nvSpPr>
        <p:spPr>
          <a:xfrm xmlns:a="http://schemas.openxmlformats.org/drawingml/2006/main">
            <a:off x="361950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proxy may continue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mutation may not</a:t>
            </a:r>
          </a:p>
        </p:txBody>
      </p:sp>
      <p:sp>
        <p:nvSpPr>
          <p:cNvPr id="15" name="">
            <a:extLst xmlns:a="http://schemas.openxmlformats.org/drawingml/2006/main">
              <a:ext uri="{FF2B5EF4-FFF2-40B4-BE49-F238E27FC236}">
                <a16:creationId xmlns:a16="http://schemas.microsoft.com/office/drawing/2014/main" id="{3B32CE2A-3DBC-4714-B12D-8BE8B4396F0B}"/>
              </a:ext>
            </a:extLst>
          </p:cNvPr>
          <p:cNvSpPr>
            <a:spLocks xmlns:a="http://schemas.openxmlformats.org/drawingml/2006/main" noGrp="1"/>
          </p:cNvSpPr>
          <p:nvPr/>
        </p:nvSpPr>
        <p:spPr>
          <a:xfrm xmlns:a="http://schemas.openxmlformats.org/drawingml/2006/main">
            <a:off x="628650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FFC72C"/>
            </a:solidFill>
            <a:prstDash val="solid"/>
          </a:ln>
        </p:spPr>
      </p:sp>
      <p:sp>
        <p:nvSpPr>
          <p:cNvPr id="16" name="">
            <a:extLst xmlns:a="http://schemas.openxmlformats.org/drawingml/2006/main">
              <a:ext uri="{FF2B5EF4-FFF2-40B4-BE49-F238E27FC236}">
                <a16:creationId xmlns:a16="http://schemas.microsoft.com/office/drawing/2014/main" id="{7F03D53B-1AAA-4AAE-9241-4D565C689D29}"/>
              </a:ext>
            </a:extLst>
          </p:cNvPr>
          <p:cNvSpPr>
            <a:spLocks xmlns:a="http://schemas.openxmlformats.org/drawingml/2006/main" noGrp="1"/>
          </p:cNvSpPr>
          <p:nvPr/>
        </p:nvSpPr>
        <p:spPr>
          <a:xfrm xmlns:a="http://schemas.openxmlformats.org/drawingml/2006/main">
            <a:off x="643890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RECONCILING</a:t>
            </a:r>
          </a:p>
        </p:txBody>
      </p:sp>
      <p:sp>
        <p:nvSpPr>
          <p:cNvPr id="17" name="">
            <a:extLst xmlns:a="http://schemas.openxmlformats.org/drawingml/2006/main">
              <a:ext uri="{FF2B5EF4-FFF2-40B4-BE49-F238E27FC236}">
                <a16:creationId xmlns:a16="http://schemas.microsoft.com/office/drawing/2014/main" id="{EDFF62AD-23E9-41BB-BE3C-1237D8F6771D}"/>
              </a:ext>
            </a:extLst>
          </p:cNvPr>
          <p:cNvSpPr>
            <a:spLocks xmlns:a="http://schemas.openxmlformats.org/drawingml/2006/main" noGrp="1"/>
          </p:cNvSpPr>
          <p:nvPr/>
        </p:nvSpPr>
        <p:spPr>
          <a:xfrm xmlns:a="http://schemas.openxmlformats.org/drawingml/2006/main">
            <a:off x="641985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compare state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probe before readmission</a:t>
            </a:r>
          </a:p>
        </p:txBody>
      </p:sp>
      <p:sp>
        <p:nvSpPr>
          <p:cNvPr id="18" name="">
            <a:extLst xmlns:a="http://schemas.openxmlformats.org/drawingml/2006/main">
              <a:ext uri="{FF2B5EF4-FFF2-40B4-BE49-F238E27FC236}">
                <a16:creationId xmlns:a16="http://schemas.microsoft.com/office/drawing/2014/main" id="{52012078-E919-49E5-BC9E-FE11F0AD90A8}"/>
              </a:ext>
            </a:extLst>
          </p:cNvPr>
          <p:cNvSpPr>
            <a:spLocks xmlns:a="http://schemas.openxmlformats.org/drawingml/2006/main" noGrp="1"/>
          </p:cNvSpPr>
          <p:nvPr/>
        </p:nvSpPr>
        <p:spPr>
          <a:xfrm xmlns:a="http://schemas.openxmlformats.org/drawingml/2006/main">
            <a:off x="908685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9" name="">
            <a:extLst xmlns:a="http://schemas.openxmlformats.org/drawingml/2006/main">
              <a:ext uri="{FF2B5EF4-FFF2-40B4-BE49-F238E27FC236}">
                <a16:creationId xmlns:a16="http://schemas.microsoft.com/office/drawing/2014/main" id="{8E146D63-060A-47A3-8CDF-510A67D48C54}"/>
              </a:ext>
            </a:extLst>
          </p:cNvPr>
          <p:cNvSpPr>
            <a:spLocks xmlns:a="http://schemas.openxmlformats.org/drawingml/2006/main" noGrp="1"/>
          </p:cNvSpPr>
          <p:nvPr/>
        </p:nvSpPr>
        <p:spPr>
          <a:xfrm xmlns:a="http://schemas.openxmlformats.org/drawingml/2006/main">
            <a:off x="923925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RE-ADMITTED</a:t>
            </a:r>
          </a:p>
        </p:txBody>
      </p:sp>
      <p:sp>
        <p:nvSpPr>
          <p:cNvPr id="20" name="">
            <a:extLst xmlns:a="http://schemas.openxmlformats.org/drawingml/2006/main">
              <a:ext uri="{FF2B5EF4-FFF2-40B4-BE49-F238E27FC236}">
                <a16:creationId xmlns:a16="http://schemas.microsoft.com/office/drawing/2014/main" id="{423CFD41-E57C-486D-BDD0-7343C81A1666}"/>
              </a:ext>
            </a:extLst>
          </p:cNvPr>
          <p:cNvSpPr>
            <a:spLocks xmlns:a="http://schemas.openxmlformats.org/drawingml/2006/main" noGrp="1"/>
          </p:cNvSpPr>
          <p:nvPr/>
        </p:nvSpPr>
        <p:spPr>
          <a:xfrm xmlns:a="http://schemas.openxmlformats.org/drawingml/2006/main">
            <a:off x="922020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conjunctive gates pass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 retained</a:t>
            </a:r>
          </a:p>
        </p:txBody>
      </p:sp>
      <p:cxnSp>
        <p:nvCxnSpPr>
          <p:cNvPr id="309" name=""/>
          <p:cNvCxnSpPr>
            <a:stCxn xmlns:a="http://schemas.openxmlformats.org/drawingml/2006/main" id="9" idx="3"/>
            <a:endCxn xmlns:a="http://schemas.openxmlformats.org/drawingml/2006/main" id="12" idx="1"/>
          </p:cNvCxnSpPr>
          <p:nvPr/>
        </p:nvCxnSpPr>
        <p:spPr>
          <a:xfrm xmlns:a="http://schemas.openxmlformats.org/drawingml/2006/main">
            <a:off x="2828925" y="3324225"/>
            <a:ext cx="657225" cy="0"/>
          </a:xfrm>
          <a:prstGeom xmlns:a="http://schemas.openxmlformats.org/drawingml/2006/main" prst="straightConnector1">
            <a:avLst/>
          </a:prstGeom>
          <a:ln xmlns:a="http://schemas.openxmlformats.org/drawingml/2006/main" w="19050">
            <a:solidFill>
              <a:srgbClr val="A96300"/>
            </a:solidFill>
            <a:prstDash val="solid"/>
            <a:tailEnd type="triangle" w="med" len="med"/>
          </a:ln>
        </p:spPr>
      </p:cxnSp>
      <p:cxnSp>
        <p:nvCxnSpPr>
          <p:cNvPr id="310" name=""/>
          <p:cNvCxnSpPr>
            <a:stCxn xmlns:a="http://schemas.openxmlformats.org/drawingml/2006/main" id="12" idx="3"/>
            <a:endCxn xmlns:a="http://schemas.openxmlformats.org/drawingml/2006/main" id="15" idx="1"/>
          </p:cNvCxnSpPr>
          <p:nvPr/>
        </p:nvCxnSpPr>
        <p:spPr>
          <a:xfrm xmlns:a="http://schemas.openxmlformats.org/drawingml/2006/main">
            <a:off x="5629275" y="3324225"/>
            <a:ext cx="657225" cy="0"/>
          </a:xfrm>
          <a:prstGeom xmlns:a="http://schemas.openxmlformats.org/drawingml/2006/main" prst="straightConnector1">
            <a:avLst/>
          </a:prstGeom>
          <a:ln xmlns:a="http://schemas.openxmlformats.org/drawingml/2006/main" w="19050">
            <a:solidFill>
              <a:srgbClr val="FFC72C"/>
            </a:solidFill>
            <a:prstDash val="solid"/>
            <a:tailEnd type="triangle" w="med" len="med"/>
          </a:ln>
        </p:spPr>
      </p:cxnSp>
      <p:cxnSp>
        <p:nvCxnSpPr>
          <p:cNvPr id="311" name=""/>
          <p:cNvCxnSpPr>
            <a:stCxn xmlns:a="http://schemas.openxmlformats.org/drawingml/2006/main" id="15" idx="3"/>
            <a:endCxn xmlns:a="http://schemas.openxmlformats.org/drawingml/2006/main" id="18" idx="1"/>
          </p:cNvCxnSpPr>
          <p:nvPr/>
        </p:nvCxnSpPr>
        <p:spPr>
          <a:xfrm xmlns:a="http://schemas.openxmlformats.org/drawingml/2006/main">
            <a:off x="8429625" y="3324225"/>
            <a:ext cx="657225" cy="0"/>
          </a:xfrm>
          <a:prstGeom xmlns:a="http://schemas.openxmlformats.org/drawingml/2006/main" prst="straightConnector1">
            <a:avLst/>
          </a:prstGeom>
          <a:ln xmlns:a="http://schemas.openxmlformats.org/drawingml/2006/main" w="19050">
            <a:solidFill>
              <a:srgbClr val="197457"/>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77D63DAD-790E-4680-B485-1502E246ADD0}"/>
              </a:ext>
            </a:extLst>
          </p:cNvPr>
          <p:cNvSpPr>
            <a:spLocks xmlns:a="http://schemas.openxmlformats.org/drawingml/2006/main" noGrp="1"/>
          </p:cNvSpPr>
          <p:nvPr/>
        </p:nvSpPr>
        <p:spPr>
          <a:xfrm xmlns:a="http://schemas.openxmlformats.org/drawingml/2006/main">
            <a:off x="80010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D0D7435A-831C-42F7-86A2-46051B0592AD}"/>
              </a:ext>
            </a:extLst>
          </p:cNvPr>
          <p:cNvSpPr>
            <a:spLocks xmlns:a="http://schemas.openxmlformats.org/drawingml/2006/main" noGrp="1"/>
          </p:cNvSpPr>
          <p:nvPr/>
        </p:nvSpPr>
        <p:spPr>
          <a:xfrm xmlns:a="http://schemas.openxmlformats.org/drawingml/2006/main">
            <a:off x="95250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CONTINUE</a:t>
            </a:r>
          </a:p>
        </p:txBody>
      </p:sp>
      <p:sp>
        <p:nvSpPr>
          <p:cNvPr id="26" name="">
            <a:extLst xmlns:a="http://schemas.openxmlformats.org/drawingml/2006/main">
              <a:ext uri="{FF2B5EF4-FFF2-40B4-BE49-F238E27FC236}">
                <a16:creationId xmlns:a16="http://schemas.microsoft.com/office/drawing/2014/main" id="{2743B61A-0A53-4F01-937E-68D697797D3A}"/>
              </a:ext>
            </a:extLst>
          </p:cNvPr>
          <p:cNvSpPr>
            <a:spLocks xmlns:a="http://schemas.openxmlformats.org/drawingml/2006/main" noGrp="1"/>
          </p:cNvSpPr>
          <p:nvPr/>
        </p:nvSpPr>
        <p:spPr>
          <a:xfrm xmlns:a="http://schemas.openxmlformats.org/drawingml/2006/main">
            <a:off x="93345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bounded proxying</a:t>
            </a:r>
          </a:p>
        </p:txBody>
      </p:sp>
      <p:sp>
        <p:nvSpPr>
          <p:cNvPr id="27" name="">
            <a:extLst xmlns:a="http://schemas.openxmlformats.org/drawingml/2006/main">
              <a:ext uri="{FF2B5EF4-FFF2-40B4-BE49-F238E27FC236}">
                <a16:creationId xmlns:a16="http://schemas.microsoft.com/office/drawing/2014/main" id="{6D9DBA9A-8F89-4900-9959-BD680CE85B4E}"/>
              </a:ext>
            </a:extLst>
          </p:cNvPr>
          <p:cNvSpPr>
            <a:spLocks xmlns:a="http://schemas.openxmlformats.org/drawingml/2006/main" noGrp="1"/>
          </p:cNvSpPr>
          <p:nvPr/>
        </p:nvSpPr>
        <p:spPr>
          <a:xfrm xmlns:a="http://schemas.openxmlformats.org/drawingml/2006/main">
            <a:off x="348615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8" name="">
            <a:extLst xmlns:a="http://schemas.openxmlformats.org/drawingml/2006/main">
              <a:ext uri="{FF2B5EF4-FFF2-40B4-BE49-F238E27FC236}">
                <a16:creationId xmlns:a16="http://schemas.microsoft.com/office/drawing/2014/main" id="{D7129F16-52AD-4387-93D9-44C4513646D4}"/>
              </a:ext>
            </a:extLst>
          </p:cNvPr>
          <p:cNvSpPr>
            <a:spLocks xmlns:a="http://schemas.openxmlformats.org/drawingml/2006/main" noGrp="1"/>
          </p:cNvSpPr>
          <p:nvPr/>
        </p:nvSpPr>
        <p:spPr>
          <a:xfrm xmlns:a="http://schemas.openxmlformats.org/drawingml/2006/main">
            <a:off x="363855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HOLD</a:t>
            </a:r>
          </a:p>
        </p:txBody>
      </p:sp>
      <p:sp>
        <p:nvSpPr>
          <p:cNvPr id="29" name="">
            <a:extLst xmlns:a="http://schemas.openxmlformats.org/drawingml/2006/main">
              <a:ext uri="{FF2B5EF4-FFF2-40B4-BE49-F238E27FC236}">
                <a16:creationId xmlns:a16="http://schemas.microsoft.com/office/drawing/2014/main" id="{ED5829A2-5027-495A-BBE5-483CB443A713}"/>
              </a:ext>
            </a:extLst>
          </p:cNvPr>
          <p:cNvSpPr>
            <a:spLocks xmlns:a="http://schemas.openxmlformats.org/drawingml/2006/main" noGrp="1"/>
          </p:cNvSpPr>
          <p:nvPr/>
        </p:nvSpPr>
        <p:spPr>
          <a:xfrm xmlns:a="http://schemas.openxmlformats.org/drawingml/2006/main">
            <a:off x="361950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block change / scale</a:t>
            </a:r>
          </a:p>
        </p:txBody>
      </p:sp>
      <p:sp>
        <p:nvSpPr>
          <p:cNvPr id="30" name="">
            <a:extLst xmlns:a="http://schemas.openxmlformats.org/drawingml/2006/main">
              <a:ext uri="{FF2B5EF4-FFF2-40B4-BE49-F238E27FC236}">
                <a16:creationId xmlns:a16="http://schemas.microsoft.com/office/drawing/2014/main" id="{22D33A81-AED9-4FAC-9329-17F5D96115A7}"/>
              </a:ext>
            </a:extLst>
          </p:cNvPr>
          <p:cNvSpPr>
            <a:spLocks xmlns:a="http://schemas.openxmlformats.org/drawingml/2006/main" noGrp="1"/>
          </p:cNvSpPr>
          <p:nvPr/>
        </p:nvSpPr>
        <p:spPr>
          <a:xfrm xmlns:a="http://schemas.openxmlformats.org/drawingml/2006/main">
            <a:off x="617220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2413B5F1-16DB-4B93-A59B-E25CAD30ED43}"/>
              </a:ext>
            </a:extLst>
          </p:cNvPr>
          <p:cNvSpPr>
            <a:spLocks xmlns:a="http://schemas.openxmlformats.org/drawingml/2006/main" noGrp="1"/>
          </p:cNvSpPr>
          <p:nvPr/>
        </p:nvSpPr>
        <p:spPr>
          <a:xfrm xmlns:a="http://schemas.openxmlformats.org/drawingml/2006/main">
            <a:off x="632460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QUARANTINE</a:t>
            </a:r>
          </a:p>
        </p:txBody>
      </p:sp>
      <p:sp>
        <p:nvSpPr>
          <p:cNvPr id="32" name="">
            <a:extLst xmlns:a="http://schemas.openxmlformats.org/drawingml/2006/main">
              <a:ext uri="{FF2B5EF4-FFF2-40B4-BE49-F238E27FC236}">
                <a16:creationId xmlns:a16="http://schemas.microsoft.com/office/drawing/2014/main" id="{A7C29D11-3FF7-4A04-ACD0-2C6249D81CA3}"/>
              </a:ext>
            </a:extLst>
          </p:cNvPr>
          <p:cNvSpPr>
            <a:spLocks xmlns:a="http://schemas.openxmlformats.org/drawingml/2006/main" noGrp="1"/>
          </p:cNvSpPr>
          <p:nvPr/>
        </p:nvSpPr>
        <p:spPr>
          <a:xfrm xmlns:a="http://schemas.openxmlformats.org/drawingml/2006/main">
            <a:off x="630555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deny unlisted node</a:t>
            </a:r>
          </a:p>
        </p:txBody>
      </p:sp>
      <p:sp>
        <p:nvSpPr>
          <p:cNvPr id="33" name="">
            <a:extLst xmlns:a="http://schemas.openxmlformats.org/drawingml/2006/main">
              <a:ext uri="{FF2B5EF4-FFF2-40B4-BE49-F238E27FC236}">
                <a16:creationId xmlns:a16="http://schemas.microsoft.com/office/drawing/2014/main" id="{491F712A-FE0D-43FA-80F2-127C4255B30F}"/>
              </a:ext>
            </a:extLst>
          </p:cNvPr>
          <p:cNvSpPr>
            <a:spLocks xmlns:a="http://schemas.openxmlformats.org/drawingml/2006/main" noGrp="1"/>
          </p:cNvSpPr>
          <p:nvPr/>
        </p:nvSpPr>
        <p:spPr>
          <a:xfrm xmlns:a="http://schemas.openxmlformats.org/drawingml/2006/main">
            <a:off x="885825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4" name="">
            <a:extLst xmlns:a="http://schemas.openxmlformats.org/drawingml/2006/main">
              <a:ext uri="{FF2B5EF4-FFF2-40B4-BE49-F238E27FC236}">
                <a16:creationId xmlns:a16="http://schemas.microsoft.com/office/drawing/2014/main" id="{0BB2023E-A999-4A03-880E-546C86C24DCB}"/>
              </a:ext>
            </a:extLst>
          </p:cNvPr>
          <p:cNvSpPr>
            <a:spLocks xmlns:a="http://schemas.openxmlformats.org/drawingml/2006/main" noGrp="1"/>
          </p:cNvSpPr>
          <p:nvPr/>
        </p:nvSpPr>
        <p:spPr>
          <a:xfrm xmlns:a="http://schemas.openxmlformats.org/drawingml/2006/main">
            <a:off x="901065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STOP</a:t>
            </a:r>
          </a:p>
        </p:txBody>
      </p:sp>
      <p:sp>
        <p:nvSpPr>
          <p:cNvPr id="35" name="">
            <a:extLst xmlns:a="http://schemas.openxmlformats.org/drawingml/2006/main">
              <a:ext uri="{FF2B5EF4-FFF2-40B4-BE49-F238E27FC236}">
                <a16:creationId xmlns:a16="http://schemas.microsoft.com/office/drawing/2014/main" id="{24C0CE3B-B6DE-4014-8B24-7125B8E6ABF4}"/>
              </a:ext>
            </a:extLst>
          </p:cNvPr>
          <p:cNvSpPr>
            <a:spLocks xmlns:a="http://schemas.openxmlformats.org/drawingml/2006/main" noGrp="1"/>
          </p:cNvSpPr>
          <p:nvPr/>
        </p:nvSpPr>
        <p:spPr>
          <a:xfrm xmlns:a="http://schemas.openxmlformats.org/drawingml/2006/main">
            <a:off x="899160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protect outcome / exit</a:t>
            </a:r>
          </a:p>
        </p:txBody>
      </p:sp>
    </p:spTree>
    <p:extLst>
      <p:ext uri="{BB962C8B-B14F-4D97-AF65-F5344CB8AC3E}">
        <p14:creationId xmlns:p14="http://schemas.microsoft.com/office/powerpoint/2010/main" val="1435038444"/>
      </p:ext>
    </p:extLst>
  </p:cSld>
</p:sld>
</file>

<file path=ppt/slides/slide1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9D70440-F3D3-4D1D-B560-E90C2DD9E3C3}"/>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EBAF676-3A97-4ED6-944C-4C18AA87657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E431990-522A-4E19-8F27-6AB1C3FABEC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12 / ADOPTION</a:t>
            </a:r>
          </a:p>
        </p:txBody>
      </p:sp>
      <p:sp>
        <p:nvSpPr>
          <p:cNvPr id="4" name="">
            <a:extLst xmlns:a="http://schemas.openxmlformats.org/drawingml/2006/main">
              <a:ext uri="{FF2B5EF4-FFF2-40B4-BE49-F238E27FC236}">
                <a16:creationId xmlns:a16="http://schemas.microsoft.com/office/drawing/2014/main" id="{BCB76D5D-258D-44AE-B6D7-1FC8CC167B2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Self-managed control is a funded platform service</a:t>
            </a:r>
          </a:p>
        </p:txBody>
      </p:sp>
      <p:sp>
        <p:nvSpPr>
          <p:cNvPr id="5" name="">
            <a:extLst xmlns:a="http://schemas.openxmlformats.org/drawingml/2006/main">
              <a:ext uri="{FF2B5EF4-FFF2-40B4-BE49-F238E27FC236}">
                <a16:creationId xmlns:a16="http://schemas.microsoft.com/office/drawing/2014/main" id="{6D4115DC-3D5C-4E3E-8158-C343F89D8AA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Ownership must cover the platform product, not only installation tickets.</a:t>
            </a:r>
          </a:p>
        </p:txBody>
      </p:sp>
      <p:sp>
        <p:nvSpPr>
          <p:cNvPr id="6" name="">
            <a:extLst xmlns:a="http://schemas.openxmlformats.org/drawingml/2006/main">
              <a:ext uri="{FF2B5EF4-FFF2-40B4-BE49-F238E27FC236}">
                <a16:creationId xmlns:a16="http://schemas.microsoft.com/office/drawing/2014/main" id="{881B49F8-30C6-4BD1-8887-7B79ADFC89E4}"/>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A5976F6-91C6-4066-ABFC-94E70DF2A886}"/>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986a96f400774a58"/>
              </a:rPr>
              <a:t>Repo reference</a:t>
            </a:r>
            <a:r>
              <a:rPr sz="825">
                <a:solidFill>
                  <a:srgbClr val="666762"/>
                </a:solidFill>
              </a:rPr>
              <a:t>  ·  </a:t>
            </a:r>
            <a:r>
              <a:rPr sz="825" u="sng">
                <a:solidFill>
                  <a:srgbClr val="666762"/>
                </a:solidFill>
                <a:hlinkClick xmlns:r="http://schemas.openxmlformats.org/officeDocument/2006/relationships" r:id="R26160a55e6e247e6"/>
              </a:rPr>
              <a:t>Official docs</a:t>
            </a:r>
          </a:p>
        </p:txBody>
      </p:sp>
      <p:sp>
        <p:nvSpPr>
          <p:cNvPr id="8" name="">
            <a:extLst xmlns:a="http://schemas.openxmlformats.org/drawingml/2006/main">
              <a:ext uri="{FF2B5EF4-FFF2-40B4-BE49-F238E27FC236}">
                <a16:creationId xmlns:a16="http://schemas.microsoft.com/office/drawing/2014/main" id="{1E3C29D7-08EF-4E1A-99D3-5F810AAAA65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12 / 25</a:t>
            </a:r>
          </a:p>
        </p:txBody>
      </p:sp>
      <p:sp>
        <p:nvSpPr>
          <p:cNvPr id="9" name="">
            <a:extLst xmlns:a="http://schemas.openxmlformats.org/drawingml/2006/main">
              <a:ext uri="{FF2B5EF4-FFF2-40B4-BE49-F238E27FC236}">
                <a16:creationId xmlns:a16="http://schemas.microsoft.com/office/drawing/2014/main" id="{F18A5B71-3F18-4B0C-83DC-984E40BE0FD4}"/>
              </a:ext>
            </a:extLst>
          </p:cNvPr>
          <p:cNvSpPr>
            <a:spLocks xmlns:a="http://schemas.openxmlformats.org/drawingml/2006/main" noGrp="1"/>
          </p:cNvSpPr>
          <p:nvPr/>
        </p:nvSpPr>
        <p:spPr>
          <a:xfrm xmlns:a="http://schemas.openxmlformats.org/drawingml/2006/main">
            <a:off x="6096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B6471B91-C974-4A09-9885-9A3ACA60E67E}"/>
              </a:ext>
            </a:extLst>
          </p:cNvPr>
          <p:cNvSpPr>
            <a:spLocks xmlns:a="http://schemas.openxmlformats.org/drawingml/2006/main" noGrp="1"/>
          </p:cNvSpPr>
          <p:nvPr/>
        </p:nvSpPr>
        <p:spPr>
          <a:xfrm xmlns:a="http://schemas.openxmlformats.org/drawingml/2006/main">
            <a:off x="609600" y="2362200"/>
            <a:ext cx="66675" cy="30480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3742BE1-C4AA-4B81-BE5C-846109C3B9C0}"/>
              </a:ext>
            </a:extLst>
          </p:cNvPr>
          <p:cNvSpPr>
            <a:spLocks xmlns:a="http://schemas.openxmlformats.org/drawingml/2006/main" noGrp="1"/>
          </p:cNvSpPr>
          <p:nvPr/>
        </p:nvSpPr>
        <p:spPr>
          <a:xfrm xmlns:a="http://schemas.openxmlformats.org/drawingml/2006/main">
            <a:off x="8191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TEAM</a:t>
            </a:r>
          </a:p>
        </p:txBody>
      </p:sp>
      <p:sp>
        <p:nvSpPr>
          <p:cNvPr id="12" name="">
            <a:extLst xmlns:a="http://schemas.openxmlformats.org/drawingml/2006/main">
              <a:ext uri="{FF2B5EF4-FFF2-40B4-BE49-F238E27FC236}">
                <a16:creationId xmlns:a16="http://schemas.microsoft.com/office/drawing/2014/main" id="{E27FCFF0-4C24-4ACA-895F-989F5920361E}"/>
              </a:ext>
            </a:extLst>
          </p:cNvPr>
          <p:cNvSpPr>
            <a:spLocks xmlns:a="http://schemas.openxmlformats.org/drawingml/2006/main" noGrp="1"/>
          </p:cNvSpPr>
          <p:nvPr/>
        </p:nvSpPr>
        <p:spPr>
          <a:xfrm xmlns:a="http://schemas.openxmlformats.org/drawingml/2006/main">
            <a:off x="8191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service</a:t>
            </a:r>
          </a:p>
        </p:txBody>
      </p:sp>
      <p:sp>
        <p:nvSpPr>
          <p:cNvPr id="13" name="">
            <a:extLst xmlns:a="http://schemas.openxmlformats.org/drawingml/2006/main">
              <a:ext uri="{FF2B5EF4-FFF2-40B4-BE49-F238E27FC236}">
                <a16:creationId xmlns:a16="http://schemas.microsoft.com/office/drawing/2014/main" id="{A41E4F92-011A-4FAF-9AD4-2354E17423BF}"/>
              </a:ext>
            </a:extLst>
          </p:cNvPr>
          <p:cNvSpPr>
            <a:spLocks xmlns:a="http://schemas.openxmlformats.org/drawingml/2006/main" noGrp="1"/>
          </p:cNvSpPr>
          <p:nvPr/>
        </p:nvSpPr>
        <p:spPr>
          <a:xfrm xmlns:a="http://schemas.openxmlformats.org/drawingml/2006/main">
            <a:off x="8191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CP / DB / PKI lifecycle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 road + configuration authority</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Restore and upgrade rehearsals</a:t>
            </a:r>
          </a:p>
        </p:txBody>
      </p:sp>
      <p:sp>
        <p:nvSpPr>
          <p:cNvPr id="14" name="">
            <a:extLst xmlns:a="http://schemas.openxmlformats.org/drawingml/2006/main">
              <a:ext uri="{FF2B5EF4-FFF2-40B4-BE49-F238E27FC236}">
                <a16:creationId xmlns:a16="http://schemas.microsoft.com/office/drawing/2014/main" id="{DC478F3D-AC50-49DC-AC80-FEEA483FADE2}"/>
              </a:ext>
            </a:extLst>
          </p:cNvPr>
          <p:cNvSpPr>
            <a:spLocks xmlns:a="http://schemas.openxmlformats.org/drawingml/2006/main" noGrp="1"/>
          </p:cNvSpPr>
          <p:nvPr/>
        </p:nvSpPr>
        <p:spPr>
          <a:xfrm xmlns:a="http://schemas.openxmlformats.org/drawingml/2006/main">
            <a:off x="33909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C7F5CCCE-707B-41EB-BB88-FA98C4FBC394}"/>
              </a:ext>
            </a:extLst>
          </p:cNvPr>
          <p:cNvSpPr>
            <a:spLocks xmlns:a="http://schemas.openxmlformats.org/drawingml/2006/main" noGrp="1"/>
          </p:cNvSpPr>
          <p:nvPr/>
        </p:nvSpPr>
        <p:spPr>
          <a:xfrm xmlns:a="http://schemas.openxmlformats.org/drawingml/2006/main">
            <a:off x="33909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383DBFB-7283-4BDC-B253-5622232584D2}"/>
              </a:ext>
            </a:extLst>
          </p:cNvPr>
          <p:cNvSpPr>
            <a:spLocks xmlns:a="http://schemas.openxmlformats.org/drawingml/2006/main" noGrp="1"/>
          </p:cNvSpPr>
          <p:nvPr/>
        </p:nvSpPr>
        <p:spPr>
          <a:xfrm xmlns:a="http://schemas.openxmlformats.org/drawingml/2006/main">
            <a:off x="36004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PRODUCT TEAMS</a:t>
            </a:r>
          </a:p>
        </p:txBody>
      </p:sp>
      <p:sp>
        <p:nvSpPr>
          <p:cNvPr id="17" name="">
            <a:extLst xmlns:a="http://schemas.openxmlformats.org/drawingml/2006/main">
              <a:ext uri="{FF2B5EF4-FFF2-40B4-BE49-F238E27FC236}">
                <a16:creationId xmlns:a16="http://schemas.microsoft.com/office/drawing/2014/main" id="{86976CAC-84C6-4E94-9C89-E100D955CAF5}"/>
              </a:ext>
            </a:extLst>
          </p:cNvPr>
          <p:cNvSpPr>
            <a:spLocks xmlns:a="http://schemas.openxmlformats.org/drawingml/2006/main" noGrp="1"/>
          </p:cNvSpPr>
          <p:nvPr/>
        </p:nvSpPr>
        <p:spPr>
          <a:xfrm xmlns:a="http://schemas.openxmlformats.org/drawingml/2006/main">
            <a:off x="36004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API</a:t>
            </a:r>
          </a:p>
        </p:txBody>
      </p:sp>
      <p:sp>
        <p:nvSpPr>
          <p:cNvPr id="18" name="">
            <a:extLst xmlns:a="http://schemas.openxmlformats.org/drawingml/2006/main">
              <a:ext uri="{FF2B5EF4-FFF2-40B4-BE49-F238E27FC236}">
                <a16:creationId xmlns:a16="http://schemas.microsoft.com/office/drawing/2014/main" id="{8CCC8A01-28F9-4E4A-B4CA-3339977B83B9}"/>
              </a:ext>
            </a:extLst>
          </p:cNvPr>
          <p:cNvSpPr>
            <a:spLocks xmlns:a="http://schemas.openxmlformats.org/drawingml/2006/main" noGrp="1"/>
          </p:cNvSpPr>
          <p:nvPr/>
        </p:nvSpPr>
        <p:spPr>
          <a:xfrm xmlns:a="http://schemas.openxmlformats.org/drawingml/2006/main">
            <a:off x="36004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API intent + SLOs</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Contract and route ownership</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business probes</a:t>
            </a:r>
          </a:p>
        </p:txBody>
      </p:sp>
      <p:sp>
        <p:nvSpPr>
          <p:cNvPr id="19" name="">
            <a:extLst xmlns:a="http://schemas.openxmlformats.org/drawingml/2006/main">
              <a:ext uri="{FF2B5EF4-FFF2-40B4-BE49-F238E27FC236}">
                <a16:creationId xmlns:a16="http://schemas.microsoft.com/office/drawing/2014/main" id="{517437A8-8195-465E-93BE-8C0DE672D238}"/>
              </a:ext>
            </a:extLst>
          </p:cNvPr>
          <p:cNvSpPr>
            <a:spLocks xmlns:a="http://schemas.openxmlformats.org/drawingml/2006/main" noGrp="1"/>
          </p:cNvSpPr>
          <p:nvPr/>
        </p:nvSpPr>
        <p:spPr>
          <a:xfrm xmlns:a="http://schemas.openxmlformats.org/drawingml/2006/main">
            <a:off x="61722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D2918E27-467E-4B50-A629-33562FC018FD}"/>
              </a:ext>
            </a:extLst>
          </p:cNvPr>
          <p:cNvSpPr>
            <a:spLocks xmlns:a="http://schemas.openxmlformats.org/drawingml/2006/main" noGrp="1"/>
          </p:cNvSpPr>
          <p:nvPr/>
        </p:nvSpPr>
        <p:spPr>
          <a:xfrm xmlns:a="http://schemas.openxmlformats.org/drawingml/2006/main">
            <a:off x="61722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4439025-67C1-482F-8813-C2C77339A226}"/>
              </a:ext>
            </a:extLst>
          </p:cNvPr>
          <p:cNvSpPr>
            <a:spLocks xmlns:a="http://schemas.openxmlformats.org/drawingml/2006/main" noGrp="1"/>
          </p:cNvSpPr>
          <p:nvPr/>
        </p:nvSpPr>
        <p:spPr>
          <a:xfrm xmlns:a="http://schemas.openxmlformats.org/drawingml/2006/main">
            <a:off x="63817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SECURITY + SRE</a:t>
            </a:r>
          </a:p>
        </p:txBody>
      </p:sp>
      <p:sp>
        <p:nvSpPr>
          <p:cNvPr id="22" name="">
            <a:extLst xmlns:a="http://schemas.openxmlformats.org/drawingml/2006/main">
              <a:ext uri="{FF2B5EF4-FFF2-40B4-BE49-F238E27FC236}">
                <a16:creationId xmlns:a16="http://schemas.microsoft.com/office/drawing/2014/main" id="{0C397136-EE63-4CD1-A97D-F26C41D77D67}"/>
              </a:ext>
            </a:extLst>
          </p:cNvPr>
          <p:cNvSpPr>
            <a:spLocks xmlns:a="http://schemas.openxmlformats.org/drawingml/2006/main" noGrp="1"/>
          </p:cNvSpPr>
          <p:nvPr/>
        </p:nvSpPr>
        <p:spPr>
          <a:xfrm xmlns:a="http://schemas.openxmlformats.org/drawingml/2006/main">
            <a:off x="63817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gate</a:t>
            </a:r>
          </a:p>
        </p:txBody>
      </p:sp>
      <p:sp>
        <p:nvSpPr>
          <p:cNvPr id="23" name="">
            <a:extLst xmlns:a="http://schemas.openxmlformats.org/drawingml/2006/main">
              <a:ext uri="{FF2B5EF4-FFF2-40B4-BE49-F238E27FC236}">
                <a16:creationId xmlns:a16="http://schemas.microsoft.com/office/drawing/2014/main" id="{07A1B44A-9D8E-4C6E-9026-FE3A4831B52A}"/>
              </a:ext>
            </a:extLst>
          </p:cNvPr>
          <p:cNvSpPr>
            <a:spLocks xmlns:a="http://schemas.openxmlformats.org/drawingml/2006/main" noGrp="1"/>
          </p:cNvSpPr>
          <p:nvPr/>
        </p:nvSpPr>
        <p:spPr>
          <a:xfrm xmlns:a="http://schemas.openxmlformats.org/drawingml/2006/main">
            <a:off x="63817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Admission policy</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Threat and control evidence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capacity and incident review</a:t>
            </a:r>
          </a:p>
        </p:txBody>
      </p:sp>
      <p:sp>
        <p:nvSpPr>
          <p:cNvPr id="24" name="">
            <a:extLst xmlns:a="http://schemas.openxmlformats.org/drawingml/2006/main">
              <a:ext uri="{FF2B5EF4-FFF2-40B4-BE49-F238E27FC236}">
                <a16:creationId xmlns:a16="http://schemas.microsoft.com/office/drawing/2014/main" id="{5DCA6203-CF79-4A04-814A-687B127ACFE9}"/>
              </a:ext>
            </a:extLst>
          </p:cNvPr>
          <p:cNvSpPr>
            <a:spLocks xmlns:a="http://schemas.openxmlformats.org/drawingml/2006/main" noGrp="1"/>
          </p:cNvSpPr>
          <p:nvPr/>
        </p:nvSpPr>
        <p:spPr>
          <a:xfrm xmlns:a="http://schemas.openxmlformats.org/drawingml/2006/main">
            <a:off x="89535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1C3CC5B0-A16D-4764-9378-9126209071C3}"/>
              </a:ext>
            </a:extLst>
          </p:cNvPr>
          <p:cNvSpPr>
            <a:spLocks xmlns:a="http://schemas.openxmlformats.org/drawingml/2006/main" noGrp="1"/>
          </p:cNvSpPr>
          <p:nvPr/>
        </p:nvSpPr>
        <p:spPr>
          <a:xfrm xmlns:a="http://schemas.openxmlformats.org/drawingml/2006/main">
            <a:off x="89535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6A8C459-2487-4BB3-9E09-E2718CE71A25}"/>
              </a:ext>
            </a:extLst>
          </p:cNvPr>
          <p:cNvSpPr>
            <a:spLocks xmlns:a="http://schemas.openxmlformats.org/drawingml/2006/main" noGrp="1"/>
          </p:cNvSpPr>
          <p:nvPr/>
        </p:nvSpPr>
        <p:spPr>
          <a:xfrm xmlns:a="http://schemas.openxmlformats.org/drawingml/2006/main">
            <a:off x="91630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VENDOR / PARTNERS</a:t>
            </a:r>
          </a:p>
        </p:txBody>
      </p:sp>
      <p:sp>
        <p:nvSpPr>
          <p:cNvPr id="27" name="">
            <a:extLst xmlns:a="http://schemas.openxmlformats.org/drawingml/2006/main">
              <a:ext uri="{FF2B5EF4-FFF2-40B4-BE49-F238E27FC236}">
                <a16:creationId xmlns:a16="http://schemas.microsoft.com/office/drawing/2014/main" id="{5948D7CF-C416-450F-B7DA-1C03603A82E3}"/>
              </a:ext>
            </a:extLst>
          </p:cNvPr>
          <p:cNvSpPr>
            <a:spLocks xmlns:a="http://schemas.openxmlformats.org/drawingml/2006/main" noGrp="1"/>
          </p:cNvSpPr>
          <p:nvPr/>
        </p:nvSpPr>
        <p:spPr>
          <a:xfrm xmlns:a="http://schemas.openxmlformats.org/drawingml/2006/main">
            <a:off x="91630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Support the owner</a:t>
            </a:r>
          </a:p>
        </p:txBody>
      </p:sp>
      <p:sp>
        <p:nvSpPr>
          <p:cNvPr id="28" name="">
            <a:extLst xmlns:a="http://schemas.openxmlformats.org/drawingml/2006/main">
              <a:ext uri="{FF2B5EF4-FFF2-40B4-BE49-F238E27FC236}">
                <a16:creationId xmlns:a16="http://schemas.microsoft.com/office/drawing/2014/main" id="{4C402D6F-9EA5-43D8-BD92-8F2E88F15C9F}"/>
              </a:ext>
            </a:extLst>
          </p:cNvPr>
          <p:cNvSpPr>
            <a:spLocks xmlns:a="http://schemas.openxmlformats.org/drawingml/2006/main" noGrp="1"/>
          </p:cNvSpPr>
          <p:nvPr/>
        </p:nvSpPr>
        <p:spPr>
          <a:xfrm xmlns:a="http://schemas.openxmlformats.org/drawingml/2006/main">
            <a:off x="91630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Product support and defect path</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Version / compatibility evidence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No substitution for enterprise ownership</a:t>
            </a:r>
          </a:p>
        </p:txBody>
      </p:sp>
      <p:sp>
        <p:nvSpPr>
          <p:cNvPr id="29" name="">
            <a:extLst xmlns:a="http://schemas.openxmlformats.org/drawingml/2006/main">
              <a:ext uri="{FF2B5EF4-FFF2-40B4-BE49-F238E27FC236}">
                <a16:creationId xmlns:a16="http://schemas.microsoft.com/office/drawing/2014/main" id="{EFA4B390-28C4-4864-BFF5-DA83004A392C}"/>
              </a:ext>
            </a:extLst>
          </p:cNvPr>
          <p:cNvSpPr>
            <a:spLocks xmlns:a="http://schemas.openxmlformats.org/drawingml/2006/main" noGrp="1"/>
          </p:cNvSpPr>
          <p:nvPr/>
        </p:nvSpPr>
        <p:spPr>
          <a:xfrm xmlns:a="http://schemas.openxmlformats.org/drawingml/2006/main">
            <a:off x="1200150" y="5743575"/>
            <a:ext cx="979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No production gate closes without an owner, artifact, cadence and stop condition.</a:t>
            </a:r>
          </a:p>
        </p:txBody>
      </p:sp>
    </p:spTree>
    <p:extLst>
      <p:ext uri="{BB962C8B-B14F-4D97-AF65-F5344CB8AC3E}">
        <p14:creationId xmlns:p14="http://schemas.microsoft.com/office/powerpoint/2010/main" val="1526801293"/>
      </p:ext>
    </p:extLst>
  </p:cSld>
</p:sld>
</file>

<file path=ppt/slides/slide1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B875BD08-8D1C-4824-B79C-BCC42E4D7D6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30D34B-6286-4BF3-89F3-DA4C104134F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E1B99D7-C3EE-4264-94C0-F3559503A85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13 / ADOPTION</a:t>
            </a:r>
          </a:p>
        </p:txBody>
      </p:sp>
      <p:sp>
        <p:nvSpPr>
          <p:cNvPr id="4" name="">
            <a:extLst xmlns:a="http://schemas.openxmlformats.org/drawingml/2006/main">
              <a:ext uri="{FF2B5EF4-FFF2-40B4-BE49-F238E27FC236}">
                <a16:creationId xmlns:a16="http://schemas.microsoft.com/office/drawing/2014/main" id="{004583F7-6F5A-4032-80C7-29C9EA1DCDDC}"/>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Foundation is work; scale is an outcome gate</a:t>
            </a:r>
          </a:p>
        </p:txBody>
      </p:sp>
      <p:sp>
        <p:nvSpPr>
          <p:cNvPr id="5" name="">
            <a:extLst xmlns:a="http://schemas.openxmlformats.org/drawingml/2006/main">
              <a:ext uri="{FF2B5EF4-FFF2-40B4-BE49-F238E27FC236}">
                <a16:creationId xmlns:a16="http://schemas.microsoft.com/office/drawing/2014/main" id="{9060ACB3-2C84-435A-9805-A51E5C6918C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Scenario windows show decision order—not a committed calendar.</a:t>
            </a:r>
          </a:p>
        </p:txBody>
      </p:sp>
      <p:sp>
        <p:nvSpPr>
          <p:cNvPr id="6" name="">
            <a:extLst xmlns:a="http://schemas.openxmlformats.org/drawingml/2006/main">
              <a:ext uri="{FF2B5EF4-FFF2-40B4-BE49-F238E27FC236}">
                <a16:creationId xmlns:a16="http://schemas.microsoft.com/office/drawing/2014/main" id="{EEB79BEB-30C1-43C8-9F05-257231E61601}"/>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D274C11-597C-4180-91B0-11763F7942F3}"/>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064ac837132c4098"/>
              </a:rPr>
              <a:t>Repo reference</a:t>
            </a:r>
            <a:r>
              <a:rPr sz="825">
                <a:solidFill>
                  <a:srgbClr val="666762"/>
                </a:solidFill>
              </a:rPr>
              <a:t>  ·  </a:t>
            </a:r>
            <a:r>
              <a:rPr sz="825" u="sng">
                <a:solidFill>
                  <a:srgbClr val="666762"/>
                </a:solidFill>
                <a:hlinkClick xmlns:r="http://schemas.openxmlformats.org/officeDocument/2006/relationships" r:id="R15942daaa3cf4b43"/>
              </a:rPr>
              <a:t>Official docs</a:t>
            </a:r>
          </a:p>
        </p:txBody>
      </p:sp>
      <p:sp>
        <p:nvSpPr>
          <p:cNvPr id="8" name="">
            <a:extLst xmlns:a="http://schemas.openxmlformats.org/drawingml/2006/main">
              <a:ext uri="{FF2B5EF4-FFF2-40B4-BE49-F238E27FC236}">
                <a16:creationId xmlns:a16="http://schemas.microsoft.com/office/drawing/2014/main" id="{C7EE617E-7171-4FD1-A8BB-EC56AE465124}"/>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13 / 25</a:t>
            </a:r>
          </a:p>
        </p:txBody>
      </p:sp>
      <p:sp>
        <p:nvSpPr>
          <p:cNvPr id="9" name="">
            <a:extLst xmlns:a="http://schemas.openxmlformats.org/drawingml/2006/main">
              <a:ext uri="{FF2B5EF4-FFF2-40B4-BE49-F238E27FC236}">
                <a16:creationId xmlns:a16="http://schemas.microsoft.com/office/drawing/2014/main" id="{228A28E3-3E48-4EDE-BA72-9DB8C7CC1AFB}"/>
              </a:ext>
            </a:extLst>
          </p:cNvPr>
          <p:cNvSpPr>
            <a:spLocks xmlns:a="http://schemas.openxmlformats.org/drawingml/2006/main" noGrp="1"/>
          </p:cNvSpPr>
          <p:nvPr/>
        </p:nvSpPr>
        <p:spPr>
          <a:xfrm xmlns:a="http://schemas.openxmlformats.org/drawingml/2006/main">
            <a:off x="971550" y="3790950"/>
            <a:ext cx="100012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970D30-4F3B-4605-A71E-CE024ACAF42C}"/>
              </a:ext>
            </a:extLst>
          </p:cNvPr>
          <p:cNvSpPr>
            <a:spLocks xmlns:a="http://schemas.openxmlformats.org/drawingml/2006/main" noGrp="1"/>
          </p:cNvSpPr>
          <p:nvPr/>
        </p:nvSpPr>
        <p:spPr>
          <a:xfrm xmlns:a="http://schemas.openxmlformats.org/drawingml/2006/main">
            <a:off x="1219200" y="3514725"/>
            <a:ext cx="552450" cy="552450"/>
          </a:xfrm>
          <a:prstGeom xmlns:a="http://schemas.openxmlformats.org/drawingml/2006/main" prst="ellipse">
            <a:avLst/>
          </a:prstGeom>
          <a:solidFill xmlns:a="http://schemas.openxmlformats.org/drawingml/2006/main">
            <a:srgbClr val="FFC72C"/>
          </a:solidFill>
          <a:ln xmlns:a="http://schemas.openxmlformats.org/drawingml/2006/main" w="19050">
            <a:solidFill>
              <a:srgbClr val="FFC72C"/>
            </a:solidFill>
            <a:prstDash val="solid"/>
          </a:ln>
        </p:spPr>
      </p:sp>
      <p:sp>
        <p:nvSpPr>
          <p:cNvPr id="11" name="">
            <a:extLst xmlns:a="http://schemas.openxmlformats.org/drawingml/2006/main">
              <a:ext uri="{FF2B5EF4-FFF2-40B4-BE49-F238E27FC236}">
                <a16:creationId xmlns:a16="http://schemas.microsoft.com/office/drawing/2014/main" id="{B7EDD9ED-E7AF-4FC9-AAB2-06EF29613B2F}"/>
              </a:ext>
            </a:extLst>
          </p:cNvPr>
          <p:cNvSpPr>
            <a:spLocks xmlns:a="http://schemas.openxmlformats.org/drawingml/2006/main" noGrp="1"/>
          </p:cNvSpPr>
          <p:nvPr/>
        </p:nvSpPr>
        <p:spPr>
          <a:xfrm xmlns:a="http://schemas.openxmlformats.org/drawingml/2006/main">
            <a:off x="12192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KP0</a:t>
            </a:r>
          </a:p>
        </p:txBody>
      </p:sp>
      <p:sp>
        <p:nvSpPr>
          <p:cNvPr id="12" name="">
            <a:extLst xmlns:a="http://schemas.openxmlformats.org/drawingml/2006/main">
              <a:ext uri="{FF2B5EF4-FFF2-40B4-BE49-F238E27FC236}">
                <a16:creationId xmlns:a16="http://schemas.microsoft.com/office/drawing/2014/main" id="{7E72C2A1-6C56-42FC-A5A2-B7F27E411F3D}"/>
              </a:ext>
            </a:extLst>
          </p:cNvPr>
          <p:cNvSpPr>
            <a:spLocks xmlns:a="http://schemas.openxmlformats.org/drawingml/2006/main" noGrp="1"/>
          </p:cNvSpPr>
          <p:nvPr/>
        </p:nvSpPr>
        <p:spPr>
          <a:xfrm xmlns:a="http://schemas.openxmlformats.org/drawingml/2006/main">
            <a:off x="10096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0–2m</a:t>
            </a:r>
          </a:p>
        </p:txBody>
      </p:sp>
      <p:sp>
        <p:nvSpPr>
          <p:cNvPr id="13" name="">
            <a:extLst xmlns:a="http://schemas.openxmlformats.org/drawingml/2006/main">
              <a:ext uri="{FF2B5EF4-FFF2-40B4-BE49-F238E27FC236}">
                <a16:creationId xmlns:a16="http://schemas.microsoft.com/office/drawing/2014/main" id="{15FDA9DF-2A6C-46ED-A3AB-7B82C7401F53}"/>
              </a:ext>
            </a:extLst>
          </p:cNvPr>
          <p:cNvSpPr>
            <a:spLocks xmlns:a="http://schemas.openxmlformats.org/drawingml/2006/main" noGrp="1"/>
          </p:cNvSpPr>
          <p:nvPr/>
        </p:nvSpPr>
        <p:spPr>
          <a:xfrm xmlns:a="http://schemas.openxmlformats.org/drawingml/2006/main">
            <a:off x="8191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Direction</a:t>
            </a:r>
          </a:p>
        </p:txBody>
      </p:sp>
      <p:sp>
        <p:nvSpPr>
          <p:cNvPr id="14" name="">
            <a:extLst xmlns:a="http://schemas.openxmlformats.org/drawingml/2006/main">
              <a:ext uri="{FF2B5EF4-FFF2-40B4-BE49-F238E27FC236}">
                <a16:creationId xmlns:a16="http://schemas.microsoft.com/office/drawing/2014/main" id="{C1E643B3-E0E9-468D-AA69-500498ADA896}"/>
              </a:ext>
            </a:extLst>
          </p:cNvPr>
          <p:cNvSpPr>
            <a:spLocks xmlns:a="http://schemas.openxmlformats.org/drawingml/2006/main" noGrp="1"/>
          </p:cNvSpPr>
          <p:nvPr/>
        </p:nvSpPr>
        <p:spPr>
          <a:xfrm xmlns:a="http://schemas.openxmlformats.org/drawingml/2006/main">
            <a:off x="7429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owners + inventory</a:t>
            </a:r>
          </a:p>
        </p:txBody>
      </p:sp>
      <p:sp>
        <p:nvSpPr>
          <p:cNvPr id="15" name="">
            <a:extLst xmlns:a="http://schemas.openxmlformats.org/drawingml/2006/main">
              <a:ext uri="{FF2B5EF4-FFF2-40B4-BE49-F238E27FC236}">
                <a16:creationId xmlns:a16="http://schemas.microsoft.com/office/drawing/2014/main" id="{208A5602-57D3-4DA2-82EC-04BCEE5B1925}"/>
              </a:ext>
            </a:extLst>
          </p:cNvPr>
          <p:cNvSpPr>
            <a:spLocks xmlns:a="http://schemas.openxmlformats.org/drawingml/2006/main" noGrp="1"/>
          </p:cNvSpPr>
          <p:nvPr/>
        </p:nvSpPr>
        <p:spPr>
          <a:xfrm xmlns:a="http://schemas.openxmlformats.org/drawingml/2006/main">
            <a:off x="3028950" y="3514725"/>
            <a:ext cx="552450" cy="552450"/>
          </a:xfrm>
          <a:prstGeom xmlns:a="http://schemas.openxmlformats.org/drawingml/2006/main" prst="ellipse">
            <a:avLst/>
          </a:prstGeom>
          <a:solidFill xmlns:a="http://schemas.openxmlformats.org/drawingml/2006/main">
            <a:srgbClr val="FFC72C"/>
          </a:solidFill>
          <a:ln xmlns:a="http://schemas.openxmlformats.org/drawingml/2006/main" w="19050">
            <a:solidFill>
              <a:srgbClr val="FFC72C"/>
            </a:solidFill>
            <a:prstDash val="solid"/>
          </a:ln>
        </p:spPr>
      </p:sp>
      <p:sp>
        <p:nvSpPr>
          <p:cNvPr id="16" name="">
            <a:extLst xmlns:a="http://schemas.openxmlformats.org/drawingml/2006/main">
              <a:ext uri="{FF2B5EF4-FFF2-40B4-BE49-F238E27FC236}">
                <a16:creationId xmlns:a16="http://schemas.microsoft.com/office/drawing/2014/main" id="{FC484416-6227-49D8-B101-7F04A4DD5366}"/>
              </a:ext>
            </a:extLst>
          </p:cNvPr>
          <p:cNvSpPr>
            <a:spLocks xmlns:a="http://schemas.openxmlformats.org/drawingml/2006/main" noGrp="1"/>
          </p:cNvSpPr>
          <p:nvPr/>
        </p:nvSpPr>
        <p:spPr>
          <a:xfrm xmlns:a="http://schemas.openxmlformats.org/drawingml/2006/main">
            <a:off x="30289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KP1</a:t>
            </a:r>
          </a:p>
        </p:txBody>
      </p:sp>
      <p:sp>
        <p:nvSpPr>
          <p:cNvPr id="17" name="">
            <a:extLst xmlns:a="http://schemas.openxmlformats.org/drawingml/2006/main">
              <a:ext uri="{FF2B5EF4-FFF2-40B4-BE49-F238E27FC236}">
                <a16:creationId xmlns:a16="http://schemas.microsoft.com/office/drawing/2014/main" id="{7E9EA001-5D76-41BF-B585-EEEC92317757}"/>
              </a:ext>
            </a:extLst>
          </p:cNvPr>
          <p:cNvSpPr>
            <a:spLocks xmlns:a="http://schemas.openxmlformats.org/drawingml/2006/main" noGrp="1"/>
          </p:cNvSpPr>
          <p:nvPr/>
        </p:nvSpPr>
        <p:spPr>
          <a:xfrm xmlns:a="http://schemas.openxmlformats.org/drawingml/2006/main">
            <a:off x="28194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2–5m</a:t>
            </a:r>
          </a:p>
        </p:txBody>
      </p:sp>
      <p:sp>
        <p:nvSpPr>
          <p:cNvPr id="18" name="">
            <a:extLst xmlns:a="http://schemas.openxmlformats.org/drawingml/2006/main">
              <a:ext uri="{FF2B5EF4-FFF2-40B4-BE49-F238E27FC236}">
                <a16:creationId xmlns:a16="http://schemas.microsoft.com/office/drawing/2014/main" id="{A371116D-EA8A-49D7-8D1D-F199C9FF5A6E}"/>
              </a:ext>
            </a:extLst>
          </p:cNvPr>
          <p:cNvSpPr>
            <a:spLocks xmlns:a="http://schemas.openxmlformats.org/drawingml/2006/main" noGrp="1"/>
          </p:cNvSpPr>
          <p:nvPr/>
        </p:nvSpPr>
        <p:spPr>
          <a:xfrm xmlns:a="http://schemas.openxmlformats.org/drawingml/2006/main">
            <a:off x="26289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Foundation</a:t>
            </a:r>
          </a:p>
        </p:txBody>
      </p:sp>
      <p:sp>
        <p:nvSpPr>
          <p:cNvPr id="19" name="">
            <a:extLst xmlns:a="http://schemas.openxmlformats.org/drawingml/2006/main">
              <a:ext uri="{FF2B5EF4-FFF2-40B4-BE49-F238E27FC236}">
                <a16:creationId xmlns:a16="http://schemas.microsoft.com/office/drawing/2014/main" id="{C112D303-0517-4835-AD58-80C487AE0583}"/>
              </a:ext>
            </a:extLst>
          </p:cNvPr>
          <p:cNvSpPr>
            <a:spLocks xmlns:a="http://schemas.openxmlformats.org/drawingml/2006/main" noGrp="1"/>
          </p:cNvSpPr>
          <p:nvPr/>
        </p:nvSpPr>
        <p:spPr>
          <a:xfrm xmlns:a="http://schemas.openxmlformats.org/drawingml/2006/main">
            <a:off x="25527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CP/DB/PKI + paved road</a:t>
            </a:r>
          </a:p>
        </p:txBody>
      </p:sp>
      <p:sp>
        <p:nvSpPr>
          <p:cNvPr id="20" name="">
            <a:extLst xmlns:a="http://schemas.openxmlformats.org/drawingml/2006/main">
              <a:ext uri="{FF2B5EF4-FFF2-40B4-BE49-F238E27FC236}">
                <a16:creationId xmlns:a16="http://schemas.microsoft.com/office/drawing/2014/main" id="{6BF5CDFA-0DC3-4CCA-8D80-D966539213D0}"/>
              </a:ext>
            </a:extLst>
          </p:cNvPr>
          <p:cNvSpPr>
            <a:spLocks xmlns:a="http://schemas.openxmlformats.org/drawingml/2006/main" noGrp="1"/>
          </p:cNvSpPr>
          <p:nvPr/>
        </p:nvSpPr>
        <p:spPr>
          <a:xfrm xmlns:a="http://schemas.openxmlformats.org/drawingml/2006/main">
            <a:off x="483870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21" name="">
            <a:extLst xmlns:a="http://schemas.openxmlformats.org/drawingml/2006/main">
              <a:ext uri="{FF2B5EF4-FFF2-40B4-BE49-F238E27FC236}">
                <a16:creationId xmlns:a16="http://schemas.microsoft.com/office/drawing/2014/main" id="{CA490340-0B85-4157-B5DC-CFB8187DD8C2}"/>
              </a:ext>
            </a:extLst>
          </p:cNvPr>
          <p:cNvSpPr>
            <a:spLocks xmlns:a="http://schemas.openxmlformats.org/drawingml/2006/main" noGrp="1"/>
          </p:cNvSpPr>
          <p:nvPr/>
        </p:nvSpPr>
        <p:spPr>
          <a:xfrm xmlns:a="http://schemas.openxmlformats.org/drawingml/2006/main">
            <a:off x="48387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KP2</a:t>
            </a:r>
          </a:p>
        </p:txBody>
      </p:sp>
      <p:sp>
        <p:nvSpPr>
          <p:cNvPr id="22" name="">
            <a:extLst xmlns:a="http://schemas.openxmlformats.org/drawingml/2006/main">
              <a:ext uri="{FF2B5EF4-FFF2-40B4-BE49-F238E27FC236}">
                <a16:creationId xmlns:a16="http://schemas.microsoft.com/office/drawing/2014/main" id="{2F60C272-FA1F-4154-B36E-213CC267C5E7}"/>
              </a:ext>
            </a:extLst>
          </p:cNvPr>
          <p:cNvSpPr>
            <a:spLocks xmlns:a="http://schemas.openxmlformats.org/drawingml/2006/main" noGrp="1"/>
          </p:cNvSpPr>
          <p:nvPr/>
        </p:nvSpPr>
        <p:spPr>
          <a:xfrm xmlns:a="http://schemas.openxmlformats.org/drawingml/2006/main">
            <a:off x="46291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4–8m</a:t>
            </a:r>
          </a:p>
        </p:txBody>
      </p:sp>
      <p:sp>
        <p:nvSpPr>
          <p:cNvPr id="23" name="">
            <a:extLst xmlns:a="http://schemas.openxmlformats.org/drawingml/2006/main">
              <a:ext uri="{FF2B5EF4-FFF2-40B4-BE49-F238E27FC236}">
                <a16:creationId xmlns:a16="http://schemas.microsoft.com/office/drawing/2014/main" id="{C7270B88-8650-463F-BCF0-151B62836AB8}"/>
              </a:ext>
            </a:extLst>
          </p:cNvPr>
          <p:cNvSpPr>
            <a:spLocks xmlns:a="http://schemas.openxmlformats.org/drawingml/2006/main" noGrp="1"/>
          </p:cNvSpPr>
          <p:nvPr/>
        </p:nvSpPr>
        <p:spPr>
          <a:xfrm xmlns:a="http://schemas.openxmlformats.org/drawingml/2006/main">
            <a:off x="44386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3367"/>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Representative</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proof</a:t>
            </a:r>
          </a:p>
        </p:txBody>
      </p:sp>
      <p:sp>
        <p:nvSpPr>
          <p:cNvPr id="24" name="">
            <a:extLst xmlns:a="http://schemas.openxmlformats.org/drawingml/2006/main">
              <a:ext uri="{FF2B5EF4-FFF2-40B4-BE49-F238E27FC236}">
                <a16:creationId xmlns:a16="http://schemas.microsoft.com/office/drawing/2014/main" id="{64E70BE8-E629-4597-A7F8-CA2E4761F457}"/>
              </a:ext>
            </a:extLst>
          </p:cNvPr>
          <p:cNvSpPr>
            <a:spLocks xmlns:a="http://schemas.openxmlformats.org/drawingml/2006/main" noGrp="1"/>
          </p:cNvSpPr>
          <p:nvPr/>
        </p:nvSpPr>
        <p:spPr>
          <a:xfrm xmlns:a="http://schemas.openxmlformats.org/drawingml/2006/main">
            <a:off x="43624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failure + restore + SLO</a:t>
            </a:r>
          </a:p>
        </p:txBody>
      </p:sp>
      <p:sp>
        <p:nvSpPr>
          <p:cNvPr id="25" name="">
            <a:extLst xmlns:a="http://schemas.openxmlformats.org/drawingml/2006/main">
              <a:ext uri="{FF2B5EF4-FFF2-40B4-BE49-F238E27FC236}">
                <a16:creationId xmlns:a16="http://schemas.microsoft.com/office/drawing/2014/main" id="{2B3E5B0F-7861-4F86-8C28-CA4D6C25A807}"/>
              </a:ext>
            </a:extLst>
          </p:cNvPr>
          <p:cNvSpPr>
            <a:spLocks xmlns:a="http://schemas.openxmlformats.org/drawingml/2006/main" noGrp="1"/>
          </p:cNvSpPr>
          <p:nvPr/>
        </p:nvSpPr>
        <p:spPr>
          <a:xfrm xmlns:a="http://schemas.openxmlformats.org/drawingml/2006/main">
            <a:off x="664845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26" name="">
            <a:extLst xmlns:a="http://schemas.openxmlformats.org/drawingml/2006/main">
              <a:ext uri="{FF2B5EF4-FFF2-40B4-BE49-F238E27FC236}">
                <a16:creationId xmlns:a16="http://schemas.microsoft.com/office/drawing/2014/main" id="{9BBC032A-089C-43FA-84B9-CD22FC46220E}"/>
              </a:ext>
            </a:extLst>
          </p:cNvPr>
          <p:cNvSpPr>
            <a:spLocks xmlns:a="http://schemas.openxmlformats.org/drawingml/2006/main" noGrp="1"/>
          </p:cNvSpPr>
          <p:nvPr/>
        </p:nvSpPr>
        <p:spPr>
          <a:xfrm xmlns:a="http://schemas.openxmlformats.org/drawingml/2006/main">
            <a:off x="66484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KP3</a:t>
            </a:r>
          </a:p>
        </p:txBody>
      </p:sp>
      <p:sp>
        <p:nvSpPr>
          <p:cNvPr id="27" name="">
            <a:extLst xmlns:a="http://schemas.openxmlformats.org/drawingml/2006/main">
              <a:ext uri="{FF2B5EF4-FFF2-40B4-BE49-F238E27FC236}">
                <a16:creationId xmlns:a16="http://schemas.microsoft.com/office/drawing/2014/main" id="{715BC160-5D8B-4A2F-9F55-AF45AD4010EA}"/>
              </a:ext>
            </a:extLst>
          </p:cNvPr>
          <p:cNvSpPr>
            <a:spLocks xmlns:a="http://schemas.openxmlformats.org/drawingml/2006/main" noGrp="1"/>
          </p:cNvSpPr>
          <p:nvPr/>
        </p:nvSpPr>
        <p:spPr>
          <a:xfrm xmlns:a="http://schemas.openxmlformats.org/drawingml/2006/main">
            <a:off x="64389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6–10m</a:t>
            </a:r>
          </a:p>
        </p:txBody>
      </p:sp>
      <p:sp>
        <p:nvSpPr>
          <p:cNvPr id="28" name="">
            <a:extLst xmlns:a="http://schemas.openxmlformats.org/drawingml/2006/main">
              <a:ext uri="{FF2B5EF4-FFF2-40B4-BE49-F238E27FC236}">
                <a16:creationId xmlns:a16="http://schemas.microsoft.com/office/drawing/2014/main" id="{AC088AA2-C961-4ED4-AA3A-93A2BEACF91E}"/>
              </a:ext>
            </a:extLst>
          </p:cNvPr>
          <p:cNvSpPr>
            <a:spLocks xmlns:a="http://schemas.openxmlformats.org/drawingml/2006/main" noGrp="1"/>
          </p:cNvSpPr>
          <p:nvPr/>
        </p:nvSpPr>
        <p:spPr>
          <a:xfrm xmlns:a="http://schemas.openxmlformats.org/drawingml/2006/main">
            <a:off x="62484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Coexistence</a:t>
            </a:r>
          </a:p>
        </p:txBody>
      </p:sp>
      <p:sp>
        <p:nvSpPr>
          <p:cNvPr id="29" name="">
            <a:extLst xmlns:a="http://schemas.openxmlformats.org/drawingml/2006/main">
              <a:ext uri="{FF2B5EF4-FFF2-40B4-BE49-F238E27FC236}">
                <a16:creationId xmlns:a16="http://schemas.microsoft.com/office/drawing/2014/main" id="{2280B853-4EB1-46ED-AC91-D35F1ED62C2E}"/>
              </a:ext>
            </a:extLst>
          </p:cNvPr>
          <p:cNvSpPr>
            <a:spLocks xmlns:a="http://schemas.openxmlformats.org/drawingml/2006/main" noGrp="1"/>
          </p:cNvSpPr>
          <p:nvPr/>
        </p:nvSpPr>
        <p:spPr>
          <a:xfrm xmlns:a="http://schemas.openxmlformats.org/drawingml/2006/main">
            <a:off x="61722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route-back + adoption</a:t>
            </a:r>
          </a:p>
        </p:txBody>
      </p:sp>
      <p:sp>
        <p:nvSpPr>
          <p:cNvPr id="30" name="">
            <a:extLst xmlns:a="http://schemas.openxmlformats.org/drawingml/2006/main">
              <a:ext uri="{FF2B5EF4-FFF2-40B4-BE49-F238E27FC236}">
                <a16:creationId xmlns:a16="http://schemas.microsoft.com/office/drawing/2014/main" id="{08C2F6B1-2D9E-4F06-935D-59F027BF20B8}"/>
              </a:ext>
            </a:extLst>
          </p:cNvPr>
          <p:cNvSpPr>
            <a:spLocks xmlns:a="http://schemas.openxmlformats.org/drawingml/2006/main" noGrp="1"/>
          </p:cNvSpPr>
          <p:nvPr/>
        </p:nvSpPr>
        <p:spPr>
          <a:xfrm xmlns:a="http://schemas.openxmlformats.org/drawingml/2006/main">
            <a:off x="845820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31" name="">
            <a:extLst xmlns:a="http://schemas.openxmlformats.org/drawingml/2006/main">
              <a:ext uri="{FF2B5EF4-FFF2-40B4-BE49-F238E27FC236}">
                <a16:creationId xmlns:a16="http://schemas.microsoft.com/office/drawing/2014/main" id="{218B4EDE-3BE4-4945-A03F-D4AB88A2F934}"/>
              </a:ext>
            </a:extLst>
          </p:cNvPr>
          <p:cNvSpPr>
            <a:spLocks xmlns:a="http://schemas.openxmlformats.org/drawingml/2006/main" noGrp="1"/>
          </p:cNvSpPr>
          <p:nvPr/>
        </p:nvSpPr>
        <p:spPr>
          <a:xfrm xmlns:a="http://schemas.openxmlformats.org/drawingml/2006/main">
            <a:off x="84582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KP4</a:t>
            </a:r>
          </a:p>
        </p:txBody>
      </p:sp>
      <p:sp>
        <p:nvSpPr>
          <p:cNvPr id="32" name="">
            <a:extLst xmlns:a="http://schemas.openxmlformats.org/drawingml/2006/main">
              <a:ext uri="{FF2B5EF4-FFF2-40B4-BE49-F238E27FC236}">
                <a16:creationId xmlns:a16="http://schemas.microsoft.com/office/drawing/2014/main" id="{50FA7E66-7FBC-45CD-B910-4879362CD1A0}"/>
              </a:ext>
            </a:extLst>
          </p:cNvPr>
          <p:cNvSpPr>
            <a:spLocks xmlns:a="http://schemas.openxmlformats.org/drawingml/2006/main" noGrp="1"/>
          </p:cNvSpPr>
          <p:nvPr/>
        </p:nvSpPr>
        <p:spPr>
          <a:xfrm xmlns:a="http://schemas.openxmlformats.org/drawingml/2006/main">
            <a:off x="82486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9–14m</a:t>
            </a:r>
          </a:p>
        </p:txBody>
      </p:sp>
      <p:sp>
        <p:nvSpPr>
          <p:cNvPr id="33" name="">
            <a:extLst xmlns:a="http://schemas.openxmlformats.org/drawingml/2006/main">
              <a:ext uri="{FF2B5EF4-FFF2-40B4-BE49-F238E27FC236}">
                <a16:creationId xmlns:a16="http://schemas.microsoft.com/office/drawing/2014/main" id="{DB65C47A-1EB4-4834-ACE9-D697B88CE3B9}"/>
              </a:ext>
            </a:extLst>
          </p:cNvPr>
          <p:cNvSpPr>
            <a:spLocks xmlns:a="http://schemas.openxmlformats.org/drawingml/2006/main" noGrp="1"/>
          </p:cNvSpPr>
          <p:nvPr/>
        </p:nvSpPr>
        <p:spPr>
          <a:xfrm xmlns:a="http://schemas.openxmlformats.org/drawingml/2006/main">
            <a:off x="80581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p:txBody>
      </p:sp>
      <p:sp>
        <p:nvSpPr>
          <p:cNvPr id="34" name="">
            <a:extLst xmlns:a="http://schemas.openxmlformats.org/drawingml/2006/main">
              <a:ext uri="{FF2B5EF4-FFF2-40B4-BE49-F238E27FC236}">
                <a16:creationId xmlns:a16="http://schemas.microsoft.com/office/drawing/2014/main" id="{4E2FB793-AE2D-45E4-A49E-3C2B51C45DBC}"/>
              </a:ext>
            </a:extLst>
          </p:cNvPr>
          <p:cNvSpPr>
            <a:spLocks xmlns:a="http://schemas.openxmlformats.org/drawingml/2006/main" noGrp="1"/>
          </p:cNvSpPr>
          <p:nvPr/>
        </p:nvSpPr>
        <p:spPr>
          <a:xfrm xmlns:a="http://schemas.openxmlformats.org/drawingml/2006/main">
            <a:off x="79819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capacity + sustainability</a:t>
            </a:r>
          </a:p>
        </p:txBody>
      </p:sp>
      <p:sp>
        <p:nvSpPr>
          <p:cNvPr id="35" name="">
            <a:extLst xmlns:a="http://schemas.openxmlformats.org/drawingml/2006/main">
              <a:ext uri="{FF2B5EF4-FFF2-40B4-BE49-F238E27FC236}">
                <a16:creationId xmlns:a16="http://schemas.microsoft.com/office/drawing/2014/main" id="{E96E7EB9-F5AA-4DD1-B238-DD3BCB4EA87B}"/>
              </a:ext>
            </a:extLst>
          </p:cNvPr>
          <p:cNvSpPr>
            <a:spLocks xmlns:a="http://schemas.openxmlformats.org/drawingml/2006/main" noGrp="1"/>
          </p:cNvSpPr>
          <p:nvPr/>
        </p:nvSpPr>
        <p:spPr>
          <a:xfrm xmlns:a="http://schemas.openxmlformats.org/drawingml/2006/main">
            <a:off x="1026795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36" name="">
            <a:extLst xmlns:a="http://schemas.openxmlformats.org/drawingml/2006/main">
              <a:ext uri="{FF2B5EF4-FFF2-40B4-BE49-F238E27FC236}">
                <a16:creationId xmlns:a16="http://schemas.microsoft.com/office/drawing/2014/main" id="{09499944-E6CC-4B38-A394-AEA8FFD28427}"/>
              </a:ext>
            </a:extLst>
          </p:cNvPr>
          <p:cNvSpPr>
            <a:spLocks xmlns:a="http://schemas.openxmlformats.org/drawingml/2006/main" noGrp="1"/>
          </p:cNvSpPr>
          <p:nvPr/>
        </p:nvSpPr>
        <p:spPr>
          <a:xfrm xmlns:a="http://schemas.openxmlformats.org/drawingml/2006/main">
            <a:off x="102679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KP5</a:t>
            </a:r>
          </a:p>
        </p:txBody>
      </p:sp>
      <p:sp>
        <p:nvSpPr>
          <p:cNvPr id="37" name="">
            <a:extLst xmlns:a="http://schemas.openxmlformats.org/drawingml/2006/main">
              <a:ext uri="{FF2B5EF4-FFF2-40B4-BE49-F238E27FC236}">
                <a16:creationId xmlns:a16="http://schemas.microsoft.com/office/drawing/2014/main" id="{41A935F6-5225-41BB-9D1F-9E0406F40172}"/>
              </a:ext>
            </a:extLst>
          </p:cNvPr>
          <p:cNvSpPr>
            <a:spLocks xmlns:a="http://schemas.openxmlformats.org/drawingml/2006/main" noGrp="1"/>
          </p:cNvSpPr>
          <p:nvPr/>
        </p:nvSpPr>
        <p:spPr>
          <a:xfrm xmlns:a="http://schemas.openxmlformats.org/drawingml/2006/main">
            <a:off x="100584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13–18m</a:t>
            </a:r>
          </a:p>
        </p:txBody>
      </p:sp>
      <p:sp>
        <p:nvSpPr>
          <p:cNvPr id="38" name="">
            <a:extLst xmlns:a="http://schemas.openxmlformats.org/drawingml/2006/main">
              <a:ext uri="{FF2B5EF4-FFF2-40B4-BE49-F238E27FC236}">
                <a16:creationId xmlns:a16="http://schemas.microsoft.com/office/drawing/2014/main" id="{03B78C41-2697-41E4-BF7C-173CAF2A0434}"/>
              </a:ext>
            </a:extLst>
          </p:cNvPr>
          <p:cNvSpPr>
            <a:spLocks xmlns:a="http://schemas.openxmlformats.org/drawingml/2006/main" noGrp="1"/>
          </p:cNvSpPr>
          <p:nvPr/>
        </p:nvSpPr>
        <p:spPr>
          <a:xfrm xmlns:a="http://schemas.openxmlformats.org/drawingml/2006/main">
            <a:off x="98679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decision</a:t>
            </a:r>
          </a:p>
        </p:txBody>
      </p:sp>
      <p:sp>
        <p:nvSpPr>
          <p:cNvPr id="39" name="">
            <a:extLst xmlns:a="http://schemas.openxmlformats.org/drawingml/2006/main">
              <a:ext uri="{FF2B5EF4-FFF2-40B4-BE49-F238E27FC236}">
                <a16:creationId xmlns:a16="http://schemas.microsoft.com/office/drawing/2014/main" id="{7F6EE68C-24CC-43D6-8383-F9766B9ECEDF}"/>
              </a:ext>
            </a:extLst>
          </p:cNvPr>
          <p:cNvSpPr>
            <a:spLocks xmlns:a="http://schemas.openxmlformats.org/drawingml/2006/main" noGrp="1"/>
          </p:cNvSpPr>
          <p:nvPr/>
        </p:nvSpPr>
        <p:spPr>
          <a:xfrm xmlns:a="http://schemas.openxmlformats.org/drawingml/2006/main">
            <a:off x="97917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scale / narrow / switch / exit</a:t>
            </a:r>
          </a:p>
        </p:txBody>
      </p:sp>
      <p:sp>
        <p:nvSpPr>
          <p:cNvPr id="40" name="">
            <a:extLst xmlns:a="http://schemas.openxmlformats.org/drawingml/2006/main">
              <a:ext uri="{FF2B5EF4-FFF2-40B4-BE49-F238E27FC236}">
                <a16:creationId xmlns:a16="http://schemas.microsoft.com/office/drawing/2014/main" id="{083403D3-6501-4367-B6B9-13EA9CC96883}"/>
              </a:ext>
            </a:extLst>
          </p:cNvPr>
          <p:cNvSpPr>
            <a:spLocks xmlns:a="http://schemas.openxmlformats.org/drawingml/2006/main" noGrp="1"/>
          </p:cNvSpPr>
          <p:nvPr/>
        </p:nvSpPr>
        <p:spPr>
          <a:xfrm xmlns:a="http://schemas.openxmlformats.org/drawingml/2006/main">
            <a:off x="1619250" y="5410200"/>
            <a:ext cx="8953500" cy="4572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86C2321D-2EAF-46F6-A445-8BDCAE2CC6E5}"/>
              </a:ext>
            </a:extLst>
          </p:cNvPr>
          <p:cNvSpPr>
            <a:spLocks xmlns:a="http://schemas.openxmlformats.org/drawingml/2006/main" noGrp="1"/>
          </p:cNvSpPr>
          <p:nvPr/>
        </p:nvSpPr>
        <p:spPr>
          <a:xfrm xmlns:a="http://schemas.openxmlformats.org/drawingml/2006/main">
            <a:off x="1790700" y="5505450"/>
            <a:ext cx="861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FFFFFF"/>
                </a:solidFill>
                <a:latin typeface="Arial"/>
                <a:ea typeface="Arial"/>
                <a:cs typeface="Arial"/>
              </a:defRPr>
            </a:pPr>
            <a:r>
              <a:rPr sz="1650" b="1" i="0">
                <a:solidFill>
                  <a:srgbClr val="FFFFFF"/>
                </a:solidFill>
                <a:latin typeface="Arial"/>
                <a:ea typeface="Arial"/>
                <a:cs typeface="Arial"/>
              </a:rPr>
              <a:t>Every phase exits on evidence—not elapsed time.</a:t>
            </a:r>
          </a:p>
        </p:txBody>
      </p:sp>
    </p:spTree>
    <p:extLst>
      <p:ext uri="{BB962C8B-B14F-4D97-AF65-F5344CB8AC3E}">
        <p14:creationId xmlns:p14="http://schemas.microsoft.com/office/powerpoint/2010/main" val="173883145"/>
      </p:ext>
    </p:extLst>
  </p:cSld>
</p:sld>
</file>

<file path=ppt/slides/slide1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63A1A880-42B2-4240-8C81-614EC365C4A0}"/>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CA3BB9C-F970-48B9-8BCA-75C271D01DDD}"/>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50C9A46-BCD6-487B-B7AB-E161BBB3583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14 / MIGRATION</a:t>
            </a:r>
          </a:p>
        </p:txBody>
      </p:sp>
      <p:sp>
        <p:nvSpPr>
          <p:cNvPr id="4" name="">
            <a:extLst xmlns:a="http://schemas.openxmlformats.org/drawingml/2006/main">
              <a:ext uri="{FF2B5EF4-FFF2-40B4-BE49-F238E27FC236}">
                <a16:creationId xmlns:a16="http://schemas.microsoft.com/office/drawing/2014/main" id="{CD26530F-E24B-4FCA-B8A8-DB734813748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Move responsibilities—not Mule packages</a:t>
            </a:r>
          </a:p>
        </p:txBody>
      </p:sp>
      <p:sp>
        <p:nvSpPr>
          <p:cNvPr id="5" name="">
            <a:extLst xmlns:a="http://schemas.openxmlformats.org/drawingml/2006/main">
              <a:ext uri="{FF2B5EF4-FFF2-40B4-BE49-F238E27FC236}">
                <a16:creationId xmlns:a16="http://schemas.microsoft.com/office/drawing/2014/main" id="{2634C78F-F297-45B3-8ED5-FE7D14B74DCE}"/>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Decompose gateway, facade, transformation, orchestration, batch, connector and retirement duties.</a:t>
            </a:r>
          </a:p>
        </p:txBody>
      </p:sp>
      <p:sp>
        <p:nvSpPr>
          <p:cNvPr id="6" name="">
            <a:extLst xmlns:a="http://schemas.openxmlformats.org/drawingml/2006/main">
              <a:ext uri="{FF2B5EF4-FFF2-40B4-BE49-F238E27FC236}">
                <a16:creationId xmlns:a16="http://schemas.microsoft.com/office/drawing/2014/main" id="{07778F16-C4EA-4DDB-B374-049C3853959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5A91ACB-79E6-4C5F-BA16-4355A571FDB8}"/>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dc1d9af182974e34"/>
              </a:rPr>
              <a:t>Repo reference</a:t>
            </a:r>
            <a:r>
              <a:rPr sz="825">
                <a:solidFill>
                  <a:srgbClr val="666762"/>
                </a:solidFill>
              </a:rPr>
              <a:t>  ·  </a:t>
            </a:r>
            <a:r>
              <a:rPr sz="825" u="sng">
                <a:solidFill>
                  <a:srgbClr val="666762"/>
                </a:solidFill>
                <a:hlinkClick xmlns:r="http://schemas.openxmlformats.org/officeDocument/2006/relationships" r:id="R15f6e7610c514a41"/>
              </a:rPr>
              <a:t>Official docs</a:t>
            </a:r>
          </a:p>
        </p:txBody>
      </p:sp>
      <p:sp>
        <p:nvSpPr>
          <p:cNvPr id="8" name="">
            <a:extLst xmlns:a="http://schemas.openxmlformats.org/drawingml/2006/main">
              <a:ext uri="{FF2B5EF4-FFF2-40B4-BE49-F238E27FC236}">
                <a16:creationId xmlns:a16="http://schemas.microsoft.com/office/drawing/2014/main" id="{01357F1B-6B35-4095-B51B-3331FBBF5DA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14 / 25</a:t>
            </a:r>
          </a:p>
        </p:txBody>
      </p:sp>
      <p:sp>
        <p:nvSpPr>
          <p:cNvPr id="9" name="">
            <a:extLst xmlns:a="http://schemas.openxmlformats.org/drawingml/2006/main">
              <a:ext uri="{FF2B5EF4-FFF2-40B4-BE49-F238E27FC236}">
                <a16:creationId xmlns:a16="http://schemas.microsoft.com/office/drawing/2014/main" id="{4F450649-D764-456C-98B2-0C3473B15082}"/>
              </a:ext>
            </a:extLst>
          </p:cNvPr>
          <p:cNvSpPr>
            <a:spLocks xmlns:a="http://schemas.openxmlformats.org/drawingml/2006/main" noGrp="1"/>
          </p:cNvSpPr>
          <p:nvPr/>
        </p:nvSpPr>
        <p:spPr>
          <a:xfrm xmlns:a="http://schemas.openxmlformats.org/drawingml/2006/main">
            <a:off x="685800" y="2809875"/>
            <a:ext cx="23812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14288">
            <a:solidFill>
              <a:srgbClr val="FFC72C"/>
            </a:solidFill>
            <a:prstDash val="solid"/>
          </a:ln>
        </p:spPr>
      </p:sp>
      <p:sp>
        <p:nvSpPr>
          <p:cNvPr id="10" name="">
            <a:extLst xmlns:a="http://schemas.openxmlformats.org/drawingml/2006/main">
              <a:ext uri="{FF2B5EF4-FFF2-40B4-BE49-F238E27FC236}">
                <a16:creationId xmlns:a16="http://schemas.microsoft.com/office/drawing/2014/main" id="{F48D3E9C-5067-40EF-8B6D-54335778E7C3}"/>
              </a:ext>
            </a:extLst>
          </p:cNvPr>
          <p:cNvSpPr>
            <a:spLocks xmlns:a="http://schemas.openxmlformats.org/drawingml/2006/main" noGrp="1"/>
          </p:cNvSpPr>
          <p:nvPr/>
        </p:nvSpPr>
        <p:spPr>
          <a:xfrm xmlns:a="http://schemas.openxmlformats.org/drawingml/2006/main">
            <a:off x="838200" y="29432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Mule estate unit</a:t>
            </a:r>
          </a:p>
        </p:txBody>
      </p:sp>
      <p:sp>
        <p:nvSpPr>
          <p:cNvPr id="11" name="">
            <a:extLst xmlns:a="http://schemas.openxmlformats.org/drawingml/2006/main">
              <a:ext uri="{FF2B5EF4-FFF2-40B4-BE49-F238E27FC236}">
                <a16:creationId xmlns:a16="http://schemas.microsoft.com/office/drawing/2014/main" id="{1549F0D5-3AA7-420F-93EC-4088FD9ED042}"/>
              </a:ext>
            </a:extLst>
          </p:cNvPr>
          <p:cNvSpPr>
            <a:spLocks xmlns:a="http://schemas.openxmlformats.org/drawingml/2006/main" noGrp="1"/>
          </p:cNvSpPr>
          <p:nvPr/>
        </p:nvSpPr>
        <p:spPr>
          <a:xfrm xmlns:a="http://schemas.openxmlformats.org/drawingml/2006/main">
            <a:off x="819150" y="3343275"/>
            <a:ext cx="21145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policy + facade + mapping + orchestration + connector + state</a:t>
            </a:r>
          </a:p>
        </p:txBody>
      </p:sp>
      <p:sp>
        <p:nvSpPr>
          <p:cNvPr id="12" name="">
            <a:extLst xmlns:a="http://schemas.openxmlformats.org/drawingml/2006/main">
              <a:ext uri="{FF2B5EF4-FFF2-40B4-BE49-F238E27FC236}">
                <a16:creationId xmlns:a16="http://schemas.microsoft.com/office/drawing/2014/main" id="{86493D52-1817-44AD-8547-1C79E9DBB257}"/>
              </a:ext>
            </a:extLst>
          </p:cNvPr>
          <p:cNvSpPr>
            <a:spLocks xmlns:a="http://schemas.openxmlformats.org/drawingml/2006/main" noGrp="1"/>
          </p:cNvSpPr>
          <p:nvPr/>
        </p:nvSpPr>
        <p:spPr>
          <a:xfrm xmlns:a="http://schemas.openxmlformats.org/drawingml/2006/main">
            <a:off x="40957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FFC72C"/>
            </a:solidFill>
            <a:prstDash val="solid"/>
          </a:ln>
        </p:spPr>
      </p:sp>
      <p:sp>
        <p:nvSpPr>
          <p:cNvPr id="13" name="">
            <a:extLst xmlns:a="http://schemas.openxmlformats.org/drawingml/2006/main">
              <a:ext uri="{FF2B5EF4-FFF2-40B4-BE49-F238E27FC236}">
                <a16:creationId xmlns:a16="http://schemas.microsoft.com/office/drawing/2014/main" id="{C7B38D6A-4D27-411E-AA26-4B8369B6F07B}"/>
              </a:ext>
            </a:extLst>
          </p:cNvPr>
          <p:cNvSpPr>
            <a:spLocks xmlns:a="http://schemas.openxmlformats.org/drawingml/2006/main" noGrp="1"/>
          </p:cNvSpPr>
          <p:nvPr/>
        </p:nvSpPr>
        <p:spPr>
          <a:xfrm xmlns:a="http://schemas.openxmlformats.org/drawingml/2006/main">
            <a:off x="42481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G · Gateway policy</a:t>
            </a:r>
          </a:p>
        </p:txBody>
      </p:sp>
      <p:sp>
        <p:nvSpPr>
          <p:cNvPr id="14" name="">
            <a:extLst xmlns:a="http://schemas.openxmlformats.org/drawingml/2006/main">
              <a:ext uri="{FF2B5EF4-FFF2-40B4-BE49-F238E27FC236}">
                <a16:creationId xmlns:a16="http://schemas.microsoft.com/office/drawing/2014/main" id="{5F0D0D70-C940-4875-91EC-6E1F29618C21}"/>
              </a:ext>
            </a:extLst>
          </p:cNvPr>
          <p:cNvSpPr>
            <a:spLocks xmlns:a="http://schemas.openxmlformats.org/drawingml/2006/main" noGrp="1"/>
          </p:cNvSpPr>
          <p:nvPr/>
        </p:nvSpPr>
        <p:spPr>
          <a:xfrm xmlns:a="http://schemas.openxmlformats.org/drawingml/2006/main">
            <a:off x="42291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a:t>
            </a:r>
          </a:p>
        </p:txBody>
      </p:sp>
      <p:sp>
        <p:nvSpPr>
          <p:cNvPr id="15" name="">
            <a:extLst xmlns:a="http://schemas.openxmlformats.org/drawingml/2006/main">
              <a:ext uri="{FF2B5EF4-FFF2-40B4-BE49-F238E27FC236}">
                <a16:creationId xmlns:a16="http://schemas.microsoft.com/office/drawing/2014/main" id="{D36E5374-DD34-42C8-B040-EFAE2CFC62E0}"/>
              </a:ext>
            </a:extLst>
          </p:cNvPr>
          <p:cNvSpPr>
            <a:spLocks xmlns:a="http://schemas.openxmlformats.org/drawingml/2006/main" noGrp="1"/>
          </p:cNvSpPr>
          <p:nvPr/>
        </p:nvSpPr>
        <p:spPr>
          <a:xfrm xmlns:a="http://schemas.openxmlformats.org/drawingml/2006/main">
            <a:off x="58864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A96300"/>
            </a:solidFill>
            <a:prstDash val="solid"/>
          </a:ln>
        </p:spPr>
      </p:sp>
      <p:sp>
        <p:nvSpPr>
          <p:cNvPr id="16" name="">
            <a:extLst xmlns:a="http://schemas.openxmlformats.org/drawingml/2006/main">
              <a:ext uri="{FF2B5EF4-FFF2-40B4-BE49-F238E27FC236}">
                <a16:creationId xmlns:a16="http://schemas.microsoft.com/office/drawing/2014/main" id="{3AD4F31A-908B-4725-A1CA-5D79D3E2A552}"/>
              </a:ext>
            </a:extLst>
          </p:cNvPr>
          <p:cNvSpPr>
            <a:spLocks xmlns:a="http://schemas.openxmlformats.org/drawingml/2006/main" noGrp="1"/>
          </p:cNvSpPr>
          <p:nvPr/>
        </p:nvSpPr>
        <p:spPr>
          <a:xfrm xmlns:a="http://schemas.openxmlformats.org/drawingml/2006/main">
            <a:off x="60388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F · Thin facade</a:t>
            </a:r>
          </a:p>
        </p:txBody>
      </p:sp>
      <p:sp>
        <p:nvSpPr>
          <p:cNvPr id="17" name="">
            <a:extLst xmlns:a="http://schemas.openxmlformats.org/drawingml/2006/main">
              <a:ext uri="{FF2B5EF4-FFF2-40B4-BE49-F238E27FC236}">
                <a16:creationId xmlns:a16="http://schemas.microsoft.com/office/drawing/2014/main" id="{27228589-C11D-45AC-98D4-31F3AE960FF9}"/>
              </a:ext>
            </a:extLst>
          </p:cNvPr>
          <p:cNvSpPr>
            <a:spLocks xmlns:a="http://schemas.openxmlformats.org/drawingml/2006/main" noGrp="1"/>
          </p:cNvSpPr>
          <p:nvPr/>
        </p:nvSpPr>
        <p:spPr>
          <a:xfrm xmlns:a="http://schemas.openxmlformats.org/drawingml/2006/main">
            <a:off x="60198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gateway or owned service</a:t>
            </a:r>
          </a:p>
        </p:txBody>
      </p:sp>
      <p:sp>
        <p:nvSpPr>
          <p:cNvPr id="18" name="">
            <a:extLst xmlns:a="http://schemas.openxmlformats.org/drawingml/2006/main">
              <a:ext uri="{FF2B5EF4-FFF2-40B4-BE49-F238E27FC236}">
                <a16:creationId xmlns:a16="http://schemas.microsoft.com/office/drawing/2014/main" id="{714F41F6-6AF1-4305-BFA9-9FCF637160E6}"/>
              </a:ext>
            </a:extLst>
          </p:cNvPr>
          <p:cNvSpPr>
            <a:spLocks xmlns:a="http://schemas.openxmlformats.org/drawingml/2006/main" noGrp="1"/>
          </p:cNvSpPr>
          <p:nvPr/>
        </p:nvSpPr>
        <p:spPr>
          <a:xfrm xmlns:a="http://schemas.openxmlformats.org/drawingml/2006/main">
            <a:off x="76771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19" name="">
            <a:extLst xmlns:a="http://schemas.openxmlformats.org/drawingml/2006/main">
              <a:ext uri="{FF2B5EF4-FFF2-40B4-BE49-F238E27FC236}">
                <a16:creationId xmlns:a16="http://schemas.microsoft.com/office/drawing/2014/main" id="{CD4CFFC9-9B40-402D-9836-6E8340BF8C76}"/>
              </a:ext>
            </a:extLst>
          </p:cNvPr>
          <p:cNvSpPr>
            <a:spLocks xmlns:a="http://schemas.openxmlformats.org/drawingml/2006/main" noGrp="1"/>
          </p:cNvSpPr>
          <p:nvPr/>
        </p:nvSpPr>
        <p:spPr>
          <a:xfrm xmlns:a="http://schemas.openxmlformats.org/drawingml/2006/main">
            <a:off x="78295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T · Transformation</a:t>
            </a:r>
          </a:p>
        </p:txBody>
      </p:sp>
      <p:sp>
        <p:nvSpPr>
          <p:cNvPr id="20" name="">
            <a:extLst xmlns:a="http://schemas.openxmlformats.org/drawingml/2006/main">
              <a:ext uri="{FF2B5EF4-FFF2-40B4-BE49-F238E27FC236}">
                <a16:creationId xmlns:a16="http://schemas.microsoft.com/office/drawing/2014/main" id="{CD2EF8F9-8B23-421D-BC9E-425B6B881C6A}"/>
              </a:ext>
            </a:extLst>
          </p:cNvPr>
          <p:cNvSpPr>
            <a:spLocks xmlns:a="http://schemas.openxmlformats.org/drawingml/2006/main" noGrp="1"/>
          </p:cNvSpPr>
          <p:nvPr/>
        </p:nvSpPr>
        <p:spPr>
          <a:xfrm xmlns:a="http://schemas.openxmlformats.org/drawingml/2006/main">
            <a:off x="78105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1" name="">
            <a:extLst xmlns:a="http://schemas.openxmlformats.org/drawingml/2006/main">
              <a:ext uri="{FF2B5EF4-FFF2-40B4-BE49-F238E27FC236}">
                <a16:creationId xmlns:a16="http://schemas.microsoft.com/office/drawing/2014/main" id="{279FD8F0-EBF7-4F30-BE67-74E903FFBA38}"/>
              </a:ext>
            </a:extLst>
          </p:cNvPr>
          <p:cNvSpPr>
            <a:spLocks xmlns:a="http://schemas.openxmlformats.org/drawingml/2006/main" noGrp="1"/>
          </p:cNvSpPr>
          <p:nvPr/>
        </p:nvSpPr>
        <p:spPr>
          <a:xfrm xmlns:a="http://schemas.openxmlformats.org/drawingml/2006/main">
            <a:off x="94678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2" name="">
            <a:extLst xmlns:a="http://schemas.openxmlformats.org/drawingml/2006/main">
              <a:ext uri="{FF2B5EF4-FFF2-40B4-BE49-F238E27FC236}">
                <a16:creationId xmlns:a16="http://schemas.microsoft.com/office/drawing/2014/main" id="{E86E3BC3-C7A5-4B5A-AAAF-42946AA96F42}"/>
              </a:ext>
            </a:extLst>
          </p:cNvPr>
          <p:cNvSpPr>
            <a:spLocks xmlns:a="http://schemas.openxmlformats.org/drawingml/2006/main" noGrp="1"/>
          </p:cNvSpPr>
          <p:nvPr/>
        </p:nvSpPr>
        <p:spPr>
          <a:xfrm xmlns:a="http://schemas.openxmlformats.org/drawingml/2006/main">
            <a:off x="96202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O · Orchestration</a:t>
            </a:r>
          </a:p>
        </p:txBody>
      </p:sp>
      <p:sp>
        <p:nvSpPr>
          <p:cNvPr id="23" name="">
            <a:extLst xmlns:a="http://schemas.openxmlformats.org/drawingml/2006/main">
              <a:ext uri="{FF2B5EF4-FFF2-40B4-BE49-F238E27FC236}">
                <a16:creationId xmlns:a16="http://schemas.microsoft.com/office/drawing/2014/main" id="{D48823FF-675C-47AE-9321-F5D5414C6FAD}"/>
              </a:ext>
            </a:extLst>
          </p:cNvPr>
          <p:cNvSpPr>
            <a:spLocks xmlns:a="http://schemas.openxmlformats.org/drawingml/2006/main" noGrp="1"/>
          </p:cNvSpPr>
          <p:nvPr/>
        </p:nvSpPr>
        <p:spPr>
          <a:xfrm xmlns:a="http://schemas.openxmlformats.org/drawingml/2006/main">
            <a:off x="96012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4" name="">
            <a:extLst xmlns:a="http://schemas.openxmlformats.org/drawingml/2006/main">
              <a:ext uri="{FF2B5EF4-FFF2-40B4-BE49-F238E27FC236}">
                <a16:creationId xmlns:a16="http://schemas.microsoft.com/office/drawing/2014/main" id="{CA826FC9-89E3-4FD5-8C57-8604F6DE05BC}"/>
              </a:ext>
            </a:extLst>
          </p:cNvPr>
          <p:cNvSpPr>
            <a:spLocks xmlns:a="http://schemas.openxmlformats.org/drawingml/2006/main" noGrp="1"/>
          </p:cNvSpPr>
          <p:nvPr/>
        </p:nvSpPr>
        <p:spPr>
          <a:xfrm xmlns:a="http://schemas.openxmlformats.org/drawingml/2006/main">
            <a:off x="40957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5" name="">
            <a:extLst xmlns:a="http://schemas.openxmlformats.org/drawingml/2006/main">
              <a:ext uri="{FF2B5EF4-FFF2-40B4-BE49-F238E27FC236}">
                <a16:creationId xmlns:a16="http://schemas.microsoft.com/office/drawing/2014/main" id="{765A5C26-8108-4188-A4BC-8703B2E4BB38}"/>
              </a:ext>
            </a:extLst>
          </p:cNvPr>
          <p:cNvSpPr>
            <a:spLocks xmlns:a="http://schemas.openxmlformats.org/drawingml/2006/main" noGrp="1"/>
          </p:cNvSpPr>
          <p:nvPr/>
        </p:nvSpPr>
        <p:spPr>
          <a:xfrm xmlns:a="http://schemas.openxmlformats.org/drawingml/2006/main">
            <a:off x="42481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M · Messaging / state</a:t>
            </a:r>
          </a:p>
        </p:txBody>
      </p:sp>
      <p:sp>
        <p:nvSpPr>
          <p:cNvPr id="26" name="">
            <a:extLst xmlns:a="http://schemas.openxmlformats.org/drawingml/2006/main">
              <a:ext uri="{FF2B5EF4-FFF2-40B4-BE49-F238E27FC236}">
                <a16:creationId xmlns:a16="http://schemas.microsoft.com/office/drawing/2014/main" id="{FF78B29B-3951-4612-A6C7-288085983ADC}"/>
              </a:ext>
            </a:extLst>
          </p:cNvPr>
          <p:cNvSpPr>
            <a:spLocks xmlns:a="http://schemas.openxmlformats.org/drawingml/2006/main" noGrp="1"/>
          </p:cNvSpPr>
          <p:nvPr/>
        </p:nvSpPr>
        <p:spPr>
          <a:xfrm xmlns:a="http://schemas.openxmlformats.org/drawingml/2006/main">
            <a:off x="42291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7" name="">
            <a:extLst xmlns:a="http://schemas.openxmlformats.org/drawingml/2006/main">
              <a:ext uri="{FF2B5EF4-FFF2-40B4-BE49-F238E27FC236}">
                <a16:creationId xmlns:a16="http://schemas.microsoft.com/office/drawing/2014/main" id="{005E4646-31FE-4ACF-AD41-4BAD3DE4D697}"/>
              </a:ext>
            </a:extLst>
          </p:cNvPr>
          <p:cNvSpPr>
            <a:spLocks xmlns:a="http://schemas.openxmlformats.org/drawingml/2006/main" noGrp="1"/>
          </p:cNvSpPr>
          <p:nvPr/>
        </p:nvSpPr>
        <p:spPr>
          <a:xfrm xmlns:a="http://schemas.openxmlformats.org/drawingml/2006/main">
            <a:off x="58864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8" name="">
            <a:extLst xmlns:a="http://schemas.openxmlformats.org/drawingml/2006/main">
              <a:ext uri="{FF2B5EF4-FFF2-40B4-BE49-F238E27FC236}">
                <a16:creationId xmlns:a16="http://schemas.microsoft.com/office/drawing/2014/main" id="{0A381827-ED81-4052-B398-E55ECF52965F}"/>
              </a:ext>
            </a:extLst>
          </p:cNvPr>
          <p:cNvSpPr>
            <a:spLocks xmlns:a="http://schemas.openxmlformats.org/drawingml/2006/main" noGrp="1"/>
          </p:cNvSpPr>
          <p:nvPr/>
        </p:nvSpPr>
        <p:spPr>
          <a:xfrm xmlns:a="http://schemas.openxmlformats.org/drawingml/2006/main">
            <a:off x="60388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B · Batch</a:t>
            </a:r>
          </a:p>
        </p:txBody>
      </p:sp>
      <p:sp>
        <p:nvSpPr>
          <p:cNvPr id="29" name="">
            <a:extLst xmlns:a="http://schemas.openxmlformats.org/drawingml/2006/main">
              <a:ext uri="{FF2B5EF4-FFF2-40B4-BE49-F238E27FC236}">
                <a16:creationId xmlns:a16="http://schemas.microsoft.com/office/drawing/2014/main" id="{6C8551B1-4569-447B-B8E1-D0DDE291C76B}"/>
              </a:ext>
            </a:extLst>
          </p:cNvPr>
          <p:cNvSpPr>
            <a:spLocks xmlns:a="http://schemas.openxmlformats.org/drawingml/2006/main" noGrp="1"/>
          </p:cNvSpPr>
          <p:nvPr/>
        </p:nvSpPr>
        <p:spPr>
          <a:xfrm xmlns:a="http://schemas.openxmlformats.org/drawingml/2006/main">
            <a:off x="60198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0" name="">
            <a:extLst xmlns:a="http://schemas.openxmlformats.org/drawingml/2006/main">
              <a:ext uri="{FF2B5EF4-FFF2-40B4-BE49-F238E27FC236}">
                <a16:creationId xmlns:a16="http://schemas.microsoft.com/office/drawing/2014/main" id="{BF9E7A39-B01A-4C47-B02A-CAE6C26C8F45}"/>
              </a:ext>
            </a:extLst>
          </p:cNvPr>
          <p:cNvSpPr>
            <a:spLocks xmlns:a="http://schemas.openxmlformats.org/drawingml/2006/main" noGrp="1"/>
          </p:cNvSpPr>
          <p:nvPr/>
        </p:nvSpPr>
        <p:spPr>
          <a:xfrm xmlns:a="http://schemas.openxmlformats.org/drawingml/2006/main">
            <a:off x="76771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31" name="">
            <a:extLst xmlns:a="http://schemas.openxmlformats.org/drawingml/2006/main">
              <a:ext uri="{FF2B5EF4-FFF2-40B4-BE49-F238E27FC236}">
                <a16:creationId xmlns:a16="http://schemas.microsoft.com/office/drawing/2014/main" id="{0160DBCB-314F-4B43-ACCD-6A294635DB2F}"/>
              </a:ext>
            </a:extLst>
          </p:cNvPr>
          <p:cNvSpPr>
            <a:spLocks xmlns:a="http://schemas.openxmlformats.org/drawingml/2006/main" noGrp="1"/>
          </p:cNvSpPr>
          <p:nvPr/>
        </p:nvSpPr>
        <p:spPr>
          <a:xfrm xmlns:a="http://schemas.openxmlformats.org/drawingml/2006/main">
            <a:off x="78295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C · Connector</a:t>
            </a:r>
          </a:p>
        </p:txBody>
      </p:sp>
      <p:sp>
        <p:nvSpPr>
          <p:cNvPr id="32" name="">
            <a:extLst xmlns:a="http://schemas.openxmlformats.org/drawingml/2006/main">
              <a:ext uri="{FF2B5EF4-FFF2-40B4-BE49-F238E27FC236}">
                <a16:creationId xmlns:a16="http://schemas.microsoft.com/office/drawing/2014/main" id="{9B8B7670-3583-4362-BDE5-FAE4219B821C}"/>
              </a:ext>
            </a:extLst>
          </p:cNvPr>
          <p:cNvSpPr>
            <a:spLocks xmlns:a="http://schemas.openxmlformats.org/drawingml/2006/main" noGrp="1"/>
          </p:cNvSpPr>
          <p:nvPr/>
        </p:nvSpPr>
        <p:spPr>
          <a:xfrm xmlns:a="http://schemas.openxmlformats.org/drawingml/2006/main">
            <a:off x="78105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3" name="">
            <a:extLst xmlns:a="http://schemas.openxmlformats.org/drawingml/2006/main">
              <a:ext uri="{FF2B5EF4-FFF2-40B4-BE49-F238E27FC236}">
                <a16:creationId xmlns:a16="http://schemas.microsoft.com/office/drawing/2014/main" id="{44A550F2-166A-4767-A6EE-43B497A1D653}"/>
              </a:ext>
            </a:extLst>
          </p:cNvPr>
          <p:cNvSpPr>
            <a:spLocks xmlns:a="http://schemas.openxmlformats.org/drawingml/2006/main" noGrp="1"/>
          </p:cNvSpPr>
          <p:nvPr/>
        </p:nvSpPr>
        <p:spPr>
          <a:xfrm xmlns:a="http://schemas.openxmlformats.org/drawingml/2006/main">
            <a:off x="94678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97457"/>
            </a:solidFill>
            <a:prstDash val="solid"/>
          </a:ln>
        </p:spPr>
      </p:sp>
      <p:sp>
        <p:nvSpPr>
          <p:cNvPr id="34" name="">
            <a:extLst xmlns:a="http://schemas.openxmlformats.org/drawingml/2006/main">
              <a:ext uri="{FF2B5EF4-FFF2-40B4-BE49-F238E27FC236}">
                <a16:creationId xmlns:a16="http://schemas.microsoft.com/office/drawing/2014/main" id="{8D0F432A-1B4E-45B5-BD50-5445DAC0331F}"/>
              </a:ext>
            </a:extLst>
          </p:cNvPr>
          <p:cNvSpPr>
            <a:spLocks xmlns:a="http://schemas.openxmlformats.org/drawingml/2006/main" noGrp="1"/>
          </p:cNvSpPr>
          <p:nvPr/>
        </p:nvSpPr>
        <p:spPr>
          <a:xfrm xmlns:a="http://schemas.openxmlformats.org/drawingml/2006/main">
            <a:off x="96202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R · Retire after proof</a:t>
            </a:r>
          </a:p>
        </p:txBody>
      </p:sp>
      <p:sp>
        <p:nvSpPr>
          <p:cNvPr id="35" name="">
            <a:extLst xmlns:a="http://schemas.openxmlformats.org/drawingml/2006/main">
              <a:ext uri="{FF2B5EF4-FFF2-40B4-BE49-F238E27FC236}">
                <a16:creationId xmlns:a16="http://schemas.microsoft.com/office/drawing/2014/main" id="{D815DAEE-F491-4130-A9B3-197AB9250230}"/>
              </a:ext>
            </a:extLst>
          </p:cNvPr>
          <p:cNvSpPr>
            <a:spLocks xmlns:a="http://schemas.openxmlformats.org/drawingml/2006/main" noGrp="1"/>
          </p:cNvSpPr>
          <p:nvPr/>
        </p:nvSpPr>
        <p:spPr>
          <a:xfrm xmlns:a="http://schemas.openxmlformats.org/drawingml/2006/main">
            <a:off x="96012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evidence-gated</a:t>
            </a:r>
          </a:p>
        </p:txBody>
      </p:sp>
      <p:sp>
        <p:nvSpPr>
          <p:cNvPr id="36" name="">
            <a:extLst xmlns:a="http://schemas.openxmlformats.org/drawingml/2006/main">
              <a:ext uri="{FF2B5EF4-FFF2-40B4-BE49-F238E27FC236}">
                <a16:creationId xmlns:a16="http://schemas.microsoft.com/office/drawing/2014/main" id="{180DA062-A33C-4018-9D72-C5DEEA0C653E}"/>
              </a:ext>
            </a:extLst>
          </p:cNvPr>
          <p:cNvSpPr>
            <a:spLocks xmlns:a="http://schemas.openxmlformats.org/drawingml/2006/main" noGrp="1"/>
          </p:cNvSpPr>
          <p:nvPr/>
        </p:nvSpPr>
        <p:spPr>
          <a:xfrm xmlns:a="http://schemas.openxmlformats.org/drawingml/2006/main">
            <a:off x="3333750" y="3238500"/>
            <a:ext cx="514350" cy="5334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DC24E81-279B-4DA2-8A7A-BBCCF23DBAFD}"/>
              </a:ext>
            </a:extLst>
          </p:cNvPr>
          <p:cNvSpPr>
            <a:spLocks xmlns:a="http://schemas.openxmlformats.org/drawingml/2006/main" noGrp="1"/>
          </p:cNvSpPr>
          <p:nvPr/>
        </p:nvSpPr>
        <p:spPr>
          <a:xfrm xmlns:a="http://schemas.openxmlformats.org/drawingml/2006/main">
            <a:off x="3143250" y="3905250"/>
            <a:ext cx="914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975" b="1" i="0">
                <a:solidFill>
                  <a:srgbClr val="5537D6"/>
                </a:solidFill>
                <a:latin typeface="Consolas"/>
                <a:ea typeface="Consolas"/>
                <a:cs typeface="Consolas"/>
              </a:defRPr>
            </a:pPr>
            <a:r>
              <a:rPr sz="975" b="1" i="0">
                <a:solidFill>
                  <a:srgbClr val="5537D6"/>
                </a:solidFill>
                <a:latin typeface="Consolas"/>
                <a:ea typeface="Consolas"/>
                <a:cs typeface="Consolas"/>
              </a:rPr>
              <a:t>DECOMPOSE</a:t>
            </a:r>
          </a:p>
        </p:txBody>
      </p:sp>
      <p:sp>
        <p:nvSpPr>
          <p:cNvPr id="38" name="">
            <a:extLst xmlns:a="http://schemas.openxmlformats.org/drawingml/2006/main">
              <a:ext uri="{FF2B5EF4-FFF2-40B4-BE49-F238E27FC236}">
                <a16:creationId xmlns:a16="http://schemas.microsoft.com/office/drawing/2014/main" id="{E6EB4CCC-F4FE-42BF-BC65-A088267C7F18}"/>
              </a:ext>
            </a:extLst>
          </p:cNvPr>
          <p:cNvSpPr>
            <a:spLocks xmlns:a="http://schemas.openxmlformats.org/drawingml/2006/main" noGrp="1"/>
          </p:cNvSpPr>
          <p:nvPr/>
        </p:nvSpPr>
        <p:spPr>
          <a:xfrm xmlns:a="http://schemas.openxmlformats.org/drawingml/2006/main">
            <a:off x="2476500" y="58102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0" i="0">
                <a:solidFill>
                  <a:srgbClr val="111111"/>
                </a:solidFill>
                <a:latin typeface="Georgia"/>
                <a:ea typeface="Georgia"/>
                <a:cs typeface="Georgia"/>
              </a:defRPr>
            </a:pPr>
            <a:r>
              <a:rPr sz="1425" b="0" i="0">
                <a:solidFill>
                  <a:srgbClr val="111111"/>
                </a:solidFill>
                <a:latin typeface="Georgia"/>
                <a:ea typeface="Georgia"/>
                <a:cs typeface="Georgia"/>
              </a:rPr>
              <a:t>Keep F at the edge only while it remains thin; otherwise move logic to an owned service.</a:t>
            </a:r>
          </a:p>
        </p:txBody>
      </p:sp>
    </p:spTree>
    <p:extLst>
      <p:ext uri="{BB962C8B-B14F-4D97-AF65-F5344CB8AC3E}">
        <p14:creationId xmlns:p14="http://schemas.microsoft.com/office/powerpoint/2010/main" val="1976377928"/>
      </p:ext>
    </p:extLst>
  </p:cSld>
</p:sld>
</file>

<file path=ppt/slides/slide1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411453F-FD67-4F31-BE00-A8FA470FFB0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8EEBF07-37C2-4709-AA30-315D9AFC337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811627A-7972-4F50-A97A-16985495933C}"/>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15 / MIGRATION</a:t>
            </a:r>
          </a:p>
        </p:txBody>
      </p:sp>
      <p:sp>
        <p:nvSpPr>
          <p:cNvPr id="4" name="">
            <a:extLst xmlns:a="http://schemas.openxmlformats.org/drawingml/2006/main">
              <a:ext uri="{FF2B5EF4-FFF2-40B4-BE49-F238E27FC236}">
                <a16:creationId xmlns:a16="http://schemas.microsoft.com/office/drawing/2014/main" id="{15ED21F7-713A-4E44-95DE-7574A4B21769}"/>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Keep the API edge stable while old and new runtimes coexist</a:t>
            </a:r>
          </a:p>
        </p:txBody>
      </p:sp>
      <p:sp>
        <p:nvSpPr>
          <p:cNvPr id="5" name="">
            <a:extLst xmlns:a="http://schemas.openxmlformats.org/drawingml/2006/main">
              <a:ext uri="{FF2B5EF4-FFF2-40B4-BE49-F238E27FC236}">
                <a16:creationId xmlns:a16="http://schemas.microsoft.com/office/drawing/2014/main" id="{98AE9B19-FF2E-4FE4-98AC-1337FC28E3AB}"/>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Use bounded traffic splits, parity probes and a route-back path.</a:t>
            </a:r>
          </a:p>
        </p:txBody>
      </p:sp>
      <p:sp>
        <p:nvSpPr>
          <p:cNvPr id="6" name="">
            <a:extLst xmlns:a="http://schemas.openxmlformats.org/drawingml/2006/main">
              <a:ext uri="{FF2B5EF4-FFF2-40B4-BE49-F238E27FC236}">
                <a16:creationId xmlns:a16="http://schemas.microsoft.com/office/drawing/2014/main" id="{F46D8D11-BD17-4576-BA1A-424F556452E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8AC345E-81B6-42FE-ACF2-3A7D7658CA23}"/>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09d9dda4f9024890"/>
              </a:rPr>
              <a:t>Repo reference</a:t>
            </a:r>
            <a:r>
              <a:rPr sz="825">
                <a:solidFill>
                  <a:srgbClr val="666762"/>
                </a:solidFill>
              </a:rPr>
              <a:t>  ·  </a:t>
            </a:r>
            <a:r>
              <a:rPr sz="825" u="sng">
                <a:solidFill>
                  <a:srgbClr val="666762"/>
                </a:solidFill>
                <a:hlinkClick xmlns:r="http://schemas.openxmlformats.org/officeDocument/2006/relationships" r:id="R4f6e0cf26e9042b3"/>
              </a:rPr>
              <a:t>Official docs</a:t>
            </a:r>
          </a:p>
        </p:txBody>
      </p:sp>
      <p:sp>
        <p:nvSpPr>
          <p:cNvPr id="8" name="">
            <a:extLst xmlns:a="http://schemas.openxmlformats.org/drawingml/2006/main">
              <a:ext uri="{FF2B5EF4-FFF2-40B4-BE49-F238E27FC236}">
                <a16:creationId xmlns:a16="http://schemas.microsoft.com/office/drawing/2014/main" id="{3CBA9384-9966-4B49-97BD-E4759F359DD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15 / 25</a:t>
            </a:r>
          </a:p>
        </p:txBody>
      </p:sp>
      <p:sp>
        <p:nvSpPr>
          <p:cNvPr id="9" name="">
            <a:extLst xmlns:a="http://schemas.openxmlformats.org/drawingml/2006/main">
              <a:ext uri="{FF2B5EF4-FFF2-40B4-BE49-F238E27FC236}">
                <a16:creationId xmlns:a16="http://schemas.microsoft.com/office/drawing/2014/main" id="{53576948-919C-463A-B7DB-D2B75E6EF32B}"/>
              </a:ext>
            </a:extLst>
          </p:cNvPr>
          <p:cNvSpPr>
            <a:spLocks xmlns:a="http://schemas.openxmlformats.org/drawingml/2006/main" noGrp="1"/>
          </p:cNvSpPr>
          <p:nvPr/>
        </p:nvSpPr>
        <p:spPr>
          <a:xfrm xmlns:a="http://schemas.openxmlformats.org/drawingml/2006/main">
            <a:off x="666750" y="3095625"/>
            <a:ext cx="171450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14288">
            <a:solidFill>
              <a:srgbClr val="111111"/>
            </a:solidFill>
            <a:prstDash val="solid"/>
          </a:ln>
        </p:spPr>
      </p:sp>
      <p:sp>
        <p:nvSpPr>
          <p:cNvPr id="10" name="">
            <a:extLst xmlns:a="http://schemas.openxmlformats.org/drawingml/2006/main">
              <a:ext uri="{FF2B5EF4-FFF2-40B4-BE49-F238E27FC236}">
                <a16:creationId xmlns:a16="http://schemas.microsoft.com/office/drawing/2014/main" id="{0FC45C3D-A9CB-4267-AB45-6684A921676D}"/>
              </a:ext>
            </a:extLst>
          </p:cNvPr>
          <p:cNvSpPr>
            <a:spLocks xmlns:a="http://schemas.openxmlformats.org/drawingml/2006/main" noGrp="1"/>
          </p:cNvSpPr>
          <p:nvPr/>
        </p:nvSpPr>
        <p:spPr>
          <a:xfrm xmlns:a="http://schemas.openxmlformats.org/drawingml/2006/main">
            <a:off x="819150" y="3228975"/>
            <a:ext cx="1409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Consumers</a:t>
            </a:r>
          </a:p>
        </p:txBody>
      </p:sp>
      <p:sp>
        <p:nvSpPr>
          <p:cNvPr id="11" name="">
            <a:extLst xmlns:a="http://schemas.openxmlformats.org/drawingml/2006/main">
              <a:ext uri="{FF2B5EF4-FFF2-40B4-BE49-F238E27FC236}">
                <a16:creationId xmlns:a16="http://schemas.microsoft.com/office/drawing/2014/main" id="{E95C5E7A-19D1-4000-82DC-4E9D2623BA79}"/>
              </a:ext>
            </a:extLst>
          </p:cNvPr>
          <p:cNvSpPr>
            <a:spLocks xmlns:a="http://schemas.openxmlformats.org/drawingml/2006/main" noGrp="1"/>
          </p:cNvSpPr>
          <p:nvPr/>
        </p:nvSpPr>
        <p:spPr>
          <a:xfrm xmlns:a="http://schemas.openxmlformats.org/drawingml/2006/main">
            <a:off x="800100" y="3629025"/>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stable contract</a:t>
            </a:r>
          </a:p>
        </p:txBody>
      </p:sp>
      <p:sp>
        <p:nvSpPr>
          <p:cNvPr id="12" name="">
            <a:extLst xmlns:a="http://schemas.openxmlformats.org/drawingml/2006/main">
              <a:ext uri="{FF2B5EF4-FFF2-40B4-BE49-F238E27FC236}">
                <a16:creationId xmlns:a16="http://schemas.microsoft.com/office/drawing/2014/main" id="{AE373801-342A-4566-BA2B-126B260832EA}"/>
              </a:ext>
            </a:extLst>
          </p:cNvPr>
          <p:cNvSpPr>
            <a:spLocks xmlns:a="http://schemas.openxmlformats.org/drawingml/2006/main" noGrp="1"/>
          </p:cNvSpPr>
          <p:nvPr/>
        </p:nvSpPr>
        <p:spPr>
          <a:xfrm xmlns:a="http://schemas.openxmlformats.org/drawingml/2006/main">
            <a:off x="3143250" y="2809875"/>
            <a:ext cx="22860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14288">
            <a:solidFill>
              <a:srgbClr val="FFC72C"/>
            </a:solidFill>
            <a:prstDash val="solid"/>
          </a:ln>
        </p:spPr>
      </p:sp>
      <p:sp>
        <p:nvSpPr>
          <p:cNvPr id="13" name="">
            <a:extLst xmlns:a="http://schemas.openxmlformats.org/drawingml/2006/main">
              <a:ext uri="{FF2B5EF4-FFF2-40B4-BE49-F238E27FC236}">
                <a16:creationId xmlns:a16="http://schemas.microsoft.com/office/drawing/2014/main" id="{4F0B2C1C-FF9C-495E-A80A-88A0D4FA045A}"/>
              </a:ext>
            </a:extLst>
          </p:cNvPr>
          <p:cNvSpPr>
            <a:spLocks xmlns:a="http://schemas.openxmlformats.org/drawingml/2006/main" noGrp="1"/>
          </p:cNvSpPr>
          <p:nvPr/>
        </p:nvSpPr>
        <p:spPr>
          <a:xfrm xmlns:a="http://schemas.openxmlformats.org/drawingml/2006/main">
            <a:off x="3295650" y="2943225"/>
            <a:ext cx="1981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75" b="1" i="0">
                <a:solidFill>
                  <a:srgbClr val="111111"/>
                </a:solidFill>
                <a:latin typeface="Arial"/>
                <a:ea typeface="Arial"/>
                <a:cs typeface="Arial"/>
              </a:defRPr>
            </a:pPr>
            <a:r>
              <a:rPr sz="1875" b="1" i="0">
                <a:solidFill>
                  <a:srgbClr val="111111"/>
                </a:solidFill>
                <a:latin typeface="Arial"/>
                <a:ea typeface="Arial"/>
                <a:cs typeface="Arial"/>
              </a:rPr>
              <a:t>Stable API edge</a:t>
            </a:r>
          </a:p>
        </p:txBody>
      </p:sp>
      <p:sp>
        <p:nvSpPr>
          <p:cNvPr id="14" name="">
            <a:extLst xmlns:a="http://schemas.openxmlformats.org/drawingml/2006/main">
              <a:ext uri="{FF2B5EF4-FFF2-40B4-BE49-F238E27FC236}">
                <a16:creationId xmlns:a16="http://schemas.microsoft.com/office/drawing/2014/main" id="{7856A3A5-EA92-474B-91D7-4630A0503AF5}"/>
              </a:ext>
            </a:extLst>
          </p:cNvPr>
          <p:cNvSpPr>
            <a:spLocks xmlns:a="http://schemas.openxmlformats.org/drawingml/2006/main" noGrp="1"/>
          </p:cNvSpPr>
          <p:nvPr/>
        </p:nvSpPr>
        <p:spPr>
          <a:xfrm xmlns:a="http://schemas.openxmlformats.org/drawingml/2006/main">
            <a:off x="3276600" y="3343275"/>
            <a:ext cx="20193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auth · policy · routing</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cohort-aware traffic split</a:t>
            </a:r>
          </a:p>
        </p:txBody>
      </p:sp>
      <p:sp>
        <p:nvSpPr>
          <p:cNvPr id="15" name="">
            <a:extLst xmlns:a="http://schemas.openxmlformats.org/drawingml/2006/main">
              <a:ext uri="{FF2B5EF4-FFF2-40B4-BE49-F238E27FC236}">
                <a16:creationId xmlns:a16="http://schemas.microsoft.com/office/drawing/2014/main" id="{9583DDED-507C-432E-B60D-4503EDAACBCF}"/>
              </a:ext>
            </a:extLst>
          </p:cNvPr>
          <p:cNvSpPr>
            <a:spLocks xmlns:a="http://schemas.openxmlformats.org/drawingml/2006/main" noGrp="1"/>
          </p:cNvSpPr>
          <p:nvPr/>
        </p:nvSpPr>
        <p:spPr>
          <a:xfrm xmlns:a="http://schemas.openxmlformats.org/drawingml/2006/main">
            <a:off x="6572250" y="2238375"/>
            <a:ext cx="23812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A96300"/>
            </a:solidFill>
            <a:prstDash val="solid"/>
          </a:ln>
        </p:spPr>
      </p:sp>
      <p:sp>
        <p:nvSpPr>
          <p:cNvPr id="16" name="">
            <a:extLst xmlns:a="http://schemas.openxmlformats.org/drawingml/2006/main">
              <a:ext uri="{FF2B5EF4-FFF2-40B4-BE49-F238E27FC236}">
                <a16:creationId xmlns:a16="http://schemas.microsoft.com/office/drawing/2014/main" id="{1245EDBC-0EF3-4605-930B-435B6FD39F72}"/>
              </a:ext>
            </a:extLst>
          </p:cNvPr>
          <p:cNvSpPr>
            <a:spLocks xmlns:a="http://schemas.openxmlformats.org/drawingml/2006/main" noGrp="1"/>
          </p:cNvSpPr>
          <p:nvPr/>
        </p:nvSpPr>
        <p:spPr>
          <a:xfrm xmlns:a="http://schemas.openxmlformats.org/drawingml/2006/main">
            <a:off x="6724650" y="23717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025"/>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Existing Mule runtime</a:t>
            </a:r>
          </a:p>
        </p:txBody>
      </p:sp>
      <p:sp>
        <p:nvSpPr>
          <p:cNvPr id="17" name="">
            <a:extLst xmlns:a="http://schemas.openxmlformats.org/drawingml/2006/main">
              <a:ext uri="{FF2B5EF4-FFF2-40B4-BE49-F238E27FC236}">
                <a16:creationId xmlns:a16="http://schemas.microsoft.com/office/drawing/2014/main" id="{B7D2FEFE-3FFF-4A09-B088-95D65C52B10F}"/>
              </a:ext>
            </a:extLst>
          </p:cNvPr>
          <p:cNvSpPr>
            <a:spLocks xmlns:a="http://schemas.openxmlformats.org/drawingml/2006/main" noGrp="1"/>
          </p:cNvSpPr>
          <p:nvPr/>
        </p:nvSpPr>
        <p:spPr>
          <a:xfrm xmlns:a="http://schemas.openxmlformats.org/drawingml/2006/main">
            <a:off x="6705600" y="2771775"/>
            <a:ext cx="2114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bounded incumbent path</a:t>
            </a:r>
          </a:p>
        </p:txBody>
      </p:sp>
      <p:sp>
        <p:nvSpPr>
          <p:cNvPr id="18" name="">
            <a:extLst xmlns:a="http://schemas.openxmlformats.org/drawingml/2006/main">
              <a:ext uri="{FF2B5EF4-FFF2-40B4-BE49-F238E27FC236}">
                <a16:creationId xmlns:a16="http://schemas.microsoft.com/office/drawing/2014/main" id="{26AD9094-3B7E-4142-ACBD-96EB600C549D}"/>
              </a:ext>
            </a:extLst>
          </p:cNvPr>
          <p:cNvSpPr>
            <a:spLocks xmlns:a="http://schemas.openxmlformats.org/drawingml/2006/main" noGrp="1"/>
          </p:cNvSpPr>
          <p:nvPr/>
        </p:nvSpPr>
        <p:spPr>
          <a:xfrm xmlns:a="http://schemas.openxmlformats.org/drawingml/2006/main">
            <a:off x="6572250" y="3857625"/>
            <a:ext cx="23812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9" name="">
            <a:extLst xmlns:a="http://schemas.openxmlformats.org/drawingml/2006/main">
              <a:ext uri="{FF2B5EF4-FFF2-40B4-BE49-F238E27FC236}">
                <a16:creationId xmlns:a16="http://schemas.microsoft.com/office/drawing/2014/main" id="{6E5F8AF5-685C-4276-BAC2-7B26BB6FDEFC}"/>
              </a:ext>
            </a:extLst>
          </p:cNvPr>
          <p:cNvSpPr>
            <a:spLocks xmlns:a="http://schemas.openxmlformats.org/drawingml/2006/main" noGrp="1"/>
          </p:cNvSpPr>
          <p:nvPr/>
        </p:nvSpPr>
        <p:spPr>
          <a:xfrm xmlns:a="http://schemas.openxmlformats.org/drawingml/2006/main">
            <a:off x="6724650" y="399097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New owned runtime</a:t>
            </a:r>
          </a:p>
        </p:txBody>
      </p:sp>
      <p:sp>
        <p:nvSpPr>
          <p:cNvPr id="20" name="">
            <a:extLst xmlns:a="http://schemas.openxmlformats.org/drawingml/2006/main">
              <a:ext uri="{FF2B5EF4-FFF2-40B4-BE49-F238E27FC236}">
                <a16:creationId xmlns:a16="http://schemas.microsoft.com/office/drawing/2014/main" id="{8DB03DEF-3B4A-4F54-8926-8E756F728DF3}"/>
              </a:ext>
            </a:extLst>
          </p:cNvPr>
          <p:cNvSpPr>
            <a:spLocks xmlns:a="http://schemas.openxmlformats.org/drawingml/2006/main" noGrp="1"/>
          </p:cNvSpPr>
          <p:nvPr/>
        </p:nvSpPr>
        <p:spPr>
          <a:xfrm xmlns:a="http://schemas.openxmlformats.org/drawingml/2006/main">
            <a:off x="6705600" y="4391025"/>
            <a:ext cx="2114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 + services / platforms</a:t>
            </a:r>
          </a:p>
        </p:txBody>
      </p:sp>
      <p:sp>
        <p:nvSpPr>
          <p:cNvPr id="21" name="">
            <a:extLst xmlns:a="http://schemas.openxmlformats.org/drawingml/2006/main">
              <a:ext uri="{FF2B5EF4-FFF2-40B4-BE49-F238E27FC236}">
                <a16:creationId xmlns:a16="http://schemas.microsoft.com/office/drawing/2014/main" id="{2908CB2C-291B-4F13-A2B3-10F65A048655}"/>
              </a:ext>
            </a:extLst>
          </p:cNvPr>
          <p:cNvSpPr>
            <a:spLocks xmlns:a="http://schemas.openxmlformats.org/drawingml/2006/main" noGrp="1"/>
          </p:cNvSpPr>
          <p:nvPr/>
        </p:nvSpPr>
        <p:spPr>
          <a:xfrm xmlns:a="http://schemas.openxmlformats.org/drawingml/2006/main">
            <a:off x="9715500" y="3048000"/>
            <a:ext cx="18097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11111"/>
            </a:solidFill>
            <a:prstDash val="solid"/>
          </a:ln>
        </p:spPr>
      </p:sp>
      <p:sp>
        <p:nvSpPr>
          <p:cNvPr id="22" name="">
            <a:extLst xmlns:a="http://schemas.openxmlformats.org/drawingml/2006/main">
              <a:ext uri="{FF2B5EF4-FFF2-40B4-BE49-F238E27FC236}">
                <a16:creationId xmlns:a16="http://schemas.microsoft.com/office/drawing/2014/main" id="{FEC401AA-8843-4894-A18F-39420AA1C407}"/>
              </a:ext>
            </a:extLst>
          </p:cNvPr>
          <p:cNvSpPr>
            <a:spLocks xmlns:a="http://schemas.openxmlformats.org/drawingml/2006/main" noGrp="1"/>
          </p:cNvSpPr>
          <p:nvPr/>
        </p:nvSpPr>
        <p:spPr>
          <a:xfrm xmlns:a="http://schemas.openxmlformats.org/drawingml/2006/main">
            <a:off x="9867900" y="3181350"/>
            <a:ext cx="1504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02"/>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Parity evidence</a:t>
            </a:r>
          </a:p>
        </p:txBody>
      </p:sp>
      <p:sp>
        <p:nvSpPr>
          <p:cNvPr id="23" name="">
            <a:extLst xmlns:a="http://schemas.openxmlformats.org/drawingml/2006/main">
              <a:ext uri="{FF2B5EF4-FFF2-40B4-BE49-F238E27FC236}">
                <a16:creationId xmlns:a16="http://schemas.microsoft.com/office/drawing/2014/main" id="{C77523C3-80E6-4668-93DC-7428373C6783}"/>
              </a:ext>
            </a:extLst>
          </p:cNvPr>
          <p:cNvSpPr>
            <a:spLocks xmlns:a="http://schemas.openxmlformats.org/drawingml/2006/main" noGrp="1"/>
          </p:cNvSpPr>
          <p:nvPr/>
        </p:nvSpPr>
        <p:spPr>
          <a:xfrm xmlns:a="http://schemas.openxmlformats.org/drawingml/2006/main">
            <a:off x="9848850" y="3581400"/>
            <a:ext cx="15430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SLO · semantics · side effects</a:t>
            </a:r>
          </a:p>
        </p:txBody>
      </p:sp>
      <p:cxnSp>
        <p:nvCxnSpPr>
          <p:cNvPr id="363" name=""/>
          <p:cNvCxnSpPr>
            <a:stCxn xmlns:a="http://schemas.openxmlformats.org/drawingml/2006/main" id="9" idx="3"/>
            <a:endCxn xmlns:a="http://schemas.openxmlformats.org/drawingml/2006/main" id="12" idx="1"/>
          </p:cNvCxnSpPr>
          <p:nvPr/>
        </p:nvCxnSpPr>
        <p:spPr>
          <a:xfrm xmlns:a="http://schemas.openxmlformats.org/drawingml/2006/main" flipV="1">
            <a:off x="2381250" y="3524250"/>
            <a:ext cx="762000" cy="19050"/>
          </a:xfrm>
          <a:prstGeom xmlns:a="http://schemas.openxmlformats.org/drawingml/2006/main" prst="straightConnector1">
            <a:avLst/>
          </a:prstGeom>
          <a:ln xmlns:a="http://schemas.openxmlformats.org/drawingml/2006/main" w="19050">
            <a:solidFill>
              <a:srgbClr val="111111"/>
            </a:solidFill>
            <a:prstDash val="solid"/>
            <a:tailEnd type="triangle" w="med" len="med"/>
          </a:ln>
        </p:spPr>
      </p:cxnSp>
      <p:cxnSp>
        <p:nvCxnSpPr>
          <p:cNvPr id="364" name=""/>
          <p:cNvCxnSpPr>
            <a:stCxn xmlns:a="http://schemas.openxmlformats.org/drawingml/2006/main" id="12" idx="3"/>
            <a:endCxn xmlns:a="http://schemas.openxmlformats.org/drawingml/2006/main" id="15" idx="1"/>
          </p:cNvCxnSpPr>
          <p:nvPr/>
        </p:nvCxnSpPr>
        <p:spPr>
          <a:xfrm xmlns:a="http://schemas.openxmlformats.org/drawingml/2006/main" flipV="1">
            <a:off x="5429250" y="2762250"/>
            <a:ext cx="1143000" cy="762000"/>
          </a:xfrm>
          <a:prstGeom xmlns:a="http://schemas.openxmlformats.org/drawingml/2006/main" prst="bentConnector3">
            <a:avLst>
              <a:gd name="adj1" fmla="val 50000"/>
            </a:avLst>
          </a:prstGeom>
          <a:ln xmlns:a="http://schemas.openxmlformats.org/drawingml/2006/main" w="19050">
            <a:solidFill>
              <a:srgbClr val="A96300"/>
            </a:solidFill>
            <a:prstDash val="solid"/>
            <a:tailEnd type="triangle" w="med" len="med"/>
          </a:ln>
        </p:spPr>
      </p:cxnSp>
      <p:cxnSp>
        <p:nvCxnSpPr>
          <p:cNvPr id="365" name=""/>
          <p:cNvCxnSpPr>
            <a:stCxn xmlns:a="http://schemas.openxmlformats.org/drawingml/2006/main" id="12" idx="3"/>
            <a:endCxn xmlns:a="http://schemas.openxmlformats.org/drawingml/2006/main" id="18" idx="1"/>
          </p:cNvCxnSpPr>
          <p:nvPr/>
        </p:nvCxnSpPr>
        <p:spPr>
          <a:xfrm xmlns:a="http://schemas.openxmlformats.org/drawingml/2006/main">
            <a:off x="5429250" y="3524250"/>
            <a:ext cx="1143000" cy="857250"/>
          </a:xfrm>
          <a:prstGeom xmlns:a="http://schemas.openxmlformats.org/drawingml/2006/main" prst="bentConnector3">
            <a:avLst>
              <a:gd name="adj1" fmla="val 50000"/>
            </a:avLst>
          </a:prstGeom>
          <a:ln xmlns:a="http://schemas.openxmlformats.org/drawingml/2006/main" w="19050">
            <a:solidFill>
              <a:srgbClr val="197457"/>
            </a:solidFill>
            <a:prstDash val="solid"/>
            <a:tailEnd type="triangle" w="med" len="med"/>
          </a:ln>
        </p:spPr>
      </p:cxnSp>
      <p:cxnSp>
        <p:nvCxnSpPr>
          <p:cNvPr id="366" name=""/>
          <p:cNvCxnSpPr>
            <a:stCxn xmlns:a="http://schemas.openxmlformats.org/drawingml/2006/main" id="15" idx="3"/>
            <a:endCxn xmlns:a="http://schemas.openxmlformats.org/drawingml/2006/main" id="21" idx="1"/>
          </p:cNvCxnSpPr>
          <p:nvPr/>
        </p:nvCxnSpPr>
        <p:spPr>
          <a:xfrm xmlns:a="http://schemas.openxmlformats.org/drawingml/2006/main">
            <a:off x="8953500" y="2762250"/>
            <a:ext cx="762000" cy="809625"/>
          </a:xfrm>
          <a:prstGeom xmlns:a="http://schemas.openxmlformats.org/drawingml/2006/main" prst="bentConnector3">
            <a:avLst>
              <a:gd name="adj1" fmla="val 50000"/>
            </a:avLst>
          </a:prstGeom>
          <a:ln xmlns:a="http://schemas.openxmlformats.org/drawingml/2006/main" w="19050">
            <a:solidFill>
              <a:srgbClr val="8A8B86"/>
            </a:solidFill>
            <a:prstDash val="dash"/>
            <a:tailEnd type="triangle" w="med" len="med"/>
          </a:ln>
        </p:spPr>
      </p:cxnSp>
      <p:cxnSp>
        <p:nvCxnSpPr>
          <p:cNvPr id="367" name=""/>
          <p:cNvCxnSpPr>
            <a:stCxn xmlns:a="http://schemas.openxmlformats.org/drawingml/2006/main" id="18" idx="3"/>
            <a:endCxn xmlns:a="http://schemas.openxmlformats.org/drawingml/2006/main" id="21" idx="1"/>
          </p:cNvCxnSpPr>
          <p:nvPr/>
        </p:nvCxnSpPr>
        <p:spPr>
          <a:xfrm xmlns:a="http://schemas.openxmlformats.org/drawingml/2006/main" flipV="1">
            <a:off x="8953500" y="3571875"/>
            <a:ext cx="762000" cy="809625"/>
          </a:xfrm>
          <a:prstGeom xmlns:a="http://schemas.openxmlformats.org/drawingml/2006/main" prst="bentConnector3">
            <a:avLst>
              <a:gd name="adj1" fmla="val 50000"/>
            </a:avLst>
          </a:prstGeom>
          <a:ln xmlns:a="http://schemas.openxmlformats.org/drawingml/2006/main" w="19050">
            <a:solidFill>
              <a:srgbClr val="8A8B86"/>
            </a:solidFill>
            <a:prstDash val="dash"/>
            <a:tailEnd type="triangle" w="med" len="med"/>
          </a:ln>
        </p:spPr>
      </p:cxnSp>
      <p:sp>
        <p:nvSpPr>
          <p:cNvPr id="29" name="">
            <a:extLst xmlns:a="http://schemas.openxmlformats.org/drawingml/2006/main">
              <a:ext uri="{FF2B5EF4-FFF2-40B4-BE49-F238E27FC236}">
                <a16:creationId xmlns:a16="http://schemas.microsoft.com/office/drawing/2014/main" id="{DFAFF706-B274-4B2C-8C7B-5EB1D52966D0}"/>
              </a:ext>
            </a:extLst>
          </p:cNvPr>
          <p:cNvSpPr>
            <a:spLocks xmlns:a="http://schemas.openxmlformats.org/drawingml/2006/main" noGrp="1"/>
          </p:cNvSpPr>
          <p:nvPr/>
        </p:nvSpPr>
        <p:spPr>
          <a:xfrm xmlns:a="http://schemas.openxmlformats.org/drawingml/2006/main">
            <a:off x="3905250" y="4533900"/>
            <a:ext cx="1047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Route back</a:t>
            </a:r>
          </a:p>
        </p:txBody>
      </p:sp>
      <p:sp>
        <p:nvSpPr>
          <p:cNvPr id="30" name="">
            <a:extLst xmlns:a="http://schemas.openxmlformats.org/drawingml/2006/main">
              <a:ext uri="{FF2B5EF4-FFF2-40B4-BE49-F238E27FC236}">
                <a16:creationId xmlns:a16="http://schemas.microsoft.com/office/drawing/2014/main" id="{6C1F5A5C-B019-4FD6-9DC2-A38561569FB7}"/>
              </a:ext>
            </a:extLst>
          </p:cNvPr>
          <p:cNvSpPr>
            <a:spLocks xmlns:a="http://schemas.openxmlformats.org/drawingml/2006/main" noGrp="1"/>
          </p:cNvSpPr>
          <p:nvPr/>
        </p:nvSpPr>
        <p:spPr>
          <a:xfrm xmlns:a="http://schemas.openxmlformats.org/drawingml/2006/main">
            <a:off x="876300" y="5429250"/>
            <a:ext cx="10439400" cy="5143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2AE5FC4C-9A54-4FDA-830E-0D3477B71F0D}"/>
              </a:ext>
            </a:extLst>
          </p:cNvPr>
          <p:cNvSpPr>
            <a:spLocks xmlns:a="http://schemas.openxmlformats.org/drawingml/2006/main" noGrp="1"/>
          </p:cNvSpPr>
          <p:nvPr/>
        </p:nvSpPr>
        <p:spPr>
          <a:xfrm xmlns:a="http://schemas.openxmlformats.org/drawingml/2006/main">
            <a:off x="1066800" y="5534025"/>
            <a:ext cx="10058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931"/>
          </a:bodyPr>
          <a:lstStyle xmlns:a="http://schemas.openxmlformats.org/drawingml/2006/main"/>
          <a:p xmlns:a="http://schemas.openxmlformats.org/drawingml/2006/main">
            <a:pPr algn="ctr">
              <a:buNone/>
              <a:defRPr sz="1575" b="1" i="0">
                <a:solidFill>
                  <a:srgbClr val="111111"/>
                </a:solidFill>
                <a:latin typeface="Arial"/>
                <a:ea typeface="Arial"/>
                <a:cs typeface="Arial"/>
              </a:defRPr>
            </a:pPr>
            <a:r>
              <a:rPr sz="1575" b="1" i="0">
                <a:solidFill>
                  <a:srgbClr val="111111"/>
                </a:solidFill>
                <a:latin typeface="Arial"/>
                <a:ea typeface="Arial"/>
                <a:cs typeface="Arial"/>
              </a:rPr>
              <a:t>Cut over only a bounded cohort; compare business outcomes; restore the incumbent path when evidence fails.</a:t>
            </a:r>
          </a:p>
        </p:txBody>
      </p:sp>
    </p:spTree>
    <p:extLst>
      <p:ext uri="{BB962C8B-B14F-4D97-AF65-F5344CB8AC3E}">
        <p14:creationId xmlns:p14="http://schemas.microsoft.com/office/powerpoint/2010/main" val="27262204"/>
      </p:ext>
    </p:extLst>
  </p:cSld>
</p:sld>
</file>

<file path=ppt/slides/slide16.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BB67A754-EB7E-42FD-A7FD-80939EEF1861}"/>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3150E0-AA5A-4DC0-9956-99B2D79C017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8C5A39F-407D-4D49-A616-AC65A189AA3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16 / MIGRATION</a:t>
            </a:r>
          </a:p>
        </p:txBody>
      </p:sp>
      <p:sp>
        <p:nvSpPr>
          <p:cNvPr id="4" name="">
            <a:extLst xmlns:a="http://schemas.openxmlformats.org/drawingml/2006/main">
              <a:ext uri="{FF2B5EF4-FFF2-40B4-BE49-F238E27FC236}">
                <a16:creationId xmlns:a16="http://schemas.microsoft.com/office/drawing/2014/main" id="{99571B06-49C0-4B1C-A468-ECCD212E2AC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Mule and Apigee migration advance on evidence—not time</a:t>
            </a:r>
          </a:p>
        </p:txBody>
      </p:sp>
      <p:sp>
        <p:nvSpPr>
          <p:cNvPr id="5" name="">
            <a:extLst xmlns:a="http://schemas.openxmlformats.org/drawingml/2006/main">
              <a:ext uri="{FF2B5EF4-FFF2-40B4-BE49-F238E27FC236}">
                <a16:creationId xmlns:a16="http://schemas.microsoft.com/office/drawing/2014/main" id="{A0C09A5F-FC68-42AD-8FF3-E62ECBF112B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Mule M0–M5 and </a:t>
            </a:r>
            <a:r>
              <a:rPr sz="1575" b="0" i="0">
                <a:solidFill>
                  <a:srgbClr val="686A66"/>
                </a:solidFill>
                <a:latin typeface="Arial"/>
                <a:ea typeface="Arial"/>
                <a:cs typeface="Arial"/>
                <a:hlinkClick xmlns:r="http://schemas.openxmlformats.org/officeDocument/2006/relationships" r:id="R911fb143ee444a90"/>
              </a:rPr>
              <a:t>Apigee A0–A6</a:t>
            </a:r>
            <a:r>
              <a:rPr sz="1575" b="0" i="0">
                <a:solidFill>
                  <a:srgbClr val="686A66"/>
                </a:solidFill>
                <a:latin typeface="Arial"/>
                <a:ea typeface="Arial"/>
                <a:cs typeface="Arial"/>
              </a:rPr>
              <a:t> share stable-edge, coexistence, route-back and dependency-zero gates.</a:t>
            </a:r>
          </a:p>
        </p:txBody>
      </p:sp>
      <p:sp>
        <p:nvSpPr>
          <p:cNvPr id="6" name="">
            <a:extLst xmlns:a="http://schemas.openxmlformats.org/drawingml/2006/main">
              <a:ext uri="{FF2B5EF4-FFF2-40B4-BE49-F238E27FC236}">
                <a16:creationId xmlns:a16="http://schemas.microsoft.com/office/drawing/2014/main" id="{5D39D3F6-7474-4D92-8C82-388EF1A153FA}"/>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C0A9584-0A08-44FE-866E-B8E341F4439D}"/>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ac7c1ddceb70471f"/>
              </a:rPr>
              <a:t>Repo reference</a:t>
            </a:r>
            <a:r>
              <a:rPr sz="825">
                <a:solidFill>
                  <a:srgbClr val="666762"/>
                </a:solidFill>
              </a:rPr>
              <a:t>  ·  </a:t>
            </a:r>
            <a:r>
              <a:rPr sz="825" u="sng">
                <a:solidFill>
                  <a:srgbClr val="666762"/>
                </a:solidFill>
                <a:hlinkClick xmlns:r="http://schemas.openxmlformats.org/officeDocument/2006/relationships" r:id="R9e76e9e80ab14a5c"/>
              </a:rPr>
              <a:t>Official docs</a:t>
            </a:r>
          </a:p>
        </p:txBody>
      </p:sp>
      <p:sp>
        <p:nvSpPr>
          <p:cNvPr id="8" name="">
            <a:extLst xmlns:a="http://schemas.openxmlformats.org/drawingml/2006/main">
              <a:ext uri="{FF2B5EF4-FFF2-40B4-BE49-F238E27FC236}">
                <a16:creationId xmlns:a16="http://schemas.microsoft.com/office/drawing/2014/main" id="{F227FDD5-0398-40B2-86AD-0FECE54EE59C}"/>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16 / 25</a:t>
            </a:r>
          </a:p>
        </p:txBody>
      </p:sp>
      <p:sp>
        <p:nvSpPr>
          <p:cNvPr id="9" name="">
            <a:extLst xmlns:a="http://schemas.openxmlformats.org/drawingml/2006/main">
              <a:ext uri="{FF2B5EF4-FFF2-40B4-BE49-F238E27FC236}">
                <a16:creationId xmlns:a16="http://schemas.microsoft.com/office/drawing/2014/main" id="{7C7030CF-92F8-4726-9303-35532485640C}"/>
              </a:ext>
            </a:extLst>
          </p:cNvPr>
          <p:cNvSpPr>
            <a:spLocks xmlns:a="http://schemas.openxmlformats.org/drawingml/2006/main" noGrp="1"/>
          </p:cNvSpPr>
          <p:nvPr/>
        </p:nvSpPr>
        <p:spPr>
          <a:xfrm xmlns:a="http://schemas.openxmlformats.org/drawingml/2006/main">
            <a:off x="68580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M0/A0</a:t>
            </a:r>
          </a:p>
        </p:txBody>
      </p:sp>
      <p:sp>
        <p:nvSpPr>
          <p:cNvPr id="10" name="">
            <a:extLst xmlns:a="http://schemas.openxmlformats.org/drawingml/2006/main">
              <a:ext uri="{FF2B5EF4-FFF2-40B4-BE49-F238E27FC236}">
                <a16:creationId xmlns:a16="http://schemas.microsoft.com/office/drawing/2014/main" id="{9FEF44A0-0359-475B-BD6B-092B1D3AE2E1}"/>
              </a:ext>
            </a:extLst>
          </p:cNvPr>
          <p:cNvSpPr>
            <a:spLocks xmlns:a="http://schemas.openxmlformats.org/drawingml/2006/main" noGrp="1"/>
          </p:cNvSpPr>
          <p:nvPr/>
        </p:nvSpPr>
        <p:spPr>
          <a:xfrm xmlns:a="http://schemas.openxmlformats.org/drawingml/2006/main">
            <a:off x="68580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Inventory + freeze</a:t>
            </a:r>
          </a:p>
        </p:txBody>
      </p:sp>
      <p:sp>
        <p:nvSpPr>
          <p:cNvPr id="11" name="">
            <a:extLst xmlns:a="http://schemas.openxmlformats.org/drawingml/2006/main">
              <a:ext uri="{FF2B5EF4-FFF2-40B4-BE49-F238E27FC236}">
                <a16:creationId xmlns:a16="http://schemas.microsoft.com/office/drawing/2014/main" id="{93550F47-D3F4-4A23-A1B8-AF76C83288CA}"/>
              </a:ext>
            </a:extLst>
          </p:cNvPr>
          <p:cNvSpPr>
            <a:spLocks xmlns:a="http://schemas.openxmlformats.org/drawingml/2006/main" noGrp="1"/>
          </p:cNvSpPr>
          <p:nvPr/>
        </p:nvSpPr>
        <p:spPr>
          <a:xfrm xmlns:a="http://schemas.openxmlformats.org/drawingml/2006/main">
            <a:off x="68580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DADEFF-6B46-4C85-B77B-B0EC852719C2}"/>
              </a:ext>
            </a:extLst>
          </p:cNvPr>
          <p:cNvSpPr>
            <a:spLocks xmlns:a="http://schemas.openxmlformats.org/drawingml/2006/main" noGrp="1"/>
          </p:cNvSpPr>
          <p:nvPr/>
        </p:nvSpPr>
        <p:spPr>
          <a:xfrm xmlns:a="http://schemas.openxmlformats.org/drawingml/2006/main">
            <a:off x="68580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13" name="">
            <a:extLst xmlns:a="http://schemas.openxmlformats.org/drawingml/2006/main">
              <a:ext uri="{FF2B5EF4-FFF2-40B4-BE49-F238E27FC236}">
                <a16:creationId xmlns:a16="http://schemas.microsoft.com/office/drawing/2014/main" id="{DC5B545C-64F6-4A84-A318-2A214245DE4F}"/>
              </a:ext>
            </a:extLst>
          </p:cNvPr>
          <p:cNvSpPr>
            <a:spLocks xmlns:a="http://schemas.openxmlformats.org/drawingml/2006/main" noGrp="1"/>
          </p:cNvSpPr>
          <p:nvPr/>
        </p:nvSpPr>
        <p:spPr>
          <a:xfrm xmlns:a="http://schemas.openxmlformats.org/drawingml/2006/main">
            <a:off x="68580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Mule duty + state</a:t>
            </a:r>
          </a:p>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Apigee object graph</a:t>
            </a:r>
          </a:p>
        </p:txBody>
      </p:sp>
      <p:sp>
        <p:nvSpPr>
          <p:cNvPr id="14" name="">
            <a:extLst xmlns:a="http://schemas.openxmlformats.org/drawingml/2006/main">
              <a:ext uri="{FF2B5EF4-FFF2-40B4-BE49-F238E27FC236}">
                <a16:creationId xmlns:a16="http://schemas.microsoft.com/office/drawing/2014/main" id="{8B267964-5B93-44DE-9F13-E2B1377FDE58}"/>
              </a:ext>
            </a:extLst>
          </p:cNvPr>
          <p:cNvSpPr>
            <a:spLocks xmlns:a="http://schemas.openxmlformats.org/drawingml/2006/main" noGrp="1"/>
          </p:cNvSpPr>
          <p:nvPr/>
        </p:nvSpPr>
        <p:spPr>
          <a:xfrm xmlns:a="http://schemas.openxmlformats.org/drawingml/2006/main">
            <a:off x="68580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15" name="">
            <a:extLst xmlns:a="http://schemas.openxmlformats.org/drawingml/2006/main">
              <a:ext uri="{FF2B5EF4-FFF2-40B4-BE49-F238E27FC236}">
                <a16:creationId xmlns:a16="http://schemas.microsoft.com/office/drawing/2014/main" id="{F84F5F51-A14D-44A2-A675-1571A920D968}"/>
              </a:ext>
            </a:extLst>
          </p:cNvPr>
          <p:cNvSpPr>
            <a:spLocks xmlns:a="http://schemas.openxmlformats.org/drawingml/2006/main" noGrp="1"/>
          </p:cNvSpPr>
          <p:nvPr/>
        </p:nvSpPr>
        <p:spPr>
          <a:xfrm xmlns:a="http://schemas.openxmlformats.org/drawingml/2006/main">
            <a:off x="68580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reconciled denominator</a:t>
            </a:r>
          </a:p>
        </p:txBody>
      </p:sp>
      <p:sp>
        <p:nvSpPr>
          <p:cNvPr id="16" name="">
            <a:extLst xmlns:a="http://schemas.openxmlformats.org/drawingml/2006/main">
              <a:ext uri="{FF2B5EF4-FFF2-40B4-BE49-F238E27FC236}">
                <a16:creationId xmlns:a16="http://schemas.microsoft.com/office/drawing/2014/main" id="{9FD5CF0D-3C89-4822-B53A-5AACB7166782}"/>
              </a:ext>
            </a:extLst>
          </p:cNvPr>
          <p:cNvSpPr>
            <a:spLocks xmlns:a="http://schemas.openxmlformats.org/drawingml/2006/main" noGrp="1"/>
          </p:cNvSpPr>
          <p:nvPr/>
        </p:nvSpPr>
        <p:spPr>
          <a:xfrm xmlns:a="http://schemas.openxmlformats.org/drawingml/2006/main">
            <a:off x="224790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C73B855-2CA6-4463-AF70-CE776796DC4E}"/>
              </a:ext>
            </a:extLst>
          </p:cNvPr>
          <p:cNvSpPr>
            <a:spLocks xmlns:a="http://schemas.openxmlformats.org/drawingml/2006/main" noGrp="1"/>
          </p:cNvSpPr>
          <p:nvPr/>
        </p:nvSpPr>
        <p:spPr>
          <a:xfrm xmlns:a="http://schemas.openxmlformats.org/drawingml/2006/main">
            <a:off x="249555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M1/A1</a:t>
            </a:r>
          </a:p>
        </p:txBody>
      </p:sp>
      <p:sp>
        <p:nvSpPr>
          <p:cNvPr id="18" name="">
            <a:extLst xmlns:a="http://schemas.openxmlformats.org/drawingml/2006/main">
              <a:ext uri="{FF2B5EF4-FFF2-40B4-BE49-F238E27FC236}">
                <a16:creationId xmlns:a16="http://schemas.microsoft.com/office/drawing/2014/main" id="{D5956EBA-61A4-4182-A5EE-5E698A8CB84C}"/>
              </a:ext>
            </a:extLst>
          </p:cNvPr>
          <p:cNvSpPr>
            <a:spLocks xmlns:a="http://schemas.openxmlformats.org/drawingml/2006/main" noGrp="1"/>
          </p:cNvSpPr>
          <p:nvPr/>
        </p:nvSpPr>
        <p:spPr>
          <a:xfrm xmlns:a="http://schemas.openxmlformats.org/drawingml/2006/main">
            <a:off x="249555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Classify</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semantics</a:t>
            </a:r>
          </a:p>
        </p:txBody>
      </p:sp>
      <p:sp>
        <p:nvSpPr>
          <p:cNvPr id="19" name="">
            <a:extLst xmlns:a="http://schemas.openxmlformats.org/drawingml/2006/main">
              <a:ext uri="{FF2B5EF4-FFF2-40B4-BE49-F238E27FC236}">
                <a16:creationId xmlns:a16="http://schemas.microsoft.com/office/drawing/2014/main" id="{49F522DA-2438-4BCC-B5C1-497E911B5893}"/>
              </a:ext>
            </a:extLst>
          </p:cNvPr>
          <p:cNvSpPr>
            <a:spLocks xmlns:a="http://schemas.openxmlformats.org/drawingml/2006/main" noGrp="1"/>
          </p:cNvSpPr>
          <p:nvPr/>
        </p:nvSpPr>
        <p:spPr>
          <a:xfrm xmlns:a="http://schemas.openxmlformats.org/drawingml/2006/main">
            <a:off x="249555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A04C397-9092-48FD-AD6F-9535C3EFE6C9}"/>
              </a:ext>
            </a:extLst>
          </p:cNvPr>
          <p:cNvSpPr>
            <a:spLocks xmlns:a="http://schemas.openxmlformats.org/drawingml/2006/main" noGrp="1"/>
          </p:cNvSpPr>
          <p:nvPr/>
        </p:nvSpPr>
        <p:spPr>
          <a:xfrm xmlns:a="http://schemas.openxmlformats.org/drawingml/2006/main">
            <a:off x="249555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21" name="">
            <a:extLst xmlns:a="http://schemas.openxmlformats.org/drawingml/2006/main">
              <a:ext uri="{FF2B5EF4-FFF2-40B4-BE49-F238E27FC236}">
                <a16:creationId xmlns:a16="http://schemas.microsoft.com/office/drawing/2014/main" id="{56B9179B-763C-45D0-96AF-4002D8DB4C4E}"/>
              </a:ext>
            </a:extLst>
          </p:cNvPr>
          <p:cNvSpPr>
            <a:spLocks xmlns:a="http://schemas.openxmlformats.org/drawingml/2006/main" noGrp="1"/>
          </p:cNvSpPr>
          <p:nvPr/>
        </p:nvSpPr>
        <p:spPr>
          <a:xfrm xmlns:a="http://schemas.openxmlformats.org/drawingml/2006/main">
            <a:off x="249555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policy + behavior map</a:t>
            </a:r>
          </a:p>
        </p:txBody>
      </p:sp>
      <p:sp>
        <p:nvSpPr>
          <p:cNvPr id="22" name="">
            <a:extLst xmlns:a="http://schemas.openxmlformats.org/drawingml/2006/main">
              <a:ext uri="{FF2B5EF4-FFF2-40B4-BE49-F238E27FC236}">
                <a16:creationId xmlns:a16="http://schemas.microsoft.com/office/drawing/2014/main" id="{4DF97B96-6411-4AAC-A906-410D2AB690F1}"/>
              </a:ext>
            </a:extLst>
          </p:cNvPr>
          <p:cNvSpPr>
            <a:spLocks xmlns:a="http://schemas.openxmlformats.org/drawingml/2006/main" noGrp="1"/>
          </p:cNvSpPr>
          <p:nvPr/>
        </p:nvSpPr>
        <p:spPr>
          <a:xfrm xmlns:a="http://schemas.openxmlformats.org/drawingml/2006/main">
            <a:off x="249555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23" name="">
            <a:extLst xmlns:a="http://schemas.openxmlformats.org/drawingml/2006/main">
              <a:ext uri="{FF2B5EF4-FFF2-40B4-BE49-F238E27FC236}">
                <a16:creationId xmlns:a16="http://schemas.microsoft.com/office/drawing/2014/main" id="{BB1E299A-AB20-49DA-9203-9687E0431ECF}"/>
              </a:ext>
            </a:extLst>
          </p:cNvPr>
          <p:cNvSpPr>
            <a:spLocks xmlns:a="http://schemas.openxmlformats.org/drawingml/2006/main" noGrp="1"/>
          </p:cNvSpPr>
          <p:nvPr/>
        </p:nvSpPr>
        <p:spPr>
          <a:xfrm xmlns:a="http://schemas.openxmlformats.org/drawingml/2006/main">
            <a:off x="249555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owner + destination</a:t>
            </a:r>
          </a:p>
        </p:txBody>
      </p:sp>
      <p:sp>
        <p:nvSpPr>
          <p:cNvPr id="24" name="">
            <a:extLst xmlns:a="http://schemas.openxmlformats.org/drawingml/2006/main">
              <a:ext uri="{FF2B5EF4-FFF2-40B4-BE49-F238E27FC236}">
                <a16:creationId xmlns:a16="http://schemas.microsoft.com/office/drawing/2014/main" id="{0DA8885F-A2E3-4E0D-BD62-B0CE2E7D9912}"/>
              </a:ext>
            </a:extLst>
          </p:cNvPr>
          <p:cNvSpPr>
            <a:spLocks xmlns:a="http://schemas.openxmlformats.org/drawingml/2006/main" noGrp="1"/>
          </p:cNvSpPr>
          <p:nvPr/>
        </p:nvSpPr>
        <p:spPr>
          <a:xfrm xmlns:a="http://schemas.openxmlformats.org/drawingml/2006/main">
            <a:off x="405765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866B856-36F0-4678-8670-AF83B21772BD}"/>
              </a:ext>
            </a:extLst>
          </p:cNvPr>
          <p:cNvSpPr>
            <a:spLocks xmlns:a="http://schemas.openxmlformats.org/drawingml/2006/main" noGrp="1"/>
          </p:cNvSpPr>
          <p:nvPr/>
        </p:nvSpPr>
        <p:spPr>
          <a:xfrm xmlns:a="http://schemas.openxmlformats.org/drawingml/2006/main">
            <a:off x="430530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M2/A2</a:t>
            </a:r>
          </a:p>
        </p:txBody>
      </p:sp>
      <p:sp>
        <p:nvSpPr>
          <p:cNvPr id="26" name="">
            <a:extLst xmlns:a="http://schemas.openxmlformats.org/drawingml/2006/main">
              <a:ext uri="{FF2B5EF4-FFF2-40B4-BE49-F238E27FC236}">
                <a16:creationId xmlns:a16="http://schemas.microsoft.com/office/drawing/2014/main" id="{2D6424AD-FEA4-43A7-A1EE-8407E2EB8830}"/>
              </a:ext>
            </a:extLst>
          </p:cNvPr>
          <p:cNvSpPr>
            <a:spLocks xmlns:a="http://schemas.openxmlformats.org/drawingml/2006/main" noGrp="1"/>
          </p:cNvSpPr>
          <p:nvPr/>
        </p:nvSpPr>
        <p:spPr>
          <a:xfrm xmlns:a="http://schemas.openxmlformats.org/drawingml/2006/main">
            <a:off x="430530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Reversible</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foundation</a:t>
            </a:r>
          </a:p>
        </p:txBody>
      </p:sp>
      <p:sp>
        <p:nvSpPr>
          <p:cNvPr id="27" name="">
            <a:extLst xmlns:a="http://schemas.openxmlformats.org/drawingml/2006/main">
              <a:ext uri="{FF2B5EF4-FFF2-40B4-BE49-F238E27FC236}">
                <a16:creationId xmlns:a16="http://schemas.microsoft.com/office/drawing/2014/main" id="{2E74DF1F-0C3C-44EA-9CE7-371590CC95A5}"/>
              </a:ext>
            </a:extLst>
          </p:cNvPr>
          <p:cNvSpPr>
            <a:spLocks xmlns:a="http://schemas.openxmlformats.org/drawingml/2006/main" noGrp="1"/>
          </p:cNvSpPr>
          <p:nvPr/>
        </p:nvSpPr>
        <p:spPr>
          <a:xfrm xmlns:a="http://schemas.openxmlformats.org/drawingml/2006/main">
            <a:off x="430530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38353B0-5B0E-4799-A26D-BF0E70C24CE9}"/>
              </a:ext>
            </a:extLst>
          </p:cNvPr>
          <p:cNvSpPr>
            <a:spLocks xmlns:a="http://schemas.openxmlformats.org/drawingml/2006/main" noGrp="1"/>
          </p:cNvSpPr>
          <p:nvPr/>
        </p:nvSpPr>
        <p:spPr>
          <a:xfrm xmlns:a="http://schemas.openxmlformats.org/drawingml/2006/main">
            <a:off x="430530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29" name="">
            <a:extLst xmlns:a="http://schemas.openxmlformats.org/drawingml/2006/main">
              <a:ext uri="{FF2B5EF4-FFF2-40B4-BE49-F238E27FC236}">
                <a16:creationId xmlns:a16="http://schemas.microsoft.com/office/drawing/2014/main" id="{ECCF3C5A-0831-4DDB-B2A5-0E639127C7B9}"/>
              </a:ext>
            </a:extLst>
          </p:cNvPr>
          <p:cNvSpPr>
            <a:spLocks xmlns:a="http://schemas.openxmlformats.org/drawingml/2006/main" noGrp="1"/>
          </p:cNvSpPr>
          <p:nvPr/>
        </p:nvSpPr>
        <p:spPr>
          <a:xfrm xmlns:a="http://schemas.openxmlformats.org/drawingml/2006/main">
            <a:off x="430530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BOM + APIOps + IAM</a:t>
            </a:r>
          </a:p>
        </p:txBody>
      </p:sp>
      <p:sp>
        <p:nvSpPr>
          <p:cNvPr id="30" name="">
            <a:extLst xmlns:a="http://schemas.openxmlformats.org/drawingml/2006/main">
              <a:ext uri="{FF2B5EF4-FFF2-40B4-BE49-F238E27FC236}">
                <a16:creationId xmlns:a16="http://schemas.microsoft.com/office/drawing/2014/main" id="{CBD5E62D-4AC1-432C-B37B-9D6C44DE450B}"/>
              </a:ext>
            </a:extLst>
          </p:cNvPr>
          <p:cNvSpPr>
            <a:spLocks xmlns:a="http://schemas.openxmlformats.org/drawingml/2006/main" noGrp="1"/>
          </p:cNvSpPr>
          <p:nvPr/>
        </p:nvSpPr>
        <p:spPr>
          <a:xfrm xmlns:a="http://schemas.openxmlformats.org/drawingml/2006/main">
            <a:off x="430530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31" name="">
            <a:extLst xmlns:a="http://schemas.openxmlformats.org/drawingml/2006/main">
              <a:ext uri="{FF2B5EF4-FFF2-40B4-BE49-F238E27FC236}">
                <a16:creationId xmlns:a16="http://schemas.microsoft.com/office/drawing/2014/main" id="{DCF0E3E2-46D4-46FD-8097-C8FA0C5AF200}"/>
              </a:ext>
            </a:extLst>
          </p:cNvPr>
          <p:cNvSpPr>
            <a:spLocks xmlns:a="http://schemas.openxmlformats.org/drawingml/2006/main" noGrp="1"/>
          </p:cNvSpPr>
          <p:nvPr/>
        </p:nvSpPr>
        <p:spPr>
          <a:xfrm xmlns:a="http://schemas.openxmlformats.org/drawingml/2006/main">
            <a:off x="430530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restore + route-back</a:t>
            </a:r>
          </a:p>
        </p:txBody>
      </p:sp>
      <p:sp>
        <p:nvSpPr>
          <p:cNvPr id="32" name="">
            <a:extLst xmlns:a="http://schemas.openxmlformats.org/drawingml/2006/main">
              <a:ext uri="{FF2B5EF4-FFF2-40B4-BE49-F238E27FC236}">
                <a16:creationId xmlns:a16="http://schemas.microsoft.com/office/drawing/2014/main" id="{6C449830-8C32-42D2-A77C-9FC908B314C7}"/>
              </a:ext>
            </a:extLst>
          </p:cNvPr>
          <p:cNvSpPr>
            <a:spLocks xmlns:a="http://schemas.openxmlformats.org/drawingml/2006/main" noGrp="1"/>
          </p:cNvSpPr>
          <p:nvPr/>
        </p:nvSpPr>
        <p:spPr>
          <a:xfrm xmlns:a="http://schemas.openxmlformats.org/drawingml/2006/main">
            <a:off x="586740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48FFFE3-FBDE-41A0-B09A-28B219EA9029}"/>
              </a:ext>
            </a:extLst>
          </p:cNvPr>
          <p:cNvSpPr>
            <a:spLocks xmlns:a="http://schemas.openxmlformats.org/drawingml/2006/main" noGrp="1"/>
          </p:cNvSpPr>
          <p:nvPr/>
        </p:nvSpPr>
        <p:spPr>
          <a:xfrm xmlns:a="http://schemas.openxmlformats.org/drawingml/2006/main">
            <a:off x="611505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M3/A3</a:t>
            </a:r>
          </a:p>
        </p:txBody>
      </p:sp>
      <p:sp>
        <p:nvSpPr>
          <p:cNvPr id="34" name="">
            <a:extLst xmlns:a="http://schemas.openxmlformats.org/drawingml/2006/main">
              <a:ext uri="{FF2B5EF4-FFF2-40B4-BE49-F238E27FC236}">
                <a16:creationId xmlns:a16="http://schemas.microsoft.com/office/drawing/2014/main" id="{7839A2E5-8C3F-492D-B203-872CFF333311}"/>
              </a:ext>
            </a:extLst>
          </p:cNvPr>
          <p:cNvSpPr>
            <a:spLocks xmlns:a="http://schemas.openxmlformats.org/drawingml/2006/main" noGrp="1"/>
          </p:cNvSpPr>
          <p:nvPr/>
        </p:nvSpPr>
        <p:spPr>
          <a:xfrm xmlns:a="http://schemas.openxmlformats.org/drawingml/2006/main">
            <a:off x="611505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Representative</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parity</a:t>
            </a:r>
          </a:p>
        </p:txBody>
      </p:sp>
      <p:sp>
        <p:nvSpPr>
          <p:cNvPr id="35" name="">
            <a:extLst xmlns:a="http://schemas.openxmlformats.org/drawingml/2006/main">
              <a:ext uri="{FF2B5EF4-FFF2-40B4-BE49-F238E27FC236}">
                <a16:creationId xmlns:a16="http://schemas.microsoft.com/office/drawing/2014/main" id="{47F8EBF8-DB8E-4A31-88D7-00073ED9F2BF}"/>
              </a:ext>
            </a:extLst>
          </p:cNvPr>
          <p:cNvSpPr>
            <a:spLocks xmlns:a="http://schemas.openxmlformats.org/drawingml/2006/main" noGrp="1"/>
          </p:cNvSpPr>
          <p:nvPr/>
        </p:nvSpPr>
        <p:spPr>
          <a:xfrm xmlns:a="http://schemas.openxmlformats.org/drawingml/2006/main">
            <a:off x="611505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EFCD4FB7-B737-4578-8EA5-1AE289E183DA}"/>
              </a:ext>
            </a:extLst>
          </p:cNvPr>
          <p:cNvSpPr>
            <a:spLocks xmlns:a="http://schemas.openxmlformats.org/drawingml/2006/main" noGrp="1"/>
          </p:cNvSpPr>
          <p:nvPr/>
        </p:nvSpPr>
        <p:spPr>
          <a:xfrm xmlns:a="http://schemas.openxmlformats.org/drawingml/2006/main">
            <a:off x="611505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37" name="">
            <a:extLst xmlns:a="http://schemas.openxmlformats.org/drawingml/2006/main">
              <a:ext uri="{FF2B5EF4-FFF2-40B4-BE49-F238E27FC236}">
                <a16:creationId xmlns:a16="http://schemas.microsoft.com/office/drawing/2014/main" id="{2DAD44DF-5785-4702-8980-98B134781902}"/>
              </a:ext>
            </a:extLst>
          </p:cNvPr>
          <p:cNvSpPr>
            <a:spLocks xmlns:a="http://schemas.openxmlformats.org/drawingml/2006/main" noGrp="1"/>
          </p:cNvSpPr>
          <p:nvPr/>
        </p:nvSpPr>
        <p:spPr>
          <a:xfrm xmlns:a="http://schemas.openxmlformats.org/drawingml/2006/main">
            <a:off x="611505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hard slice + corpus</a:t>
            </a:r>
          </a:p>
        </p:txBody>
      </p:sp>
      <p:sp>
        <p:nvSpPr>
          <p:cNvPr id="38" name="">
            <a:extLst xmlns:a="http://schemas.openxmlformats.org/drawingml/2006/main">
              <a:ext uri="{FF2B5EF4-FFF2-40B4-BE49-F238E27FC236}">
                <a16:creationId xmlns:a16="http://schemas.microsoft.com/office/drawing/2014/main" id="{A1A78462-D3AA-4CE7-A09A-6C82CA757FD6}"/>
              </a:ext>
            </a:extLst>
          </p:cNvPr>
          <p:cNvSpPr>
            <a:spLocks xmlns:a="http://schemas.openxmlformats.org/drawingml/2006/main" noGrp="1"/>
          </p:cNvSpPr>
          <p:nvPr/>
        </p:nvSpPr>
        <p:spPr>
          <a:xfrm xmlns:a="http://schemas.openxmlformats.org/drawingml/2006/main">
            <a:off x="611505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39" name="">
            <a:extLst xmlns:a="http://schemas.openxmlformats.org/drawingml/2006/main">
              <a:ext uri="{FF2B5EF4-FFF2-40B4-BE49-F238E27FC236}">
                <a16:creationId xmlns:a16="http://schemas.microsoft.com/office/drawing/2014/main" id="{C49A9F85-AB3B-4372-B362-186EF2AA90C8}"/>
              </a:ext>
            </a:extLst>
          </p:cNvPr>
          <p:cNvSpPr>
            <a:spLocks xmlns:a="http://schemas.openxmlformats.org/drawingml/2006/main" noGrp="1"/>
          </p:cNvSpPr>
          <p:nvPr/>
        </p:nvSpPr>
        <p:spPr>
          <a:xfrm xmlns:a="http://schemas.openxmlformats.org/drawingml/2006/main">
            <a:off x="611505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security + state + SLO</a:t>
            </a:r>
          </a:p>
        </p:txBody>
      </p:sp>
      <p:sp>
        <p:nvSpPr>
          <p:cNvPr id="40" name="">
            <a:extLst xmlns:a="http://schemas.openxmlformats.org/drawingml/2006/main">
              <a:ext uri="{FF2B5EF4-FFF2-40B4-BE49-F238E27FC236}">
                <a16:creationId xmlns:a16="http://schemas.microsoft.com/office/drawing/2014/main" id="{99E9F76F-4F19-49CB-B5E9-664B09D4F913}"/>
              </a:ext>
            </a:extLst>
          </p:cNvPr>
          <p:cNvSpPr>
            <a:spLocks xmlns:a="http://schemas.openxmlformats.org/drawingml/2006/main" noGrp="1"/>
          </p:cNvSpPr>
          <p:nvPr/>
        </p:nvSpPr>
        <p:spPr>
          <a:xfrm xmlns:a="http://schemas.openxmlformats.org/drawingml/2006/main">
            <a:off x="767715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2CC33005-25BC-457E-8411-0C4B8DC47B8D}"/>
              </a:ext>
            </a:extLst>
          </p:cNvPr>
          <p:cNvSpPr>
            <a:spLocks xmlns:a="http://schemas.openxmlformats.org/drawingml/2006/main" noGrp="1"/>
          </p:cNvSpPr>
          <p:nvPr/>
        </p:nvSpPr>
        <p:spPr>
          <a:xfrm xmlns:a="http://schemas.openxmlformats.org/drawingml/2006/main">
            <a:off x="792480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M4/A4</a:t>
            </a:r>
          </a:p>
        </p:txBody>
      </p:sp>
      <p:sp>
        <p:nvSpPr>
          <p:cNvPr id="42" name="">
            <a:extLst xmlns:a="http://schemas.openxmlformats.org/drawingml/2006/main">
              <a:ext uri="{FF2B5EF4-FFF2-40B4-BE49-F238E27FC236}">
                <a16:creationId xmlns:a16="http://schemas.microsoft.com/office/drawing/2014/main" id="{F4AE7126-CAF1-410E-8D16-8A652AEAE2CF}"/>
              </a:ext>
            </a:extLst>
          </p:cNvPr>
          <p:cNvSpPr>
            <a:spLocks xmlns:a="http://schemas.openxmlformats.org/drawingml/2006/main" noGrp="1"/>
          </p:cNvSpPr>
          <p:nvPr/>
        </p:nvSpPr>
        <p:spPr>
          <a:xfrm xmlns:a="http://schemas.openxmlformats.org/drawingml/2006/main">
            <a:off x="792480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Bounded</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coexistence</a:t>
            </a:r>
          </a:p>
        </p:txBody>
      </p:sp>
      <p:sp>
        <p:nvSpPr>
          <p:cNvPr id="43" name="">
            <a:extLst xmlns:a="http://schemas.openxmlformats.org/drawingml/2006/main">
              <a:ext uri="{FF2B5EF4-FFF2-40B4-BE49-F238E27FC236}">
                <a16:creationId xmlns:a16="http://schemas.microsoft.com/office/drawing/2014/main" id="{F31B0EFA-6B24-4A93-8A11-D41E1D42AFD5}"/>
              </a:ext>
            </a:extLst>
          </p:cNvPr>
          <p:cNvSpPr>
            <a:spLocks xmlns:a="http://schemas.openxmlformats.org/drawingml/2006/main" noGrp="1"/>
          </p:cNvSpPr>
          <p:nvPr/>
        </p:nvSpPr>
        <p:spPr>
          <a:xfrm xmlns:a="http://schemas.openxmlformats.org/drawingml/2006/main">
            <a:off x="792480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6C95529F-3A65-4A75-862E-C23384A485BC}"/>
              </a:ext>
            </a:extLst>
          </p:cNvPr>
          <p:cNvSpPr>
            <a:spLocks xmlns:a="http://schemas.openxmlformats.org/drawingml/2006/main" noGrp="1"/>
          </p:cNvSpPr>
          <p:nvPr/>
        </p:nvSpPr>
        <p:spPr>
          <a:xfrm xmlns:a="http://schemas.openxmlformats.org/drawingml/2006/main">
            <a:off x="792480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45" name="">
            <a:extLst xmlns:a="http://schemas.openxmlformats.org/drawingml/2006/main">
              <a:ext uri="{FF2B5EF4-FFF2-40B4-BE49-F238E27FC236}">
                <a16:creationId xmlns:a16="http://schemas.microsoft.com/office/drawing/2014/main" id="{65675DF1-8F2C-41EE-8ECD-AFD791DE279C}"/>
              </a:ext>
            </a:extLst>
          </p:cNvPr>
          <p:cNvSpPr>
            <a:spLocks xmlns:a="http://schemas.openxmlformats.org/drawingml/2006/main" noGrp="1"/>
          </p:cNvSpPr>
          <p:nvPr/>
        </p:nvSpPr>
        <p:spPr>
          <a:xfrm xmlns:a="http://schemas.openxmlformats.org/drawingml/2006/main">
            <a:off x="792480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cohort + identity/state</a:t>
            </a:r>
          </a:p>
        </p:txBody>
      </p:sp>
      <p:sp>
        <p:nvSpPr>
          <p:cNvPr id="46" name="">
            <a:extLst xmlns:a="http://schemas.openxmlformats.org/drawingml/2006/main">
              <a:ext uri="{FF2B5EF4-FFF2-40B4-BE49-F238E27FC236}">
                <a16:creationId xmlns:a16="http://schemas.microsoft.com/office/drawing/2014/main" id="{D7E9FE4C-BD9B-44C0-B3C0-8A92A5246CF8}"/>
              </a:ext>
            </a:extLst>
          </p:cNvPr>
          <p:cNvSpPr>
            <a:spLocks xmlns:a="http://schemas.openxmlformats.org/drawingml/2006/main" noGrp="1"/>
          </p:cNvSpPr>
          <p:nvPr/>
        </p:nvSpPr>
        <p:spPr>
          <a:xfrm xmlns:a="http://schemas.openxmlformats.org/drawingml/2006/main">
            <a:off x="792480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47" name="">
            <a:extLst xmlns:a="http://schemas.openxmlformats.org/drawingml/2006/main">
              <a:ext uri="{FF2B5EF4-FFF2-40B4-BE49-F238E27FC236}">
                <a16:creationId xmlns:a16="http://schemas.microsoft.com/office/drawing/2014/main" id="{38A80BA4-0DA1-4EBA-A43B-ECF123DC8013}"/>
              </a:ext>
            </a:extLst>
          </p:cNvPr>
          <p:cNvSpPr>
            <a:spLocks xmlns:a="http://schemas.openxmlformats.org/drawingml/2006/main" noGrp="1"/>
          </p:cNvSpPr>
          <p:nvPr/>
        </p:nvSpPr>
        <p:spPr>
          <a:xfrm xmlns:a="http://schemas.openxmlformats.org/drawingml/2006/main">
            <a:off x="792480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reconcile + timed rollback</a:t>
            </a:r>
          </a:p>
        </p:txBody>
      </p:sp>
      <p:sp>
        <p:nvSpPr>
          <p:cNvPr id="48" name="">
            <a:extLst xmlns:a="http://schemas.openxmlformats.org/drawingml/2006/main">
              <a:ext uri="{FF2B5EF4-FFF2-40B4-BE49-F238E27FC236}">
                <a16:creationId xmlns:a16="http://schemas.microsoft.com/office/drawing/2014/main" id="{840BC124-2A13-4893-8530-29638D56D135}"/>
              </a:ext>
            </a:extLst>
          </p:cNvPr>
          <p:cNvSpPr>
            <a:spLocks xmlns:a="http://schemas.openxmlformats.org/drawingml/2006/main" noGrp="1"/>
          </p:cNvSpPr>
          <p:nvPr/>
        </p:nvSpPr>
        <p:spPr>
          <a:xfrm xmlns:a="http://schemas.openxmlformats.org/drawingml/2006/main">
            <a:off x="948690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68DE761-FFF3-4D1B-9A81-0745F89AFC54}"/>
              </a:ext>
            </a:extLst>
          </p:cNvPr>
          <p:cNvSpPr>
            <a:spLocks xmlns:a="http://schemas.openxmlformats.org/drawingml/2006/main" noGrp="1"/>
          </p:cNvSpPr>
          <p:nvPr/>
        </p:nvSpPr>
        <p:spPr>
          <a:xfrm xmlns:a="http://schemas.openxmlformats.org/drawingml/2006/main">
            <a:off x="973455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144"/>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M5/A5+</a:t>
            </a:r>
          </a:p>
        </p:txBody>
      </p:sp>
      <p:sp>
        <p:nvSpPr>
          <p:cNvPr id="50" name="">
            <a:extLst xmlns:a="http://schemas.openxmlformats.org/drawingml/2006/main">
              <a:ext uri="{FF2B5EF4-FFF2-40B4-BE49-F238E27FC236}">
                <a16:creationId xmlns:a16="http://schemas.microsoft.com/office/drawing/2014/main" id="{A0C21E87-BA06-4215-8D9F-B6D7E47F3F65}"/>
              </a:ext>
            </a:extLst>
          </p:cNvPr>
          <p:cNvSpPr>
            <a:spLocks xmlns:a="http://schemas.openxmlformats.org/drawingml/2006/main" noGrp="1"/>
          </p:cNvSpPr>
          <p:nvPr/>
        </p:nvSpPr>
        <p:spPr>
          <a:xfrm xmlns:a="http://schemas.openxmlformats.org/drawingml/2006/main">
            <a:off x="973455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72"/>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Canary → A6</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dependency zero</a:t>
            </a:r>
          </a:p>
        </p:txBody>
      </p:sp>
      <p:sp>
        <p:nvSpPr>
          <p:cNvPr id="51" name="">
            <a:extLst xmlns:a="http://schemas.openxmlformats.org/drawingml/2006/main">
              <a:ext uri="{FF2B5EF4-FFF2-40B4-BE49-F238E27FC236}">
                <a16:creationId xmlns:a16="http://schemas.microsoft.com/office/drawing/2014/main" id="{ED46B277-92F4-4474-8A05-8D873E5F1D97}"/>
              </a:ext>
            </a:extLst>
          </p:cNvPr>
          <p:cNvSpPr>
            <a:spLocks xmlns:a="http://schemas.openxmlformats.org/drawingml/2006/main" noGrp="1"/>
          </p:cNvSpPr>
          <p:nvPr/>
        </p:nvSpPr>
        <p:spPr>
          <a:xfrm xmlns:a="http://schemas.openxmlformats.org/drawingml/2006/main">
            <a:off x="973455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52" name="">
            <a:extLst xmlns:a="http://schemas.openxmlformats.org/drawingml/2006/main">
              <a:ext uri="{FF2B5EF4-FFF2-40B4-BE49-F238E27FC236}">
                <a16:creationId xmlns:a16="http://schemas.microsoft.com/office/drawing/2014/main" id="{0DF1FAD6-63D2-482C-9FEB-DD7157217B4E}"/>
              </a:ext>
            </a:extLst>
          </p:cNvPr>
          <p:cNvSpPr>
            <a:spLocks xmlns:a="http://schemas.openxmlformats.org/drawingml/2006/main" noGrp="1"/>
          </p:cNvSpPr>
          <p:nvPr/>
        </p:nvSpPr>
        <p:spPr>
          <a:xfrm xmlns:a="http://schemas.openxmlformats.org/drawingml/2006/main">
            <a:off x="973455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53" name="">
            <a:extLst xmlns:a="http://schemas.openxmlformats.org/drawingml/2006/main">
              <a:ext uri="{FF2B5EF4-FFF2-40B4-BE49-F238E27FC236}">
                <a16:creationId xmlns:a16="http://schemas.microsoft.com/office/drawing/2014/main" id="{C46EEBEB-416C-40A8-8AB5-855F32E83C2B}"/>
              </a:ext>
            </a:extLst>
          </p:cNvPr>
          <p:cNvSpPr>
            <a:spLocks xmlns:a="http://schemas.openxmlformats.org/drawingml/2006/main" noGrp="1"/>
          </p:cNvSpPr>
          <p:nvPr/>
        </p:nvSpPr>
        <p:spPr>
          <a:xfrm xmlns:a="http://schemas.openxmlformats.org/drawingml/2006/main">
            <a:off x="973455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representative operating evidence</a:t>
            </a:r>
          </a:p>
        </p:txBody>
      </p:sp>
      <p:sp>
        <p:nvSpPr>
          <p:cNvPr id="54" name="">
            <a:extLst xmlns:a="http://schemas.openxmlformats.org/drawingml/2006/main">
              <a:ext uri="{FF2B5EF4-FFF2-40B4-BE49-F238E27FC236}">
                <a16:creationId xmlns:a16="http://schemas.microsoft.com/office/drawing/2014/main" id="{89C9A6A5-C6EF-42A9-9F54-085A3B3857A7}"/>
              </a:ext>
            </a:extLst>
          </p:cNvPr>
          <p:cNvSpPr>
            <a:spLocks xmlns:a="http://schemas.openxmlformats.org/drawingml/2006/main" noGrp="1"/>
          </p:cNvSpPr>
          <p:nvPr/>
        </p:nvSpPr>
        <p:spPr>
          <a:xfrm xmlns:a="http://schemas.openxmlformats.org/drawingml/2006/main">
            <a:off x="973455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55" name="">
            <a:extLst xmlns:a="http://schemas.openxmlformats.org/drawingml/2006/main">
              <a:ext uri="{FF2B5EF4-FFF2-40B4-BE49-F238E27FC236}">
                <a16:creationId xmlns:a16="http://schemas.microsoft.com/office/drawing/2014/main" id="{BBD2FC65-9134-490C-A3F3-257C232BD2FA}"/>
              </a:ext>
            </a:extLst>
          </p:cNvPr>
          <p:cNvSpPr>
            <a:spLocks xmlns:a="http://schemas.openxmlformats.org/drawingml/2006/main" noGrp="1"/>
          </p:cNvSpPr>
          <p:nvPr/>
        </p:nvSpPr>
        <p:spPr>
          <a:xfrm xmlns:a="http://schemas.openxmlformats.org/drawingml/2006/main">
            <a:off x="973455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all source duties closed</a:t>
            </a:r>
          </a:p>
        </p:txBody>
      </p:sp>
      <p:sp>
        <p:nvSpPr>
          <p:cNvPr id="56" name="">
            <a:extLst xmlns:a="http://schemas.openxmlformats.org/drawingml/2006/main">
              <a:ext uri="{FF2B5EF4-FFF2-40B4-BE49-F238E27FC236}">
                <a16:creationId xmlns:a16="http://schemas.microsoft.com/office/drawing/2014/main" id="{00CF3370-3F58-4387-9118-41B92AC08C03}"/>
              </a:ext>
            </a:extLst>
          </p:cNvPr>
          <p:cNvSpPr>
            <a:spLocks xmlns:a="http://schemas.openxmlformats.org/drawingml/2006/main" noGrp="1"/>
          </p:cNvSpPr>
          <p:nvPr/>
        </p:nvSpPr>
        <p:spPr>
          <a:xfrm xmlns:a="http://schemas.openxmlformats.org/drawingml/2006/main">
            <a:off x="2495550" y="5857875"/>
            <a:ext cx="7200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246"/>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No path advances because the calendar moved—or a proxy bundle exported.</a:t>
            </a:r>
          </a:p>
        </p:txBody>
      </p:sp>
    </p:spTree>
    <p:extLst>
      <p:ext uri="{BB962C8B-B14F-4D97-AF65-F5344CB8AC3E}">
        <p14:creationId xmlns:p14="http://schemas.microsoft.com/office/powerpoint/2010/main" val="260942150"/>
      </p:ext>
    </p:extLst>
  </p:cSld>
</p:sld>
</file>

<file path=ppt/slides/slide17.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34CB803-C782-446A-9267-22D570997D7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AA3E8BA-D722-4007-9DFE-B7F2A50089A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11D335C-E2A0-4AEE-BC76-CA98B686D56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17 / PRODUCTION</a:t>
            </a:r>
          </a:p>
        </p:txBody>
      </p:sp>
      <p:sp>
        <p:nvSpPr>
          <p:cNvPr id="4" name="">
            <a:extLst xmlns:a="http://schemas.openxmlformats.org/drawingml/2006/main">
              <a:ext uri="{FF2B5EF4-FFF2-40B4-BE49-F238E27FC236}">
                <a16:creationId xmlns:a16="http://schemas.microsoft.com/office/drawing/2014/main" id="{2B7FCF0F-6E74-4157-8E0A-08D42650197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Current PoC is a functional baseline—not KP-SMH1 proof</a:t>
            </a:r>
          </a:p>
        </p:txBody>
      </p:sp>
      <p:sp>
        <p:nvSpPr>
          <p:cNvPr id="5" name="">
            <a:extLst xmlns:a="http://schemas.openxmlformats.org/drawingml/2006/main">
              <a:ext uri="{FF2B5EF4-FFF2-40B4-BE49-F238E27FC236}">
                <a16:creationId xmlns:a16="http://schemas.microsoft.com/office/drawing/2014/main" id="{24690352-C606-4122-9AB1-DF2AEB1673E0}"/>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Aggregate register status and atomic comparison protocols are separate, non-additive evidence systems.</a:t>
            </a:r>
          </a:p>
        </p:txBody>
      </p:sp>
      <p:sp>
        <p:nvSpPr>
          <p:cNvPr id="6" name="">
            <a:extLst xmlns:a="http://schemas.openxmlformats.org/drawingml/2006/main">
              <a:ext uri="{FF2B5EF4-FFF2-40B4-BE49-F238E27FC236}">
                <a16:creationId xmlns:a16="http://schemas.microsoft.com/office/drawing/2014/main" id="{5396D5E3-2A3A-4E35-91CD-76640301337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47DEFFC-6E52-49CA-A718-DBB35877E326}"/>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7b24b5b1d5ec44bd"/>
              </a:rPr>
              <a:t>Repo reference</a:t>
            </a:r>
            <a:r>
              <a:rPr sz="825">
                <a:solidFill>
                  <a:srgbClr val="666762"/>
                </a:solidFill>
              </a:rPr>
              <a:t>  ·  </a:t>
            </a:r>
            <a:r>
              <a:rPr sz="825" u="sng">
                <a:solidFill>
                  <a:srgbClr val="666762"/>
                </a:solidFill>
                <a:hlinkClick xmlns:r="http://schemas.openxmlformats.org/officeDocument/2006/relationships" r:id="R6058eb4ba4084118"/>
              </a:rPr>
              <a:t>Official docs</a:t>
            </a:r>
          </a:p>
        </p:txBody>
      </p:sp>
      <p:sp>
        <p:nvSpPr>
          <p:cNvPr id="8" name="">
            <a:extLst xmlns:a="http://schemas.openxmlformats.org/drawingml/2006/main">
              <a:ext uri="{FF2B5EF4-FFF2-40B4-BE49-F238E27FC236}">
                <a16:creationId xmlns:a16="http://schemas.microsoft.com/office/drawing/2014/main" id="{8AD95E7D-67B5-4D6D-94DB-DE59F229ADD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17 / 25</a:t>
            </a:r>
          </a:p>
        </p:txBody>
      </p:sp>
      <p:sp>
        <p:nvSpPr>
          <p:cNvPr id="9" name="">
            <a:extLst xmlns:a="http://schemas.openxmlformats.org/drawingml/2006/main">
              <a:ext uri="{FF2B5EF4-FFF2-40B4-BE49-F238E27FC236}">
                <a16:creationId xmlns:a16="http://schemas.microsoft.com/office/drawing/2014/main" id="{DFAE3E54-6DAD-4463-A105-A79DA610CE85}"/>
              </a:ext>
            </a:extLst>
          </p:cNvPr>
          <p:cNvSpPr>
            <a:spLocks xmlns:a="http://schemas.openxmlformats.org/drawingml/2006/main" noGrp="1"/>
          </p:cNvSpPr>
          <p:nvPr/>
        </p:nvSpPr>
        <p:spPr>
          <a:xfrm xmlns:a="http://schemas.openxmlformats.org/drawingml/2006/main">
            <a:off x="685800" y="2238375"/>
            <a:ext cx="2286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7800" b="0" i="0">
                <a:solidFill>
                  <a:srgbClr val="5537D6"/>
                </a:solidFill>
                <a:latin typeface="Georgia"/>
                <a:ea typeface="Georgia"/>
                <a:cs typeface="Georgia"/>
              </a:defRPr>
            </a:pPr>
            <a:r>
              <a:rPr sz="7800" b="0" i="0">
                <a:solidFill>
                  <a:srgbClr val="5537D6"/>
                </a:solidFill>
                <a:latin typeface="Georgia"/>
                <a:ea typeface="Georgia"/>
                <a:cs typeface="Georgia"/>
              </a:rPr>
              <a:t>0</a:t>
            </a:r>
          </a:p>
        </p:txBody>
      </p:sp>
      <p:sp>
        <p:nvSpPr>
          <p:cNvPr id="10" name="">
            <a:extLst xmlns:a="http://schemas.openxmlformats.org/drawingml/2006/main">
              <a:ext uri="{FF2B5EF4-FFF2-40B4-BE49-F238E27FC236}">
                <a16:creationId xmlns:a16="http://schemas.microsoft.com/office/drawing/2014/main" id="{8B12EAF7-5C14-45F3-A54C-3360EC7A3604}"/>
              </a:ext>
            </a:extLst>
          </p:cNvPr>
          <p:cNvSpPr>
            <a:spLocks xmlns:a="http://schemas.openxmlformats.org/drawingml/2006/main" noGrp="1"/>
          </p:cNvSpPr>
          <p:nvPr/>
        </p:nvSpPr>
        <p:spPr>
          <a:xfrm xmlns:a="http://schemas.openxmlformats.org/drawingml/2006/main">
            <a:off x="685800" y="3476625"/>
            <a:ext cx="2286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target-option</a:t>
            </a:r>
          </a:p>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E3 / E4 results</a:t>
            </a:r>
          </a:p>
        </p:txBody>
      </p:sp>
      <p:sp>
        <p:nvSpPr>
          <p:cNvPr id="11" name="">
            <a:extLst xmlns:a="http://schemas.openxmlformats.org/drawingml/2006/main">
              <a:ext uri="{FF2B5EF4-FFF2-40B4-BE49-F238E27FC236}">
                <a16:creationId xmlns:a16="http://schemas.microsoft.com/office/drawing/2014/main" id="{3F0DF096-E618-450D-8778-70B89D41616F}"/>
              </a:ext>
            </a:extLst>
          </p:cNvPr>
          <p:cNvSpPr>
            <a:spLocks xmlns:a="http://schemas.openxmlformats.org/drawingml/2006/main" noGrp="1"/>
          </p:cNvSpPr>
          <p:nvPr/>
        </p:nvSpPr>
        <p:spPr>
          <a:xfrm xmlns:a="http://schemas.openxmlformats.org/drawingml/2006/main">
            <a:off x="35242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2" name="">
            <a:extLst xmlns:a="http://schemas.openxmlformats.org/drawingml/2006/main">
              <a:ext uri="{FF2B5EF4-FFF2-40B4-BE49-F238E27FC236}">
                <a16:creationId xmlns:a16="http://schemas.microsoft.com/office/drawing/2014/main" id="{1243CCD7-C651-4001-BF24-CDA4F80B33BA}"/>
              </a:ext>
            </a:extLst>
          </p:cNvPr>
          <p:cNvSpPr>
            <a:spLocks xmlns:a="http://schemas.openxmlformats.org/drawingml/2006/main" noGrp="1"/>
          </p:cNvSpPr>
          <p:nvPr/>
        </p:nvSpPr>
        <p:spPr>
          <a:xfrm xmlns:a="http://schemas.openxmlformats.org/drawingml/2006/main">
            <a:off x="37147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197457"/>
                </a:solidFill>
                <a:latin typeface="Consolas"/>
                <a:ea typeface="Consolas"/>
                <a:cs typeface="Consolas"/>
              </a:defRPr>
            </a:pPr>
            <a:r>
              <a:rPr sz="3150" b="1" i="0">
                <a:solidFill>
                  <a:srgbClr val="197457"/>
                </a:solidFill>
                <a:latin typeface="Consolas"/>
                <a:ea typeface="Consolas"/>
                <a:cs typeface="Consolas"/>
              </a:rPr>
              <a:t>5 / 16</a:t>
            </a:r>
          </a:p>
        </p:txBody>
      </p:sp>
      <p:sp>
        <p:nvSpPr>
          <p:cNvPr id="13" name="">
            <a:extLst xmlns:a="http://schemas.openxmlformats.org/drawingml/2006/main">
              <a:ext uri="{FF2B5EF4-FFF2-40B4-BE49-F238E27FC236}">
                <a16:creationId xmlns:a16="http://schemas.microsoft.com/office/drawing/2014/main" id="{EA8B9163-D837-4502-9FEA-58AAAF8F74C4}"/>
              </a:ext>
            </a:extLst>
          </p:cNvPr>
          <p:cNvSpPr>
            <a:spLocks xmlns:a="http://schemas.openxmlformats.org/drawingml/2006/main" noGrp="1"/>
          </p:cNvSpPr>
          <p:nvPr/>
        </p:nvSpPr>
        <p:spPr>
          <a:xfrm xmlns:a="http://schemas.openxmlformats.org/drawingml/2006/main">
            <a:off x="37147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202"/>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Automated local-baseline checks</a:t>
            </a:r>
          </a:p>
        </p:txBody>
      </p:sp>
      <p:sp>
        <p:nvSpPr>
          <p:cNvPr id="14" name="">
            <a:extLst xmlns:a="http://schemas.openxmlformats.org/drawingml/2006/main">
              <a:ext uri="{FF2B5EF4-FFF2-40B4-BE49-F238E27FC236}">
                <a16:creationId xmlns:a16="http://schemas.microsoft.com/office/drawing/2014/main" id="{E2EA90A3-A1A7-4B75-9016-5562B9C4502B}"/>
              </a:ext>
            </a:extLst>
          </p:cNvPr>
          <p:cNvSpPr>
            <a:spLocks xmlns:a="http://schemas.openxmlformats.org/drawingml/2006/main" noGrp="1"/>
          </p:cNvSpPr>
          <p:nvPr/>
        </p:nvSpPr>
        <p:spPr>
          <a:xfrm xmlns:a="http://schemas.openxmlformats.org/drawingml/2006/main">
            <a:off x="37147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26"/>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Useful for harness function—not representative production fit</a:t>
            </a:r>
          </a:p>
        </p:txBody>
      </p:sp>
      <p:sp>
        <p:nvSpPr>
          <p:cNvPr id="15" name="">
            <a:extLst xmlns:a="http://schemas.openxmlformats.org/drawingml/2006/main">
              <a:ext uri="{FF2B5EF4-FFF2-40B4-BE49-F238E27FC236}">
                <a16:creationId xmlns:a16="http://schemas.microsoft.com/office/drawing/2014/main" id="{507805FD-1EFB-46BB-9424-44DECA9EF9AF}"/>
              </a:ext>
            </a:extLst>
          </p:cNvPr>
          <p:cNvSpPr>
            <a:spLocks xmlns:a="http://schemas.openxmlformats.org/drawingml/2006/main" noGrp="1"/>
          </p:cNvSpPr>
          <p:nvPr/>
        </p:nvSpPr>
        <p:spPr>
          <a:xfrm xmlns:a="http://schemas.openxmlformats.org/drawingml/2006/main">
            <a:off x="61531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08E96536-E010-4A68-9EDF-7F0AB9AB2069}"/>
              </a:ext>
            </a:extLst>
          </p:cNvPr>
          <p:cNvSpPr>
            <a:spLocks xmlns:a="http://schemas.openxmlformats.org/drawingml/2006/main" noGrp="1"/>
          </p:cNvSpPr>
          <p:nvPr/>
        </p:nvSpPr>
        <p:spPr>
          <a:xfrm xmlns:a="http://schemas.openxmlformats.org/drawingml/2006/main">
            <a:off x="63436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11 / 16</a:t>
            </a:r>
          </a:p>
        </p:txBody>
      </p:sp>
      <p:sp>
        <p:nvSpPr>
          <p:cNvPr id="17" name="">
            <a:extLst xmlns:a="http://schemas.openxmlformats.org/drawingml/2006/main">
              <a:ext uri="{FF2B5EF4-FFF2-40B4-BE49-F238E27FC236}">
                <a16:creationId xmlns:a16="http://schemas.microsoft.com/office/drawing/2014/main" id="{44E6A225-9558-4AB4-A5F5-B6395D565E92}"/>
              </a:ext>
            </a:extLst>
          </p:cNvPr>
          <p:cNvSpPr>
            <a:spLocks xmlns:a="http://schemas.openxmlformats.org/drawingml/2006/main" noGrp="1"/>
          </p:cNvSpPr>
          <p:nvPr/>
        </p:nvSpPr>
        <p:spPr>
          <a:xfrm xmlns:a="http://schemas.openxmlformats.org/drawingml/2006/main">
            <a:off x="63436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Aggregate items not run</a:t>
            </a:r>
          </a:p>
        </p:txBody>
      </p:sp>
      <p:sp>
        <p:nvSpPr>
          <p:cNvPr id="18" name="">
            <a:extLst xmlns:a="http://schemas.openxmlformats.org/drawingml/2006/main">
              <a:ext uri="{FF2B5EF4-FFF2-40B4-BE49-F238E27FC236}">
                <a16:creationId xmlns:a16="http://schemas.microsoft.com/office/drawing/2014/main" id="{DE595F43-72D0-4818-95E1-592D44429148}"/>
              </a:ext>
            </a:extLst>
          </p:cNvPr>
          <p:cNvSpPr>
            <a:spLocks xmlns:a="http://schemas.openxmlformats.org/drawingml/2006/main" noGrp="1"/>
          </p:cNvSpPr>
          <p:nvPr/>
        </p:nvSpPr>
        <p:spPr>
          <a:xfrm xmlns:a="http://schemas.openxmlformats.org/drawingml/2006/main">
            <a:off x="63436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Execution state remains explicit; no inference from scripts</a:t>
            </a:r>
          </a:p>
        </p:txBody>
      </p:sp>
      <p:sp>
        <p:nvSpPr>
          <p:cNvPr id="19" name="">
            <a:extLst xmlns:a="http://schemas.openxmlformats.org/drawingml/2006/main">
              <a:ext uri="{FF2B5EF4-FFF2-40B4-BE49-F238E27FC236}">
                <a16:creationId xmlns:a16="http://schemas.microsoft.com/office/drawing/2014/main" id="{435BE7F8-75C5-4968-A408-C7AB0D414B6A}"/>
              </a:ext>
            </a:extLst>
          </p:cNvPr>
          <p:cNvSpPr>
            <a:spLocks xmlns:a="http://schemas.openxmlformats.org/drawingml/2006/main" noGrp="1"/>
          </p:cNvSpPr>
          <p:nvPr/>
        </p:nvSpPr>
        <p:spPr>
          <a:xfrm xmlns:a="http://schemas.openxmlformats.org/drawingml/2006/main">
            <a:off x="87820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47558609-3549-4AF3-97F0-C5AFEF9D6122}"/>
              </a:ext>
            </a:extLst>
          </p:cNvPr>
          <p:cNvSpPr>
            <a:spLocks xmlns:a="http://schemas.openxmlformats.org/drawingml/2006/main" noGrp="1"/>
          </p:cNvSpPr>
          <p:nvPr/>
        </p:nvSpPr>
        <p:spPr>
          <a:xfrm xmlns:a="http://schemas.openxmlformats.org/drawingml/2006/main">
            <a:off x="89725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28</a:t>
            </a:r>
          </a:p>
        </p:txBody>
      </p:sp>
      <p:sp>
        <p:nvSpPr>
          <p:cNvPr id="21" name="">
            <a:extLst xmlns:a="http://schemas.openxmlformats.org/drawingml/2006/main">
              <a:ext uri="{FF2B5EF4-FFF2-40B4-BE49-F238E27FC236}">
                <a16:creationId xmlns:a16="http://schemas.microsoft.com/office/drawing/2014/main" id="{A649534B-9ACA-44D1-9930-7636AD1DD220}"/>
              </a:ext>
            </a:extLst>
          </p:cNvPr>
          <p:cNvSpPr>
            <a:spLocks xmlns:a="http://schemas.openxmlformats.org/drawingml/2006/main" noGrp="1"/>
          </p:cNvSpPr>
          <p:nvPr/>
        </p:nvSpPr>
        <p:spPr>
          <a:xfrm xmlns:a="http://schemas.openxmlformats.org/drawingml/2006/main">
            <a:off x="89725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Atomic protocol cases</a:t>
            </a:r>
          </a:p>
        </p:txBody>
      </p:sp>
      <p:sp>
        <p:nvSpPr>
          <p:cNvPr id="22" name="">
            <a:extLst xmlns:a="http://schemas.openxmlformats.org/drawingml/2006/main">
              <a:ext uri="{FF2B5EF4-FFF2-40B4-BE49-F238E27FC236}">
                <a16:creationId xmlns:a16="http://schemas.microsoft.com/office/drawing/2014/main" id="{F777E87A-9792-403F-B962-75B0D95A4BAD}"/>
              </a:ext>
            </a:extLst>
          </p:cNvPr>
          <p:cNvSpPr>
            <a:spLocks xmlns:a="http://schemas.openxmlformats.org/drawingml/2006/main" noGrp="1"/>
          </p:cNvSpPr>
          <p:nvPr/>
        </p:nvSpPr>
        <p:spPr>
          <a:xfrm xmlns:a="http://schemas.openxmlformats.org/drawingml/2006/main">
            <a:off x="89725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Separate candidate×case matrix; starts not run</a:t>
            </a:r>
          </a:p>
        </p:txBody>
      </p:sp>
      <p:sp>
        <p:nvSpPr>
          <p:cNvPr id="23" name="">
            <a:extLst xmlns:a="http://schemas.openxmlformats.org/drawingml/2006/main">
              <a:ext uri="{FF2B5EF4-FFF2-40B4-BE49-F238E27FC236}">
                <a16:creationId xmlns:a16="http://schemas.microsoft.com/office/drawing/2014/main" id="{7BF51D9C-4FE4-44F2-BC73-12190328DBE2}"/>
              </a:ext>
            </a:extLst>
          </p:cNvPr>
          <p:cNvSpPr>
            <a:spLocks xmlns:a="http://schemas.openxmlformats.org/drawingml/2006/main" noGrp="1"/>
          </p:cNvSpPr>
          <p:nvPr/>
        </p:nvSpPr>
        <p:spPr>
          <a:xfrm xmlns:a="http://schemas.openxmlformats.org/drawingml/2006/main">
            <a:off x="685800" y="5600700"/>
            <a:ext cx="10706100" cy="4572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35894F2-979F-4B41-9961-6701625DCE3D}"/>
              </a:ext>
            </a:extLst>
          </p:cNvPr>
          <p:cNvSpPr>
            <a:spLocks xmlns:a="http://schemas.openxmlformats.org/drawingml/2006/main" noGrp="1"/>
          </p:cNvSpPr>
          <p:nvPr/>
        </p:nvSpPr>
        <p:spPr>
          <a:xfrm xmlns:a="http://schemas.openxmlformats.org/drawingml/2006/main">
            <a:off x="838200" y="5705475"/>
            <a:ext cx="10401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Every strategic-fit claim becomes a hypothesis: GitOps · CP loss · lifecycle · observability · security · AI policy · performance · TCO</a:t>
            </a:r>
          </a:p>
        </p:txBody>
      </p:sp>
    </p:spTree>
    <p:extLst>
      <p:ext uri="{BB962C8B-B14F-4D97-AF65-F5344CB8AC3E}">
        <p14:creationId xmlns:p14="http://schemas.microsoft.com/office/powerpoint/2010/main" val="386894071"/>
      </p:ext>
    </p:extLst>
  </p:cSld>
</p:sld>
</file>

<file path=ppt/slides/slide18.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18974FDC-F29B-4E2C-AF84-818480225C1B}"/>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37D46D0-6F11-4433-9039-24E914E96D79}"/>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ED19CE0-2937-491D-A75F-27CF01D0A229}"/>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18 / PRODUCTION</a:t>
            </a:r>
          </a:p>
        </p:txBody>
      </p:sp>
      <p:sp>
        <p:nvSpPr>
          <p:cNvPr id="4" name="">
            <a:extLst xmlns:a="http://schemas.openxmlformats.org/drawingml/2006/main">
              <a:ext uri="{FF2B5EF4-FFF2-40B4-BE49-F238E27FC236}">
                <a16:creationId xmlns:a16="http://schemas.microsoft.com/office/drawing/2014/main" id="{A2CF7392-7736-425E-A718-C7495D60C53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next PoC must mirror the production target</a:t>
            </a:r>
          </a:p>
        </p:txBody>
      </p:sp>
      <p:sp>
        <p:nvSpPr>
          <p:cNvPr id="5" name="">
            <a:extLst xmlns:a="http://schemas.openxmlformats.org/drawingml/2006/main">
              <a:ext uri="{FF2B5EF4-FFF2-40B4-BE49-F238E27FC236}">
                <a16:creationId xmlns:a16="http://schemas.microsoft.com/office/drawing/2014/main" id="{7FBE64B0-A3FF-4650-B6DC-C2BFD7C35C8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Seven workstreams convert the local baseline into decision-grade target evidence.</a:t>
            </a:r>
          </a:p>
        </p:txBody>
      </p:sp>
      <p:sp>
        <p:nvSpPr>
          <p:cNvPr id="6" name="">
            <a:extLst xmlns:a="http://schemas.openxmlformats.org/drawingml/2006/main">
              <a:ext uri="{FF2B5EF4-FFF2-40B4-BE49-F238E27FC236}">
                <a16:creationId xmlns:a16="http://schemas.microsoft.com/office/drawing/2014/main" id="{72BDA32D-7E79-44C8-8123-F24311A8799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3BB1822-A84B-4832-AC93-F1CE0E2D54C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cca879826c049e8"/>
              </a:rPr>
              <a:t>Repo reference</a:t>
            </a:r>
            <a:r>
              <a:rPr sz="825">
                <a:solidFill>
                  <a:srgbClr val="666762"/>
                </a:solidFill>
              </a:rPr>
              <a:t>  ·  </a:t>
            </a:r>
            <a:r>
              <a:rPr sz="825" u="sng">
                <a:solidFill>
                  <a:srgbClr val="666762"/>
                </a:solidFill>
                <a:hlinkClick xmlns:r="http://schemas.openxmlformats.org/officeDocument/2006/relationships" r:id="R8eb50f367df945fb"/>
              </a:rPr>
              <a:t>Official docs</a:t>
            </a:r>
          </a:p>
        </p:txBody>
      </p:sp>
      <p:sp>
        <p:nvSpPr>
          <p:cNvPr id="8" name="">
            <a:extLst xmlns:a="http://schemas.openxmlformats.org/drawingml/2006/main">
              <a:ext uri="{FF2B5EF4-FFF2-40B4-BE49-F238E27FC236}">
                <a16:creationId xmlns:a16="http://schemas.microsoft.com/office/drawing/2014/main" id="{68AB035D-C8CD-46B2-9359-794A2088C9F3}"/>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18 / 25</a:t>
            </a:r>
          </a:p>
        </p:txBody>
      </p:sp>
      <p:sp>
        <p:nvSpPr>
          <p:cNvPr id="9" name="">
            <a:extLst xmlns:a="http://schemas.openxmlformats.org/drawingml/2006/main">
              <a:ext uri="{FF2B5EF4-FFF2-40B4-BE49-F238E27FC236}">
                <a16:creationId xmlns:a16="http://schemas.microsoft.com/office/drawing/2014/main" id="{EBFEB3D6-4926-49B5-8998-2C3BEFB2B425}"/>
              </a:ext>
            </a:extLst>
          </p:cNvPr>
          <p:cNvSpPr>
            <a:spLocks xmlns:a="http://schemas.openxmlformats.org/drawingml/2006/main" noGrp="1"/>
          </p:cNvSpPr>
          <p:nvPr/>
        </p:nvSpPr>
        <p:spPr>
          <a:xfrm xmlns:a="http://schemas.openxmlformats.org/drawingml/2006/main">
            <a:off x="64770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TARGET + DELIVERY</a:t>
            </a:r>
          </a:p>
        </p:txBody>
      </p:sp>
      <p:sp>
        <p:nvSpPr>
          <p:cNvPr id="10" name="">
            <a:extLst xmlns:a="http://schemas.openxmlformats.org/drawingml/2006/main">
              <a:ext uri="{FF2B5EF4-FFF2-40B4-BE49-F238E27FC236}">
                <a16:creationId xmlns:a16="http://schemas.microsoft.com/office/drawing/2014/main" id="{E6634319-4892-4BD1-B537-024A0DA17F60}"/>
              </a:ext>
            </a:extLst>
          </p:cNvPr>
          <p:cNvSpPr>
            <a:spLocks xmlns:a="http://schemas.openxmlformats.org/drawingml/2006/main" noGrp="1"/>
          </p:cNvSpPr>
          <p:nvPr/>
        </p:nvSpPr>
        <p:spPr>
          <a:xfrm xmlns:a="http://schemas.openxmlformats.org/drawingml/2006/main">
            <a:off x="64770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9A718E-7133-4D0E-975E-4C79F5A5A7FF}"/>
              </a:ext>
            </a:extLst>
          </p:cNvPr>
          <p:cNvSpPr>
            <a:spLocks xmlns:a="http://schemas.openxmlformats.org/drawingml/2006/main" noGrp="1"/>
          </p:cNvSpPr>
          <p:nvPr/>
        </p:nvSpPr>
        <p:spPr>
          <a:xfrm xmlns:a="http://schemas.openxmlformats.org/drawingml/2006/main">
            <a:off x="64770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01</a:t>
            </a:r>
          </a:p>
        </p:txBody>
      </p:sp>
      <p:sp>
        <p:nvSpPr>
          <p:cNvPr id="12" name="">
            <a:extLst xmlns:a="http://schemas.openxmlformats.org/drawingml/2006/main">
              <a:ext uri="{FF2B5EF4-FFF2-40B4-BE49-F238E27FC236}">
                <a16:creationId xmlns:a16="http://schemas.microsoft.com/office/drawing/2014/main" id="{DACF2193-93D3-46F8-B9E7-DDC0A805CB0B}"/>
              </a:ext>
            </a:extLst>
          </p:cNvPr>
          <p:cNvSpPr>
            <a:spLocks xmlns:a="http://schemas.openxmlformats.org/drawingml/2006/main" noGrp="1"/>
          </p:cNvSpPr>
          <p:nvPr/>
        </p:nvSpPr>
        <p:spPr>
          <a:xfrm xmlns:a="http://schemas.openxmlformats.org/drawingml/2006/main">
            <a:off x="116205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Target-aligned hybrid</a:t>
            </a:r>
          </a:p>
        </p:txBody>
      </p:sp>
      <p:sp>
        <p:nvSpPr>
          <p:cNvPr id="13" name="">
            <a:extLst xmlns:a="http://schemas.openxmlformats.org/drawingml/2006/main">
              <a:ext uri="{FF2B5EF4-FFF2-40B4-BE49-F238E27FC236}">
                <a16:creationId xmlns:a16="http://schemas.microsoft.com/office/drawing/2014/main" id="{20824502-9332-4B39-BF44-A648E99D3AD9}"/>
              </a:ext>
            </a:extLst>
          </p:cNvPr>
          <p:cNvSpPr>
            <a:spLocks xmlns:a="http://schemas.openxmlformats.org/drawingml/2006/main" noGrp="1"/>
          </p:cNvSpPr>
          <p:nvPr/>
        </p:nvSpPr>
        <p:spPr>
          <a:xfrm xmlns:a="http://schemas.openxmlformats.org/drawingml/2006/main">
            <a:off x="116205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Run the proposed Kong Enterprise 3.14 hybrid topology with production-like control, trust and evidence paths.</a:t>
            </a:r>
          </a:p>
        </p:txBody>
      </p:sp>
      <p:sp>
        <p:nvSpPr>
          <p:cNvPr id="14" name="">
            <a:extLst xmlns:a="http://schemas.openxmlformats.org/drawingml/2006/main">
              <a:ext uri="{FF2B5EF4-FFF2-40B4-BE49-F238E27FC236}">
                <a16:creationId xmlns:a16="http://schemas.microsoft.com/office/drawing/2014/main" id="{D620E9F9-3444-4F24-8082-881B0D9F228F}"/>
              </a:ext>
            </a:extLst>
          </p:cNvPr>
          <p:cNvSpPr>
            <a:spLocks xmlns:a="http://schemas.openxmlformats.org/drawingml/2006/main" noGrp="1"/>
          </p:cNvSpPr>
          <p:nvPr/>
        </p:nvSpPr>
        <p:spPr>
          <a:xfrm xmlns:a="http://schemas.openxmlformats.org/drawingml/2006/main">
            <a:off x="64770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FC79DB5-51AA-4F53-B026-E5BBA03062D9}"/>
              </a:ext>
            </a:extLst>
          </p:cNvPr>
          <p:cNvSpPr>
            <a:spLocks xmlns:a="http://schemas.openxmlformats.org/drawingml/2006/main" noGrp="1"/>
          </p:cNvSpPr>
          <p:nvPr/>
        </p:nvSpPr>
        <p:spPr>
          <a:xfrm xmlns:a="http://schemas.openxmlformats.org/drawingml/2006/main">
            <a:off x="64770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FAE51FA4-8B77-45FC-9A60-3ED609964CCF}"/>
              </a:ext>
            </a:extLst>
          </p:cNvPr>
          <p:cNvSpPr>
            <a:spLocks xmlns:a="http://schemas.openxmlformats.org/drawingml/2006/main" noGrp="1"/>
          </p:cNvSpPr>
          <p:nvPr/>
        </p:nvSpPr>
        <p:spPr>
          <a:xfrm xmlns:a="http://schemas.openxmlformats.org/drawingml/2006/main">
            <a:off x="116205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Executable APIOps</a:t>
            </a:r>
          </a:p>
        </p:txBody>
      </p:sp>
      <p:sp>
        <p:nvSpPr>
          <p:cNvPr id="17" name="">
            <a:extLst xmlns:a="http://schemas.openxmlformats.org/drawingml/2006/main">
              <a:ext uri="{FF2B5EF4-FFF2-40B4-BE49-F238E27FC236}">
                <a16:creationId xmlns:a16="http://schemas.microsoft.com/office/drawing/2014/main" id="{81F0BA3F-4126-4752-A380-FA3902C67A87}"/>
              </a:ext>
            </a:extLst>
          </p:cNvPr>
          <p:cNvSpPr>
            <a:spLocks xmlns:a="http://schemas.openxmlformats.org/drawingml/2006/main" noGrp="1"/>
          </p:cNvSpPr>
          <p:nvPr/>
        </p:nvSpPr>
        <p:spPr>
          <a:xfrm xmlns:a="http://schemas.openxmlformats.org/drawingml/2006/main">
            <a:off x="116205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Terraform provision → decK validate/diff/sync → signed evidence and rollback.</a:t>
            </a:r>
          </a:p>
        </p:txBody>
      </p:sp>
      <p:sp>
        <p:nvSpPr>
          <p:cNvPr id="18" name="">
            <a:extLst xmlns:a="http://schemas.openxmlformats.org/drawingml/2006/main">
              <a:ext uri="{FF2B5EF4-FFF2-40B4-BE49-F238E27FC236}">
                <a16:creationId xmlns:a16="http://schemas.microsoft.com/office/drawing/2014/main" id="{3AF65236-498D-4524-8284-BD1DA227F8C1}"/>
              </a:ext>
            </a:extLst>
          </p:cNvPr>
          <p:cNvSpPr>
            <a:spLocks xmlns:a="http://schemas.openxmlformats.org/drawingml/2006/main" noGrp="1"/>
          </p:cNvSpPr>
          <p:nvPr/>
        </p:nvSpPr>
        <p:spPr>
          <a:xfrm xmlns:a="http://schemas.openxmlformats.org/drawingml/2006/main">
            <a:off x="440055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RESILIENCE + ACCESS</a:t>
            </a:r>
          </a:p>
        </p:txBody>
      </p:sp>
      <p:sp>
        <p:nvSpPr>
          <p:cNvPr id="19" name="">
            <a:extLst xmlns:a="http://schemas.openxmlformats.org/drawingml/2006/main">
              <a:ext uri="{FF2B5EF4-FFF2-40B4-BE49-F238E27FC236}">
                <a16:creationId xmlns:a16="http://schemas.microsoft.com/office/drawing/2014/main" id="{FAC27D34-D8CE-499F-973C-1BADB3E46359}"/>
              </a:ext>
            </a:extLst>
          </p:cNvPr>
          <p:cNvSpPr>
            <a:spLocks xmlns:a="http://schemas.openxmlformats.org/drawingml/2006/main" noGrp="1"/>
          </p:cNvSpPr>
          <p:nvPr/>
        </p:nvSpPr>
        <p:spPr>
          <a:xfrm xmlns:a="http://schemas.openxmlformats.org/drawingml/2006/main">
            <a:off x="440055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51BB98A-64A3-430F-8C76-D91F6AD02231}"/>
              </a:ext>
            </a:extLst>
          </p:cNvPr>
          <p:cNvSpPr>
            <a:spLocks xmlns:a="http://schemas.openxmlformats.org/drawingml/2006/main" noGrp="1"/>
          </p:cNvSpPr>
          <p:nvPr/>
        </p:nvSpPr>
        <p:spPr>
          <a:xfrm xmlns:a="http://schemas.openxmlformats.org/drawingml/2006/main">
            <a:off x="440055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03</a:t>
            </a:r>
          </a:p>
        </p:txBody>
      </p:sp>
      <p:sp>
        <p:nvSpPr>
          <p:cNvPr id="21" name="">
            <a:extLst xmlns:a="http://schemas.openxmlformats.org/drawingml/2006/main">
              <a:ext uri="{FF2B5EF4-FFF2-40B4-BE49-F238E27FC236}">
                <a16:creationId xmlns:a16="http://schemas.microsoft.com/office/drawing/2014/main" id="{236DAD5C-FDBF-4FD5-A9EE-524E4C7A7281}"/>
              </a:ext>
            </a:extLst>
          </p:cNvPr>
          <p:cNvSpPr>
            <a:spLocks xmlns:a="http://schemas.openxmlformats.org/drawingml/2006/main" noGrp="1"/>
          </p:cNvSpPr>
          <p:nvPr/>
        </p:nvSpPr>
        <p:spPr>
          <a:xfrm xmlns:a="http://schemas.openxmlformats.org/drawingml/2006/main">
            <a:off x="491490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Regional resilience</a:t>
            </a:r>
          </a:p>
        </p:txBody>
      </p:sp>
      <p:sp>
        <p:nvSpPr>
          <p:cNvPr id="22" name="">
            <a:extLst xmlns:a="http://schemas.openxmlformats.org/drawingml/2006/main">
              <a:ext uri="{FF2B5EF4-FFF2-40B4-BE49-F238E27FC236}">
                <a16:creationId xmlns:a16="http://schemas.microsoft.com/office/drawing/2014/main" id="{5CD30741-8D4D-4A45-91E7-B7D7060A71A3}"/>
              </a:ext>
            </a:extLst>
          </p:cNvPr>
          <p:cNvSpPr>
            <a:spLocks xmlns:a="http://schemas.openxmlformats.org/drawingml/2006/main" noGrp="1"/>
          </p:cNvSpPr>
          <p:nvPr/>
        </p:nvSpPr>
        <p:spPr>
          <a:xfrm xmlns:a="http://schemas.openxmlformats.org/drawingml/2006/main">
            <a:off x="491490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Execute multi-region failover, isolated recovery and scaling under representative load.</a:t>
            </a:r>
          </a:p>
        </p:txBody>
      </p:sp>
      <p:sp>
        <p:nvSpPr>
          <p:cNvPr id="23" name="">
            <a:extLst xmlns:a="http://schemas.openxmlformats.org/drawingml/2006/main">
              <a:ext uri="{FF2B5EF4-FFF2-40B4-BE49-F238E27FC236}">
                <a16:creationId xmlns:a16="http://schemas.microsoft.com/office/drawing/2014/main" id="{430E7FD0-60FD-4624-BFFF-D9A1AC50C152}"/>
              </a:ext>
            </a:extLst>
          </p:cNvPr>
          <p:cNvSpPr>
            <a:spLocks xmlns:a="http://schemas.openxmlformats.org/drawingml/2006/main" noGrp="1"/>
          </p:cNvSpPr>
          <p:nvPr/>
        </p:nvSpPr>
        <p:spPr>
          <a:xfrm xmlns:a="http://schemas.openxmlformats.org/drawingml/2006/main">
            <a:off x="440055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21F19BD-520F-495F-BC93-586459CBD69E}"/>
              </a:ext>
            </a:extLst>
          </p:cNvPr>
          <p:cNvSpPr>
            <a:spLocks xmlns:a="http://schemas.openxmlformats.org/drawingml/2006/main" noGrp="1"/>
          </p:cNvSpPr>
          <p:nvPr/>
        </p:nvSpPr>
        <p:spPr>
          <a:xfrm xmlns:a="http://schemas.openxmlformats.org/drawingml/2006/main">
            <a:off x="440055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ECC07192-A48D-4472-91B3-9843FD3DE67E}"/>
              </a:ext>
            </a:extLst>
          </p:cNvPr>
          <p:cNvSpPr>
            <a:spLocks xmlns:a="http://schemas.openxmlformats.org/drawingml/2006/main" noGrp="1"/>
          </p:cNvSpPr>
          <p:nvPr/>
        </p:nvSpPr>
        <p:spPr>
          <a:xfrm xmlns:a="http://schemas.openxmlformats.org/drawingml/2006/main">
            <a:off x="491490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Enterprise IAM lifecycle</a:t>
            </a:r>
          </a:p>
        </p:txBody>
      </p:sp>
      <p:sp>
        <p:nvSpPr>
          <p:cNvPr id="26" name="">
            <a:extLst xmlns:a="http://schemas.openxmlformats.org/drawingml/2006/main">
              <a:ext uri="{FF2B5EF4-FFF2-40B4-BE49-F238E27FC236}">
                <a16:creationId xmlns:a16="http://schemas.microsoft.com/office/drawing/2014/main" id="{EAC342AE-558D-44D6-BFC5-AA2A09B6C041}"/>
              </a:ext>
            </a:extLst>
          </p:cNvPr>
          <p:cNvSpPr>
            <a:spLocks xmlns:a="http://schemas.openxmlformats.org/drawingml/2006/main" noGrp="1"/>
          </p:cNvSpPr>
          <p:nvPr/>
        </p:nvSpPr>
        <p:spPr>
          <a:xfrm xmlns:a="http://schemas.openxmlformats.org/drawingml/2006/main">
            <a:off x="491490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Cover people, workloads, consumers and service accounts; test least privilege, join/move/leave, rotation and break-glass.</a:t>
            </a:r>
          </a:p>
        </p:txBody>
      </p:sp>
      <p:sp>
        <p:nvSpPr>
          <p:cNvPr id="27" name="">
            <a:extLst xmlns:a="http://schemas.openxmlformats.org/drawingml/2006/main">
              <a:ext uri="{FF2B5EF4-FFF2-40B4-BE49-F238E27FC236}">
                <a16:creationId xmlns:a16="http://schemas.microsoft.com/office/drawing/2014/main" id="{7EDA2631-DE27-4641-ADFC-A8E4434BBC07}"/>
              </a:ext>
            </a:extLst>
          </p:cNvPr>
          <p:cNvSpPr>
            <a:spLocks xmlns:a="http://schemas.openxmlformats.org/drawingml/2006/main" noGrp="1"/>
          </p:cNvSpPr>
          <p:nvPr/>
        </p:nvSpPr>
        <p:spPr>
          <a:xfrm xmlns:a="http://schemas.openxmlformats.org/drawingml/2006/main">
            <a:off x="815340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AGENTIC + SECURITY + DECISION</a:t>
            </a:r>
          </a:p>
        </p:txBody>
      </p:sp>
      <p:sp>
        <p:nvSpPr>
          <p:cNvPr id="28" name="">
            <a:extLst xmlns:a="http://schemas.openxmlformats.org/drawingml/2006/main">
              <a:ext uri="{FF2B5EF4-FFF2-40B4-BE49-F238E27FC236}">
                <a16:creationId xmlns:a16="http://schemas.microsoft.com/office/drawing/2014/main" id="{39077255-FEB4-4D80-AFBA-A244DF66AE8B}"/>
              </a:ext>
            </a:extLst>
          </p:cNvPr>
          <p:cNvSpPr>
            <a:spLocks xmlns:a="http://schemas.openxmlformats.org/drawingml/2006/main" noGrp="1"/>
          </p:cNvSpPr>
          <p:nvPr/>
        </p:nvSpPr>
        <p:spPr>
          <a:xfrm xmlns:a="http://schemas.openxmlformats.org/drawingml/2006/main">
            <a:off x="815340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B676B0F-494C-4B95-BDB0-E4E7DCB35121}"/>
              </a:ext>
            </a:extLst>
          </p:cNvPr>
          <p:cNvSpPr>
            <a:spLocks xmlns:a="http://schemas.openxmlformats.org/drawingml/2006/main" noGrp="1"/>
          </p:cNvSpPr>
          <p:nvPr/>
        </p:nvSpPr>
        <p:spPr>
          <a:xfrm xmlns:a="http://schemas.openxmlformats.org/drawingml/2006/main">
            <a:off x="815340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CCB845FA-CC8A-4903-B8E1-5B58429A9546}"/>
              </a:ext>
            </a:extLst>
          </p:cNvPr>
          <p:cNvSpPr>
            <a:spLocks xmlns:a="http://schemas.openxmlformats.org/drawingml/2006/main" noGrp="1"/>
          </p:cNvSpPr>
          <p:nvPr/>
        </p:nvSpPr>
        <p:spPr>
          <a:xfrm xmlns:a="http://schemas.openxmlformats.org/drawingml/2006/main">
            <a:off x="866775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Agentic-gateway study</a:t>
            </a:r>
          </a:p>
        </p:txBody>
      </p:sp>
      <p:sp>
        <p:nvSpPr>
          <p:cNvPr id="31" name="">
            <a:extLst xmlns:a="http://schemas.openxmlformats.org/drawingml/2006/main">
              <a:ext uri="{FF2B5EF4-FFF2-40B4-BE49-F238E27FC236}">
                <a16:creationId xmlns:a16="http://schemas.microsoft.com/office/drawing/2014/main" id="{BDDC870C-EE1E-43B8-8CA3-7DD648E587B6}"/>
              </a:ext>
            </a:extLst>
          </p:cNvPr>
          <p:cNvSpPr>
            <a:spLocks xmlns:a="http://schemas.openxmlformats.org/drawingml/2006/main" noGrp="1"/>
          </p:cNvSpPr>
          <p:nvPr/>
        </p:nvSpPr>
        <p:spPr>
          <a:xfrm xmlns:a="http://schemas.openxmlformats.org/drawingml/2006/main">
            <a:off x="866775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Test MCP, A2A, model routing, semantic caching, content safety and agent/MCP catalogs as a separate evidence stream.</a:t>
            </a:r>
          </a:p>
        </p:txBody>
      </p:sp>
      <p:sp>
        <p:nvSpPr>
          <p:cNvPr id="32" name="">
            <a:extLst xmlns:a="http://schemas.openxmlformats.org/drawingml/2006/main">
              <a:ext uri="{FF2B5EF4-FFF2-40B4-BE49-F238E27FC236}">
                <a16:creationId xmlns:a16="http://schemas.microsoft.com/office/drawing/2014/main" id="{2C72569F-4BCE-45AC-B494-2BA2E0DC7A0C}"/>
              </a:ext>
            </a:extLst>
          </p:cNvPr>
          <p:cNvSpPr>
            <a:spLocks xmlns:a="http://schemas.openxmlformats.org/drawingml/2006/main" noGrp="1"/>
          </p:cNvSpPr>
          <p:nvPr/>
        </p:nvSpPr>
        <p:spPr>
          <a:xfrm xmlns:a="http://schemas.openxmlformats.org/drawingml/2006/main">
            <a:off x="815340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53FC106-5B1D-4B60-BBA9-984F74C2F3A6}"/>
              </a:ext>
            </a:extLst>
          </p:cNvPr>
          <p:cNvSpPr>
            <a:spLocks xmlns:a="http://schemas.openxmlformats.org/drawingml/2006/main" noGrp="1"/>
          </p:cNvSpPr>
          <p:nvPr/>
        </p:nvSpPr>
        <p:spPr>
          <a:xfrm xmlns:a="http://schemas.openxmlformats.org/drawingml/2006/main">
            <a:off x="815340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441"/>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06 / 07</a:t>
            </a:r>
          </a:p>
        </p:txBody>
      </p:sp>
      <p:sp>
        <p:nvSpPr>
          <p:cNvPr id="34" name="">
            <a:extLst xmlns:a="http://schemas.openxmlformats.org/drawingml/2006/main">
              <a:ext uri="{FF2B5EF4-FFF2-40B4-BE49-F238E27FC236}">
                <a16:creationId xmlns:a16="http://schemas.microsoft.com/office/drawing/2014/main" id="{49C3F3B0-7F31-45DB-BAF0-40C499405C79}"/>
              </a:ext>
            </a:extLst>
          </p:cNvPr>
          <p:cNvSpPr>
            <a:spLocks xmlns:a="http://schemas.openxmlformats.org/drawingml/2006/main" noGrp="1"/>
          </p:cNvSpPr>
          <p:nvPr/>
        </p:nvSpPr>
        <p:spPr>
          <a:xfrm xmlns:a="http://schemas.openxmlformats.org/drawingml/2006/main">
            <a:off x="866775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Decision gate + security adjunct</a:t>
            </a:r>
          </a:p>
        </p:txBody>
      </p:sp>
      <p:sp>
        <p:nvSpPr>
          <p:cNvPr id="35" name="">
            <a:extLst xmlns:a="http://schemas.openxmlformats.org/drawingml/2006/main">
              <a:ext uri="{FF2B5EF4-FFF2-40B4-BE49-F238E27FC236}">
                <a16:creationId xmlns:a16="http://schemas.microsoft.com/office/drawing/2014/main" id="{C19BA977-EA69-452B-8AA8-B182D0F1342B}"/>
              </a:ext>
            </a:extLst>
          </p:cNvPr>
          <p:cNvSpPr>
            <a:spLocks xmlns:a="http://schemas.openxmlformats.org/drawingml/2006/main" noGrp="1"/>
          </p:cNvSpPr>
          <p:nvPr/>
        </p:nvSpPr>
        <p:spPr>
          <a:xfrm xmlns:a="http://schemas.openxmlformats.org/drawingml/2006/main">
            <a:off x="866775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GEP-06 binds scope to executed evidence. GEP-07 proves Kong + Traceable behavior, overhead, privacy, support and safe uninstall.</a:t>
            </a:r>
          </a:p>
        </p:txBody>
      </p:sp>
      <p:sp>
        <p:nvSpPr>
          <p:cNvPr id="36" name="">
            <a:extLst xmlns:a="http://schemas.openxmlformats.org/drawingml/2006/main">
              <a:ext uri="{FF2B5EF4-FFF2-40B4-BE49-F238E27FC236}">
                <a16:creationId xmlns:a16="http://schemas.microsoft.com/office/drawing/2014/main" id="{FD4E1B57-1F9C-4D6D-883E-0BCCA22B729E}"/>
              </a:ext>
            </a:extLst>
          </p:cNvPr>
          <p:cNvSpPr>
            <a:spLocks xmlns:a="http://schemas.openxmlformats.org/drawingml/2006/main" noGrp="1"/>
          </p:cNvSpPr>
          <p:nvPr/>
        </p:nvSpPr>
        <p:spPr>
          <a:xfrm xmlns:a="http://schemas.openxmlformats.org/drawingml/2006/main">
            <a:off x="1428750" y="5981700"/>
            <a:ext cx="9334500" cy="3238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2136842-D8B6-44B8-B1BA-7C697CB16BFB}"/>
              </a:ext>
            </a:extLst>
          </p:cNvPr>
          <p:cNvSpPr>
            <a:spLocks xmlns:a="http://schemas.openxmlformats.org/drawingml/2006/main" noGrp="1"/>
          </p:cNvSpPr>
          <p:nvPr/>
        </p:nvSpPr>
        <p:spPr>
          <a:xfrm xmlns:a="http://schemas.openxmlformats.org/drawingml/2006/main">
            <a:off x="1581150" y="6038850"/>
            <a:ext cx="9029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Traceable documents a plugin/agent path; only execution can establish production fit.</a:t>
            </a:r>
          </a:p>
        </p:txBody>
      </p:sp>
    </p:spTree>
    <p:extLst>
      <p:ext uri="{BB962C8B-B14F-4D97-AF65-F5344CB8AC3E}">
        <p14:creationId xmlns:p14="http://schemas.microsoft.com/office/powerpoint/2010/main" val="1236889761"/>
      </p:ext>
    </p:extLst>
  </p:cSld>
</p:sld>
</file>

<file path=ppt/slides/slide19.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DB69CF37-57FE-465A-A4B4-52A9A6DC515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51A7EB2-ABA0-4662-9899-1917022C67A9}"/>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A2E21FD-1059-4504-BA88-8C33114FFA4A}"/>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19 / PRODUCTION</a:t>
            </a:r>
          </a:p>
        </p:txBody>
      </p:sp>
      <p:sp>
        <p:nvSpPr>
          <p:cNvPr id="4" name="">
            <a:extLst xmlns:a="http://schemas.openxmlformats.org/drawingml/2006/main">
              <a:ext uri="{FF2B5EF4-FFF2-40B4-BE49-F238E27FC236}">
                <a16:creationId xmlns:a16="http://schemas.microsoft.com/office/drawing/2014/main" id="{A60366BD-5EF2-40AA-8769-1A2171ABB51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Five reviewable outcomes anchor production proof</a:t>
            </a:r>
          </a:p>
        </p:txBody>
      </p:sp>
      <p:sp>
        <p:nvSpPr>
          <p:cNvPr id="5" name="">
            <a:extLst xmlns:a="http://schemas.openxmlformats.org/drawingml/2006/main">
              <a:ext uri="{FF2B5EF4-FFF2-40B4-BE49-F238E27FC236}">
                <a16:creationId xmlns:a16="http://schemas.microsoft.com/office/drawing/2014/main" id="{52406543-364B-4B60-A865-859FAE9D73F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The outcome is the measure plus its acceptance artifact—not the mechanism alone.</a:t>
            </a:r>
          </a:p>
        </p:txBody>
      </p:sp>
      <p:sp>
        <p:nvSpPr>
          <p:cNvPr id="6" name="">
            <a:extLst xmlns:a="http://schemas.openxmlformats.org/drawingml/2006/main">
              <a:ext uri="{FF2B5EF4-FFF2-40B4-BE49-F238E27FC236}">
                <a16:creationId xmlns:a16="http://schemas.microsoft.com/office/drawing/2014/main" id="{FE672A5F-5B40-4531-A961-5097A8E9ACA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6AD82A4-5823-4542-AFB9-62D6EC459892}"/>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274505ff38eb4d77"/>
              </a:rPr>
              <a:t>Repo reference</a:t>
            </a:r>
            <a:r>
              <a:rPr sz="825">
                <a:solidFill>
                  <a:srgbClr val="666762"/>
                </a:solidFill>
              </a:rPr>
              <a:t>  ·  </a:t>
            </a:r>
            <a:r>
              <a:rPr sz="825" u="sng">
                <a:solidFill>
                  <a:srgbClr val="666762"/>
                </a:solidFill>
                <a:hlinkClick xmlns:r="http://schemas.openxmlformats.org/officeDocument/2006/relationships" r:id="Rfdb9c78545bf484f"/>
              </a:rPr>
              <a:t>Official docs</a:t>
            </a:r>
          </a:p>
        </p:txBody>
      </p:sp>
      <p:sp>
        <p:nvSpPr>
          <p:cNvPr id="8" name="">
            <a:extLst xmlns:a="http://schemas.openxmlformats.org/drawingml/2006/main">
              <a:ext uri="{FF2B5EF4-FFF2-40B4-BE49-F238E27FC236}">
                <a16:creationId xmlns:a16="http://schemas.microsoft.com/office/drawing/2014/main" id="{2CEF1017-D02F-4A16-B44C-27480572F53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19 / 25</a:t>
            </a:r>
          </a:p>
        </p:txBody>
      </p:sp>
      <p:sp>
        <p:nvSpPr>
          <p:cNvPr id="9" name="">
            <a:extLst xmlns:a="http://schemas.openxmlformats.org/drawingml/2006/main">
              <a:ext uri="{FF2B5EF4-FFF2-40B4-BE49-F238E27FC236}">
                <a16:creationId xmlns:a16="http://schemas.microsoft.com/office/drawing/2014/main" id="{A0B9FA3F-BED8-4B7F-9721-A9127C5AE625}"/>
              </a:ext>
            </a:extLst>
          </p:cNvPr>
          <p:cNvSpPr>
            <a:spLocks xmlns:a="http://schemas.openxmlformats.org/drawingml/2006/main" noGrp="1"/>
          </p:cNvSpPr>
          <p:nvPr/>
        </p:nvSpPr>
        <p:spPr>
          <a:xfrm xmlns:a="http://schemas.openxmlformats.org/drawingml/2006/main">
            <a:off x="6286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6B4951DF-9F06-4DA3-AAD4-2FD4AC63C9D7}"/>
              </a:ext>
            </a:extLst>
          </p:cNvPr>
          <p:cNvSpPr>
            <a:spLocks xmlns:a="http://schemas.openxmlformats.org/drawingml/2006/main" noGrp="1"/>
          </p:cNvSpPr>
          <p:nvPr/>
        </p:nvSpPr>
        <p:spPr>
          <a:xfrm xmlns:a="http://schemas.openxmlformats.org/drawingml/2006/main">
            <a:off x="8001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KO-1</a:t>
            </a:r>
          </a:p>
        </p:txBody>
      </p:sp>
      <p:sp>
        <p:nvSpPr>
          <p:cNvPr id="11" name="">
            <a:extLst xmlns:a="http://schemas.openxmlformats.org/drawingml/2006/main">
              <a:ext uri="{FF2B5EF4-FFF2-40B4-BE49-F238E27FC236}">
                <a16:creationId xmlns:a16="http://schemas.microsoft.com/office/drawing/2014/main" id="{675776B0-0B82-4D93-9921-33E7527B814B}"/>
              </a:ext>
            </a:extLst>
          </p:cNvPr>
          <p:cNvSpPr>
            <a:spLocks xmlns:a="http://schemas.openxmlformats.org/drawingml/2006/main" noGrp="1"/>
          </p:cNvSpPr>
          <p:nvPr/>
        </p:nvSpPr>
        <p:spPr>
          <a:xfrm xmlns:a="http://schemas.openxmlformats.org/drawingml/2006/main">
            <a:off x="8001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State fidelity</a:t>
            </a:r>
          </a:p>
        </p:txBody>
      </p:sp>
      <p:sp>
        <p:nvSpPr>
          <p:cNvPr id="12" name="">
            <a:extLst xmlns:a="http://schemas.openxmlformats.org/drawingml/2006/main">
              <a:ext uri="{FF2B5EF4-FFF2-40B4-BE49-F238E27FC236}">
                <a16:creationId xmlns:a16="http://schemas.microsoft.com/office/drawing/2014/main" id="{E6B32EE0-485A-4626-801D-235091619FC0}"/>
              </a:ext>
            </a:extLst>
          </p:cNvPr>
          <p:cNvSpPr>
            <a:spLocks xmlns:a="http://schemas.openxmlformats.org/drawingml/2006/main" noGrp="1"/>
          </p:cNvSpPr>
          <p:nvPr/>
        </p:nvSpPr>
        <p:spPr>
          <a:xfrm xmlns:a="http://schemas.openxmlformats.org/drawingml/2006/main">
            <a:off x="8001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13" name="">
            <a:extLst xmlns:a="http://schemas.openxmlformats.org/drawingml/2006/main">
              <a:ext uri="{FF2B5EF4-FFF2-40B4-BE49-F238E27FC236}">
                <a16:creationId xmlns:a16="http://schemas.microsoft.com/office/drawing/2014/main" id="{7208270D-4652-48E6-920C-E29512BABEC7}"/>
              </a:ext>
            </a:extLst>
          </p:cNvPr>
          <p:cNvSpPr>
            <a:spLocks xmlns:a="http://schemas.openxmlformats.org/drawingml/2006/main" noGrp="1"/>
          </p:cNvSpPr>
          <p:nvPr/>
        </p:nvSpPr>
        <p:spPr>
          <a:xfrm xmlns:a="http://schemas.openxmlformats.org/drawingml/2006/main">
            <a:off x="8001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desired = effective</a:t>
            </a:r>
          </a:p>
        </p:txBody>
      </p:sp>
      <p:sp>
        <p:nvSpPr>
          <p:cNvPr id="14" name="">
            <a:extLst xmlns:a="http://schemas.openxmlformats.org/drawingml/2006/main">
              <a:ext uri="{FF2B5EF4-FFF2-40B4-BE49-F238E27FC236}">
                <a16:creationId xmlns:a16="http://schemas.microsoft.com/office/drawing/2014/main" id="{B52BC25E-8444-4703-8FB5-46A11C83FCCD}"/>
              </a:ext>
            </a:extLst>
          </p:cNvPr>
          <p:cNvSpPr>
            <a:spLocks xmlns:a="http://schemas.openxmlformats.org/drawingml/2006/main" noGrp="1"/>
          </p:cNvSpPr>
          <p:nvPr/>
        </p:nvSpPr>
        <p:spPr>
          <a:xfrm xmlns:a="http://schemas.openxmlformats.org/drawingml/2006/main">
            <a:off x="8001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15" name="">
            <a:extLst xmlns:a="http://schemas.openxmlformats.org/drawingml/2006/main">
              <a:ext uri="{FF2B5EF4-FFF2-40B4-BE49-F238E27FC236}">
                <a16:creationId xmlns:a16="http://schemas.microsoft.com/office/drawing/2014/main" id="{A1833ED2-CD45-4C77-8594-0E10094B42D0}"/>
              </a:ext>
            </a:extLst>
          </p:cNvPr>
          <p:cNvSpPr>
            <a:spLocks xmlns:a="http://schemas.openxmlformats.org/drawingml/2006/main" noGrp="1"/>
          </p:cNvSpPr>
          <p:nvPr/>
        </p:nvSpPr>
        <p:spPr>
          <a:xfrm xmlns:a="http://schemas.openxmlformats.org/drawingml/2006/main">
            <a:off x="8001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signed revision + drift ledger</a:t>
            </a:r>
          </a:p>
        </p:txBody>
      </p:sp>
      <p:sp>
        <p:nvSpPr>
          <p:cNvPr id="16" name="">
            <a:extLst xmlns:a="http://schemas.openxmlformats.org/drawingml/2006/main">
              <a:ext uri="{FF2B5EF4-FFF2-40B4-BE49-F238E27FC236}">
                <a16:creationId xmlns:a16="http://schemas.microsoft.com/office/drawing/2014/main" id="{DDC2362F-390D-4E7A-A653-951C04DC3E20}"/>
              </a:ext>
            </a:extLst>
          </p:cNvPr>
          <p:cNvSpPr>
            <a:spLocks xmlns:a="http://schemas.openxmlformats.org/drawingml/2006/main" noGrp="1"/>
          </p:cNvSpPr>
          <p:nvPr/>
        </p:nvSpPr>
        <p:spPr>
          <a:xfrm xmlns:a="http://schemas.openxmlformats.org/drawingml/2006/main">
            <a:off x="281940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7" name="">
            <a:extLst xmlns:a="http://schemas.openxmlformats.org/drawingml/2006/main">
              <a:ext uri="{FF2B5EF4-FFF2-40B4-BE49-F238E27FC236}">
                <a16:creationId xmlns:a16="http://schemas.microsoft.com/office/drawing/2014/main" id="{0EF284F8-DC5A-4F4C-8850-3CBE8C4A2889}"/>
              </a:ext>
            </a:extLst>
          </p:cNvPr>
          <p:cNvSpPr>
            <a:spLocks xmlns:a="http://schemas.openxmlformats.org/drawingml/2006/main" noGrp="1"/>
          </p:cNvSpPr>
          <p:nvPr/>
        </p:nvSpPr>
        <p:spPr>
          <a:xfrm xmlns:a="http://schemas.openxmlformats.org/drawingml/2006/main">
            <a:off x="299085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KO-2</a:t>
            </a:r>
          </a:p>
        </p:txBody>
      </p:sp>
      <p:sp>
        <p:nvSpPr>
          <p:cNvPr id="18" name="">
            <a:extLst xmlns:a="http://schemas.openxmlformats.org/drawingml/2006/main">
              <a:ext uri="{FF2B5EF4-FFF2-40B4-BE49-F238E27FC236}">
                <a16:creationId xmlns:a16="http://schemas.microsoft.com/office/drawing/2014/main" id="{CEA21C61-68AA-4751-B518-FC02F514D3BA}"/>
              </a:ext>
            </a:extLst>
          </p:cNvPr>
          <p:cNvSpPr>
            <a:spLocks xmlns:a="http://schemas.openxmlformats.org/drawingml/2006/main" noGrp="1"/>
          </p:cNvSpPr>
          <p:nvPr/>
        </p:nvSpPr>
        <p:spPr>
          <a:xfrm xmlns:a="http://schemas.openxmlformats.org/drawingml/2006/main">
            <a:off x="299085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Request reliability</a:t>
            </a:r>
          </a:p>
        </p:txBody>
      </p:sp>
      <p:sp>
        <p:nvSpPr>
          <p:cNvPr id="19" name="">
            <a:extLst xmlns:a="http://schemas.openxmlformats.org/drawingml/2006/main">
              <a:ext uri="{FF2B5EF4-FFF2-40B4-BE49-F238E27FC236}">
                <a16:creationId xmlns:a16="http://schemas.microsoft.com/office/drawing/2014/main" id="{83755A0B-09E9-41E1-BD7A-AAAC816AFF76}"/>
              </a:ext>
            </a:extLst>
          </p:cNvPr>
          <p:cNvSpPr>
            <a:spLocks xmlns:a="http://schemas.openxmlformats.org/drawingml/2006/main" noGrp="1"/>
          </p:cNvSpPr>
          <p:nvPr/>
        </p:nvSpPr>
        <p:spPr>
          <a:xfrm xmlns:a="http://schemas.openxmlformats.org/drawingml/2006/main">
            <a:off x="299085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0" name="">
            <a:extLst xmlns:a="http://schemas.openxmlformats.org/drawingml/2006/main">
              <a:ext uri="{FF2B5EF4-FFF2-40B4-BE49-F238E27FC236}">
                <a16:creationId xmlns:a16="http://schemas.microsoft.com/office/drawing/2014/main" id="{C9C8B9DA-17BD-4277-8547-31C721973C12}"/>
              </a:ext>
            </a:extLst>
          </p:cNvPr>
          <p:cNvSpPr>
            <a:spLocks xmlns:a="http://schemas.openxmlformats.org/drawingml/2006/main" noGrp="1"/>
          </p:cNvSpPr>
          <p:nvPr/>
        </p:nvSpPr>
        <p:spPr>
          <a:xfrm xmlns:a="http://schemas.openxmlformats.org/drawingml/2006/main">
            <a:off x="299085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SLO under bounded failure</a:t>
            </a:r>
          </a:p>
        </p:txBody>
      </p:sp>
      <p:sp>
        <p:nvSpPr>
          <p:cNvPr id="21" name="">
            <a:extLst xmlns:a="http://schemas.openxmlformats.org/drawingml/2006/main">
              <a:ext uri="{FF2B5EF4-FFF2-40B4-BE49-F238E27FC236}">
                <a16:creationId xmlns:a16="http://schemas.microsoft.com/office/drawing/2014/main" id="{D4A530DB-4957-4A8D-9B3D-5E1BA40C3CA5}"/>
              </a:ext>
            </a:extLst>
          </p:cNvPr>
          <p:cNvSpPr>
            <a:spLocks xmlns:a="http://schemas.openxmlformats.org/drawingml/2006/main" noGrp="1"/>
          </p:cNvSpPr>
          <p:nvPr/>
        </p:nvSpPr>
        <p:spPr>
          <a:xfrm xmlns:a="http://schemas.openxmlformats.org/drawingml/2006/main">
            <a:off x="299085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2" name="">
            <a:extLst xmlns:a="http://schemas.openxmlformats.org/drawingml/2006/main">
              <a:ext uri="{FF2B5EF4-FFF2-40B4-BE49-F238E27FC236}">
                <a16:creationId xmlns:a16="http://schemas.microsoft.com/office/drawing/2014/main" id="{EE5E07E0-6C8A-4CE5-8A14-4AE783C0E498}"/>
              </a:ext>
            </a:extLst>
          </p:cNvPr>
          <p:cNvSpPr>
            <a:spLocks xmlns:a="http://schemas.openxmlformats.org/drawingml/2006/main" noGrp="1"/>
          </p:cNvSpPr>
          <p:nvPr/>
        </p:nvSpPr>
        <p:spPr>
          <a:xfrm xmlns:a="http://schemas.openxmlformats.org/drawingml/2006/main">
            <a:off x="299085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business probes + traces</a:t>
            </a:r>
          </a:p>
        </p:txBody>
      </p:sp>
      <p:sp>
        <p:nvSpPr>
          <p:cNvPr id="23" name="">
            <a:extLst xmlns:a="http://schemas.openxmlformats.org/drawingml/2006/main">
              <a:ext uri="{FF2B5EF4-FFF2-40B4-BE49-F238E27FC236}">
                <a16:creationId xmlns:a16="http://schemas.microsoft.com/office/drawing/2014/main" id="{1E3AA160-BFBB-4881-9E1F-93956E917C90}"/>
              </a:ext>
            </a:extLst>
          </p:cNvPr>
          <p:cNvSpPr>
            <a:spLocks xmlns:a="http://schemas.openxmlformats.org/drawingml/2006/main" noGrp="1"/>
          </p:cNvSpPr>
          <p:nvPr/>
        </p:nvSpPr>
        <p:spPr>
          <a:xfrm xmlns:a="http://schemas.openxmlformats.org/drawingml/2006/main">
            <a:off x="50101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901EA3C7-92D5-4F95-ACB8-C94D4E9B8B56}"/>
              </a:ext>
            </a:extLst>
          </p:cNvPr>
          <p:cNvSpPr>
            <a:spLocks xmlns:a="http://schemas.openxmlformats.org/drawingml/2006/main" noGrp="1"/>
          </p:cNvSpPr>
          <p:nvPr/>
        </p:nvSpPr>
        <p:spPr>
          <a:xfrm xmlns:a="http://schemas.openxmlformats.org/drawingml/2006/main">
            <a:off x="51816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KO-3</a:t>
            </a:r>
          </a:p>
        </p:txBody>
      </p:sp>
      <p:sp>
        <p:nvSpPr>
          <p:cNvPr id="25" name="">
            <a:extLst xmlns:a="http://schemas.openxmlformats.org/drawingml/2006/main">
              <a:ext uri="{FF2B5EF4-FFF2-40B4-BE49-F238E27FC236}">
                <a16:creationId xmlns:a16="http://schemas.microsoft.com/office/drawing/2014/main" id="{A1B0DC4E-6213-4BAF-A2BD-EE80881B13F2}"/>
              </a:ext>
            </a:extLst>
          </p:cNvPr>
          <p:cNvSpPr>
            <a:spLocks xmlns:a="http://schemas.openxmlformats.org/drawingml/2006/main" noGrp="1"/>
          </p:cNvSpPr>
          <p:nvPr/>
        </p:nvSpPr>
        <p:spPr>
          <a:xfrm xmlns:a="http://schemas.openxmlformats.org/drawingml/2006/main">
            <a:off x="51816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Trust admission</a:t>
            </a:r>
          </a:p>
        </p:txBody>
      </p:sp>
      <p:sp>
        <p:nvSpPr>
          <p:cNvPr id="26" name="">
            <a:extLst xmlns:a="http://schemas.openxmlformats.org/drawingml/2006/main">
              <a:ext uri="{FF2B5EF4-FFF2-40B4-BE49-F238E27FC236}">
                <a16:creationId xmlns:a16="http://schemas.microsoft.com/office/drawing/2014/main" id="{8A1F8612-D085-4786-B832-2D08972116BB}"/>
              </a:ext>
            </a:extLst>
          </p:cNvPr>
          <p:cNvSpPr>
            <a:spLocks xmlns:a="http://schemas.openxmlformats.org/drawingml/2006/main" noGrp="1"/>
          </p:cNvSpPr>
          <p:nvPr/>
        </p:nvSpPr>
        <p:spPr>
          <a:xfrm xmlns:a="http://schemas.openxmlformats.org/drawingml/2006/main">
            <a:off x="51816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7" name="">
            <a:extLst xmlns:a="http://schemas.openxmlformats.org/drawingml/2006/main">
              <a:ext uri="{FF2B5EF4-FFF2-40B4-BE49-F238E27FC236}">
                <a16:creationId xmlns:a16="http://schemas.microsoft.com/office/drawing/2014/main" id="{E4BF9C81-CD73-4EFA-9A2D-3088C20632C3}"/>
              </a:ext>
            </a:extLst>
          </p:cNvPr>
          <p:cNvSpPr>
            <a:spLocks xmlns:a="http://schemas.openxmlformats.org/drawingml/2006/main" noGrp="1"/>
          </p:cNvSpPr>
          <p:nvPr/>
        </p:nvSpPr>
        <p:spPr>
          <a:xfrm xmlns:a="http://schemas.openxmlformats.org/drawingml/2006/main">
            <a:off x="51816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unauthorized node rejected</a:t>
            </a:r>
          </a:p>
        </p:txBody>
      </p:sp>
      <p:sp>
        <p:nvSpPr>
          <p:cNvPr id="28" name="">
            <a:extLst xmlns:a="http://schemas.openxmlformats.org/drawingml/2006/main">
              <a:ext uri="{FF2B5EF4-FFF2-40B4-BE49-F238E27FC236}">
                <a16:creationId xmlns:a16="http://schemas.microsoft.com/office/drawing/2014/main" id="{3574409A-DE47-4B30-901E-F5451239D5F4}"/>
              </a:ext>
            </a:extLst>
          </p:cNvPr>
          <p:cNvSpPr>
            <a:spLocks xmlns:a="http://schemas.openxmlformats.org/drawingml/2006/main" noGrp="1"/>
          </p:cNvSpPr>
          <p:nvPr/>
        </p:nvSpPr>
        <p:spPr>
          <a:xfrm xmlns:a="http://schemas.openxmlformats.org/drawingml/2006/main">
            <a:off x="51816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9" name="">
            <a:extLst xmlns:a="http://schemas.openxmlformats.org/drawingml/2006/main">
              <a:ext uri="{FF2B5EF4-FFF2-40B4-BE49-F238E27FC236}">
                <a16:creationId xmlns:a16="http://schemas.microsoft.com/office/drawing/2014/main" id="{3CC02F0E-1AD9-4826-93E0-158B099B4D38}"/>
              </a:ext>
            </a:extLst>
          </p:cNvPr>
          <p:cNvSpPr>
            <a:spLocks xmlns:a="http://schemas.openxmlformats.org/drawingml/2006/main" noGrp="1"/>
          </p:cNvSpPr>
          <p:nvPr/>
        </p:nvSpPr>
        <p:spPr>
          <a:xfrm xmlns:a="http://schemas.openxmlformats.org/drawingml/2006/main">
            <a:off x="51816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negative join + quarantine record</a:t>
            </a:r>
          </a:p>
        </p:txBody>
      </p:sp>
      <p:sp>
        <p:nvSpPr>
          <p:cNvPr id="30" name="">
            <a:extLst xmlns:a="http://schemas.openxmlformats.org/drawingml/2006/main">
              <a:ext uri="{FF2B5EF4-FFF2-40B4-BE49-F238E27FC236}">
                <a16:creationId xmlns:a16="http://schemas.microsoft.com/office/drawing/2014/main" id="{50CC5234-7C50-449E-9EAD-D8E23D473419}"/>
              </a:ext>
            </a:extLst>
          </p:cNvPr>
          <p:cNvSpPr>
            <a:spLocks xmlns:a="http://schemas.openxmlformats.org/drawingml/2006/main" noGrp="1"/>
          </p:cNvSpPr>
          <p:nvPr/>
        </p:nvSpPr>
        <p:spPr>
          <a:xfrm xmlns:a="http://schemas.openxmlformats.org/drawingml/2006/main">
            <a:off x="720090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B9DAAB50-4938-4226-88B3-6C8DE97FAF33}"/>
              </a:ext>
            </a:extLst>
          </p:cNvPr>
          <p:cNvSpPr>
            <a:spLocks xmlns:a="http://schemas.openxmlformats.org/drawingml/2006/main" noGrp="1"/>
          </p:cNvSpPr>
          <p:nvPr/>
        </p:nvSpPr>
        <p:spPr>
          <a:xfrm xmlns:a="http://schemas.openxmlformats.org/drawingml/2006/main">
            <a:off x="737235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KO-4</a:t>
            </a:r>
          </a:p>
        </p:txBody>
      </p:sp>
      <p:sp>
        <p:nvSpPr>
          <p:cNvPr id="32" name="">
            <a:extLst xmlns:a="http://schemas.openxmlformats.org/drawingml/2006/main">
              <a:ext uri="{FF2B5EF4-FFF2-40B4-BE49-F238E27FC236}">
                <a16:creationId xmlns:a16="http://schemas.microsoft.com/office/drawing/2014/main" id="{7C3A1CCD-9F15-4CDB-AAC2-C42C882F1211}"/>
              </a:ext>
            </a:extLst>
          </p:cNvPr>
          <p:cNvSpPr>
            <a:spLocks xmlns:a="http://schemas.openxmlformats.org/drawingml/2006/main" noGrp="1"/>
          </p:cNvSpPr>
          <p:nvPr/>
        </p:nvSpPr>
        <p:spPr>
          <a:xfrm xmlns:a="http://schemas.openxmlformats.org/drawingml/2006/main">
            <a:off x="737235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Recovery</a:t>
            </a:r>
          </a:p>
        </p:txBody>
      </p:sp>
      <p:sp>
        <p:nvSpPr>
          <p:cNvPr id="33" name="">
            <a:extLst xmlns:a="http://schemas.openxmlformats.org/drawingml/2006/main">
              <a:ext uri="{FF2B5EF4-FFF2-40B4-BE49-F238E27FC236}">
                <a16:creationId xmlns:a16="http://schemas.microsoft.com/office/drawing/2014/main" id="{8D7862CF-F495-43D4-B4AC-A6067B598C71}"/>
              </a:ext>
            </a:extLst>
          </p:cNvPr>
          <p:cNvSpPr>
            <a:spLocks xmlns:a="http://schemas.openxmlformats.org/drawingml/2006/main" noGrp="1"/>
          </p:cNvSpPr>
          <p:nvPr/>
        </p:nvSpPr>
        <p:spPr>
          <a:xfrm xmlns:a="http://schemas.openxmlformats.org/drawingml/2006/main">
            <a:off x="737235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34" name="">
            <a:extLst xmlns:a="http://schemas.openxmlformats.org/drawingml/2006/main">
              <a:ext uri="{FF2B5EF4-FFF2-40B4-BE49-F238E27FC236}">
                <a16:creationId xmlns:a16="http://schemas.microsoft.com/office/drawing/2014/main" id="{AC3A8ED3-2A33-41E4-88A9-DF7534E1783A}"/>
              </a:ext>
            </a:extLst>
          </p:cNvPr>
          <p:cNvSpPr>
            <a:spLocks xmlns:a="http://schemas.openxmlformats.org/drawingml/2006/main" noGrp="1"/>
          </p:cNvSpPr>
          <p:nvPr/>
        </p:nvSpPr>
        <p:spPr>
          <a:xfrm xmlns:a="http://schemas.openxmlformats.org/drawingml/2006/main">
            <a:off x="737235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restore within agreed form</a:t>
            </a:r>
          </a:p>
        </p:txBody>
      </p:sp>
      <p:sp>
        <p:nvSpPr>
          <p:cNvPr id="35" name="">
            <a:extLst xmlns:a="http://schemas.openxmlformats.org/drawingml/2006/main">
              <a:ext uri="{FF2B5EF4-FFF2-40B4-BE49-F238E27FC236}">
                <a16:creationId xmlns:a16="http://schemas.microsoft.com/office/drawing/2014/main" id="{BDA8C2E1-AB85-40E1-8595-CC1417DFFEBA}"/>
              </a:ext>
            </a:extLst>
          </p:cNvPr>
          <p:cNvSpPr>
            <a:spLocks xmlns:a="http://schemas.openxmlformats.org/drawingml/2006/main" noGrp="1"/>
          </p:cNvSpPr>
          <p:nvPr/>
        </p:nvSpPr>
        <p:spPr>
          <a:xfrm xmlns:a="http://schemas.openxmlformats.org/drawingml/2006/main">
            <a:off x="737235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36" name="">
            <a:extLst xmlns:a="http://schemas.openxmlformats.org/drawingml/2006/main">
              <a:ext uri="{FF2B5EF4-FFF2-40B4-BE49-F238E27FC236}">
                <a16:creationId xmlns:a16="http://schemas.microsoft.com/office/drawing/2014/main" id="{9AE394B3-8BD5-40A4-B87B-8515E5F804E9}"/>
              </a:ext>
            </a:extLst>
          </p:cNvPr>
          <p:cNvSpPr>
            <a:spLocks xmlns:a="http://schemas.openxmlformats.org/drawingml/2006/main" noGrp="1"/>
          </p:cNvSpPr>
          <p:nvPr/>
        </p:nvSpPr>
        <p:spPr>
          <a:xfrm xmlns:a="http://schemas.openxmlformats.org/drawingml/2006/main">
            <a:off x="737235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isolated restore rehearsal</a:t>
            </a:r>
          </a:p>
        </p:txBody>
      </p:sp>
      <p:sp>
        <p:nvSpPr>
          <p:cNvPr id="37" name="">
            <a:extLst xmlns:a="http://schemas.openxmlformats.org/drawingml/2006/main">
              <a:ext uri="{FF2B5EF4-FFF2-40B4-BE49-F238E27FC236}">
                <a16:creationId xmlns:a16="http://schemas.microsoft.com/office/drawing/2014/main" id="{1F4FF126-94A7-4150-948F-E8BAA22A87CD}"/>
              </a:ext>
            </a:extLst>
          </p:cNvPr>
          <p:cNvSpPr>
            <a:spLocks xmlns:a="http://schemas.openxmlformats.org/drawingml/2006/main" noGrp="1"/>
          </p:cNvSpPr>
          <p:nvPr/>
        </p:nvSpPr>
        <p:spPr>
          <a:xfrm xmlns:a="http://schemas.openxmlformats.org/drawingml/2006/main">
            <a:off x="93916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8" name="">
            <a:extLst xmlns:a="http://schemas.openxmlformats.org/drawingml/2006/main">
              <a:ext uri="{FF2B5EF4-FFF2-40B4-BE49-F238E27FC236}">
                <a16:creationId xmlns:a16="http://schemas.microsoft.com/office/drawing/2014/main" id="{2205E943-814A-4703-925A-BB330AAD8AFC}"/>
              </a:ext>
            </a:extLst>
          </p:cNvPr>
          <p:cNvSpPr>
            <a:spLocks xmlns:a="http://schemas.openxmlformats.org/drawingml/2006/main" noGrp="1"/>
          </p:cNvSpPr>
          <p:nvPr/>
        </p:nvSpPr>
        <p:spPr>
          <a:xfrm xmlns:a="http://schemas.openxmlformats.org/drawingml/2006/main">
            <a:off x="95631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KO-5</a:t>
            </a:r>
          </a:p>
        </p:txBody>
      </p:sp>
      <p:sp>
        <p:nvSpPr>
          <p:cNvPr id="39" name="">
            <a:extLst xmlns:a="http://schemas.openxmlformats.org/drawingml/2006/main">
              <a:ext uri="{FF2B5EF4-FFF2-40B4-BE49-F238E27FC236}">
                <a16:creationId xmlns:a16="http://schemas.microsoft.com/office/drawing/2014/main" id="{5859C5AB-D638-4C80-8512-33E539265544}"/>
              </a:ext>
            </a:extLst>
          </p:cNvPr>
          <p:cNvSpPr>
            <a:spLocks xmlns:a="http://schemas.openxmlformats.org/drawingml/2006/main" noGrp="1"/>
          </p:cNvSpPr>
          <p:nvPr/>
        </p:nvSpPr>
        <p:spPr>
          <a:xfrm xmlns:a="http://schemas.openxmlformats.org/drawingml/2006/main">
            <a:off x="95631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Safe change</a:t>
            </a:r>
          </a:p>
        </p:txBody>
      </p:sp>
      <p:sp>
        <p:nvSpPr>
          <p:cNvPr id="40" name="">
            <a:extLst xmlns:a="http://schemas.openxmlformats.org/drawingml/2006/main">
              <a:ext uri="{FF2B5EF4-FFF2-40B4-BE49-F238E27FC236}">
                <a16:creationId xmlns:a16="http://schemas.microsoft.com/office/drawing/2014/main" id="{BA24379C-97F4-4834-BBD9-5365C9A17B7B}"/>
              </a:ext>
            </a:extLst>
          </p:cNvPr>
          <p:cNvSpPr>
            <a:spLocks xmlns:a="http://schemas.openxmlformats.org/drawingml/2006/main" noGrp="1"/>
          </p:cNvSpPr>
          <p:nvPr/>
        </p:nvSpPr>
        <p:spPr>
          <a:xfrm xmlns:a="http://schemas.openxmlformats.org/drawingml/2006/main">
            <a:off x="95631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41" name="">
            <a:extLst xmlns:a="http://schemas.openxmlformats.org/drawingml/2006/main">
              <a:ext uri="{FF2B5EF4-FFF2-40B4-BE49-F238E27FC236}">
                <a16:creationId xmlns:a16="http://schemas.microsoft.com/office/drawing/2014/main" id="{6C199AA3-17E3-491F-9658-9DC61ED45276}"/>
              </a:ext>
            </a:extLst>
          </p:cNvPr>
          <p:cNvSpPr>
            <a:spLocks xmlns:a="http://schemas.openxmlformats.org/drawingml/2006/main" noGrp="1"/>
          </p:cNvSpPr>
          <p:nvPr/>
        </p:nvSpPr>
        <p:spPr>
          <a:xfrm xmlns:a="http://schemas.openxmlformats.org/drawingml/2006/main">
            <a:off x="95631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upgrade / rollback boundary</a:t>
            </a:r>
          </a:p>
        </p:txBody>
      </p:sp>
      <p:sp>
        <p:nvSpPr>
          <p:cNvPr id="42" name="">
            <a:extLst xmlns:a="http://schemas.openxmlformats.org/drawingml/2006/main">
              <a:ext uri="{FF2B5EF4-FFF2-40B4-BE49-F238E27FC236}">
                <a16:creationId xmlns:a16="http://schemas.microsoft.com/office/drawing/2014/main" id="{5652B381-FFE5-478B-99A7-636FC16512E0}"/>
              </a:ext>
            </a:extLst>
          </p:cNvPr>
          <p:cNvSpPr>
            <a:spLocks xmlns:a="http://schemas.openxmlformats.org/drawingml/2006/main" noGrp="1"/>
          </p:cNvSpPr>
          <p:nvPr/>
        </p:nvSpPr>
        <p:spPr>
          <a:xfrm xmlns:a="http://schemas.openxmlformats.org/drawingml/2006/main">
            <a:off x="95631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43" name="">
            <a:extLst xmlns:a="http://schemas.openxmlformats.org/drawingml/2006/main">
              <a:ext uri="{FF2B5EF4-FFF2-40B4-BE49-F238E27FC236}">
                <a16:creationId xmlns:a16="http://schemas.microsoft.com/office/drawing/2014/main" id="{EAE10F13-3C96-4E03-8A18-50E31EB0050B}"/>
              </a:ext>
            </a:extLst>
          </p:cNvPr>
          <p:cNvSpPr>
            <a:spLocks xmlns:a="http://schemas.openxmlformats.org/drawingml/2006/main" noGrp="1"/>
          </p:cNvSpPr>
          <p:nvPr/>
        </p:nvSpPr>
        <p:spPr>
          <a:xfrm xmlns:a="http://schemas.openxmlformats.org/drawingml/2006/main">
            <a:off x="95631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before-after evidence pack</a:t>
            </a:r>
          </a:p>
        </p:txBody>
      </p:sp>
    </p:spTree>
    <p:extLst>
      <p:ext uri="{BB962C8B-B14F-4D97-AF65-F5344CB8AC3E}">
        <p14:creationId xmlns:p14="http://schemas.microsoft.com/office/powerpoint/2010/main" val="437825929"/>
      </p:ext>
    </p:extLst>
  </p:cSld>
</p:sld>
</file>

<file path=ppt/slides/slide20.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F2C61340-79FE-45FD-B19A-83604940FAE9}"/>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7CF7A21-4FC0-4E3E-B27B-B4C8F6DA8E9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14732EF-1BEA-42F9-A924-204EA8605B45}"/>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20 / PRODUCTION</a:t>
            </a:r>
          </a:p>
        </p:txBody>
      </p:sp>
      <p:sp>
        <p:nvSpPr>
          <p:cNvPr id="4" name="">
            <a:extLst xmlns:a="http://schemas.openxmlformats.org/drawingml/2006/main">
              <a:ext uri="{FF2B5EF4-FFF2-40B4-BE49-F238E27FC236}">
                <a16:creationId xmlns:a16="http://schemas.microsoft.com/office/drawing/2014/main" id="{6B40F93D-3068-4179-A372-4DAACC8DFB3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Scale depends on the whole operating system</a:t>
            </a:r>
          </a:p>
        </p:txBody>
      </p:sp>
      <p:sp>
        <p:nvSpPr>
          <p:cNvPr id="5" name="">
            <a:extLst xmlns:a="http://schemas.openxmlformats.org/drawingml/2006/main">
              <a:ext uri="{FF2B5EF4-FFF2-40B4-BE49-F238E27FC236}">
                <a16:creationId xmlns:a16="http://schemas.microsoft.com/office/drawing/2014/main" id="{57BD2814-F813-44F5-8196-C4ABE5854CB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Capacity, security traceability, adoption, toil, exit and estate truth all gate scale.</a:t>
            </a:r>
          </a:p>
        </p:txBody>
      </p:sp>
      <p:sp>
        <p:nvSpPr>
          <p:cNvPr id="6" name="">
            <a:extLst xmlns:a="http://schemas.openxmlformats.org/drawingml/2006/main">
              <a:ext uri="{FF2B5EF4-FFF2-40B4-BE49-F238E27FC236}">
                <a16:creationId xmlns:a16="http://schemas.microsoft.com/office/drawing/2014/main" id="{ED033687-8E2B-45C7-9C2B-2C9417C5248B}"/>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8BFC3B0-6C98-44E8-AF08-355EB6CF411D}"/>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6228357ccc72424a"/>
              </a:rPr>
              <a:t>Repo reference</a:t>
            </a:r>
            <a:r>
              <a:rPr sz="825">
                <a:solidFill>
                  <a:srgbClr val="666762"/>
                </a:solidFill>
              </a:rPr>
              <a:t>  ·  </a:t>
            </a:r>
            <a:r>
              <a:rPr sz="825" u="sng">
                <a:solidFill>
                  <a:srgbClr val="666762"/>
                </a:solidFill>
                <a:hlinkClick xmlns:r="http://schemas.openxmlformats.org/officeDocument/2006/relationships" r:id="Rddff6a529e0044d1"/>
              </a:rPr>
              <a:t>Official docs</a:t>
            </a:r>
          </a:p>
        </p:txBody>
      </p:sp>
      <p:sp>
        <p:nvSpPr>
          <p:cNvPr id="8" name="">
            <a:extLst xmlns:a="http://schemas.openxmlformats.org/drawingml/2006/main">
              <a:ext uri="{FF2B5EF4-FFF2-40B4-BE49-F238E27FC236}">
                <a16:creationId xmlns:a16="http://schemas.microsoft.com/office/drawing/2014/main" id="{EB9A0148-2898-4EF9-8E14-4A284666945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20 / 25</a:t>
            </a:r>
          </a:p>
        </p:txBody>
      </p:sp>
      <p:sp>
        <p:nvSpPr>
          <p:cNvPr id="9" name="">
            <a:extLst xmlns:a="http://schemas.openxmlformats.org/drawingml/2006/main">
              <a:ext uri="{FF2B5EF4-FFF2-40B4-BE49-F238E27FC236}">
                <a16:creationId xmlns:a16="http://schemas.microsoft.com/office/drawing/2014/main" id="{5025D071-8923-4708-BC51-3D8BAC07DDB6}"/>
              </a:ext>
            </a:extLst>
          </p:cNvPr>
          <p:cNvSpPr>
            <a:spLocks xmlns:a="http://schemas.openxmlformats.org/drawingml/2006/main" noGrp="1"/>
          </p:cNvSpPr>
          <p:nvPr/>
        </p:nvSpPr>
        <p:spPr>
          <a:xfrm xmlns:a="http://schemas.openxmlformats.org/drawingml/2006/main">
            <a:off x="68580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A4FF6AE3-9DC6-418A-BC95-5EBABBF8A7A6}"/>
              </a:ext>
            </a:extLst>
          </p:cNvPr>
          <p:cNvSpPr>
            <a:spLocks xmlns:a="http://schemas.openxmlformats.org/drawingml/2006/main" noGrp="1"/>
          </p:cNvSpPr>
          <p:nvPr/>
        </p:nvSpPr>
        <p:spPr>
          <a:xfrm xmlns:a="http://schemas.openxmlformats.org/drawingml/2006/main">
            <a:off x="85725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KO-6</a:t>
            </a:r>
          </a:p>
        </p:txBody>
      </p:sp>
      <p:sp>
        <p:nvSpPr>
          <p:cNvPr id="11" name="">
            <a:extLst xmlns:a="http://schemas.openxmlformats.org/drawingml/2006/main">
              <a:ext uri="{FF2B5EF4-FFF2-40B4-BE49-F238E27FC236}">
                <a16:creationId xmlns:a16="http://schemas.microsoft.com/office/drawing/2014/main" id="{947141A3-584F-4322-A9B4-34B0DB5DF791}"/>
              </a:ext>
            </a:extLst>
          </p:cNvPr>
          <p:cNvSpPr>
            <a:spLocks xmlns:a="http://schemas.openxmlformats.org/drawingml/2006/main" noGrp="1"/>
          </p:cNvSpPr>
          <p:nvPr/>
        </p:nvSpPr>
        <p:spPr>
          <a:xfrm xmlns:a="http://schemas.openxmlformats.org/drawingml/2006/main">
            <a:off x="154305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Capacity</a:t>
            </a:r>
          </a:p>
        </p:txBody>
      </p:sp>
      <p:sp>
        <p:nvSpPr>
          <p:cNvPr id="12" name="">
            <a:extLst xmlns:a="http://schemas.openxmlformats.org/drawingml/2006/main">
              <a:ext uri="{FF2B5EF4-FFF2-40B4-BE49-F238E27FC236}">
                <a16:creationId xmlns:a16="http://schemas.microsoft.com/office/drawing/2014/main" id="{4E7B8621-7C20-4F43-A51B-DAE20A215955}"/>
              </a:ext>
            </a:extLst>
          </p:cNvPr>
          <p:cNvSpPr>
            <a:spLocks xmlns:a="http://schemas.openxmlformats.org/drawingml/2006/main" noGrp="1"/>
          </p:cNvSpPr>
          <p:nvPr/>
        </p:nvSpPr>
        <p:spPr>
          <a:xfrm xmlns:a="http://schemas.openxmlformats.org/drawingml/2006/main">
            <a:off x="85725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C1EBF61-A6E6-434B-A746-04A1031E6D58}"/>
              </a:ext>
            </a:extLst>
          </p:cNvPr>
          <p:cNvSpPr>
            <a:spLocks xmlns:a="http://schemas.openxmlformats.org/drawingml/2006/main" noGrp="1"/>
          </p:cNvSpPr>
          <p:nvPr/>
        </p:nvSpPr>
        <p:spPr>
          <a:xfrm xmlns:a="http://schemas.openxmlformats.org/drawingml/2006/main">
            <a:off x="85725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demand + headroom</a:t>
            </a:r>
          </a:p>
        </p:txBody>
      </p:sp>
      <p:sp>
        <p:nvSpPr>
          <p:cNvPr id="14" name="">
            <a:extLst xmlns:a="http://schemas.openxmlformats.org/drawingml/2006/main">
              <a:ext uri="{FF2B5EF4-FFF2-40B4-BE49-F238E27FC236}">
                <a16:creationId xmlns:a16="http://schemas.microsoft.com/office/drawing/2014/main" id="{E5FE5E68-1318-4164-B1C9-C3A78D4F1CD4}"/>
              </a:ext>
            </a:extLst>
          </p:cNvPr>
          <p:cNvSpPr>
            <a:spLocks xmlns:a="http://schemas.openxmlformats.org/drawingml/2006/main" noGrp="1"/>
          </p:cNvSpPr>
          <p:nvPr/>
        </p:nvSpPr>
        <p:spPr>
          <a:xfrm xmlns:a="http://schemas.openxmlformats.org/drawingml/2006/main">
            <a:off x="428625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EE3DEAC8-E32A-47B6-AB63-C3DBE0B3EC2C}"/>
              </a:ext>
            </a:extLst>
          </p:cNvPr>
          <p:cNvSpPr>
            <a:spLocks xmlns:a="http://schemas.openxmlformats.org/drawingml/2006/main" noGrp="1"/>
          </p:cNvSpPr>
          <p:nvPr/>
        </p:nvSpPr>
        <p:spPr>
          <a:xfrm xmlns:a="http://schemas.openxmlformats.org/drawingml/2006/main">
            <a:off x="445770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KO-7</a:t>
            </a:r>
          </a:p>
        </p:txBody>
      </p:sp>
      <p:sp>
        <p:nvSpPr>
          <p:cNvPr id="16" name="">
            <a:extLst xmlns:a="http://schemas.openxmlformats.org/drawingml/2006/main">
              <a:ext uri="{FF2B5EF4-FFF2-40B4-BE49-F238E27FC236}">
                <a16:creationId xmlns:a16="http://schemas.microsoft.com/office/drawing/2014/main" id="{64FAA592-A6F8-4310-9D8A-CE8FAB94CE83}"/>
              </a:ext>
            </a:extLst>
          </p:cNvPr>
          <p:cNvSpPr>
            <a:spLocks xmlns:a="http://schemas.openxmlformats.org/drawingml/2006/main" noGrp="1"/>
          </p:cNvSpPr>
          <p:nvPr/>
        </p:nvSpPr>
        <p:spPr>
          <a:xfrm xmlns:a="http://schemas.openxmlformats.org/drawingml/2006/main">
            <a:off x="514350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Security traceability</a:t>
            </a:r>
          </a:p>
        </p:txBody>
      </p:sp>
      <p:sp>
        <p:nvSpPr>
          <p:cNvPr id="17" name="">
            <a:extLst xmlns:a="http://schemas.openxmlformats.org/drawingml/2006/main">
              <a:ext uri="{FF2B5EF4-FFF2-40B4-BE49-F238E27FC236}">
                <a16:creationId xmlns:a16="http://schemas.microsoft.com/office/drawing/2014/main" id="{7DCE1003-2B87-4E8C-9C65-4291C7402229}"/>
              </a:ext>
            </a:extLst>
          </p:cNvPr>
          <p:cNvSpPr>
            <a:spLocks xmlns:a="http://schemas.openxmlformats.org/drawingml/2006/main" noGrp="1"/>
          </p:cNvSpPr>
          <p:nvPr/>
        </p:nvSpPr>
        <p:spPr>
          <a:xfrm xmlns:a="http://schemas.openxmlformats.org/drawingml/2006/main">
            <a:off x="445770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6270062-FE82-4B71-B0AA-3939A109BF21}"/>
              </a:ext>
            </a:extLst>
          </p:cNvPr>
          <p:cNvSpPr>
            <a:spLocks xmlns:a="http://schemas.openxmlformats.org/drawingml/2006/main" noGrp="1"/>
          </p:cNvSpPr>
          <p:nvPr/>
        </p:nvSpPr>
        <p:spPr>
          <a:xfrm xmlns:a="http://schemas.openxmlformats.org/drawingml/2006/main">
            <a:off x="445770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config + request + security correlation · quantified gaps · no prohibited fields</a:t>
            </a:r>
          </a:p>
        </p:txBody>
      </p:sp>
      <p:sp>
        <p:nvSpPr>
          <p:cNvPr id="19" name="">
            <a:extLst xmlns:a="http://schemas.openxmlformats.org/drawingml/2006/main">
              <a:ext uri="{FF2B5EF4-FFF2-40B4-BE49-F238E27FC236}">
                <a16:creationId xmlns:a16="http://schemas.microsoft.com/office/drawing/2014/main" id="{9DE6ACFC-4858-485A-AEB1-F50D4FB3E65D}"/>
              </a:ext>
            </a:extLst>
          </p:cNvPr>
          <p:cNvSpPr>
            <a:spLocks xmlns:a="http://schemas.openxmlformats.org/drawingml/2006/main" noGrp="1"/>
          </p:cNvSpPr>
          <p:nvPr/>
        </p:nvSpPr>
        <p:spPr>
          <a:xfrm xmlns:a="http://schemas.openxmlformats.org/drawingml/2006/main">
            <a:off x="788670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EAFB0A55-E6DB-4283-9CE5-99B22618A502}"/>
              </a:ext>
            </a:extLst>
          </p:cNvPr>
          <p:cNvSpPr>
            <a:spLocks xmlns:a="http://schemas.openxmlformats.org/drawingml/2006/main" noGrp="1"/>
          </p:cNvSpPr>
          <p:nvPr/>
        </p:nvSpPr>
        <p:spPr>
          <a:xfrm xmlns:a="http://schemas.openxmlformats.org/drawingml/2006/main">
            <a:off x="805815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KO-8</a:t>
            </a:r>
          </a:p>
        </p:txBody>
      </p:sp>
      <p:sp>
        <p:nvSpPr>
          <p:cNvPr id="21" name="">
            <a:extLst xmlns:a="http://schemas.openxmlformats.org/drawingml/2006/main">
              <a:ext uri="{FF2B5EF4-FFF2-40B4-BE49-F238E27FC236}">
                <a16:creationId xmlns:a16="http://schemas.microsoft.com/office/drawing/2014/main" id="{45E9702C-B167-4D1E-9D66-68F7100EFCD6}"/>
              </a:ext>
            </a:extLst>
          </p:cNvPr>
          <p:cNvSpPr>
            <a:spLocks xmlns:a="http://schemas.openxmlformats.org/drawingml/2006/main" noGrp="1"/>
          </p:cNvSpPr>
          <p:nvPr/>
        </p:nvSpPr>
        <p:spPr>
          <a:xfrm xmlns:a="http://schemas.openxmlformats.org/drawingml/2006/main">
            <a:off x="874395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Adoption</a:t>
            </a:r>
          </a:p>
        </p:txBody>
      </p:sp>
      <p:sp>
        <p:nvSpPr>
          <p:cNvPr id="22" name="">
            <a:extLst xmlns:a="http://schemas.openxmlformats.org/drawingml/2006/main">
              <a:ext uri="{FF2B5EF4-FFF2-40B4-BE49-F238E27FC236}">
                <a16:creationId xmlns:a16="http://schemas.microsoft.com/office/drawing/2014/main" id="{205D9071-4008-487D-BF2B-C8B4F50247C6}"/>
              </a:ext>
            </a:extLst>
          </p:cNvPr>
          <p:cNvSpPr>
            <a:spLocks xmlns:a="http://schemas.openxmlformats.org/drawingml/2006/main" noGrp="1"/>
          </p:cNvSpPr>
          <p:nvPr/>
        </p:nvSpPr>
        <p:spPr>
          <a:xfrm xmlns:a="http://schemas.openxmlformats.org/drawingml/2006/main">
            <a:off x="805815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373DAA9-69FF-4931-8E8C-C4D9B38D21DA}"/>
              </a:ext>
            </a:extLst>
          </p:cNvPr>
          <p:cNvSpPr>
            <a:spLocks xmlns:a="http://schemas.openxmlformats.org/drawingml/2006/main" noGrp="1"/>
          </p:cNvSpPr>
          <p:nvPr/>
        </p:nvSpPr>
        <p:spPr>
          <a:xfrm xmlns:a="http://schemas.openxmlformats.org/drawingml/2006/main">
            <a:off x="805815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paved-road use without exception debt</a:t>
            </a:r>
          </a:p>
        </p:txBody>
      </p:sp>
      <p:sp>
        <p:nvSpPr>
          <p:cNvPr id="24" name="">
            <a:extLst xmlns:a="http://schemas.openxmlformats.org/drawingml/2006/main">
              <a:ext uri="{FF2B5EF4-FFF2-40B4-BE49-F238E27FC236}">
                <a16:creationId xmlns:a16="http://schemas.microsoft.com/office/drawing/2014/main" id="{EC300D96-EE21-48CB-A10D-8C5D032AAF03}"/>
              </a:ext>
            </a:extLst>
          </p:cNvPr>
          <p:cNvSpPr>
            <a:spLocks xmlns:a="http://schemas.openxmlformats.org/drawingml/2006/main" noGrp="1"/>
          </p:cNvSpPr>
          <p:nvPr/>
        </p:nvSpPr>
        <p:spPr>
          <a:xfrm xmlns:a="http://schemas.openxmlformats.org/drawingml/2006/main">
            <a:off x="68580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8D4EB731-045D-4FB5-A3DE-F75F7664B608}"/>
              </a:ext>
            </a:extLst>
          </p:cNvPr>
          <p:cNvSpPr>
            <a:spLocks xmlns:a="http://schemas.openxmlformats.org/drawingml/2006/main" noGrp="1"/>
          </p:cNvSpPr>
          <p:nvPr/>
        </p:nvSpPr>
        <p:spPr>
          <a:xfrm xmlns:a="http://schemas.openxmlformats.org/drawingml/2006/main">
            <a:off x="85725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KO-9</a:t>
            </a:r>
          </a:p>
        </p:txBody>
      </p:sp>
      <p:sp>
        <p:nvSpPr>
          <p:cNvPr id="26" name="">
            <a:extLst xmlns:a="http://schemas.openxmlformats.org/drawingml/2006/main">
              <a:ext uri="{FF2B5EF4-FFF2-40B4-BE49-F238E27FC236}">
                <a16:creationId xmlns:a16="http://schemas.microsoft.com/office/drawing/2014/main" id="{C8123BD4-8377-4259-8155-F3CF0237EA07}"/>
              </a:ext>
            </a:extLst>
          </p:cNvPr>
          <p:cNvSpPr>
            <a:spLocks xmlns:a="http://schemas.openxmlformats.org/drawingml/2006/main" noGrp="1"/>
          </p:cNvSpPr>
          <p:nvPr/>
        </p:nvSpPr>
        <p:spPr>
          <a:xfrm xmlns:a="http://schemas.openxmlformats.org/drawingml/2006/main">
            <a:off x="154305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Sustainability</a:t>
            </a:r>
          </a:p>
        </p:txBody>
      </p:sp>
      <p:sp>
        <p:nvSpPr>
          <p:cNvPr id="27" name="">
            <a:extLst xmlns:a="http://schemas.openxmlformats.org/drawingml/2006/main">
              <a:ext uri="{FF2B5EF4-FFF2-40B4-BE49-F238E27FC236}">
                <a16:creationId xmlns:a16="http://schemas.microsoft.com/office/drawing/2014/main" id="{60796DAA-7EE3-408B-AC6C-D349AA327E2D}"/>
              </a:ext>
            </a:extLst>
          </p:cNvPr>
          <p:cNvSpPr>
            <a:spLocks xmlns:a="http://schemas.openxmlformats.org/drawingml/2006/main" noGrp="1"/>
          </p:cNvSpPr>
          <p:nvPr/>
        </p:nvSpPr>
        <p:spPr>
          <a:xfrm xmlns:a="http://schemas.openxmlformats.org/drawingml/2006/main">
            <a:off x="85725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5F280FA-58A6-42AC-BCC8-998874B12B72}"/>
              </a:ext>
            </a:extLst>
          </p:cNvPr>
          <p:cNvSpPr>
            <a:spLocks xmlns:a="http://schemas.openxmlformats.org/drawingml/2006/main" noGrp="1"/>
          </p:cNvSpPr>
          <p:nvPr/>
        </p:nvSpPr>
        <p:spPr>
          <a:xfrm xmlns:a="http://schemas.openxmlformats.org/drawingml/2006/main">
            <a:off x="85725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and change load within capacity</a:t>
            </a:r>
          </a:p>
        </p:txBody>
      </p:sp>
      <p:sp>
        <p:nvSpPr>
          <p:cNvPr id="29" name="">
            <a:extLst xmlns:a="http://schemas.openxmlformats.org/drawingml/2006/main">
              <a:ext uri="{FF2B5EF4-FFF2-40B4-BE49-F238E27FC236}">
                <a16:creationId xmlns:a16="http://schemas.microsoft.com/office/drawing/2014/main" id="{238810B5-E807-43D1-B1BD-E9E6EF48A5D7}"/>
              </a:ext>
            </a:extLst>
          </p:cNvPr>
          <p:cNvSpPr>
            <a:spLocks xmlns:a="http://schemas.openxmlformats.org/drawingml/2006/main" noGrp="1"/>
          </p:cNvSpPr>
          <p:nvPr/>
        </p:nvSpPr>
        <p:spPr>
          <a:xfrm xmlns:a="http://schemas.openxmlformats.org/drawingml/2006/main">
            <a:off x="428625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0" name="">
            <a:extLst xmlns:a="http://schemas.openxmlformats.org/drawingml/2006/main">
              <a:ext uri="{FF2B5EF4-FFF2-40B4-BE49-F238E27FC236}">
                <a16:creationId xmlns:a16="http://schemas.microsoft.com/office/drawing/2014/main" id="{B5C1431E-487F-4C41-8843-BFA361F8298F}"/>
              </a:ext>
            </a:extLst>
          </p:cNvPr>
          <p:cNvSpPr>
            <a:spLocks xmlns:a="http://schemas.openxmlformats.org/drawingml/2006/main" noGrp="1"/>
          </p:cNvSpPr>
          <p:nvPr/>
        </p:nvSpPr>
        <p:spPr>
          <a:xfrm xmlns:a="http://schemas.openxmlformats.org/drawingml/2006/main">
            <a:off x="445770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KO-10</a:t>
            </a:r>
          </a:p>
        </p:txBody>
      </p:sp>
      <p:sp>
        <p:nvSpPr>
          <p:cNvPr id="31" name="">
            <a:extLst xmlns:a="http://schemas.openxmlformats.org/drawingml/2006/main">
              <a:ext uri="{FF2B5EF4-FFF2-40B4-BE49-F238E27FC236}">
                <a16:creationId xmlns:a16="http://schemas.microsoft.com/office/drawing/2014/main" id="{007811DD-9D7A-4F54-BA68-23A61AEDD360}"/>
              </a:ext>
            </a:extLst>
          </p:cNvPr>
          <p:cNvSpPr>
            <a:spLocks xmlns:a="http://schemas.openxmlformats.org/drawingml/2006/main" noGrp="1"/>
          </p:cNvSpPr>
          <p:nvPr/>
        </p:nvSpPr>
        <p:spPr>
          <a:xfrm xmlns:a="http://schemas.openxmlformats.org/drawingml/2006/main">
            <a:off x="514350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Exit readiness</a:t>
            </a:r>
          </a:p>
        </p:txBody>
      </p:sp>
      <p:sp>
        <p:nvSpPr>
          <p:cNvPr id="32" name="">
            <a:extLst xmlns:a="http://schemas.openxmlformats.org/drawingml/2006/main">
              <a:ext uri="{FF2B5EF4-FFF2-40B4-BE49-F238E27FC236}">
                <a16:creationId xmlns:a16="http://schemas.microsoft.com/office/drawing/2014/main" id="{AB6DD9E8-1431-4521-B483-D85B3CD4F937}"/>
              </a:ext>
            </a:extLst>
          </p:cNvPr>
          <p:cNvSpPr>
            <a:spLocks xmlns:a="http://schemas.openxmlformats.org/drawingml/2006/main" noGrp="1"/>
          </p:cNvSpPr>
          <p:nvPr/>
        </p:nvSpPr>
        <p:spPr>
          <a:xfrm xmlns:a="http://schemas.openxmlformats.org/drawingml/2006/main">
            <a:off x="445770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485F650-4837-43C8-A9E9-C08D57EC943B}"/>
              </a:ext>
            </a:extLst>
          </p:cNvPr>
          <p:cNvSpPr>
            <a:spLocks xmlns:a="http://schemas.openxmlformats.org/drawingml/2006/main" noGrp="1"/>
          </p:cNvSpPr>
          <p:nvPr/>
        </p:nvSpPr>
        <p:spPr>
          <a:xfrm xmlns:a="http://schemas.openxmlformats.org/drawingml/2006/main">
            <a:off x="445770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custody switch + non-Kong route-back</a:t>
            </a:r>
          </a:p>
        </p:txBody>
      </p:sp>
      <p:sp>
        <p:nvSpPr>
          <p:cNvPr id="34" name="">
            <a:extLst xmlns:a="http://schemas.openxmlformats.org/drawingml/2006/main">
              <a:ext uri="{FF2B5EF4-FFF2-40B4-BE49-F238E27FC236}">
                <a16:creationId xmlns:a16="http://schemas.microsoft.com/office/drawing/2014/main" id="{1B6C673B-AFA0-449C-9F5C-0367965B2A38}"/>
              </a:ext>
            </a:extLst>
          </p:cNvPr>
          <p:cNvSpPr>
            <a:spLocks xmlns:a="http://schemas.openxmlformats.org/drawingml/2006/main" noGrp="1"/>
          </p:cNvSpPr>
          <p:nvPr/>
        </p:nvSpPr>
        <p:spPr>
          <a:xfrm xmlns:a="http://schemas.openxmlformats.org/drawingml/2006/main">
            <a:off x="788670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5" name="">
            <a:extLst xmlns:a="http://schemas.openxmlformats.org/drawingml/2006/main">
              <a:ext uri="{FF2B5EF4-FFF2-40B4-BE49-F238E27FC236}">
                <a16:creationId xmlns:a16="http://schemas.microsoft.com/office/drawing/2014/main" id="{64F2E9CC-0079-472A-9B6A-421E2FEE740E}"/>
              </a:ext>
            </a:extLst>
          </p:cNvPr>
          <p:cNvSpPr>
            <a:spLocks xmlns:a="http://schemas.openxmlformats.org/drawingml/2006/main" noGrp="1"/>
          </p:cNvSpPr>
          <p:nvPr/>
        </p:nvSpPr>
        <p:spPr>
          <a:xfrm xmlns:a="http://schemas.openxmlformats.org/drawingml/2006/main">
            <a:off x="805815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KO-11</a:t>
            </a:r>
          </a:p>
        </p:txBody>
      </p:sp>
      <p:sp>
        <p:nvSpPr>
          <p:cNvPr id="36" name="">
            <a:extLst xmlns:a="http://schemas.openxmlformats.org/drawingml/2006/main">
              <a:ext uri="{FF2B5EF4-FFF2-40B4-BE49-F238E27FC236}">
                <a16:creationId xmlns:a16="http://schemas.microsoft.com/office/drawing/2014/main" id="{F184BD7C-6D05-4C56-A9F6-B46422CD478F}"/>
              </a:ext>
            </a:extLst>
          </p:cNvPr>
          <p:cNvSpPr>
            <a:spLocks xmlns:a="http://schemas.openxmlformats.org/drawingml/2006/main" noGrp="1"/>
          </p:cNvSpPr>
          <p:nvPr/>
        </p:nvSpPr>
        <p:spPr>
          <a:xfrm xmlns:a="http://schemas.openxmlformats.org/drawingml/2006/main">
            <a:off x="874395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Estate truth</a:t>
            </a:r>
          </a:p>
        </p:txBody>
      </p:sp>
      <p:sp>
        <p:nvSpPr>
          <p:cNvPr id="37" name="">
            <a:extLst xmlns:a="http://schemas.openxmlformats.org/drawingml/2006/main">
              <a:ext uri="{FF2B5EF4-FFF2-40B4-BE49-F238E27FC236}">
                <a16:creationId xmlns:a16="http://schemas.microsoft.com/office/drawing/2014/main" id="{27C4476E-CF6A-4F48-B502-7CE081A34B76}"/>
              </a:ext>
            </a:extLst>
          </p:cNvPr>
          <p:cNvSpPr>
            <a:spLocks xmlns:a="http://schemas.openxmlformats.org/drawingml/2006/main" noGrp="1"/>
          </p:cNvSpPr>
          <p:nvPr/>
        </p:nvSpPr>
        <p:spPr>
          <a:xfrm xmlns:a="http://schemas.openxmlformats.org/drawingml/2006/main">
            <a:off x="805815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C63A4987-25CA-4A72-B7B7-CDB795484B95}"/>
              </a:ext>
            </a:extLst>
          </p:cNvPr>
          <p:cNvSpPr>
            <a:spLocks xmlns:a="http://schemas.openxmlformats.org/drawingml/2006/main" noGrp="1"/>
          </p:cNvSpPr>
          <p:nvPr/>
        </p:nvSpPr>
        <p:spPr>
          <a:xfrm xmlns:a="http://schemas.openxmlformats.org/drawingml/2006/main">
            <a:off x="805815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inventory, owner and migration state current</a:t>
            </a:r>
          </a:p>
        </p:txBody>
      </p:sp>
      <p:sp>
        <p:nvSpPr>
          <p:cNvPr id="39" name="">
            <a:extLst xmlns:a="http://schemas.openxmlformats.org/drawingml/2006/main">
              <a:ext uri="{FF2B5EF4-FFF2-40B4-BE49-F238E27FC236}">
                <a16:creationId xmlns:a16="http://schemas.microsoft.com/office/drawing/2014/main" id="{863E2E71-A98C-478B-931B-D5FC4A5AA0C7}"/>
              </a:ext>
            </a:extLst>
          </p:cNvPr>
          <p:cNvSpPr>
            <a:spLocks xmlns:a="http://schemas.openxmlformats.org/drawingml/2006/main" noGrp="1"/>
          </p:cNvSpPr>
          <p:nvPr/>
        </p:nvSpPr>
        <p:spPr>
          <a:xfrm xmlns:a="http://schemas.openxmlformats.org/drawingml/2006/main">
            <a:off x="1752600" y="5867400"/>
            <a:ext cx="8686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Scale requires the whole operating system to work—not only the proxy.</a:t>
            </a:r>
          </a:p>
        </p:txBody>
      </p:sp>
    </p:spTree>
    <p:extLst>
      <p:ext uri="{BB962C8B-B14F-4D97-AF65-F5344CB8AC3E}">
        <p14:creationId xmlns:p14="http://schemas.microsoft.com/office/powerpoint/2010/main" val="2144066135"/>
      </p:ext>
    </p:extLst>
  </p:cSld>
</p:sld>
</file>

<file path=ppt/slides/slide2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69CF473-05F9-45A1-B537-73342E4D5AE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91BEF9E-975D-4F1D-8DAC-0ACA3E662BD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06BCBC0-1EF1-4C52-95D6-B3B441D7E03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21 / PRODUCTION</a:t>
            </a:r>
          </a:p>
        </p:txBody>
      </p:sp>
      <p:sp>
        <p:nvSpPr>
          <p:cNvPr id="4" name="">
            <a:extLst xmlns:a="http://schemas.openxmlformats.org/drawingml/2006/main">
              <a:ext uri="{FF2B5EF4-FFF2-40B4-BE49-F238E27FC236}">
                <a16:creationId xmlns:a16="http://schemas.microsoft.com/office/drawing/2014/main" id="{38C7EEDE-E82D-4114-B0ED-85E82F36906E}"/>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Negative evidence must change the decision</a:t>
            </a:r>
          </a:p>
        </p:txBody>
      </p:sp>
      <p:sp>
        <p:nvSpPr>
          <p:cNvPr id="5" name="">
            <a:extLst xmlns:a="http://schemas.openxmlformats.org/drawingml/2006/main">
              <a:ext uri="{FF2B5EF4-FFF2-40B4-BE49-F238E27FC236}">
                <a16:creationId xmlns:a16="http://schemas.microsoft.com/office/drawing/2014/main" id="{9C4CB54C-CD72-4B11-9174-EC18A9F449F0}"/>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Pre-commit the decision outcomes before the proof programme starts.</a:t>
            </a:r>
          </a:p>
        </p:txBody>
      </p:sp>
      <p:sp>
        <p:nvSpPr>
          <p:cNvPr id="6" name="">
            <a:extLst xmlns:a="http://schemas.openxmlformats.org/drawingml/2006/main">
              <a:ext uri="{FF2B5EF4-FFF2-40B4-BE49-F238E27FC236}">
                <a16:creationId xmlns:a16="http://schemas.microsoft.com/office/drawing/2014/main" id="{0CCEB940-C8E5-46CE-9BA5-E3459DE262F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6488A61-8365-4828-881D-03E3404090C8}"/>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a0871fde61a842ae"/>
              </a:rPr>
              <a:t>Repo reference</a:t>
            </a:r>
            <a:r>
              <a:rPr sz="825">
                <a:solidFill>
                  <a:srgbClr val="666762"/>
                </a:solidFill>
              </a:rPr>
              <a:t>  ·  </a:t>
            </a:r>
            <a:r>
              <a:rPr sz="825" u="sng">
                <a:solidFill>
                  <a:srgbClr val="666762"/>
                </a:solidFill>
                <a:hlinkClick xmlns:r="http://schemas.openxmlformats.org/officeDocument/2006/relationships" r:id="R1d5e1775c2ef4f4d"/>
              </a:rPr>
              <a:t>Official docs</a:t>
            </a:r>
          </a:p>
        </p:txBody>
      </p:sp>
      <p:sp>
        <p:nvSpPr>
          <p:cNvPr id="8" name="">
            <a:extLst xmlns:a="http://schemas.openxmlformats.org/drawingml/2006/main">
              <a:ext uri="{FF2B5EF4-FFF2-40B4-BE49-F238E27FC236}">
                <a16:creationId xmlns:a16="http://schemas.microsoft.com/office/drawing/2014/main" id="{A4CDD183-F4ED-48F0-88FA-1396A7B7146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21 / 25</a:t>
            </a:r>
          </a:p>
        </p:txBody>
      </p:sp>
      <p:sp>
        <p:nvSpPr>
          <p:cNvPr id="9" name="">
            <a:extLst xmlns:a="http://schemas.openxmlformats.org/drawingml/2006/main">
              <a:ext uri="{FF2B5EF4-FFF2-40B4-BE49-F238E27FC236}">
                <a16:creationId xmlns:a16="http://schemas.microsoft.com/office/drawing/2014/main" id="{2A55BEE9-4983-43DD-AA3F-3EAAF69C4A89}"/>
              </a:ext>
            </a:extLst>
          </p:cNvPr>
          <p:cNvSpPr>
            <a:spLocks xmlns:a="http://schemas.openxmlformats.org/drawingml/2006/main" noGrp="1"/>
          </p:cNvSpPr>
          <p:nvPr/>
        </p:nvSpPr>
        <p:spPr>
          <a:xfrm xmlns:a="http://schemas.openxmlformats.org/drawingml/2006/main">
            <a:off x="4667250" y="2552700"/>
            <a:ext cx="2857500" cy="1123950"/>
          </a:xfrm>
          <a:prstGeom xmlns:a="http://schemas.openxmlformats.org/drawingml/2006/main" prst="roundRect">
            <a:avLst>
              <a:gd name="adj" fmla="val 6780"/>
            </a:avLst>
          </a:prstGeom>
          <a:solidFill xmlns:a="http://schemas.openxmlformats.org/drawingml/2006/main">
            <a:srgbClr val="FFFFFF"/>
          </a:solidFill>
          <a:ln xmlns:a="http://schemas.openxmlformats.org/drawingml/2006/main" w="14288">
            <a:solidFill>
              <a:srgbClr val="FFC72C"/>
            </a:solidFill>
            <a:prstDash val="solid"/>
          </a:ln>
        </p:spPr>
      </p:sp>
      <p:sp>
        <p:nvSpPr>
          <p:cNvPr id="10" name="">
            <a:extLst xmlns:a="http://schemas.openxmlformats.org/drawingml/2006/main">
              <a:ext uri="{FF2B5EF4-FFF2-40B4-BE49-F238E27FC236}">
                <a16:creationId xmlns:a16="http://schemas.microsoft.com/office/drawing/2014/main" id="{629D45FF-4D63-4792-900A-4314B30128B4}"/>
              </a:ext>
            </a:extLst>
          </p:cNvPr>
          <p:cNvSpPr>
            <a:spLocks xmlns:a="http://schemas.openxmlformats.org/drawingml/2006/main" noGrp="1"/>
          </p:cNvSpPr>
          <p:nvPr/>
        </p:nvSpPr>
        <p:spPr>
          <a:xfrm xmlns:a="http://schemas.openxmlformats.org/drawingml/2006/main">
            <a:off x="4819650" y="26860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950" b="1" i="0">
                <a:solidFill>
                  <a:srgbClr val="111111"/>
                </a:solidFill>
                <a:latin typeface="Arial"/>
                <a:ea typeface="Arial"/>
                <a:cs typeface="Arial"/>
              </a:defRPr>
            </a:pPr>
            <a:r>
              <a:rPr sz="1950" b="1" i="0">
                <a:solidFill>
                  <a:srgbClr val="111111"/>
                </a:solidFill>
                <a:latin typeface="Arial"/>
                <a:ea typeface="Arial"/>
                <a:cs typeface="Arial"/>
              </a:rPr>
              <a:t>OUTCOME GATE</a:t>
            </a:r>
          </a:p>
        </p:txBody>
      </p:sp>
      <p:sp>
        <p:nvSpPr>
          <p:cNvPr id="11" name="">
            <a:extLst xmlns:a="http://schemas.openxmlformats.org/drawingml/2006/main">
              <a:ext uri="{FF2B5EF4-FFF2-40B4-BE49-F238E27FC236}">
                <a16:creationId xmlns:a16="http://schemas.microsoft.com/office/drawing/2014/main" id="{F22BAF74-7FC6-4E61-A457-D08E267EFBFB}"/>
              </a:ext>
            </a:extLst>
          </p:cNvPr>
          <p:cNvSpPr>
            <a:spLocks xmlns:a="http://schemas.openxmlformats.org/drawingml/2006/main" noGrp="1"/>
          </p:cNvSpPr>
          <p:nvPr/>
        </p:nvSpPr>
        <p:spPr>
          <a:xfrm xmlns:a="http://schemas.openxmlformats.org/drawingml/2006/main">
            <a:off x="4800600" y="3086100"/>
            <a:ext cx="2590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E2 / E3 / E4 evidence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measures + artifacts + owners</a:t>
            </a:r>
          </a:p>
        </p:txBody>
      </p:sp>
      <p:sp>
        <p:nvSpPr>
          <p:cNvPr id="12" name="">
            <a:extLst xmlns:a="http://schemas.openxmlformats.org/drawingml/2006/main">
              <a:ext uri="{FF2B5EF4-FFF2-40B4-BE49-F238E27FC236}">
                <a16:creationId xmlns:a16="http://schemas.microsoft.com/office/drawing/2014/main" id="{105507B5-2F8F-4425-924E-7107B8383C81}"/>
              </a:ext>
            </a:extLst>
          </p:cNvPr>
          <p:cNvSpPr>
            <a:spLocks xmlns:a="http://schemas.openxmlformats.org/drawingml/2006/main" noGrp="1"/>
          </p:cNvSpPr>
          <p:nvPr/>
        </p:nvSpPr>
        <p:spPr>
          <a:xfrm xmlns:a="http://schemas.openxmlformats.org/drawingml/2006/main">
            <a:off x="762000" y="228600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197457"/>
            </a:solidFill>
            <a:prstDash val="solid"/>
          </a:ln>
        </p:spPr>
      </p:sp>
      <p:sp>
        <p:nvSpPr>
          <p:cNvPr id="13" name="">
            <a:extLst xmlns:a="http://schemas.openxmlformats.org/drawingml/2006/main">
              <a:ext uri="{FF2B5EF4-FFF2-40B4-BE49-F238E27FC236}">
                <a16:creationId xmlns:a16="http://schemas.microsoft.com/office/drawing/2014/main" id="{03BE2511-C362-4AF9-AC76-EDB39F4E503A}"/>
              </a:ext>
            </a:extLst>
          </p:cNvPr>
          <p:cNvSpPr>
            <a:spLocks xmlns:a="http://schemas.openxmlformats.org/drawingml/2006/main" noGrp="1"/>
          </p:cNvSpPr>
          <p:nvPr/>
        </p:nvSpPr>
        <p:spPr>
          <a:xfrm xmlns:a="http://schemas.openxmlformats.org/drawingml/2006/main">
            <a:off x="914400" y="24193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SCALE</a:t>
            </a:r>
          </a:p>
        </p:txBody>
      </p:sp>
      <p:sp>
        <p:nvSpPr>
          <p:cNvPr id="14" name="">
            <a:extLst xmlns:a="http://schemas.openxmlformats.org/drawingml/2006/main">
              <a:ext uri="{FF2B5EF4-FFF2-40B4-BE49-F238E27FC236}">
                <a16:creationId xmlns:a16="http://schemas.microsoft.com/office/drawing/2014/main" id="{9B689A3A-539A-4521-802A-6E982513220D}"/>
              </a:ext>
            </a:extLst>
          </p:cNvPr>
          <p:cNvSpPr>
            <a:spLocks xmlns:a="http://schemas.openxmlformats.org/drawingml/2006/main" noGrp="1"/>
          </p:cNvSpPr>
          <p:nvPr/>
        </p:nvSpPr>
        <p:spPr>
          <a:xfrm xmlns:a="http://schemas.openxmlformats.org/drawingml/2006/main">
            <a:off x="895350" y="281940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outcomes pass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capacity + sustainability close</a:t>
            </a:r>
          </a:p>
        </p:txBody>
      </p:sp>
      <p:cxnSp>
        <p:nvCxnSpPr>
          <p:cNvPr id="340" name=""/>
          <p:cNvCxnSpPr>
            <a:stCxn xmlns:a="http://schemas.openxmlformats.org/drawingml/2006/main" id="9" idx="1"/>
            <a:endCxn xmlns:a="http://schemas.openxmlformats.org/drawingml/2006/main" id="12" idx="3"/>
          </p:cNvCxnSpPr>
          <p:nvPr/>
        </p:nvCxnSpPr>
        <p:spPr>
          <a:xfrm xmlns:a="http://schemas.openxmlformats.org/drawingml/2006/main" flipH="1" flipV="1">
            <a:off x="3619500" y="2895600"/>
            <a:ext cx="1047750" cy="219075"/>
          </a:xfrm>
          <a:prstGeom xmlns:a="http://schemas.openxmlformats.org/drawingml/2006/main" prst="bentConnector3">
            <a:avLst>
              <a:gd name="adj1" fmla="val 50000"/>
            </a:avLst>
          </a:prstGeom>
          <a:ln xmlns:a="http://schemas.openxmlformats.org/drawingml/2006/main" w="19050">
            <a:solidFill>
              <a:srgbClr val="197457"/>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13B65A35-3EE8-46AC-8BCC-9B81C1E49C71}"/>
              </a:ext>
            </a:extLst>
          </p:cNvPr>
          <p:cNvSpPr>
            <a:spLocks xmlns:a="http://schemas.openxmlformats.org/drawingml/2006/main" noGrp="1"/>
          </p:cNvSpPr>
          <p:nvPr/>
        </p:nvSpPr>
        <p:spPr>
          <a:xfrm xmlns:a="http://schemas.openxmlformats.org/drawingml/2006/main">
            <a:off x="762000" y="443865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A96300"/>
            </a:solidFill>
            <a:prstDash val="solid"/>
          </a:ln>
        </p:spPr>
      </p:sp>
      <p:sp>
        <p:nvSpPr>
          <p:cNvPr id="17" name="">
            <a:extLst xmlns:a="http://schemas.openxmlformats.org/drawingml/2006/main">
              <a:ext uri="{FF2B5EF4-FFF2-40B4-BE49-F238E27FC236}">
                <a16:creationId xmlns:a16="http://schemas.microsoft.com/office/drawing/2014/main" id="{227459FE-5B4B-462D-9202-C984C16470C5}"/>
              </a:ext>
            </a:extLst>
          </p:cNvPr>
          <p:cNvSpPr>
            <a:spLocks xmlns:a="http://schemas.openxmlformats.org/drawingml/2006/main" noGrp="1"/>
          </p:cNvSpPr>
          <p:nvPr/>
        </p:nvSpPr>
        <p:spPr>
          <a:xfrm xmlns:a="http://schemas.openxmlformats.org/drawingml/2006/main">
            <a:off x="914400" y="457200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NARROW</a:t>
            </a:r>
          </a:p>
        </p:txBody>
      </p:sp>
      <p:sp>
        <p:nvSpPr>
          <p:cNvPr id="18" name="">
            <a:extLst xmlns:a="http://schemas.openxmlformats.org/drawingml/2006/main">
              <a:ext uri="{FF2B5EF4-FFF2-40B4-BE49-F238E27FC236}">
                <a16:creationId xmlns:a16="http://schemas.microsoft.com/office/drawing/2014/main" id="{22C79D52-6589-4576-90C4-D12C02DBD20A}"/>
              </a:ext>
            </a:extLst>
          </p:cNvPr>
          <p:cNvSpPr>
            <a:spLocks xmlns:a="http://schemas.openxmlformats.org/drawingml/2006/main" noGrp="1"/>
          </p:cNvSpPr>
          <p:nvPr/>
        </p:nvSpPr>
        <p:spPr>
          <a:xfrm xmlns:a="http://schemas.openxmlformats.org/drawingml/2006/main">
            <a:off x="895350" y="497205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fit holds only for bounded workloads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reduce scope</a:t>
            </a:r>
          </a:p>
        </p:txBody>
      </p:sp>
      <p:cxnSp>
        <p:nvCxnSpPr>
          <p:cNvPr id="344" name=""/>
          <p:cNvCxnSpPr>
            <a:stCxn xmlns:a="http://schemas.openxmlformats.org/drawingml/2006/main" id="9" idx="1"/>
            <a:endCxn xmlns:a="http://schemas.openxmlformats.org/drawingml/2006/main" id="16" idx="3"/>
          </p:cNvCxnSpPr>
          <p:nvPr/>
        </p:nvCxnSpPr>
        <p:spPr>
          <a:xfrm xmlns:a="http://schemas.openxmlformats.org/drawingml/2006/main" flipH="1">
            <a:off x="3619500" y="3114675"/>
            <a:ext cx="1047750" cy="1933575"/>
          </a:xfrm>
          <a:prstGeom xmlns:a="http://schemas.openxmlformats.org/drawingml/2006/main" prst="bentConnector3">
            <a:avLst>
              <a:gd name="adj1" fmla="val 50000"/>
            </a:avLst>
          </a:prstGeom>
          <a:ln xmlns:a="http://schemas.openxmlformats.org/drawingml/2006/main" w="19050">
            <a:solidFill>
              <a:srgbClr val="A96300"/>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9DFA1147-B063-405E-A0E9-DB4097F9994A}"/>
              </a:ext>
            </a:extLst>
          </p:cNvPr>
          <p:cNvSpPr>
            <a:spLocks xmlns:a="http://schemas.openxmlformats.org/drawingml/2006/main" noGrp="1"/>
          </p:cNvSpPr>
          <p:nvPr/>
        </p:nvSpPr>
        <p:spPr>
          <a:xfrm xmlns:a="http://schemas.openxmlformats.org/drawingml/2006/main">
            <a:off x="8572500" y="228600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111111"/>
            </a:solidFill>
            <a:prstDash val="solid"/>
          </a:ln>
        </p:spPr>
      </p:sp>
      <p:sp>
        <p:nvSpPr>
          <p:cNvPr id="21" name="">
            <a:extLst xmlns:a="http://schemas.openxmlformats.org/drawingml/2006/main">
              <a:ext uri="{FF2B5EF4-FFF2-40B4-BE49-F238E27FC236}">
                <a16:creationId xmlns:a16="http://schemas.microsoft.com/office/drawing/2014/main" id="{A4164E14-6641-4280-80F5-37E11ED4EB56}"/>
              </a:ext>
            </a:extLst>
          </p:cNvPr>
          <p:cNvSpPr>
            <a:spLocks xmlns:a="http://schemas.openxmlformats.org/drawingml/2006/main" noGrp="1"/>
          </p:cNvSpPr>
          <p:nvPr/>
        </p:nvSpPr>
        <p:spPr>
          <a:xfrm xmlns:a="http://schemas.openxmlformats.org/drawingml/2006/main">
            <a:off x="8724900" y="24193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SWITCH CUSTODY</a:t>
            </a:r>
          </a:p>
        </p:txBody>
      </p:sp>
      <p:sp>
        <p:nvSpPr>
          <p:cNvPr id="22" name="">
            <a:extLst xmlns:a="http://schemas.openxmlformats.org/drawingml/2006/main">
              <a:ext uri="{FF2B5EF4-FFF2-40B4-BE49-F238E27FC236}">
                <a16:creationId xmlns:a16="http://schemas.microsoft.com/office/drawing/2014/main" id="{6C5F379A-5FF5-44AB-AF71-BE5766AF863C}"/>
              </a:ext>
            </a:extLst>
          </p:cNvPr>
          <p:cNvSpPr>
            <a:spLocks xmlns:a="http://schemas.openxmlformats.org/drawingml/2006/main" noGrp="1"/>
          </p:cNvSpPr>
          <p:nvPr/>
        </p:nvSpPr>
        <p:spPr>
          <a:xfrm xmlns:a="http://schemas.openxmlformats.org/drawingml/2006/main">
            <a:off x="8705850" y="281940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Konnect benchmark wins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route back within same vendor</a:t>
            </a:r>
          </a:p>
        </p:txBody>
      </p:sp>
      <p:cxnSp>
        <p:nvCxnSpPr>
          <p:cNvPr id="348" name=""/>
          <p:cNvCxnSpPr>
            <a:stCxn xmlns:a="http://schemas.openxmlformats.org/drawingml/2006/main" id="9" idx="3"/>
            <a:endCxn xmlns:a="http://schemas.openxmlformats.org/drawingml/2006/main" id="20" idx="1"/>
          </p:cNvCxnSpPr>
          <p:nvPr/>
        </p:nvCxnSpPr>
        <p:spPr>
          <a:xfrm xmlns:a="http://schemas.openxmlformats.org/drawingml/2006/main" flipV="1">
            <a:off x="7524750" y="2895600"/>
            <a:ext cx="1047750" cy="219075"/>
          </a:xfrm>
          <a:prstGeom xmlns:a="http://schemas.openxmlformats.org/drawingml/2006/main" prst="bentConnector3">
            <a:avLst>
              <a:gd name="adj1" fmla="val 50000"/>
            </a:avLst>
          </a:prstGeom>
          <a:ln xmlns:a="http://schemas.openxmlformats.org/drawingml/2006/main" w="19050">
            <a:solidFill>
              <a:srgbClr val="111111"/>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9239FC58-7B34-47CE-AECC-DCEAF05F6FEC}"/>
              </a:ext>
            </a:extLst>
          </p:cNvPr>
          <p:cNvSpPr>
            <a:spLocks xmlns:a="http://schemas.openxmlformats.org/drawingml/2006/main" noGrp="1"/>
          </p:cNvSpPr>
          <p:nvPr/>
        </p:nvSpPr>
        <p:spPr>
          <a:xfrm xmlns:a="http://schemas.openxmlformats.org/drawingml/2006/main">
            <a:off x="8572500" y="443865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FFC72C"/>
            </a:solidFill>
            <a:prstDash val="solid"/>
          </a:ln>
        </p:spPr>
      </p:sp>
      <p:sp>
        <p:nvSpPr>
          <p:cNvPr id="25" name="">
            <a:extLst xmlns:a="http://schemas.openxmlformats.org/drawingml/2006/main">
              <a:ext uri="{FF2B5EF4-FFF2-40B4-BE49-F238E27FC236}">
                <a16:creationId xmlns:a16="http://schemas.microsoft.com/office/drawing/2014/main" id="{B316BD01-CB6D-4005-84F2-DA7CF8067DA2}"/>
              </a:ext>
            </a:extLst>
          </p:cNvPr>
          <p:cNvSpPr>
            <a:spLocks xmlns:a="http://schemas.openxmlformats.org/drawingml/2006/main" noGrp="1"/>
          </p:cNvSpPr>
          <p:nvPr/>
        </p:nvSpPr>
        <p:spPr>
          <a:xfrm xmlns:a="http://schemas.openxmlformats.org/drawingml/2006/main">
            <a:off x="8724900" y="457200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EXIT PLATFORM</a:t>
            </a:r>
          </a:p>
        </p:txBody>
      </p:sp>
      <p:sp>
        <p:nvSpPr>
          <p:cNvPr id="26" name="">
            <a:extLst xmlns:a="http://schemas.openxmlformats.org/drawingml/2006/main">
              <a:ext uri="{FF2B5EF4-FFF2-40B4-BE49-F238E27FC236}">
                <a16:creationId xmlns:a16="http://schemas.microsoft.com/office/drawing/2014/main" id="{84B9A03D-487F-4956-BC84-06C7C3CB6A9C}"/>
              </a:ext>
            </a:extLst>
          </p:cNvPr>
          <p:cNvSpPr>
            <a:spLocks xmlns:a="http://schemas.openxmlformats.org/drawingml/2006/main" noGrp="1"/>
          </p:cNvSpPr>
          <p:nvPr/>
        </p:nvSpPr>
        <p:spPr>
          <a:xfrm xmlns:a="http://schemas.openxmlformats.org/drawingml/2006/main">
            <a:off x="8705850" y="497205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counterfactual or economics wins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move to non-Kong target</a:t>
            </a:r>
          </a:p>
        </p:txBody>
      </p:sp>
      <p:cxnSp>
        <p:nvCxnSpPr>
          <p:cNvPr id="352" name=""/>
          <p:cNvCxnSpPr>
            <a:stCxn xmlns:a="http://schemas.openxmlformats.org/drawingml/2006/main" id="9" idx="3"/>
            <a:endCxn xmlns:a="http://schemas.openxmlformats.org/drawingml/2006/main" id="24" idx="1"/>
          </p:cNvCxnSpPr>
          <p:nvPr/>
        </p:nvCxnSpPr>
        <p:spPr>
          <a:xfrm xmlns:a="http://schemas.openxmlformats.org/drawingml/2006/main">
            <a:off x="7524750" y="3114675"/>
            <a:ext cx="1047750" cy="1933575"/>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C8B46574-21A8-4842-8982-DC8588C60631}"/>
              </a:ext>
            </a:extLst>
          </p:cNvPr>
          <p:cNvSpPr>
            <a:spLocks xmlns:a="http://schemas.openxmlformats.org/drawingml/2006/main" noGrp="1"/>
          </p:cNvSpPr>
          <p:nvPr/>
        </p:nvSpPr>
        <p:spPr>
          <a:xfrm xmlns:a="http://schemas.openxmlformats.org/drawingml/2006/main">
            <a:off x="2038350" y="5943600"/>
            <a:ext cx="811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930"/>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Approve the bounded direction and proof programme—not critical production scale.</a:t>
            </a:r>
          </a:p>
        </p:txBody>
      </p:sp>
    </p:spTree>
    <p:extLst>
      <p:ext uri="{BB962C8B-B14F-4D97-AF65-F5344CB8AC3E}">
        <p14:creationId xmlns:p14="http://schemas.microsoft.com/office/powerpoint/2010/main" val="918069158"/>
      </p:ext>
    </p:extLst>
  </p:cSld>
</p:sld>
</file>

<file path=ppt/slides/slide2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D97F51-AD4E-4A12-AABC-A60FE3D2F74E}"/>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F21F2D9-A100-431C-8143-FA0E630FA74F}"/>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3200EAA-050D-4A70-A989-B7A32197CA0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22 / APPENDIX</a:t>
            </a:r>
          </a:p>
        </p:txBody>
      </p:sp>
      <p:sp>
        <p:nvSpPr>
          <p:cNvPr id="4" name="">
            <a:extLst xmlns:a="http://schemas.openxmlformats.org/drawingml/2006/main">
              <a:ext uri="{FF2B5EF4-FFF2-40B4-BE49-F238E27FC236}">
                <a16:creationId xmlns:a16="http://schemas.microsoft.com/office/drawing/2014/main" id="{C19F3FAC-60D7-430A-AF10-674197BAC8A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Comparison input — architecture, multicloud and robustness</a:t>
            </a:r>
          </a:p>
        </p:txBody>
      </p:sp>
      <p:sp>
        <p:nvSpPr>
          <p:cNvPr id="5" name="">
            <a:extLst xmlns:a="http://schemas.openxmlformats.org/drawingml/2006/main">
              <a:ext uri="{FF2B5EF4-FFF2-40B4-BE49-F238E27FC236}">
                <a16:creationId xmlns:a16="http://schemas.microsoft.com/office/drawing/2014/main" id="{0771C010-B3EF-41F0-85D7-C5F652D0E19B}"/>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Supplied labels stay visible; scalability and recovery remain unscored until equivalent execution.</a:t>
            </a:r>
          </a:p>
        </p:txBody>
      </p:sp>
      <p:sp>
        <p:nvSpPr>
          <p:cNvPr id="6" name="">
            <a:extLst xmlns:a="http://schemas.openxmlformats.org/drawingml/2006/main">
              <a:ext uri="{FF2B5EF4-FFF2-40B4-BE49-F238E27FC236}">
                <a16:creationId xmlns:a16="http://schemas.microsoft.com/office/drawing/2014/main" id="{123F730E-9053-4114-8D08-B6E3BA7AC53A}"/>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2D6F5C8-5897-4ADE-88C1-D4DDA58D0EBB}"/>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bfdb6c0cc3c34b29"/>
              </a:rPr>
              <a:t>Repo reference</a:t>
            </a:r>
            <a:r>
              <a:rPr sz="825">
                <a:solidFill>
                  <a:srgbClr val="666762"/>
                </a:solidFill>
              </a:rPr>
              <a:t>  ·  </a:t>
            </a:r>
            <a:r>
              <a:rPr sz="825" u="sng">
                <a:solidFill>
                  <a:srgbClr val="666762"/>
                </a:solidFill>
                <a:hlinkClick xmlns:r="http://schemas.openxmlformats.org/officeDocument/2006/relationships" r:id="Racb5107a8469471b"/>
              </a:rPr>
              <a:t>Official docs</a:t>
            </a:r>
          </a:p>
        </p:txBody>
      </p:sp>
      <p:sp>
        <p:nvSpPr>
          <p:cNvPr id="8" name="">
            <a:extLst xmlns:a="http://schemas.openxmlformats.org/drawingml/2006/main">
              <a:ext uri="{FF2B5EF4-FFF2-40B4-BE49-F238E27FC236}">
                <a16:creationId xmlns:a16="http://schemas.microsoft.com/office/drawing/2014/main" id="{668BC524-91EE-4C97-9D18-05C4786CD6F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22 / 25</a:t>
            </a:r>
          </a:p>
        </p:txBody>
      </p:sp>
      <p:graphicFrame>
        <p:nvGraphicFramePr>
          <p:cNvPr id="20" name=""/>
          <p:cNvGraphicFramePr/>
          <p:nvPr/>
        </p:nvGraphicFramePr>
        <p:xfrm>
          <a:off xmlns:a="http://schemas.openxmlformats.org/drawingml/2006/main" x="609600" y="2057400"/>
          <a:ext xmlns:a="http://schemas.openxmlformats.org/drawingml/2006/main" cx="10972800" cy="3771900"/>
        </p:xfrm>
        <a:graphic xmlns:a="http://schemas.openxmlformats.org/drawingml/2006/main">
          <a:graphicData uri="http://schemas.openxmlformats.org/drawingml/2006/table">
            <a:tbl>
              <a:tblPr/>
              <a:tblGrid>
                <a:gridCol w="1714500"/>
                <a:gridCol w="2095500"/>
                <a:gridCol w="2095500"/>
                <a:gridCol w="2095500"/>
                <a:gridCol w="2971800"/>
              </a:tblGrid>
              <a:tr h="538843">
                <a:tc>
                  <a:txBody>
                    <a:bodyPr/>
                    <a:lstStyle/>
                    <a:p>
                      <a:r>
                        <a:t>Dimension</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c>
                  <a:txBody>
                    <a:bodyPr/>
                    <a:lstStyle/>
                    <a:p>
                      <a:r>
                        <a:t>Decision use</a:t>
                      </a:r>
                    </a:p>
                  </a:txBody>
                  <a:tcPr marL="91440" marR="91440" marT="45720" marB="45720"/>
                </a:tc>
              </a:tr>
              <a:tr h="538843">
                <a:tc>
                  <a:txBody>
                    <a:bodyPr/>
                    <a:lstStyle/>
                    <a:p>
                      <a:r>
                        <a:t>Primary focus</a:t>
                      </a:r>
                    </a:p>
                  </a:txBody>
                  <a:tcPr marL="91440" marR="91440" marT="45720" marB="45720"/>
                </a:tc>
                <a:tc>
                  <a:txBody>
                    <a:bodyPr/>
                    <a:lstStyle/>
                    <a:p>
                      <a:r>
                        <a:t>Connectivity platform</a:t>
                      </a:r>
                    </a:p>
                  </a:txBody>
                  <a:tcPr marL="91440" marR="91440" marT="45720" marB="45720"/>
                </a:tc>
                <a:tc>
                  <a:txBody>
                    <a:bodyPr/>
                    <a:lstStyle/>
                    <a:p>
                      <a:r>
                        <a:t>Enterprise API management</a:t>
                      </a:r>
                    </a:p>
                  </a:txBody>
                  <a:tcPr marL="91440" marR="91440" marT="45720" marB="45720"/>
                </a:tc>
                <a:tc>
                  <a:txBody>
                    <a:bodyPr/>
                    <a:lstStyle/>
                    <a:p>
                      <a:r>
                        <a:t>API mgmt in Anypoint</a:t>
                      </a:r>
                    </a:p>
                  </a:txBody>
                  <a:tcPr marL="91440" marR="91440" marT="45720" marB="45720"/>
                </a:tc>
                <a:tc>
                  <a:txBody>
                    <a:bodyPr/>
                    <a:lstStyle/>
                    <a:p>
                      <a:r>
                        <a:t>Operating model</a:t>
                      </a:r>
                    </a:p>
                  </a:txBody>
                  <a:tcPr marL="91440" marR="91440" marT="45720" marB="45720"/>
                </a:tc>
              </a:tr>
              <a:tr h="538843">
                <a:tc>
                  <a:txBody>
                    <a:bodyPr/>
                    <a:lstStyle/>
                    <a:p>
                      <a:r>
                        <a:t>Control / runtime</a:t>
                      </a:r>
                    </a:p>
                  </a:txBody>
                  <a:tcPr marL="91440" marR="91440" marT="45720" marB="45720"/>
                </a:tc>
                <a:tc>
                  <a:txBody>
                    <a:bodyPr/>
                    <a:lstStyle/>
                    <a:p>
                      <a:r>
                        <a:t>Hybrid CP / DP</a:t>
                      </a:r>
                    </a:p>
                  </a:txBody>
                  <a:tcPr marL="91440" marR="91440" marT="45720" marB="45720"/>
                </a:tc>
                <a:tc>
                  <a:txBody>
                    <a:bodyPr/>
                    <a:lstStyle/>
                    <a:p>
                      <a:r>
                        <a:t>Google mgmt + K8s runtime</a:t>
                      </a:r>
                    </a:p>
                  </a:txBody>
                  <a:tcPr marL="91440" marR="91440" marT="45720" marB="45720"/>
                </a:tc>
                <a:tc>
                  <a:txBody>
                    <a:bodyPr/>
                    <a:lstStyle/>
                    <a:p>
                      <a:r>
                        <a:t>Managed or self-managed gateway</a:t>
                      </a:r>
                    </a:p>
                  </a:txBody>
                  <a:tcPr marL="91440" marR="91440" marT="45720" marB="45720"/>
                </a:tc>
                <a:tc>
                  <a:txBody>
                    <a:bodyPr/>
                    <a:lstStyle/>
                    <a:p>
                      <a:r>
                        <a:t>Custody + duty</a:t>
                      </a:r>
                    </a:p>
                  </a:txBody>
                  <a:tcPr marL="91440" marR="91440" marT="45720" marB="45720"/>
                </a:tc>
              </a:tr>
              <a:tr h="538843">
                <a:tc>
                  <a:txBody>
                    <a:bodyPr/>
                    <a:lstStyle/>
                    <a:p>
                      <a:r>
                        <a:t>Kubernetes / GitOps</a:t>
                      </a:r>
                    </a:p>
                  </a:txBody>
                  <a:tcPr marL="91440" marR="91440" marT="45720" marB="45720"/>
                </a:tc>
                <a:tc>
                  <a:txBody>
                    <a:bodyPr/>
                    <a:lstStyle/>
                    <a:p>
                      <a:r>
                        <a:t>Supplied: Excellent</a:t>
                      </a:r>
                    </a:p>
                  </a:txBody>
                  <a:tcPr marL="91440" marR="91440" marT="45720" marB="45720"/>
                </a:tc>
                <a:tc>
                  <a:txBody>
                    <a:bodyPr/>
                    <a:lstStyle/>
                    <a:p>
                      <a:r>
                        <a:t>Hybrid runtime / tools</a:t>
                      </a:r>
                    </a:p>
                  </a:txBody>
                  <a:tcPr marL="91440" marR="91440" marT="45720" marB="45720"/>
                </a:tc>
                <a:tc>
                  <a:txBody>
                    <a:bodyPr/>
                    <a:lstStyle/>
                    <a:p>
                      <a:r>
                        <a:t>Supplied: Good / Moderate</a:t>
                      </a:r>
                    </a:p>
                  </a:txBody>
                  <a:tcPr marL="91440" marR="91440" marT="45720" marB="45720"/>
                </a:tc>
                <a:tc>
                  <a:txBody>
                    <a:bodyPr/>
                    <a:lstStyle/>
                    <a:p>
                      <a:r>
                        <a:t>Versioned delivery proof</a:t>
                      </a:r>
                    </a:p>
                  </a:txBody>
                  <a:tcPr marL="91440" marR="91440" marT="45720" marB="45720"/>
                </a:tc>
              </a:tr>
              <a:tr h="538843">
                <a:tc>
                  <a:txBody>
                    <a:bodyPr/>
                    <a:lstStyle/>
                    <a:p>
                      <a:r>
                        <a:t>Observability</a:t>
                      </a:r>
                    </a:p>
                  </a:txBody>
                  <a:tcPr marL="91440" marR="91440" marT="45720" marB="45720"/>
                </a:tc>
                <a:tc>
                  <a:txBody>
                    <a:bodyPr/>
                    <a:lstStyle/>
                    <a:p>
                      <a:r>
                        <a:t>OTel / Prometheus</a:t>
                      </a:r>
                    </a:p>
                  </a:txBody>
                  <a:tcPr marL="91440" marR="91440" marT="45720" marB="45720"/>
                </a:tc>
                <a:tc>
                  <a:txBody>
                    <a:bodyPr/>
                    <a:lstStyle/>
                    <a:p>
                      <a:r>
                        <a:t>Analytics + monitoring</a:t>
                      </a:r>
                    </a:p>
                  </a:txBody>
                  <a:tcPr marL="91440" marR="91440" marT="45720" marB="45720"/>
                </a:tc>
                <a:tc>
                  <a:txBody>
                    <a:bodyPr/>
                    <a:lstStyle/>
                    <a:p>
                      <a:r>
                        <a:t>Anypoint monitoring</a:t>
                      </a:r>
                    </a:p>
                  </a:txBody>
                  <a:tcPr marL="91440" marR="91440" marT="45720" marB="45720"/>
                </a:tc>
                <a:tc>
                  <a:txBody>
                    <a:bodyPr/>
                    <a:lstStyle/>
                    <a:p>
                      <a:r>
                        <a:t>Export + custody test</a:t>
                      </a:r>
                    </a:p>
                  </a:txBody>
                  <a:tcPr marL="91440" marR="91440" marT="45720" marB="45720"/>
                </a:tc>
              </a:tr>
              <a:tr h="538843">
                <a:tc>
                  <a:txBody>
                    <a:bodyPr/>
                    <a:lstStyle/>
                    <a:p>
                      <a:r>
                        <a:t>Multicloud</a:t>
                      </a:r>
                    </a:p>
                  </a:txBody>
                  <a:tcPr marL="91440" marR="91440" marT="45720" marB="45720"/>
                </a:tc>
                <a:tc>
                  <a:txBody>
                    <a:bodyPr/>
                    <a:lstStyle/>
                    <a:p>
                      <a:r>
                        <a:t>Supplied: Excellent</a:t>
                      </a:r>
                    </a:p>
                  </a:txBody>
                  <a:tcPr marL="91440" marR="91440" marT="45720" marB="45720"/>
                </a:tc>
                <a:tc>
                  <a:txBody>
                    <a:bodyPr/>
                    <a:lstStyle/>
                    <a:p>
                      <a:r>
                        <a:t>Hybrid runtime</a:t>
                      </a:r>
                    </a:p>
                  </a:txBody>
                  <a:tcPr marL="91440" marR="91440" marT="45720" marB="45720"/>
                </a:tc>
                <a:tc>
                  <a:txBody>
                    <a:bodyPr/>
                    <a:lstStyle/>
                    <a:p>
                      <a:r>
                        <a:t>Supplied: Good</a:t>
                      </a:r>
                    </a:p>
                  </a:txBody>
                  <a:tcPr marL="91440" marR="91440" marT="45720" marB="45720"/>
                </a:tc>
                <a:tc>
                  <a:txBody>
                    <a:bodyPr/>
                    <a:lstStyle/>
                    <a:p>
                      <a:r>
                        <a:t>Placement + sovereignty</a:t>
                      </a:r>
                    </a:p>
                  </a:txBody>
                  <a:tcPr marL="91440" marR="91440" marT="45720" marB="45720"/>
                </a:tc>
              </a:tr>
              <a:tr h="538843">
                <a:tc>
                  <a:txBody>
                    <a:bodyPr/>
                    <a:lstStyle/>
                    <a:p>
                      <a:r>
                        <a:t>Scalability / robustness</a:t>
                      </a:r>
                    </a:p>
                  </a:txBody>
                  <a:tcPr marL="91440" marR="91440" marT="45720" marB="45720"/>
                </a:tc>
                <a:tc>
                  <a:txBody>
                    <a:bodyPr/>
                    <a:lstStyle/>
                    <a:p>
                      <a:r>
                        <a:t>Not supplied</a:t>
                      </a:r>
                    </a:p>
                  </a:txBody>
                  <a:tcPr marL="91440" marR="91440" marT="45720" marB="45720"/>
                </a:tc>
                <a:tc>
                  <a:txBody>
                    <a:bodyPr/>
                    <a:lstStyle/>
                    <a:p>
                      <a:r>
                        <a:t>Not supplied</a:t>
                      </a:r>
                    </a:p>
                  </a:txBody>
                  <a:tcPr marL="91440" marR="91440" marT="45720" marB="45720"/>
                </a:tc>
                <a:tc>
                  <a:txBody>
                    <a:bodyPr/>
                    <a:lstStyle/>
                    <a:p>
                      <a:r>
                        <a:t>Not supplied</a:t>
                      </a:r>
                    </a:p>
                  </a:txBody>
                  <a:tcPr marL="91440" marR="91440" marT="45720" marB="45720"/>
                </a:tc>
                <a:tc>
                  <a:txBody>
                    <a:bodyPr/>
                    <a:lstStyle/>
                    <a:p>
                      <a:r>
                        <a:t>Load + failure + recovery</a:t>
                      </a:r>
                    </a:p>
                  </a:txBody>
                  <a:tcPr marL="91440" marR="91440" marT="45720" marB="45720"/>
                </a:tc>
              </a:tr>
            </a:tbl>
          </a:graphicData>
        </a:graphic>
      </p:graphicFrame>
    </p:spTree>
    <p:extLst>
      <p:ext uri="{BB962C8B-B14F-4D97-AF65-F5344CB8AC3E}">
        <p14:creationId xmlns:p14="http://schemas.microsoft.com/office/powerpoint/2010/main" val="1207661596"/>
      </p:ext>
    </p:extLst>
  </p:cSld>
</p:sld>
</file>

<file path=ppt/slides/slide2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3DB5640-DD75-4E1A-9EF1-E961F02473FB}"/>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ED668A-9FED-495A-9F4A-699C82936A00}"/>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E4BEA66-2546-4FDC-B88E-E39AF2E8B99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23 / APPENDIX</a:t>
            </a:r>
          </a:p>
        </p:txBody>
      </p:sp>
      <p:sp>
        <p:nvSpPr>
          <p:cNvPr id="4" name="">
            <a:extLst xmlns:a="http://schemas.openxmlformats.org/drawingml/2006/main">
              <a:ext uri="{FF2B5EF4-FFF2-40B4-BE49-F238E27FC236}">
                <a16:creationId xmlns:a16="http://schemas.microsoft.com/office/drawing/2014/main" id="{B829ED92-DD7D-4471-86ED-F9FB06281F4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i="0">
                <a:solidFill>
                  <a:srgbClr val="111111"/>
                </a:solidFill>
                <a:latin typeface="Arial"/>
                <a:ea typeface="Arial"/>
                <a:cs typeface="Arial"/>
              </a:defRPr>
            </a:pPr>
            <a:r>
              <a:rPr sz="3150" b="1" i="0">
                <a:solidFill>
                  <a:srgbClr val="111111"/>
                </a:solidFill>
                <a:latin typeface="Arial"/>
                <a:ea typeface="Arial"/>
                <a:cs typeface="Arial"/>
              </a:rPr>
              <a:t>Comparison input — management, AI and security traceability</a:t>
            </a:r>
          </a:p>
        </p:txBody>
      </p:sp>
      <p:sp>
        <p:nvSpPr>
          <p:cNvPr id="5" name="">
            <a:extLst xmlns:a="http://schemas.openxmlformats.org/drawingml/2006/main">
              <a:ext uri="{FF2B5EF4-FFF2-40B4-BE49-F238E27FC236}">
                <a16:creationId xmlns:a16="http://schemas.microsoft.com/office/drawing/2014/main" id="{D6EB387B-FFF0-4D2D-97A2-9498382110A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Traceable is a documented third-party path—not proven Kong 3.14 production fit.</a:t>
            </a:r>
          </a:p>
        </p:txBody>
      </p:sp>
      <p:sp>
        <p:nvSpPr>
          <p:cNvPr id="6" name="">
            <a:extLst xmlns:a="http://schemas.openxmlformats.org/drawingml/2006/main">
              <a:ext uri="{FF2B5EF4-FFF2-40B4-BE49-F238E27FC236}">
                <a16:creationId xmlns:a16="http://schemas.microsoft.com/office/drawing/2014/main" id="{0E4D178F-15A3-4510-982D-F44A3686EE80}"/>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8C1CF90-644D-4235-9B8B-5EA3A3639309}"/>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b42ccb04d4174c75"/>
              </a:rPr>
              <a:t>Repo reference</a:t>
            </a:r>
            <a:r>
              <a:rPr sz="825">
                <a:solidFill>
                  <a:srgbClr val="666762"/>
                </a:solidFill>
              </a:rPr>
              <a:t>  ·  </a:t>
            </a:r>
            <a:r>
              <a:rPr sz="825" u="sng">
                <a:solidFill>
                  <a:srgbClr val="666762"/>
                </a:solidFill>
                <a:hlinkClick xmlns:r="http://schemas.openxmlformats.org/officeDocument/2006/relationships" r:id="R5bf9243421164134"/>
              </a:rPr>
              <a:t>Official docs</a:t>
            </a:r>
          </a:p>
        </p:txBody>
      </p:sp>
      <p:sp>
        <p:nvSpPr>
          <p:cNvPr id="8" name="">
            <a:extLst xmlns:a="http://schemas.openxmlformats.org/drawingml/2006/main">
              <a:ext uri="{FF2B5EF4-FFF2-40B4-BE49-F238E27FC236}">
                <a16:creationId xmlns:a16="http://schemas.microsoft.com/office/drawing/2014/main" id="{842C8E08-6D8B-4C92-8093-0DAB8FA22C7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23 / 25</a:t>
            </a:r>
          </a:p>
        </p:txBody>
      </p:sp>
      <p:graphicFrame>
        <p:nvGraphicFramePr>
          <p:cNvPr id="20" name=""/>
          <p:cNvGraphicFramePr/>
          <p:nvPr/>
        </p:nvGraphicFramePr>
        <p:xfrm>
          <a:off xmlns:a="http://schemas.openxmlformats.org/drawingml/2006/main" x="609600" y="2057400"/>
          <a:ext xmlns:a="http://schemas.openxmlformats.org/drawingml/2006/main" cx="10972800" cy="3771900"/>
        </p:xfrm>
        <a:graphic xmlns:a="http://schemas.openxmlformats.org/drawingml/2006/main">
          <a:graphicData uri="http://schemas.openxmlformats.org/drawingml/2006/table">
            <a:tbl>
              <a:tblPr/>
              <a:tblGrid>
                <a:gridCol w="1714500"/>
                <a:gridCol w="2095500"/>
                <a:gridCol w="2095500"/>
                <a:gridCol w="2095500"/>
                <a:gridCol w="2971800"/>
              </a:tblGrid>
              <a:tr h="538843">
                <a:tc>
                  <a:txBody>
                    <a:bodyPr/>
                    <a:lstStyle/>
                    <a:p>
                      <a:r>
                        <a:t>Dimension</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c>
                  <a:txBody>
                    <a:bodyPr/>
                    <a:lstStyle/>
                    <a:p>
                      <a:r>
                        <a:t>Evidence required</a:t>
                      </a:r>
                    </a:p>
                  </a:txBody>
                  <a:tcPr marL="91440" marR="91440" marT="45720" marB="45720"/>
                </a:tc>
              </a:tr>
              <a:tr h="538843">
                <a:tc>
                  <a:txBody>
                    <a:bodyPr/>
                    <a:lstStyle/>
                    <a:p>
                      <a:r>
                        <a:t>Lifecycle / governance</a:t>
                      </a:r>
                    </a:p>
                  </a:txBody>
                  <a:tcPr marL="91440" marR="91440" marT="45720" marB="45720"/>
                </a:tc>
                <a:tc>
                  <a:txBody>
                    <a:bodyPr/>
                    <a:lstStyle/>
                    <a:p>
                      <a:r>
                        <a:t>Supplied: Good</a:t>
                      </a:r>
                    </a:p>
                  </a:txBody>
                  <a:tcPr marL="91440" marR="91440" marT="45720" marB="45720"/>
                </a:tc>
                <a:tc>
                  <a:txBody>
                    <a:bodyPr/>
                    <a:lstStyle/>
                    <a:p>
                      <a:r>
                        <a:t>Supplied: Excellent</a:t>
                      </a:r>
                    </a:p>
                  </a:txBody>
                  <a:tcPr marL="91440" marR="91440" marT="45720" marB="45720"/>
                </a:tc>
                <a:tc>
                  <a:txBody>
                    <a:bodyPr/>
                    <a:lstStyle/>
                    <a:p>
                      <a:r>
                        <a:t>Supplied: Excellent</a:t>
                      </a:r>
                    </a:p>
                  </a:txBody>
                  <a:tcPr marL="91440" marR="91440" marT="45720" marB="45720"/>
                </a:tc>
                <a:tc>
                  <a:txBody>
                    <a:bodyPr/>
                    <a:lstStyle/>
                    <a:p>
                      <a:r>
                        <a:t>Required product use cases</a:t>
                      </a:r>
                    </a:p>
                  </a:txBody>
                  <a:tcPr marL="91440" marR="91440" marT="45720" marB="45720"/>
                </a:tc>
              </a:tr>
              <a:tr h="538843">
                <a:tc>
                  <a:txBody>
                    <a:bodyPr/>
                    <a:lstStyle/>
                    <a:p>
                      <a:r>
                        <a:t>Portal / product</a:t>
                      </a:r>
                    </a:p>
                  </a:txBody>
                  <a:tcPr marL="91440" marR="91440" marT="45720" marB="45720"/>
                </a:tc>
                <a:tc>
                  <a:txBody>
                    <a:bodyPr/>
                    <a:lstStyle/>
                    <a:p>
                      <a:r>
                        <a:t>Supplied: Good</a:t>
                      </a:r>
                    </a:p>
                  </a:txBody>
                  <a:tcPr marL="91440" marR="91440" marT="45720" marB="45720"/>
                </a:tc>
                <a:tc>
                  <a:txBody>
                    <a:bodyPr/>
                    <a:lstStyle/>
                    <a:p>
                      <a:r>
                        <a:t>Supplied: Excellent</a:t>
                      </a:r>
                    </a:p>
                  </a:txBody>
                  <a:tcPr marL="91440" marR="91440" marT="45720" marB="45720"/>
                </a:tc>
                <a:tc>
                  <a:txBody>
                    <a:bodyPr/>
                    <a:lstStyle/>
                    <a:p>
                      <a:r>
                        <a:t>Supplied: Excellent</a:t>
                      </a:r>
                    </a:p>
                  </a:txBody>
                  <a:tcPr marL="91440" marR="91440" marT="45720" marB="45720"/>
                </a:tc>
                <a:tc>
                  <a:txBody>
                    <a:bodyPr/>
                    <a:lstStyle/>
                    <a:p>
                      <a:r>
                        <a:t>Adjacent tooling map</a:t>
                      </a:r>
                    </a:p>
                  </a:txBody>
                  <a:tcPr marL="91440" marR="91440" marT="45720" marB="45720"/>
                </a:tc>
              </a:tr>
              <a:tr h="538843">
                <a:tc>
                  <a:txBody>
                    <a:bodyPr/>
                    <a:lstStyle/>
                    <a:p>
                      <a:r>
                        <a:t>Developer experience</a:t>
                      </a:r>
                    </a:p>
                  </a:txBody>
                  <a:tcPr marL="91440" marR="91440" marT="45720" marB="45720"/>
                </a:tc>
                <a:tc>
                  <a:txBody>
                    <a:bodyPr/>
                    <a:lstStyle/>
                    <a:p>
                      <a:r>
                        <a:t>Supplied: Good</a:t>
                      </a:r>
                    </a:p>
                  </a:txBody>
                  <a:tcPr marL="91440" marR="91440" marT="45720" marB="45720"/>
                </a:tc>
                <a:tc>
                  <a:txBody>
                    <a:bodyPr/>
                    <a:lstStyle/>
                    <a:p>
                      <a:r>
                        <a:t>Supplied: Very Strong</a:t>
                      </a:r>
                    </a:p>
                  </a:txBody>
                  <a:tcPr marL="91440" marR="91440" marT="45720" marB="45720"/>
                </a:tc>
                <a:tc>
                  <a:txBody>
                    <a:bodyPr/>
                    <a:lstStyle/>
                    <a:p>
                      <a:r>
                        <a:t>Supplied: Very Strong</a:t>
                      </a:r>
                    </a:p>
                  </a:txBody>
                  <a:tcPr marL="91440" marR="91440" marT="45720" marB="45720"/>
                </a:tc>
                <a:tc>
                  <a:txBody>
                    <a:bodyPr/>
                    <a:lstStyle/>
                    <a:p>
                      <a:r>
                        <a:t>Paved-road usability</a:t>
                      </a:r>
                    </a:p>
                  </a:txBody>
                  <a:tcPr marL="91440" marR="91440" marT="45720" marB="45720"/>
                </a:tc>
              </a:tr>
              <a:tr h="538843">
                <a:tc>
                  <a:txBody>
                    <a:bodyPr/>
                    <a:lstStyle/>
                    <a:p>
                      <a:r>
                        <a:t>AI traffic</a:t>
                      </a:r>
                    </a:p>
                  </a:txBody>
                  <a:tcPr marL="91440" marR="91440" marT="45720" marB="45720"/>
                </a:tc>
                <a:tc>
                  <a:txBody>
                    <a:bodyPr/>
                    <a:lstStyle/>
                    <a:p>
                      <a:r>
                        <a:t>AI Gateway incl. MCP/A2A</a:t>
                      </a:r>
                    </a:p>
                  </a:txBody>
                  <a:tcPr marL="91440" marR="91440" marT="45720" marB="45720"/>
                </a:tc>
                <a:tc>
                  <a:txBody>
                    <a:bodyPr/>
                    <a:lstStyle/>
                    <a:p>
                      <a:r>
                        <a:t>AI policy / GenAI features</a:t>
                      </a:r>
                    </a:p>
                  </a:txBody>
                  <a:tcPr marL="91440" marR="91440" marT="45720" marB="45720"/>
                </a:tc>
                <a:tc>
                  <a:txBody>
                    <a:bodyPr/>
                    <a:lstStyle/>
                    <a:p>
                      <a:r>
                        <a:t>MCP/A2A gateway traffic</a:t>
                      </a:r>
                    </a:p>
                  </a:txBody>
                  <a:tcPr marL="91440" marR="91440" marT="45720" marB="45720"/>
                </a:tc>
                <a:tc>
                  <a:txBody>
                    <a:bodyPr/>
                    <a:lstStyle/>
                    <a:p>
                      <a:r>
                        <a:t>Versioned use case</a:t>
                      </a:r>
                    </a:p>
                  </a:txBody>
                  <a:tcPr marL="91440" marR="91440" marT="45720" marB="45720"/>
                </a:tc>
              </a:tr>
              <a:tr h="538843">
                <a:tc>
                  <a:txBody>
                    <a:bodyPr/>
                    <a:lstStyle/>
                    <a:p>
                      <a:r>
                        <a:t>Customization</a:t>
                      </a:r>
                    </a:p>
                  </a:txBody>
                  <a:tcPr marL="91440" marR="91440" marT="45720" marB="45720"/>
                </a:tc>
                <a:tc>
                  <a:txBody>
                    <a:bodyPr/>
                    <a:lstStyle/>
                    <a:p>
                      <a:r>
                        <a:t>Plugin framework</a:t>
                      </a:r>
                    </a:p>
                  </a:txBody>
                  <a:tcPr marL="91440" marR="91440" marT="45720" marB="45720"/>
                </a:tc>
                <a:tc>
                  <a:txBody>
                    <a:bodyPr/>
                    <a:lstStyle/>
                    <a:p>
                      <a:r>
                        <a:t>Policy framework</a:t>
                      </a:r>
                    </a:p>
                  </a:txBody>
                  <a:tcPr marL="91440" marR="91440" marT="45720" marB="45720"/>
                </a:tc>
                <a:tc>
                  <a:txBody>
                    <a:bodyPr/>
                    <a:lstStyle/>
                    <a:p>
                      <a:r>
                        <a:t>Supplied: Moderate</a:t>
                      </a:r>
                    </a:p>
                  </a:txBody>
                  <a:tcPr marL="91440" marR="91440" marT="45720" marB="45720"/>
                </a:tc>
                <a:tc>
                  <a:txBody>
                    <a:bodyPr/>
                    <a:lstStyle/>
                    <a:p>
                      <a:r>
                        <a:t>Support + upgrade path</a:t>
                      </a:r>
                    </a:p>
                  </a:txBody>
                  <a:tcPr marL="91440" marR="91440" marT="45720" marB="45720"/>
                </a:tc>
              </a:tr>
              <a:tr h="538843">
                <a:tc>
                  <a:txBody>
                    <a:bodyPr/>
                    <a:lstStyle/>
                    <a:p>
                      <a:r>
                        <a:t>Traceable adjunct</a:t>
                      </a:r>
                    </a:p>
                  </a:txBody>
                  <a:tcPr marL="91440" marR="91440" marT="45720" marB="45720"/>
                </a:tc>
                <a:tc>
                  <a:txBody>
                    <a:bodyPr/>
                    <a:lstStyle/>
                    <a:p>
                      <a:r>
                        <a:t>Plugin → Platform Agent</a:t>
                      </a:r>
                    </a:p>
                  </a:txBody>
                  <a:tcPr marL="91440" marR="91440" marT="45720" marB="45720"/>
                </a:tc>
                <a:tc>
                  <a:txBody>
                    <a:bodyPr/>
                    <a:lstStyle/>
                    <a:p>
                      <a:r>
                        <a:t>Not assessed</a:t>
                      </a:r>
                    </a:p>
                  </a:txBody>
                  <a:tcPr marL="91440" marR="91440" marT="45720" marB="45720"/>
                </a:tc>
                <a:tc>
                  <a:txBody>
                    <a:bodyPr/>
                    <a:lstStyle/>
                    <a:p>
                      <a:r>
                        <a:t>Custom-policy baseline</a:t>
                      </a:r>
                    </a:p>
                  </a:txBody>
                  <a:tcPr marL="91440" marR="91440" marT="45720" marB="45720"/>
                </a:tc>
                <a:tc>
                  <a:txBody>
                    <a:bodyPr/>
                    <a:lstStyle/>
                    <a:p>
                      <a:r>
                        <a:t>Run GEP-07; do not score</a:t>
                      </a:r>
                    </a:p>
                  </a:txBody>
                  <a:tcPr marL="91440" marR="91440" marT="45720" marB="45720"/>
                </a:tc>
              </a:tr>
            </a:tbl>
          </a:graphicData>
        </a:graphic>
      </p:graphicFrame>
    </p:spTree>
    <p:extLst>
      <p:ext uri="{BB962C8B-B14F-4D97-AF65-F5344CB8AC3E}">
        <p14:creationId xmlns:p14="http://schemas.microsoft.com/office/powerpoint/2010/main" val="610487465"/>
      </p:ext>
    </p:extLst>
  </p:cSld>
</p:sld>
</file>

<file path=ppt/slides/slide2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BB8278-363F-426E-A77F-6CDE3FC7CBA0}"/>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BFE34A-A2A2-4E4B-AA48-329DDEF31E96}"/>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8742105-CC8F-412C-BDE6-F6530E4C435D}"/>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24 / APPENDIX</a:t>
            </a:r>
          </a:p>
        </p:txBody>
      </p:sp>
      <p:sp>
        <p:nvSpPr>
          <p:cNvPr id="4" name="">
            <a:extLst xmlns:a="http://schemas.openxmlformats.org/drawingml/2006/main">
              <a:ext uri="{FF2B5EF4-FFF2-40B4-BE49-F238E27FC236}">
                <a16:creationId xmlns:a16="http://schemas.microsoft.com/office/drawing/2014/main" id="{DE0D2739-FF2B-4CEF-9CE9-5022F288662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i="0">
                <a:solidFill>
                  <a:srgbClr val="111111"/>
                </a:solidFill>
                <a:latin typeface="Arial"/>
                <a:ea typeface="Arial"/>
                <a:cs typeface="Arial"/>
              </a:defRPr>
            </a:pPr>
            <a:r>
              <a:rPr sz="3000" b="1" i="0">
                <a:solidFill>
                  <a:srgbClr val="111111"/>
                </a:solidFill>
                <a:latin typeface="Arial"/>
                <a:ea typeface="Arial"/>
                <a:cs typeface="Arial"/>
              </a:rPr>
              <a:t>Comparison input — pricing, lock-in and operating duty</a:t>
            </a:r>
          </a:p>
        </p:txBody>
      </p:sp>
      <p:sp>
        <p:nvSpPr>
          <p:cNvPr id="5" name="">
            <a:extLst xmlns:a="http://schemas.openxmlformats.org/drawingml/2006/main">
              <a:ext uri="{FF2B5EF4-FFF2-40B4-BE49-F238E27FC236}">
                <a16:creationId xmlns:a16="http://schemas.microsoft.com/office/drawing/2014/main" id="{DFA915ED-D129-4625-8989-C59E78590202}"/>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Normalize exact meters, full operating cost, reversibility and control duty—do not rank from public pages.</a:t>
            </a:r>
          </a:p>
        </p:txBody>
      </p:sp>
      <p:sp>
        <p:nvSpPr>
          <p:cNvPr id="6" name="">
            <a:extLst xmlns:a="http://schemas.openxmlformats.org/drawingml/2006/main">
              <a:ext uri="{FF2B5EF4-FFF2-40B4-BE49-F238E27FC236}">
                <a16:creationId xmlns:a16="http://schemas.microsoft.com/office/drawing/2014/main" id="{A010B7EB-A56C-4E5B-9B02-92204A288DD5}"/>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BE67E3B-0B35-4876-A6EA-1D8102E84BFF}"/>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698e43ea352f4cec"/>
              </a:rPr>
              <a:t>Repo reference</a:t>
            </a:r>
            <a:r>
              <a:rPr sz="825">
                <a:solidFill>
                  <a:srgbClr val="666762"/>
                </a:solidFill>
              </a:rPr>
              <a:t>  ·  </a:t>
            </a:r>
            <a:r>
              <a:rPr sz="825" u="sng">
                <a:solidFill>
                  <a:srgbClr val="666762"/>
                </a:solidFill>
                <a:hlinkClick xmlns:r="http://schemas.openxmlformats.org/officeDocument/2006/relationships" r:id="Rd64158f14a5a48af"/>
              </a:rPr>
              <a:t>Official docs</a:t>
            </a:r>
          </a:p>
        </p:txBody>
      </p:sp>
      <p:sp>
        <p:nvSpPr>
          <p:cNvPr id="8" name="">
            <a:extLst xmlns:a="http://schemas.openxmlformats.org/drawingml/2006/main">
              <a:ext uri="{FF2B5EF4-FFF2-40B4-BE49-F238E27FC236}">
                <a16:creationId xmlns:a16="http://schemas.microsoft.com/office/drawing/2014/main" id="{9CCDA7C6-B445-41C7-AB19-5C9C07EB07B9}"/>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24 / 25</a:t>
            </a:r>
          </a:p>
        </p:txBody>
      </p:sp>
      <p:graphicFrame>
        <p:nvGraphicFramePr>
          <p:cNvPr id="22" name=""/>
          <p:cNvGraphicFramePr/>
          <p:nvPr/>
        </p:nvGraphicFramePr>
        <p:xfrm>
          <a:off xmlns:a="http://schemas.openxmlformats.org/drawingml/2006/main" x="609600" y="2057400"/>
          <a:ext xmlns:a="http://schemas.openxmlformats.org/drawingml/2006/main" cx="10972800" cy="3333750"/>
        </p:xfrm>
        <a:graphic xmlns:a="http://schemas.openxmlformats.org/drawingml/2006/main">
          <a:graphicData uri="http://schemas.openxmlformats.org/drawingml/2006/table">
            <a:tbl>
              <a:tblPr/>
              <a:tblGrid>
                <a:gridCol w="1714500"/>
                <a:gridCol w="2095500"/>
                <a:gridCol w="2095500"/>
                <a:gridCol w="2095500"/>
                <a:gridCol w="2971800"/>
              </a:tblGrid>
              <a:tr h="833438">
                <a:tc>
                  <a:txBody>
                    <a:bodyPr/>
                    <a:lstStyle/>
                    <a:p>
                      <a:r>
                        <a:rPr>
                          <a:solidFill>
                            <a:srgbClr val="111111"/>
                          </a:solidFill>
                        </a:rPr>
                        <a:t>Dimension</a:t>
                      </a:r>
                    </a:p>
                  </a:txBody>
                  <a:tcPr marL="91440" marR="91440" marT="45720" marB="45720"/>
                </a:tc>
                <a:tc>
                  <a:txBody>
                    <a:bodyPr/>
                    <a:lstStyle/>
                    <a:p>
                      <a:r>
                        <a:rPr>
                          <a:solidFill>
                            <a:srgbClr val="111111"/>
                          </a:solidFill>
                        </a:rPr>
                        <a:t>Kong</a:t>
                      </a:r>
                    </a:p>
                  </a:txBody>
                  <a:tcPr marL="91440" marR="91440" marT="45720" marB="45720"/>
                </a:tc>
                <a:tc>
                  <a:txBody>
                    <a:bodyPr/>
                    <a:lstStyle/>
                    <a:p>
                      <a:r>
                        <a:rPr>
                          <a:solidFill>
                            <a:srgbClr val="111111"/>
                          </a:solidFill>
                        </a:rPr>
                        <a:t>Apigee</a:t>
                      </a:r>
                    </a:p>
                  </a:txBody>
                  <a:tcPr marL="91440" marR="91440" marT="45720" marB="45720"/>
                </a:tc>
                <a:tc>
                  <a:txBody>
                    <a:bodyPr/>
                    <a:lstStyle/>
                    <a:p>
                      <a:r>
                        <a:rPr>
                          <a:solidFill>
                            <a:srgbClr val="111111"/>
                          </a:solidFill>
                        </a:rPr>
                        <a:t>MuleSoft</a:t>
                      </a:r>
                    </a:p>
                  </a:txBody>
                  <a:tcPr marL="91440" marR="91440" marT="45720" marB="45720"/>
                </a:tc>
                <a:tc>
                  <a:txBody>
                    <a:bodyPr/>
                    <a:lstStyle/>
                    <a:p>
                      <a:r>
                        <a:rPr>
                          <a:solidFill>
                            <a:srgbClr val="111111"/>
                          </a:solidFill>
                        </a:rPr>
                        <a:t>Evidence required</a:t>
                      </a:r>
                    </a:p>
                  </a:txBody>
                  <a:tcPr marL="91440" marR="91440" marT="45720" marB="45720"/>
                </a:tc>
              </a:tr>
              <a:tr h="833438">
                <a:tc>
                  <a:txBody>
                    <a:bodyPr/>
                    <a:lstStyle/>
                    <a:p>
                      <a:r>
                        <a:t>Reversibility / lock-in</a:t>
                      </a:r>
                    </a:p>
                  </a:txBody>
                  <a:tcPr marL="91440" marR="91440" marT="45720" marB="45720"/>
                </a:tc>
                <a:tc>
                  <a:txBody>
                    <a:bodyPr/>
                    <a:lstStyle/>
                    <a:p>
                      <a:r>
                        <a:t>Supplied: Low</a:t>
                      </a:r>
                    </a:p>
                  </a:txBody>
                  <a:tcPr marL="91440" marR="91440" marT="45720" marB="45720"/>
                </a:tc>
                <a:tc>
                  <a:txBody>
                    <a:bodyPr/>
                    <a:lstStyle/>
                    <a:p>
                      <a:r>
                        <a:t>Supplied: Medium</a:t>
                      </a:r>
                    </a:p>
                  </a:txBody>
                  <a:tcPr marL="91440" marR="91440" marT="45720" marB="45720"/>
                </a:tc>
                <a:tc>
                  <a:txBody>
                    <a:bodyPr/>
                    <a:lstStyle/>
                    <a:p>
                      <a:r>
                        <a:t>Supplied: High</a:t>
                      </a:r>
                    </a:p>
                  </a:txBody>
                  <a:tcPr marL="91440" marR="91440" marT="45720" marB="45720"/>
                </a:tc>
                <a:tc>
                  <a:txBody>
                    <a:bodyPr/>
                    <a:lstStyle/>
                    <a:p>
                      <a:r>
                        <a:t>Timed rebuild + route-back</a:t>
                      </a:r>
                    </a:p>
                  </a:txBody>
                  <a:tcPr marL="91440" marR="91440" marT="45720" marB="45720"/>
                </a:tc>
              </a:tr>
              <a:tr h="833438">
                <a:tc>
                  <a:txBody>
                    <a:bodyPr/>
                    <a:lstStyle/>
                    <a:p>
                      <a:r>
                        <a:t>Full TCO / pricing</a:t>
                      </a:r>
                    </a:p>
                  </a:txBody>
                  <a:tcPr marL="91440" marR="91440" marT="45720" marB="45720"/>
                </a:tc>
                <a:tc>
                  <a:txBody>
                    <a:bodyPr/>
                    <a:lstStyle/>
                    <a:p>
                      <a:r>
                        <a:t>Custom quote</a:t>
                      </a:r>
                    </a:p>
                  </a:txBody>
                  <a:tcPr marL="91440" marR="91440" marT="45720" marB="45720"/>
                </a:tc>
                <a:tc>
                  <a:txBody>
                    <a:bodyPr/>
                    <a:lstStyle/>
                    <a:p>
                      <a:r>
                        <a:t>Managed PAYG ≠ Hybrid</a:t>
                      </a:r>
                    </a:p>
                  </a:txBody>
                  <a:tcPr marL="91440" marR="91440" marT="45720" marB="45720"/>
                </a:tc>
                <a:tc>
                  <a:txBody>
                    <a:bodyPr/>
                    <a:lstStyle/>
                    <a:p>
                      <a:r>
                        <a:t>Contact sales</a:t>
                      </a:r>
                    </a:p>
                  </a:txBody>
                  <a:tcPr marL="91440" marR="91440" marT="45720" marB="45720"/>
                </a:tc>
                <a:tc>
                  <a:txBody>
                    <a:bodyPr/>
                    <a:lstStyle/>
                    <a:p>
                      <a:r>
                        <a:t>Quote + labor + infra + HA/DR + adjunct + exit</a:t>
                      </a:r>
                    </a:p>
                  </a:txBody>
                  <a:tcPr marL="91440" marR="91440" marT="45720" marB="45720"/>
                </a:tc>
              </a:tr>
              <a:tr h="833438">
                <a:tc>
                  <a:txBody>
                    <a:bodyPr/>
                    <a:lstStyle/>
                    <a:p>
                      <a:r>
                        <a:t>Control-plane duty</a:t>
                      </a:r>
                    </a:p>
                  </a:txBody>
                  <a:tcPr marL="91440" marR="91440" marT="45720" marB="45720"/>
                </a:tc>
                <a:tc>
                  <a:txBody>
                    <a:bodyPr/>
                    <a:lstStyle/>
                    <a:p>
                      <a:r>
                        <a:t>Enterprise CP + Postgres</a:t>
                      </a:r>
                    </a:p>
                  </a:txBody>
                  <a:tcPr marL="91440" marR="91440" marT="45720" marB="45720"/>
                </a:tc>
                <a:tc>
                  <a:txBody>
                    <a:bodyPr/>
                    <a:lstStyle/>
                    <a:p>
                      <a:r>
                        <a:t>Google mgmt + own runtime</a:t>
                      </a:r>
                    </a:p>
                  </a:txBody>
                  <a:tcPr marL="91440" marR="91440" marT="45720" marB="45720"/>
                </a:tc>
                <a:tc>
                  <a:txBody>
                    <a:bodyPr/>
                    <a:lstStyle/>
                    <a:p>
                      <a:r>
                        <a:t>Boundary-dependent</a:t>
                      </a:r>
                    </a:p>
                  </a:txBody>
                  <a:tcPr marL="91440" marR="91440" marT="45720" marB="45720"/>
                </a:tc>
                <a:tc>
                  <a:txBody>
                    <a:bodyPr/>
                    <a:lstStyle/>
                    <a:p>
                      <a:r>
                        <a:t>Funded RACI + support + recovery + on-call</a:t>
                      </a:r>
                    </a:p>
                  </a:txBody>
                  <a:tcPr marL="91440" marR="91440" marT="45720" marB="45720"/>
                </a:tc>
              </a:tr>
            </a:tbl>
          </a:graphicData>
        </a:graphic>
      </p:graphicFrame>
      <p:sp>
        <p:nvSpPr>
          <p:cNvPr id="10" name="">
            <a:extLst xmlns:a="http://schemas.openxmlformats.org/drawingml/2006/main">
              <a:ext uri="{FF2B5EF4-FFF2-40B4-BE49-F238E27FC236}">
                <a16:creationId xmlns:a16="http://schemas.microsoft.com/office/drawing/2014/main" id="{7AEA6238-AA59-4924-B711-5CB8EA6EFC02}"/>
              </a:ext>
            </a:extLst>
          </p:cNvPr>
          <p:cNvSpPr>
            <a:spLocks xmlns:a="http://schemas.openxmlformats.org/drawingml/2006/main" noGrp="1"/>
          </p:cNvSpPr>
          <p:nvPr/>
        </p:nvSpPr>
        <p:spPr>
          <a:xfrm xmlns:a="http://schemas.openxmlformats.org/drawingml/2006/main">
            <a:off x="1524000" y="5895975"/>
            <a:ext cx="9144000" cy="3238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AC469BF-A811-4422-8C07-2B139118F75D}"/>
              </a:ext>
            </a:extLst>
          </p:cNvPr>
          <p:cNvSpPr>
            <a:spLocks xmlns:a="http://schemas.openxmlformats.org/drawingml/2006/main" noGrp="1"/>
          </p:cNvSpPr>
          <p:nvPr/>
        </p:nvSpPr>
        <p:spPr>
          <a:xfrm xmlns:a="http://schemas.openxmlformats.org/drawingml/2006/main">
            <a:off x="1657350" y="5953125"/>
            <a:ext cx="887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No price, lock-in or control-duty claim is decision-grade until equivalent evidence exists.</a:t>
            </a:r>
          </a:p>
        </p:txBody>
      </p:sp>
    </p:spTree>
    <p:extLst>
      <p:ext uri="{BB962C8B-B14F-4D97-AF65-F5344CB8AC3E}">
        <p14:creationId xmlns:p14="http://schemas.microsoft.com/office/powerpoint/2010/main" val="586880642"/>
      </p:ext>
    </p:extLst>
  </p:cSld>
</p:sld>
</file>

<file path=ppt/slides/slide2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3482B3E-C708-4C67-A6C1-0FCDDF84056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5B6C093-89B5-4C74-9AC8-5DE5FE71FD73}"/>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483005A-BA9C-4F6A-B142-930E9CE19B3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25 / APPENDIX</a:t>
            </a:r>
          </a:p>
        </p:txBody>
      </p:sp>
      <p:sp>
        <p:nvSpPr>
          <p:cNvPr id="4" name="">
            <a:extLst xmlns:a="http://schemas.openxmlformats.org/drawingml/2006/main">
              <a:ext uri="{FF2B5EF4-FFF2-40B4-BE49-F238E27FC236}">
                <a16:creationId xmlns:a16="http://schemas.microsoft.com/office/drawing/2014/main" id="{1E752009-6BE1-4D0F-A0C4-8CE4FAC4BEB5}"/>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i="0">
                <a:solidFill>
                  <a:srgbClr val="111111"/>
                </a:solidFill>
                <a:latin typeface="Arial"/>
                <a:ea typeface="Arial"/>
                <a:cs typeface="Arial"/>
              </a:defRPr>
            </a:pPr>
            <a:r>
              <a:rPr sz="3150" b="1" i="0">
                <a:solidFill>
                  <a:srgbClr val="111111"/>
                </a:solidFill>
                <a:latin typeface="Arial"/>
                <a:ea typeface="Arial"/>
                <a:cs typeface="Arial"/>
              </a:rPr>
              <a:t>Historical score audit; governed re-score pending</a:t>
            </a:r>
          </a:p>
        </p:txBody>
      </p:sp>
      <p:sp>
        <p:nvSpPr>
          <p:cNvPr id="5" name="">
            <a:extLst xmlns:a="http://schemas.openxmlformats.org/drawingml/2006/main">
              <a:ext uri="{FF2B5EF4-FFF2-40B4-BE49-F238E27FC236}">
                <a16:creationId xmlns:a16="http://schemas.microsoft.com/office/drawing/2014/main" id="{FC467C8B-6BD0-4EFF-BA32-DD4460F0405E}"/>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The original eight rows remain historical input; six added dimensions still have TBD weights and ratings.</a:t>
            </a:r>
          </a:p>
        </p:txBody>
      </p:sp>
      <p:sp>
        <p:nvSpPr>
          <p:cNvPr id="6" name="">
            <a:extLst xmlns:a="http://schemas.openxmlformats.org/drawingml/2006/main">
              <a:ext uri="{FF2B5EF4-FFF2-40B4-BE49-F238E27FC236}">
                <a16:creationId xmlns:a16="http://schemas.microsoft.com/office/drawing/2014/main" id="{460D1FEE-EC8B-441D-A5EF-0B5BAE3A61AB}"/>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E7A2196-6277-4529-8051-69984BA32A3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f7d71e730c90463c"/>
              </a:rPr>
              <a:t>Repo reference</a:t>
            </a:r>
            <a:r>
              <a:rPr sz="825">
                <a:solidFill>
                  <a:srgbClr val="666762"/>
                </a:solidFill>
              </a:rPr>
              <a:t>  ·  </a:t>
            </a:r>
            <a:r>
              <a:rPr sz="825" u="sng">
                <a:solidFill>
                  <a:srgbClr val="666762"/>
                </a:solidFill>
                <a:hlinkClick xmlns:r="http://schemas.openxmlformats.org/officeDocument/2006/relationships" r:id="R97ddcb1bf39042cd"/>
              </a:rPr>
              <a:t>Official docs</a:t>
            </a:r>
          </a:p>
        </p:txBody>
      </p:sp>
      <p:sp>
        <p:nvSpPr>
          <p:cNvPr id="8" name="">
            <a:extLst xmlns:a="http://schemas.openxmlformats.org/drawingml/2006/main">
              <a:ext uri="{FF2B5EF4-FFF2-40B4-BE49-F238E27FC236}">
                <a16:creationId xmlns:a16="http://schemas.microsoft.com/office/drawing/2014/main" id="{4C64BC4D-3899-4EF8-86D8-FA80A3481B93}"/>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25 / 25</a:t>
            </a:r>
          </a:p>
        </p:txBody>
      </p:sp>
      <p:graphicFrame>
        <p:nvGraphicFramePr>
          <p:cNvPr id="30" name=""/>
          <p:cNvGraphicFramePr/>
          <p:nvPr/>
        </p:nvGraphicFramePr>
        <p:xfrm>
          <a:off xmlns:a="http://schemas.openxmlformats.org/drawingml/2006/main" x="609600" y="2076450"/>
          <a:ext xmlns:a="http://schemas.openxmlformats.org/drawingml/2006/main" cx="6858000" cy="4095750"/>
        </p:xfrm>
        <a:graphic xmlns:a="http://schemas.openxmlformats.org/drawingml/2006/main">
          <a:graphicData uri="http://schemas.openxmlformats.org/drawingml/2006/table">
            <a:tbl>
              <a:tblPr/>
              <a:tblGrid>
                <a:gridCol w="2762250"/>
                <a:gridCol w="1000125"/>
                <a:gridCol w="952500"/>
                <a:gridCol w="1000125"/>
                <a:gridCol w="1143000"/>
              </a:tblGrid>
              <a:tr h="409575">
                <a:tc>
                  <a:txBody>
                    <a:bodyPr/>
                    <a:lstStyle/>
                    <a:p>
                      <a:r>
                        <a:t>Category</a:t>
                      </a:r>
                    </a:p>
                  </a:txBody>
                  <a:tcPr marL="91440" marR="91440" marT="45720" marB="45720"/>
                </a:tc>
                <a:tc>
                  <a:txBody>
                    <a:bodyPr/>
                    <a:lstStyle/>
                    <a:p>
                      <a:r>
                        <a:t>Weight</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r>
              <a:tr h="409575">
                <a:tc>
                  <a:txBody>
                    <a:bodyPr/>
                    <a:lstStyle/>
                    <a:p>
                      <a:r>
                        <a:t>Kubernetes &amp; cloud native</a:t>
                      </a:r>
                    </a:p>
                  </a:txBody>
                  <a:tcPr marL="91440" marR="91440" marT="45720" marB="45720"/>
                </a:tc>
                <a:tc>
                  <a:txBody>
                    <a:bodyPr/>
                    <a:lstStyle/>
                    <a:p>
                      <a:r>
                        <a:t>20%</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7</a:t>
                      </a:r>
                    </a:p>
                  </a:txBody>
                  <a:tcPr marL="91440" marR="91440" marT="45720" marB="45720"/>
                </a:tc>
              </a:tr>
              <a:tr h="409575">
                <a:tc>
                  <a:txBody>
                    <a:bodyPr/>
                    <a:lstStyle/>
                    <a:p>
                      <a:r>
                        <a:t>GitOps &amp; DevOps</a:t>
                      </a:r>
                    </a:p>
                  </a:txBody>
                  <a:tcPr marL="91440" marR="91440" marT="45720" marB="45720"/>
                </a:tc>
                <a:tc>
                  <a:txBody>
                    <a:bodyPr/>
                    <a:lstStyle/>
                    <a:p>
                      <a:r>
                        <a:t>15%</a:t>
                      </a:r>
                    </a:p>
                  </a:txBody>
                  <a:tcPr marL="91440" marR="91440" marT="45720" marB="45720"/>
                </a:tc>
                <a:tc>
                  <a:txBody>
                    <a:bodyPr/>
                    <a:lstStyle/>
                    <a:p>
                      <a:r>
                        <a:t>10</a:t>
                      </a:r>
                    </a:p>
                  </a:txBody>
                  <a:tcPr marL="91440" marR="91440" marT="45720" marB="45720"/>
                </a:tc>
                <a:tc>
                  <a:txBody>
                    <a:bodyPr/>
                    <a:lstStyle/>
                    <a:p>
                      <a:r>
                        <a:t>7</a:t>
                      </a:r>
                    </a:p>
                  </a:txBody>
                  <a:tcPr marL="91440" marR="91440" marT="45720" marB="45720"/>
                </a:tc>
                <a:tc>
                  <a:txBody>
                    <a:bodyPr/>
                    <a:lstStyle/>
                    <a:p>
                      <a:r>
                        <a:t>6</a:t>
                      </a:r>
                    </a:p>
                  </a:txBody>
                  <a:tcPr marL="91440" marR="91440" marT="45720" marB="45720"/>
                </a:tc>
              </a:tr>
              <a:tr h="409575">
                <a:tc>
                  <a:txBody>
                    <a:bodyPr/>
                    <a:lstStyle/>
                    <a:p>
                      <a:r>
                        <a:t>API management</a:t>
                      </a:r>
                    </a:p>
                  </a:txBody>
                  <a:tcPr marL="91440" marR="91440" marT="45720" marB="45720"/>
                </a:tc>
                <a:tc>
                  <a:txBody>
                    <a:bodyPr/>
                    <a:lstStyle/>
                    <a:p>
                      <a:r>
                        <a:t>15%</a:t>
                      </a:r>
                    </a:p>
                  </a:txBody>
                  <a:tcPr marL="91440" marR="91440" marT="45720" marB="45720"/>
                </a:tc>
                <a:tc>
                  <a:txBody>
                    <a:bodyPr/>
                    <a:lstStyle/>
                    <a:p>
                      <a:r>
                        <a:t>8</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r>
              <a:tr h="409575">
                <a:tc>
                  <a:txBody>
                    <a:bodyPr/>
                    <a:lstStyle/>
                    <a:p>
                      <a:r>
                        <a:t>API governance</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r>
              <a:tr h="409575">
                <a:tc>
                  <a:txBody>
                    <a:bodyPr/>
                    <a:lstStyle/>
                    <a:p>
                      <a:r>
                        <a:t>Security &amp; compliance</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r>
              <a:tr h="409575">
                <a:tc>
                  <a:txBody>
                    <a:bodyPr/>
                    <a:lstStyle/>
                    <a:p>
                      <a:r>
                        <a:t>Observability</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c>
                  <a:txBody>
                    <a:bodyPr/>
                    <a:lstStyle/>
                    <a:p>
                      <a:r>
                        <a:t>9</a:t>
                      </a:r>
                    </a:p>
                  </a:txBody>
                  <a:tcPr marL="91440" marR="91440" marT="45720" marB="45720"/>
                </a:tc>
                <a:tc>
                  <a:txBody>
                    <a:bodyPr/>
                    <a:lstStyle/>
                    <a:p>
                      <a:r>
                        <a:t>8</a:t>
                      </a:r>
                    </a:p>
                  </a:txBody>
                  <a:tcPr marL="91440" marR="91440" marT="45720" marB="45720"/>
                </a:tc>
              </a:tr>
              <a:tr h="409575">
                <a:tc>
                  <a:txBody>
                    <a:bodyPr/>
                    <a:lstStyle/>
                    <a:p>
                      <a:r>
                        <a:t>AI gateway readiness</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7</a:t>
                      </a:r>
                    </a:p>
                  </a:txBody>
                  <a:tcPr marL="91440" marR="91440" marT="45720" marB="45720"/>
                </a:tc>
              </a:tr>
              <a:tr h="409575">
                <a:tc>
                  <a:txBody>
                    <a:bodyPr/>
                    <a:lstStyle/>
                    <a:p>
                      <a:r>
                        <a:t>Cost efficiency</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c>
                  <a:txBody>
                    <a:bodyPr/>
                    <a:lstStyle/>
                    <a:p>
                      <a:r>
                        <a:t>7</a:t>
                      </a:r>
                    </a:p>
                  </a:txBody>
                  <a:tcPr marL="91440" marR="91440" marT="45720" marB="45720"/>
                </a:tc>
                <a:tc>
                  <a:txBody>
                    <a:bodyPr/>
                    <a:lstStyle/>
                    <a:p>
                      <a:r>
                        <a:t>5</a:t>
                      </a:r>
                    </a:p>
                  </a:txBody>
                  <a:tcPr marL="91440" marR="91440" marT="45720" marB="45720"/>
                </a:tc>
              </a:tr>
              <a:tr h="409575">
                <a:tc>
                  <a:txBody>
                    <a:bodyPr lIns="76200" tIns="76200" rIns="76200" bIns="76200"/>
                    <a:lstStyle/>
                    <a:p>
                      <a:pPr algn="l">
                        <a:buNone/>
                      </a:pPr>
                      <a:r>
                        <a:rPr sz="1200" b="1">
                          <a:solidFill>
                            <a:srgbClr val="FFFFFF"/>
                          </a:solidFill>
                          <a:latin typeface="Arial"/>
                          <a:ea typeface="Arial"/>
                          <a:cs typeface="Arial"/>
                        </a:rPr>
                        <a:t>WEIGHTED TOTAL</a:t>
                      </a:r>
                    </a:p>
                  </a:txBody>
                  <a:tcPr marL="91440" marR="91440" marT="45720" marB="45720" anchor="ctr">
                    <a:solidFill>
                      <a:srgbClr val="111111"/>
                    </a:solidFill>
                  </a:tcPr>
                </a:tc>
                <a:tc>
                  <a:txBody>
                    <a:bodyPr lIns="76200" tIns="76200" rIns="76200" bIns="76200"/>
                    <a:lstStyle/>
                    <a:p>
                      <a:pPr algn="l">
                        <a:buNone/>
                      </a:pPr>
                      <a:r>
                        <a:rPr sz="1200" b="1">
                          <a:solidFill>
                            <a:srgbClr val="FFFFFF"/>
                          </a:solidFill>
                          <a:latin typeface="Arial"/>
                          <a:ea typeface="Arial"/>
                          <a:cs typeface="Arial"/>
                        </a:rPr>
                        <a:t>100%</a:t>
                      </a:r>
                    </a:p>
                  </a:txBody>
                  <a:tcPr marL="91440" marR="91440" marT="45720" marB="45720" anchor="ctr">
                    <a:solidFill>
                      <a:srgbClr val="111111"/>
                    </a:solidFill>
                  </a:tcPr>
                </a:tc>
                <a:tc>
                  <a:txBody>
                    <a:bodyPr lIns="76200" tIns="76200" rIns="76200" bIns="76200"/>
                    <a:lstStyle/>
                    <a:p>
                      <a:pPr algn="ctr">
                        <a:buNone/>
                      </a:pPr>
                      <a:r>
                        <a:rPr sz="1200" b="1">
                          <a:solidFill>
                            <a:srgbClr val="FFFFFF"/>
                          </a:solidFill>
                          <a:latin typeface="Arial"/>
                          <a:ea typeface="Arial"/>
                          <a:cs typeface="Arial"/>
                        </a:rPr>
                        <a:t>93</a:t>
                      </a:r>
                    </a:p>
                  </a:txBody>
                  <a:tcPr marL="91440" marR="91440" marT="45720" marB="45720" anchor="ctr">
                    <a:solidFill>
                      <a:srgbClr val="FFC72C"/>
                    </a:solidFill>
                  </a:tcPr>
                </a:tc>
                <a:tc>
                  <a:txBody>
                    <a:bodyPr lIns="76200" tIns="76200" rIns="76200" bIns="76200"/>
                    <a:lstStyle/>
                    <a:p>
                      <a:pPr algn="ctr">
                        <a:buNone/>
                      </a:pPr>
                      <a:r>
                        <a:rPr sz="1200" b="1">
                          <a:solidFill>
                            <a:srgbClr val="FFFFFF"/>
                          </a:solidFill>
                          <a:latin typeface="Arial"/>
                          <a:ea typeface="Arial"/>
                          <a:cs typeface="Arial"/>
                        </a:rPr>
                        <a:t>85.5</a:t>
                      </a:r>
                    </a:p>
                  </a:txBody>
                  <a:tcPr marL="91440" marR="91440" marT="45720" marB="45720" anchor="ctr">
                    <a:solidFill>
                      <a:srgbClr val="111111"/>
                    </a:solidFill>
                  </a:tcPr>
                </a:tc>
                <a:tc>
                  <a:txBody>
                    <a:bodyPr lIns="76200" tIns="76200" rIns="76200" bIns="76200"/>
                    <a:lstStyle/>
                    <a:p>
                      <a:pPr algn="ctr">
                        <a:buNone/>
                      </a:pPr>
                      <a:r>
                        <a:rPr sz="1200" b="1">
                          <a:solidFill>
                            <a:srgbClr val="FFFFFF"/>
                          </a:solidFill>
                          <a:latin typeface="Arial"/>
                          <a:ea typeface="Arial"/>
                          <a:cs typeface="Arial"/>
                        </a:rPr>
                        <a:t>77</a:t>
                      </a:r>
                    </a:p>
                  </a:txBody>
                  <a:tcPr marL="91440" marR="91440" marT="45720" marB="45720" anchor="ctr">
                    <a:solidFill>
                      <a:srgbClr val="111111"/>
                    </a:solidFill>
                  </a:tcPr>
                </a:tc>
              </a:tr>
            </a:tbl>
          </a:graphicData>
        </a:graphic>
      </p:graphicFrame>
      <p:sp>
        <p:nvSpPr>
          <p:cNvPr id="10" name="">
            <a:extLst xmlns:a="http://schemas.openxmlformats.org/drawingml/2006/main">
              <a:ext uri="{FF2B5EF4-FFF2-40B4-BE49-F238E27FC236}">
                <a16:creationId xmlns:a16="http://schemas.microsoft.com/office/drawing/2014/main" id="{38012114-7D98-4B81-97D5-A922871818EE}"/>
              </a:ext>
            </a:extLst>
          </p:cNvPr>
          <p:cNvSpPr>
            <a:spLocks xmlns:a="http://schemas.openxmlformats.org/drawingml/2006/main" noGrp="1"/>
          </p:cNvSpPr>
          <p:nvPr/>
        </p:nvSpPr>
        <p:spPr>
          <a:xfrm xmlns:a="http://schemas.openxmlformats.org/drawingml/2006/main">
            <a:off x="7848600" y="2076450"/>
            <a:ext cx="3733800" cy="18669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1" name="">
            <a:extLst xmlns:a="http://schemas.openxmlformats.org/drawingml/2006/main">
              <a:ext uri="{FF2B5EF4-FFF2-40B4-BE49-F238E27FC236}">
                <a16:creationId xmlns:a16="http://schemas.microsoft.com/office/drawing/2014/main" id="{DA77C274-D781-4EC7-9FFB-674C20AB66C5}"/>
              </a:ext>
            </a:extLst>
          </p:cNvPr>
          <p:cNvSpPr>
            <a:spLocks xmlns:a="http://schemas.openxmlformats.org/drawingml/2006/main" noGrp="1"/>
          </p:cNvSpPr>
          <p:nvPr/>
        </p:nvSpPr>
        <p:spPr>
          <a:xfrm xmlns:a="http://schemas.openxmlformats.org/drawingml/2006/main">
            <a:off x="7848600" y="2076450"/>
            <a:ext cx="66675" cy="18669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E7D81A9-ECF0-44CC-89EA-BDA3BE780049}"/>
              </a:ext>
            </a:extLst>
          </p:cNvPr>
          <p:cNvSpPr>
            <a:spLocks xmlns:a="http://schemas.openxmlformats.org/drawingml/2006/main" noGrp="1"/>
          </p:cNvSpPr>
          <p:nvPr/>
        </p:nvSpPr>
        <p:spPr>
          <a:xfrm xmlns:a="http://schemas.openxmlformats.org/drawingml/2006/main">
            <a:off x="8058150" y="2247900"/>
            <a:ext cx="3314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ARITHMETIC</a:t>
            </a:r>
          </a:p>
        </p:txBody>
      </p:sp>
      <p:sp>
        <p:nvSpPr>
          <p:cNvPr id="13" name="">
            <a:extLst xmlns:a="http://schemas.openxmlformats.org/drawingml/2006/main">
              <a:ext uri="{FF2B5EF4-FFF2-40B4-BE49-F238E27FC236}">
                <a16:creationId xmlns:a16="http://schemas.microsoft.com/office/drawing/2014/main" id="{C8A3CA66-DCE0-41CB-8C93-706C9F05DEF4}"/>
              </a:ext>
            </a:extLst>
          </p:cNvPr>
          <p:cNvSpPr>
            <a:spLocks xmlns:a="http://schemas.openxmlformats.org/drawingml/2006/main" noGrp="1"/>
          </p:cNvSpPr>
          <p:nvPr/>
        </p:nvSpPr>
        <p:spPr>
          <a:xfrm xmlns:a="http://schemas.openxmlformats.org/drawingml/2006/main">
            <a:off x="8058150" y="25527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Historical ordering unchanged</a:t>
            </a:r>
          </a:p>
        </p:txBody>
      </p:sp>
      <p:sp>
        <p:nvSpPr>
          <p:cNvPr id="14" name="">
            <a:extLst xmlns:a="http://schemas.openxmlformats.org/drawingml/2006/main">
              <a:ext uri="{FF2B5EF4-FFF2-40B4-BE49-F238E27FC236}">
                <a16:creationId xmlns:a16="http://schemas.microsoft.com/office/drawing/2014/main" id="{22AB11E7-683D-43DE-8053-16D551C16A94}"/>
              </a:ext>
            </a:extLst>
          </p:cNvPr>
          <p:cNvSpPr>
            <a:spLocks xmlns:a="http://schemas.openxmlformats.org/drawingml/2006/main" noGrp="1"/>
          </p:cNvSpPr>
          <p:nvPr/>
        </p:nvSpPr>
        <p:spPr>
          <a:xfrm xmlns:a="http://schemas.openxmlformats.org/drawingml/2006/main">
            <a:off x="8058150" y="3257550"/>
            <a:ext cx="33147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Source: 93 / 87 / 78</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Corrected: 93 / 85.5 / 77</a:t>
            </a:r>
          </a:p>
        </p:txBody>
      </p:sp>
      <p:sp>
        <p:nvSpPr>
          <p:cNvPr id="15" name="">
            <a:extLst xmlns:a="http://schemas.openxmlformats.org/drawingml/2006/main">
              <a:ext uri="{FF2B5EF4-FFF2-40B4-BE49-F238E27FC236}">
                <a16:creationId xmlns:a16="http://schemas.microsoft.com/office/drawing/2014/main" id="{56D4037E-1D0C-4534-94D6-1E9A05706959}"/>
              </a:ext>
            </a:extLst>
          </p:cNvPr>
          <p:cNvSpPr>
            <a:spLocks xmlns:a="http://schemas.openxmlformats.org/drawingml/2006/main" noGrp="1"/>
          </p:cNvSpPr>
          <p:nvPr/>
        </p:nvSpPr>
        <p:spPr>
          <a:xfrm xmlns:a="http://schemas.openxmlformats.org/drawingml/2006/main">
            <a:off x="7848600" y="4191000"/>
            <a:ext cx="3733800" cy="19812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B58B6C9E-3E57-4D4D-9023-37F52AF26BEB}"/>
              </a:ext>
            </a:extLst>
          </p:cNvPr>
          <p:cNvSpPr>
            <a:spLocks xmlns:a="http://schemas.openxmlformats.org/drawingml/2006/main" noGrp="1"/>
          </p:cNvSpPr>
          <p:nvPr/>
        </p:nvSpPr>
        <p:spPr>
          <a:xfrm xmlns:a="http://schemas.openxmlformats.org/drawingml/2006/main">
            <a:off x="7848600" y="4191000"/>
            <a:ext cx="66675" cy="1981200"/>
          </a:xfrm>
          <a:prstGeom xmlns:a="http://schemas.openxmlformats.org/drawingml/2006/main" prst="rect">
            <a:avLst/>
          </a:prstGeom>
          <a:solidFill xmlns:a="http://schemas.openxmlformats.org/drawingml/2006/main">
            <a:srgbClr val="A963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CD1C31A-A644-4FCA-9660-A0A25699636E}"/>
              </a:ext>
            </a:extLst>
          </p:cNvPr>
          <p:cNvSpPr>
            <a:spLocks xmlns:a="http://schemas.openxmlformats.org/drawingml/2006/main" noGrp="1"/>
          </p:cNvSpPr>
          <p:nvPr/>
        </p:nvSpPr>
        <p:spPr>
          <a:xfrm xmlns:a="http://schemas.openxmlformats.org/drawingml/2006/main">
            <a:off x="8058150" y="4362450"/>
            <a:ext cx="3314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A96300"/>
                </a:solidFill>
                <a:latin typeface="Consolas"/>
                <a:ea typeface="Consolas"/>
                <a:cs typeface="Consolas"/>
              </a:defRPr>
            </a:pPr>
            <a:r>
              <a:rPr sz="1050" b="1" i="0">
                <a:solidFill>
                  <a:srgbClr val="A96300"/>
                </a:solidFill>
                <a:latin typeface="Consolas"/>
                <a:ea typeface="Consolas"/>
                <a:cs typeface="Consolas"/>
              </a:rPr>
              <a:t>GOVERNED RE-SCORE</a:t>
            </a:r>
          </a:p>
        </p:txBody>
      </p:sp>
      <p:sp>
        <p:nvSpPr>
          <p:cNvPr id="18" name="">
            <a:extLst xmlns:a="http://schemas.openxmlformats.org/drawingml/2006/main">
              <a:ext uri="{FF2B5EF4-FFF2-40B4-BE49-F238E27FC236}">
                <a16:creationId xmlns:a16="http://schemas.microsoft.com/office/drawing/2014/main" id="{257C87E5-937D-4901-B47B-29B76403FD26}"/>
              </a:ext>
            </a:extLst>
          </p:cNvPr>
          <p:cNvSpPr>
            <a:spLocks xmlns:a="http://schemas.openxmlformats.org/drawingml/2006/main" noGrp="1"/>
          </p:cNvSpPr>
          <p:nvPr/>
        </p:nvSpPr>
        <p:spPr>
          <a:xfrm xmlns:a="http://schemas.openxmlformats.org/drawingml/2006/main">
            <a:off x="8058150" y="466725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Six dimensions remain TBD</a:t>
            </a:r>
          </a:p>
        </p:txBody>
      </p:sp>
      <p:sp>
        <p:nvSpPr>
          <p:cNvPr id="19" name="">
            <a:extLst xmlns:a="http://schemas.openxmlformats.org/drawingml/2006/main">
              <a:ext uri="{FF2B5EF4-FFF2-40B4-BE49-F238E27FC236}">
                <a16:creationId xmlns:a16="http://schemas.microsoft.com/office/drawing/2014/main" id="{02E70283-C2D3-4BDB-BFDE-9DEE51DD9EFF}"/>
              </a:ext>
            </a:extLst>
          </p:cNvPr>
          <p:cNvSpPr>
            <a:spLocks xmlns:a="http://schemas.openxmlformats.org/drawingml/2006/main" noGrp="1"/>
          </p:cNvSpPr>
          <p:nvPr/>
        </p:nvSpPr>
        <p:spPr>
          <a:xfrm xmlns:a="http://schemas.openxmlformats.org/drawingml/2006/main">
            <a:off x="8058150" y="5372100"/>
            <a:ext cx="33147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Multicloud · scale/recovery · security/trace · reversibility · full TCO · CP duty</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No new total before approval</a:t>
            </a:r>
          </a:p>
        </p:txBody>
      </p:sp>
    </p:spTree>
    <p:extLst>
      <p:ext uri="{BB962C8B-B14F-4D97-AF65-F5344CB8AC3E}">
        <p14:creationId xmlns:p14="http://schemas.microsoft.com/office/powerpoint/2010/main" val="19229329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2026-08-21T18:36:16.3190000Z</dcterms:created>
  <dcterms:modified xsi:type="dcterms:W3CDTF">2026-08-21T18:36:16.3190000Z</dcterms:modified>
</coreProperties>
</file>