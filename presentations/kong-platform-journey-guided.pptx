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7FCC5D-A321-7D41-BB05-02F281A57937}" type="datetimeFigureOut">
              <a:rPr lang="en-US" smtClean="0"/>
              <a:t>8/22/26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5E5069-938F-C84E-A586-694C7FE4A8C1}" type="slidenum">
              <a:rPr lang="en-US" smtClean="0"/>
              <a:t>‹#›</a:t>
            </a:fld>
            <a:endParaRPr lang="en-US"/>
          </a:p>
        </p:txBody>
      </p:sp>
    </p:spTree>
    <p:extLst>
      <p:ext uri="{BB962C8B-B14F-4D97-AF65-F5344CB8AC3E}">
        <p14:creationId xmlns:p14="http://schemas.microsoft.com/office/powerpoint/2010/main" val="2651755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Set the scope: this is a guided decision and proof journey, not a product marketing deck.</a:t>
            </a:r>
          </a:p>
          <a:p>
            <a:endParaRPr/>
          </a:p>
          <a:p>
            <a:r>
              <a:t>[Talk track]</a:t>
            </a:r>
          </a:p>
          <a:p>
            <a:r>
              <a:t>We start from the stated target operating model, disposition four early gates for multicloud, clean exit/vendor dependency, fully allocated TCO, and the optional Kong-plus-Traceable solution profile, and then make the ownership, migration, execution evidence and production gates explicit.</a:t>
            </a:r>
          </a:p>
          <a:p>
            <a:endParaRPr/>
          </a:p>
          <a:p>
            <a:r>
              <a:t>[Ask]</a:t>
            </a:r>
          </a:p>
          <a:p>
            <a:r>
              <a:t>Align on the decision question: disposition the early gates, then approve a bounded Kong direction and proof programme—not critical production scale.</a:t>
            </a:r>
          </a:p>
          <a:p>
            <a:endParaRPr/>
          </a:p>
          <a:p>
            <a:r>
              <a:t>[Bridge]</a:t>
            </a:r>
          </a:p>
          <a:p>
            <a:r>
              <a:t>First, make the target operating model and the four early assessment gates visible because they drive scope, evidence requests, scoring governance, and platform fit.</a:t>
            </a:r>
          </a:p>
          <a:p>
            <a:endParaRPr/>
          </a:p>
          <a:p>
            <a:r>
              <a:t>[Caveat]</a:t>
            </a:r>
          </a:p>
          <a:p>
            <a:r>
              <a:t>The sanitized supplied evaluation is stakeholder input. Its ratings and recommendation are not independent comparative proof.</a:t>
            </a:r>
          </a:p>
          <a:p>
            <a:endParaRPr/>
          </a:p>
          <a:p>
            <a:r>
              <a:t>[Sources]</a:t>
            </a:r>
          </a:p>
          <a:p>
            <a:r>
              <a:t>- 48-kong-guided-evaluation.md</a:t>
            </a:r>
          </a:p>
          <a:p>
            <a:r>
              <a:t>- 48-kong-guided-evaluation.md#four-early-assessment-gates</a:t>
            </a:r>
          </a:p>
          <a:p>
            <a:r>
              <a:t>- 47-kong-enterprise-platform-strategy.md</a:t>
            </a:r>
          </a:p>
          <a:p>
            <a:r>
              <a:t>- 35-mule-migration-strategy.md</a:t>
            </a:r>
          </a:p>
          <a:p>
            <a:r>
              <a:t>- https://developer.konghq.com/gateway/deployment-topologies/</a:t>
            </a:r>
          </a:p>
          <a:p>
            <a:r>
              <a:t>- https://developer.konghq.com/gateway/hybrid-mode/</a:t>
            </a:r>
          </a:p>
          <a:p>
            <a:r>
              <a:t>- https://docs.traceable.ai/kong</a:t>
            </a:r>
          </a:p>
          <a:p>
            <a:r>
              <a:t>- https://developer.konghq.com/plugins/harness-waap/</a:t>
            </a:r>
          </a:p>
          <a:p>
            <a:r>
              <a:t>- https://konghq.com/pricing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Explain why the same product can be a good or poor choice depending on the target operating model, and force four material concerns into the assessment before bounded authorization.</a:t>
            </a:r>
          </a:p>
          <a:p>
            <a:endParaRPr/>
          </a:p>
          <a:p>
            <a:r>
              <a:t>[Talk track]</a:t>
            </a:r>
          </a:p>
          <a:p>
            <a:r>
              <a:t>The supplied assessment favors Kubernetes, GitOps, platform engineering, self-service, observability, multicloud placement and emerging AI traffic governance. Those priorities explain why Kong scores well, but they must be confirmed with accountable owners. Before the room interprets scores or funds a proof programme, it must also disposition four early gates: `EAG-01` multicloud operating fit, `EAG-02` reversibility and vendor dependency, `EAG-03` cost efficiency and fully allocated TCO, and `EAG-04` admission of the optional `KP-SMH1 + GSA-01` Kong-plus-Traceable solution profile.</a:t>
            </a:r>
          </a:p>
          <a:p>
            <a:endParaRPr/>
          </a:p>
          <a:p>
            <a:r>
              <a:t>[Ask]</a:t>
            </a:r>
          </a:p>
          <a:p>
            <a:r>
              <a:t>Confirm or amend the nine target-state inputs. Then confirm, amend, reject, or leave explicitly unknown each early gate, with a public role owner, evidence request, due gate, and hold condition.</a:t>
            </a:r>
          </a:p>
          <a:p>
            <a:endParaRPr/>
          </a:p>
          <a:p>
            <a:r>
              <a:t>[Bridge]</a:t>
            </a:r>
          </a:p>
          <a:p>
            <a:r>
              <a:t>The next slide shows how the priorities were encoded in the supplied scorecard, where the added dimensions remain unknown and Traceable stays outside the platform score.</a:t>
            </a:r>
          </a:p>
          <a:p>
            <a:endParaRPr/>
          </a:p>
          <a:p>
            <a:r>
              <a:t>[Caveat]</a:t>
            </a:r>
          </a:p>
          <a:p>
            <a:r>
              <a:t>These are stakeholder-stated objectives and early scope dispositions; the document does not provide a verified workload inventory, multicloud outcome, clean exit, normalized TCO, or executed Kong-plus-Traceable result. Early disposition creates a proof obligation, not evidence that the gate passed.</a:t>
            </a:r>
          </a:p>
          <a:p>
            <a:endParaRPr/>
          </a:p>
          <a:p>
            <a:r>
              <a:t>[Sources]</a:t>
            </a:r>
          </a:p>
          <a:p>
            <a:r>
              <a:t>- 48-kong-guided-evaluation.md#stated-target-operating-model</a:t>
            </a:r>
          </a:p>
          <a:p>
            <a:r>
              <a:t>- 48-kong-guided-evaluation.md#four-early-assessment-gates</a:t>
            </a:r>
          </a:p>
          <a:p>
            <a:r>
              <a:t>- https://developer.konghq.com/gateway/deployment-topologies/</a:t>
            </a:r>
          </a:p>
          <a:p>
            <a:r>
              <a:t>- https://developer.konghq.com/gateway/hybrid-mode/</a:t>
            </a:r>
          </a:p>
          <a:p>
            <a:r>
              <a:t>- https://docs.traceable.ai/kong</a:t>
            </a:r>
          </a:p>
          <a:p>
            <a:r>
              <a:t>- https://developer.konghq.com/plugins/harness-waap/</a:t>
            </a:r>
          </a:p>
          <a:p>
            <a:r>
              <a:t>- https://konghq.com/pricing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Make the historical weighting model transparent, expose the dimensions required for a governed re-score, and keep Traceable as a separate unscored solution-profile gate.</a:t>
            </a:r>
          </a:p>
          <a:p>
            <a:endParaRPr/>
          </a:p>
          <a:p>
            <a:r>
              <a:t>[Talk track]</a:t>
            </a:r>
          </a:p>
          <a:p>
            <a:r>
              <a:t>Eight supplied categories sum to 100%, and Kubernetes plus GitOps carry 35%. The provisional planning scenario rebases those historical categories to 60% and allocates 40% across multicloud, scalability/robustness, enterprise IAM and traceability, reversibility/vendor dependency, fully allocated TCO, and control-plane operating responsibility. This makes the meeting feedback visible without changing the historical ratings. The 40% split is an assumption to approve or amend; every new product rating remains unknown. `EAG-04` stays separate: admitting `KP-SMH1 + GSA-01` for GEP-07 study cannot add native Kong points.</a:t>
            </a:r>
          </a:p>
          <a:p>
            <a:endParaRPr/>
          </a:p>
          <a:p>
            <a:r>
              <a:t>[Ask]</a:t>
            </a:r>
          </a:p>
          <a:p>
            <a:r>
              <a:t>Approve, amend, or reject the provisional weights and double-counting rules; confirm that `EAG-01`–`EAG-03` remain early gates as well as later evidence dimensions and that `EAG-04` remains unscored; then assign the exact-option boundary, mandatory gates, evidence floor, scorer and approver panel, rating authority, confidence treatment, sensitivity method, dissent rule, and permitted decision use.</a:t>
            </a:r>
          </a:p>
          <a:p>
            <a:endParaRPr/>
          </a:p>
          <a:p>
            <a:r>
              <a:t>[Bridge]</a:t>
            </a:r>
          </a:p>
          <a:p>
            <a:r>
              <a:t>Now compare operating-model fit rather than treating products or optional adjuncts as interchangeable feature bundles.</a:t>
            </a:r>
          </a:p>
          <a:p>
            <a:endParaRPr/>
          </a:p>
          <a:p>
            <a:r>
              <a:t>[Caveat]</a:t>
            </a:r>
          </a:p>
          <a:p>
            <a:r>
              <a:t>The provisional weights are a scenario, not an approved model or revised ranking. The new ratings remain unknown, 30 mandatory gates remain unknown, and common score-capable evidence coverage is 0%. An early-gate disposition is meeting governance input; it cannot narrow a rating range or close an `E2`–`E4` proof obligation.</a:t>
            </a:r>
          </a:p>
          <a:p>
            <a:endParaRPr/>
          </a:p>
          <a:p>
            <a:r>
              <a:t>[Sources]</a:t>
            </a:r>
          </a:p>
          <a:p>
            <a:r>
              <a:t>- 48-kong-guided-evaluation.md#supplied-weighting-model</a:t>
            </a:r>
          </a:p>
          <a:p>
            <a:r>
              <a:t>- 48-kong-guided-evaluation.md#meeting-feedback-assurance-crosswalk</a:t>
            </a:r>
          </a:p>
          <a:p>
            <a:r>
              <a:t>- 48-kong-guided-evaluation.md#provisional-weighting-and-uncertainty-scenario</a:t>
            </a:r>
          </a:p>
          <a:p>
            <a:r>
              <a:t>- 48-kong-guided-evaluation.md#proposed-governed-re-score</a:t>
            </a:r>
          </a:p>
          <a:p>
            <a:r>
              <a:t>- 48-kong-guided-evaluation.md#four-early-assessment-gates</a:t>
            </a:r>
          </a:p>
          <a:p>
            <a:r>
              <a:t>- 48-kong-guided-evaluation.md#traceable-by-harness-security-adjunct-feasibility</a:t>
            </a:r>
          </a:p>
          <a:p>
            <a:r>
              <a:t>- ../decision-matrix/scoring-guide.md</a:t>
            </a:r>
          </a:p>
          <a:p>
            <a:r>
              <a:t>- https://developer.konghq.com/gateway/deployment-topologies/</a:t>
            </a:r>
          </a:p>
          <a:p>
            <a:r>
              <a:t>- https://developer.konghq.com/gateway/hybrid-mode/</a:t>
            </a:r>
          </a:p>
          <a:p>
            <a:r>
              <a:t>- https://docs.traceable.ai/kong</a:t>
            </a:r>
          </a:p>
          <a:p>
            <a:r>
              <a:t>- https://developer.konghq.com/plugins/harness-waap/</a:t>
            </a:r>
          </a:p>
          <a:p>
            <a:r>
              <a:t>- https://konghq.com/pricing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Reframe the product comparison as conditional operating-model choices.</a:t>
            </a:r>
          </a:p>
          <a:p>
            <a:endParaRPr/>
          </a:p>
          <a:p>
            <a:r>
              <a:t>[Talk track]</a:t>
            </a:r>
          </a:p>
          <a:p>
            <a:r>
              <a:t>Kong is strongest when Kubernetes, GitOps and platform ownership dominate. Apigee is plausible when external API product management dominates. MuleSoft is plausible when Anypoint remains strategic. Azure APIM remains a no-build benchmark if Azure consolidation dominates.</a:t>
            </a:r>
          </a:p>
          <a:p>
            <a:endParaRPr/>
          </a:p>
          <a:p>
            <a:r>
              <a:t>[Ask]</a:t>
            </a:r>
          </a:p>
          <a:p>
            <a:r>
              <a:t>Agree on the counterfactuals that would change the platform direction.</a:t>
            </a:r>
          </a:p>
          <a:p>
            <a:endParaRPr/>
          </a:p>
          <a:p>
            <a:r>
              <a:t>[Bridge]</a:t>
            </a:r>
          </a:p>
          <a:p>
            <a:r>
              <a:t>The supplied scorecard encodes one of these preferences. We correct its arithmetic on the next slide.</a:t>
            </a:r>
          </a:p>
          <a:p>
            <a:endParaRPr/>
          </a:p>
          <a:p>
            <a:r>
              <a:t>[Caveat]</a:t>
            </a:r>
          </a:p>
          <a:p>
            <a:r>
              <a:t>The qualitative ratings and cost/lock-in labels preserved in the sanitized supplied evaluation are stakeholder assessments, not independently verified facts.</a:t>
            </a:r>
          </a:p>
          <a:p>
            <a:endParaRPr/>
          </a:p>
          <a:p>
            <a:r>
              <a:t>[Sources]</a:t>
            </a:r>
          </a:p>
          <a:p>
            <a:r>
              <a:t>- 48-kong-guided-evaluation.md#conditional-option-archetypes</a:t>
            </a:r>
          </a:p>
          <a:p>
            <a:r>
              <a:t>- https://developer.konghq.com/gateway/deployment-topologies/</a:t>
            </a:r>
          </a:p>
          <a:p>
            <a:r>
              <a:t>- https://docs.cloud.google.com/apigee/docs/hybrid/v1.16/what-is-hybrid</a:t>
            </a:r>
          </a:p>
          <a:p>
            <a:r>
              <a:t>- https://docs.mulesoft.com/gateway/latest/</a:t>
            </a:r>
          </a:p>
          <a:p>
            <a:r>
              <a:t>- https://learn.microsoft.com/en-us/azure/api-management/self-hosted-gateway-overview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Use the scorecard transparently without overstating its evidentiary value.</a:t>
            </a:r>
          </a:p>
          <a:p>
            <a:endParaRPr/>
          </a:p>
          <a:p>
            <a:r>
              <a:t>[Talk track]</a:t>
            </a:r>
          </a:p>
          <a:p>
            <a:r>
              <a:t>The historical inputs recalculate to 93 for Kong, 85.5 for Apigee, and 77 for MuleSoft. Under the provisional 60/40 weighting, their historical-input contributions are 55.8, 51.3, and 46.2. Leaving the added 40% honestly unknown produces ranges of 55.8–95.8, 51.3–91.3, and 46.2–86.2. The overlap is the finding: a modest advantage on the missing dimensions can reverse the historical order, so the deck does not publish a new decision score.</a:t>
            </a:r>
          </a:p>
          <a:p>
            <a:endParaRPr/>
          </a:p>
          <a:p>
            <a:r>
              <a:t>[Ask]</a:t>
            </a:r>
          </a:p>
          <a:p>
            <a:r>
              <a:t>Confirm that the historical score remains directional input only, review the scenario assumptions, and assign the evidence and scorer roles that can narrow the ranges without protecting a preferred order.</a:t>
            </a:r>
          </a:p>
          <a:p>
            <a:endParaRPr/>
          </a:p>
          <a:p>
            <a:r>
              <a:t>[Bridge]</a:t>
            </a:r>
          </a:p>
          <a:p>
            <a:r>
              <a:t>We can now state a bounded decision that preserves falsifiability.</a:t>
            </a:r>
          </a:p>
          <a:p>
            <a:endParaRPr/>
          </a:p>
          <a:p>
            <a:r>
              <a:t>[Caveat]</a:t>
            </a:r>
          </a:p>
          <a:p>
            <a:r>
              <a:t>The arithmetic scenario has been run; the governed product comparison has not. The midpoint is not a score, the endpoints are not forecasts, and the historical values remain unverified `E0` input rather than an independent benchmark or production-fit result.</a:t>
            </a:r>
          </a:p>
          <a:p>
            <a:endParaRPr/>
          </a:p>
          <a:p>
            <a:r>
              <a:t>[Sources]</a:t>
            </a:r>
          </a:p>
          <a:p>
            <a:r>
              <a:t>- 48-kong-guided-evaluation.md#supplied-scoring-audit</a:t>
            </a:r>
          </a:p>
          <a:p>
            <a:r>
              <a:t>- 48-kong-guided-evaluation.md#provisional-weighting-and-uncertainty-scenario</a:t>
            </a:r>
          </a:p>
          <a:p>
            <a:r>
              <a:t>- 48-kong-guided-evaluation.md#proposed-governed-re-score</a:t>
            </a:r>
          </a:p>
          <a:p>
            <a:r>
              <a:t>- ../decision-matrix/scoring-guide.md</a:t>
            </a:r>
          </a:p>
          <a:p>
            <a:r>
              <a:t>- https://developer.konghq.com/gateway/deployment-topologies/</a:t>
            </a:r>
          </a:p>
          <a:p>
            <a:r>
              <a:t>- https://docs.cloud.google.com/apigee/docs/hybrid/v1.16/what-is-hybrid</a:t>
            </a:r>
          </a:p>
          <a:p>
            <a:r>
              <a:t>- https://docs.mulesoft.com/gateway/latest/</a:t>
            </a:r>
          </a:p>
          <a:p>
            <a:r>
              <a:t>- https://learn.microsoft.com/en-us/azure/api-management/self-hosted-gateway-overview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Turn the assessment recommendation into a reversible authorization boundary.</a:t>
            </a:r>
          </a:p>
          <a:p>
            <a:endParaRPr/>
          </a:p>
          <a:p>
            <a:r>
              <a:t>[Talk track]</a:t>
            </a:r>
          </a:p>
          <a:p>
            <a:r>
              <a:t>Proceed with Kong as the leading planning direction, but authorize only the foundation and proof programme. Critical scale stays blocked until the outcome gates close.</a:t>
            </a:r>
          </a:p>
          <a:p>
            <a:endParaRPr/>
          </a:p>
          <a:p>
            <a:r>
              <a:t>[Ask]</a:t>
            </a:r>
          </a:p>
          <a:p>
            <a:r>
              <a:t>Approve the bounded direction, owners and evidence budget.</a:t>
            </a:r>
          </a:p>
          <a:p>
            <a:endParaRPr/>
          </a:p>
          <a:p>
            <a:r>
              <a:t>[Bridge]</a:t>
            </a:r>
          </a:p>
          <a:p>
            <a:r>
              <a:t>The first design decision is not topology. It is who controls and operates the management plane.</a:t>
            </a:r>
          </a:p>
          <a:p>
            <a:endParaRPr/>
          </a:p>
          <a:p>
            <a:r>
              <a:t>[Caveat]</a:t>
            </a:r>
          </a:p>
          <a:p>
            <a:r>
              <a:t>This is not a universal product ranking or a claim of production readiness.</a:t>
            </a:r>
          </a:p>
          <a:p>
            <a:endParaRPr/>
          </a:p>
          <a:p>
            <a:r>
              <a:t>[Sources]</a:t>
            </a:r>
          </a:p>
          <a:p>
            <a:r>
              <a:t>- 48-kong-guided-evaluation.md#bounded-authorization</a:t>
            </a:r>
          </a:p>
          <a:p>
            <a:r>
              <a:t>- https://developer.konghq.com/gateway/hybrid-mode/</a:t>
            </a:r>
          </a:p>
          <a:p>
            <a:r>
              <a:t>- https://developer.konghq.com/gateway/version-support-policy/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Prevent the operating-model decision from being hidden inside an architecture diagram.</a:t>
            </a:r>
          </a:p>
          <a:p>
            <a:endParaRPr/>
          </a:p>
          <a:p>
            <a:r>
              <a:t>[Talk track]</a:t>
            </a:r>
          </a:p>
          <a:p>
            <a:r>
              <a:t>The leading target is self-managed hybrid. Konnect is a same-vendor custody benchmark, not a vendor exit. A true non-Kong exit remains a separate obligation.</a:t>
            </a:r>
          </a:p>
          <a:p>
            <a:endParaRPr/>
          </a:p>
          <a:p>
            <a:r>
              <a:t>[Ask]</a:t>
            </a:r>
          </a:p>
          <a:p>
            <a:r>
              <a:t>Confirm the leading target and authorize the two counterfactual benchmarks.</a:t>
            </a:r>
          </a:p>
          <a:p>
            <a:endParaRPr/>
          </a:p>
          <a:p>
            <a:r>
              <a:t>[Bridge]</a:t>
            </a:r>
          </a:p>
          <a:p>
            <a:r>
              <a:t>If self-managed control leads, the enterprise must accept the permanent duty that comes with it.</a:t>
            </a:r>
          </a:p>
          <a:p>
            <a:endParaRPr/>
          </a:p>
          <a:p>
            <a:r>
              <a:t>[Caveat]</a:t>
            </a:r>
          </a:p>
          <a:p>
            <a:r>
              <a:t>The option records are planning hypotheses until custody, migration and outcome evidence are executed.</a:t>
            </a:r>
          </a:p>
          <a:p>
            <a:endParaRPr/>
          </a:p>
          <a:p>
            <a:r>
              <a:t>[Sources]</a:t>
            </a:r>
          </a:p>
          <a:p>
            <a:r>
              <a:t>- 44-kong-multicloud-study-roadmap.md</a:t>
            </a:r>
          </a:p>
          <a:p>
            <a:r>
              <a:t>- 47-kong-enterprise-platform-strategy.md</a:t>
            </a:r>
          </a:p>
          <a:p>
            <a:r>
              <a:t>- 48-kong-guided-evaluation.md</a:t>
            </a:r>
          </a:p>
          <a:p>
            <a:r>
              <a:t>- https://developer.konghq.com/gateway/hybrid-mode/</a:t>
            </a:r>
          </a:p>
          <a:p>
            <a:r>
              <a:t>- https://developer.konghq.com/gateway/version-support-policy/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Make the accountability, risk, and fully allocated cost side of the target operating boundary visible without making an unsupported legal conclusion.</a:t>
            </a:r>
          </a:p>
          <a:p>
            <a:endParaRPr/>
          </a:p>
          <a:p>
            <a:r>
              <a:t>[Talk track]</a:t>
            </a:r>
          </a:p>
          <a:p>
            <a:r>
              <a:t>The same custody that makes self-managed Kong attractive transfers permanent CP, PostgreSQL, PKI, Admin API, plugin/license, audit, upgrade, restore, support, and 24×7 service duties to enterprise roles. Cached data-plane service narrows one failure consequence; it does not remove control-plane recovery, urgent mutation/revocation, clean-node scale, reconciliation, or service accountability.</a:t>
            </a:r>
          </a:p>
          <a:p>
            <a:endParaRPr/>
          </a:p>
          <a:p>
            <a:r>
              <a:t>[Ask]</a:t>
            </a:r>
          </a:p>
          <a:p>
            <a:r>
              <a:t>Confirm whether platform product, database/SRE, PKI/security, release engineering, service management, sourcing/FinOps, and support roles accept the duty, capacity, objectives, evidence, and escalation path.</a:t>
            </a:r>
          </a:p>
          <a:p>
            <a:endParaRPr/>
          </a:p>
          <a:p>
            <a:r>
              <a:t>[Bridge]</a:t>
            </a:r>
          </a:p>
          <a:p>
            <a:r>
              <a:t>With the boundary explicit, the target topology becomes simple enough to explain.</a:t>
            </a:r>
          </a:p>
          <a:p>
            <a:endParaRPr/>
          </a:p>
          <a:p>
            <a:r>
              <a:t>[Caveat]</a:t>
            </a:r>
          </a:p>
          <a:p>
            <a:r>
              <a:t>This is an operating-accountability and risk-exposure statement. Contractual allocation depends on exact support and commercial evidence; legal liability requires counsel in the approved restricted process. Control-plane continuity does not imply mutation, revocation, clean-node admission, or recovery guarantees.</a:t>
            </a:r>
          </a:p>
          <a:p>
            <a:endParaRPr/>
          </a:p>
          <a:p>
            <a:r>
              <a:t>[Sources]</a:t>
            </a:r>
          </a:p>
          <a:p>
            <a:r>
              <a:t>- 47-kong-enterprise-platform-strategy.md</a:t>
            </a:r>
          </a:p>
          <a:p>
            <a:r>
              <a:t>- 48-kong-guided-evaluation.md</a:t>
            </a:r>
          </a:p>
          <a:p>
            <a:r>
              <a:t>- ../research/glossary.md#kong-terminology-crosswalk</a:t>
            </a:r>
          </a:p>
          <a:p>
            <a:r>
              <a:t>- https://developer.konghq.com/gateway/hybrid-mode/</a:t>
            </a:r>
          </a:p>
          <a:p>
            <a:r>
              <a:t>- https://developer.konghq.com/gateway/version-support-policy/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Give the audience a readable mental model of the target architecture.</a:t>
            </a:r>
          </a:p>
          <a:p>
            <a:endParaRPr/>
          </a:p>
          <a:p>
            <a:r>
              <a:t>[Talk track]</a:t>
            </a:r>
          </a:p>
          <a:p>
            <a:r>
              <a:t>Configuration authority is centralized in the enterprise control zone. Data planes proxy near workloads using accepted cached configuration. Local collectors preserve evidence close to the runtime. This is a simplification of the canonical engineering diagram.</a:t>
            </a:r>
          </a:p>
          <a:p>
            <a:endParaRPr/>
          </a:p>
          <a:p>
            <a:r>
              <a:t>[Ask]</a:t>
            </a:r>
          </a:p>
          <a:p>
            <a:r>
              <a:t>Validate control-zone ownership, data-plane placement and evidence boundaries.</a:t>
            </a:r>
          </a:p>
          <a:p>
            <a:endParaRPr/>
          </a:p>
          <a:p>
            <a:r>
              <a:t>[Bridge]</a:t>
            </a:r>
          </a:p>
          <a:p>
            <a:r>
              <a:t>This topology has multiple health paths; a healthy proxy alone is not a healthy platform.</a:t>
            </a:r>
          </a:p>
          <a:p>
            <a:endParaRPr/>
          </a:p>
          <a:p>
            <a:r>
              <a:t>[Caveat]</a:t>
            </a:r>
          </a:p>
          <a:p>
            <a:r>
              <a:t>Cached configuration continuity does not authorize emergency mutation or prove recovery objectives.</a:t>
            </a:r>
          </a:p>
          <a:p>
            <a:endParaRPr/>
          </a:p>
          <a:p>
            <a:r>
              <a:t>[Sources]</a:t>
            </a:r>
          </a:p>
          <a:p>
            <a:r>
              <a:t>- 47-kong-enterprise-platform-strategy.md</a:t>
            </a:r>
          </a:p>
          <a:p>
            <a:r>
              <a:t>- 48-kong-guided-evaluation.md</a:t>
            </a:r>
          </a:p>
          <a:p>
            <a:r>
              <a:t>- https://developer.konghq.com/gateway/hybrid-mode/</a:t>
            </a:r>
          </a:p>
          <a:p>
            <a:r>
              <a:t>- https://developer.konghq.com/gateway/monitoring/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Prevent availability claims from collapsing independent health paths.</a:t>
            </a:r>
          </a:p>
          <a:p>
            <a:endParaRPr/>
          </a:p>
          <a:p>
            <a:r>
              <a:t>[Talk track]</a:t>
            </a:r>
          </a:p>
          <a:p>
            <a:r>
              <a:t>Kong hybrid separates configuration distribution from request proxying. Trust admission is another path. Each can fail independently, so admission and recovery evidence must be evaluated separately.</a:t>
            </a:r>
          </a:p>
          <a:p>
            <a:endParaRPr/>
          </a:p>
          <a:p>
            <a:r>
              <a:t>[Ask]</a:t>
            </a:r>
          </a:p>
          <a:p>
            <a:r>
              <a:t>Approve separate proof gates for configuration, trust and request continuity.</a:t>
            </a:r>
          </a:p>
          <a:p>
            <a:endParaRPr/>
          </a:p>
          <a:p>
            <a:r>
              <a:t>[Bridge]</a:t>
            </a:r>
          </a:p>
          <a:p>
            <a:r>
              <a:t>Control-plane loss then becomes an admission-policy problem, not a binary up/down state.</a:t>
            </a:r>
          </a:p>
          <a:p>
            <a:endParaRPr/>
          </a:p>
          <a:p>
            <a:r>
              <a:t>[Caveat]</a:t>
            </a:r>
          </a:p>
          <a:p>
            <a:r>
              <a:t>These states are organizational policy constructs around Kong behavior; they are not automatic product guarantees.</a:t>
            </a:r>
          </a:p>
          <a:p>
            <a:endParaRPr/>
          </a:p>
          <a:p>
            <a:r>
              <a:t>[Sources]</a:t>
            </a:r>
          </a:p>
          <a:p>
            <a:r>
              <a:t>- 47-kong-enterprise-platform-strategy.md</a:t>
            </a:r>
          </a:p>
          <a:p>
            <a:r>
              <a:t>- 48-kong-guided-evaluation.md</a:t>
            </a:r>
          </a:p>
          <a:p>
            <a:r>
              <a:t>- https://developer.konghq.com/gateway/hybrid-mode/</a:t>
            </a:r>
          </a:p>
          <a:p>
            <a:r>
              <a:t>- https://developer.konghq.com/gateway/monitoring/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Show how degraded operation is governed without implying that proxy continuity equals full platform health.</a:t>
            </a:r>
          </a:p>
          <a:p>
            <a:endParaRPr/>
          </a:p>
          <a:p>
            <a:r>
              <a:t>[Talk track]</a:t>
            </a:r>
          </a:p>
          <a:p>
            <a:r>
              <a:t>A data plane can continue proxying accepted state while isolated. Reconnection must compare desired and effective state and run business probes. Admission, hold, quarantine and stop are policy decisions with evidence.</a:t>
            </a:r>
          </a:p>
          <a:p>
            <a:endParaRPr/>
          </a:p>
          <a:p>
            <a:r>
              <a:t>[Ask]</a:t>
            </a:r>
          </a:p>
          <a:p>
            <a:r>
              <a:t>Assign decision rights and response times for each state.</a:t>
            </a:r>
          </a:p>
          <a:p>
            <a:endParaRPr/>
          </a:p>
          <a:p>
            <a:r>
              <a:t>[Bridge]</a:t>
            </a:r>
          </a:p>
          <a:p>
            <a:r>
              <a:t>Those decisions require a funded operating model with named owners.</a:t>
            </a:r>
          </a:p>
          <a:p>
            <a:endParaRPr/>
          </a:p>
          <a:p>
            <a:r>
              <a:t>[Caveat]</a:t>
            </a:r>
          </a:p>
          <a:p>
            <a:r>
              <a:t>The state model is a target operating policy, not an out-of-the-box automated Kong workflow.</a:t>
            </a:r>
          </a:p>
          <a:p>
            <a:endParaRPr/>
          </a:p>
          <a:p>
            <a:r>
              <a:t>[Sources]</a:t>
            </a:r>
          </a:p>
          <a:p>
            <a:r>
              <a:t>- 47-kong-enterprise-platform-strategy.md</a:t>
            </a:r>
          </a:p>
          <a:p>
            <a:r>
              <a:t>- 48-kong-guided-evaluation.md</a:t>
            </a:r>
          </a:p>
          <a:p>
            <a:r>
              <a:t>- https://developer.konghq.com/gateway/hybrid-mode/</a:t>
            </a:r>
          </a:p>
          <a:p>
            <a:r>
              <a:t>- https://developer.konghq.com/gateway/monitoring/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Translate architecture into durable operating ownership.</a:t>
            </a:r>
          </a:p>
          <a:p>
            <a:endParaRPr/>
          </a:p>
          <a:p>
            <a:r>
              <a:t>[Talk track]</a:t>
            </a:r>
          </a:p>
          <a:p>
            <a:r>
              <a:t>Self-managed Kong succeeds only when the platform team owns the service lifecycle, product teams own API outcomes, security and SRE own admission and reliability gates, and the vendor remains support—not the accountable owner.</a:t>
            </a:r>
          </a:p>
          <a:p>
            <a:endParaRPr/>
          </a:p>
          <a:p>
            <a:r>
              <a:t>[Ask]</a:t>
            </a:r>
          </a:p>
          <a:p>
            <a:r>
              <a:t>Name accountable teams and capacity before foundation build starts.</a:t>
            </a:r>
          </a:p>
          <a:p>
            <a:endParaRPr/>
          </a:p>
          <a:p>
            <a:r>
              <a:t>[Bridge]</a:t>
            </a:r>
          </a:p>
          <a:p>
            <a:r>
              <a:t>The adoption roadmap sequences those responsibilities and evidence gates.</a:t>
            </a:r>
          </a:p>
          <a:p>
            <a:endParaRPr/>
          </a:p>
          <a:p>
            <a:r>
              <a:t>[Caveat]</a:t>
            </a:r>
          </a:p>
          <a:p>
            <a:r>
              <a:t>The exact RACI is a target model and must be reconciled with the enterprise organizational design.</a:t>
            </a:r>
          </a:p>
          <a:p>
            <a:endParaRPr/>
          </a:p>
          <a:p>
            <a:r>
              <a:t>[Sources]</a:t>
            </a:r>
          </a:p>
          <a:p>
            <a:r>
              <a:t>- 47-kong-enterprise-platform-strategy.md</a:t>
            </a:r>
          </a:p>
          <a:p>
            <a:r>
              <a:t>- 48-kong-guided-evaluation.md</a:t>
            </a:r>
          </a:p>
          <a:p>
            <a:r>
              <a:t>- https://developer.konghq.com/gateway/hybrid-mode/</a:t>
            </a:r>
          </a:p>
          <a:p>
            <a:r>
              <a:t>- https://developer.konghq.com/gateway/monitoring/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Separate foundation delivery from production scale authorization.</a:t>
            </a:r>
          </a:p>
          <a:p>
            <a:endParaRPr/>
          </a:p>
          <a:p>
            <a:r>
              <a:t>[Talk track]</a:t>
            </a:r>
          </a:p>
          <a:p>
            <a:r>
              <a:t>The roadmap begins with owners and inventory, builds a reversible foundation, runs representative proof, then grows coexistence and operating scale. The source windows deliberately overlap; all 0–18 month windows are scenario assumptions, not commitments.</a:t>
            </a:r>
          </a:p>
          <a:p>
            <a:endParaRPr/>
          </a:p>
          <a:p>
            <a:r>
              <a:t>[Ask]</a:t>
            </a:r>
          </a:p>
          <a:p>
            <a:r>
              <a:t>Approve the gate sequence and the evidence required to leave each phase.</a:t>
            </a:r>
          </a:p>
          <a:p>
            <a:endParaRPr/>
          </a:p>
          <a:p>
            <a:r>
              <a:t>[Bridge]</a:t>
            </a:r>
          </a:p>
          <a:p>
            <a:r>
              <a:t>Selection does not authorize package-by-package migration. The migration unit is responsibility and state.</a:t>
            </a:r>
          </a:p>
          <a:p>
            <a:endParaRPr/>
          </a:p>
          <a:p>
            <a:r>
              <a:t>[Caveat]</a:t>
            </a:r>
          </a:p>
          <a:p>
            <a:r>
              <a:t>The overlapping timeline windows are planning forms; actual duration depends on workload inventory, platform capacity and evidence closure.</a:t>
            </a:r>
          </a:p>
          <a:p>
            <a:endParaRPr/>
          </a:p>
          <a:p>
            <a:r>
              <a:t>[Sources]</a:t>
            </a:r>
          </a:p>
          <a:p>
            <a:r>
              <a:t>- 47-kong-enterprise-platform-strategy.md</a:t>
            </a:r>
          </a:p>
          <a:p>
            <a:r>
              <a:t>- 48-kong-guided-evaluation.md</a:t>
            </a:r>
          </a:p>
          <a:p>
            <a:r>
              <a:t>- https://developer.konghq.com/gateway/hybrid-mode/</a:t>
            </a:r>
          </a:p>
          <a:p>
            <a:r>
              <a:t>- https://developer.konghq.com/gateway/monitoring/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Change the migration unit from package to responsibility and state.</a:t>
            </a:r>
          </a:p>
          <a:p>
            <a:endParaRPr/>
          </a:p>
          <a:p>
            <a:r>
              <a:t>[Talk track]</a:t>
            </a:r>
          </a:p>
          <a:p>
            <a:r>
              <a:t>Only gateway policy is unambiguously a Kong destination. Thin facades may stay at the edge or move into an owned service. Transformation, orchestration, messaging, batch and connectors require their own destination owners. Retirement occurs only after parity and route-back proof.</a:t>
            </a:r>
          </a:p>
          <a:p>
            <a:endParaRPr/>
          </a:p>
          <a:p>
            <a:r>
              <a:t>[Ask]</a:t>
            </a:r>
          </a:p>
          <a:p>
            <a:r>
              <a:t>Adopt the responsibility taxonomy for inventory and wave planning.</a:t>
            </a:r>
          </a:p>
          <a:p>
            <a:endParaRPr/>
          </a:p>
          <a:p>
            <a:r>
              <a:t>[Bridge]</a:t>
            </a:r>
          </a:p>
          <a:p>
            <a:r>
              <a:t>That decomposition supports bounded coexistence rather than a big-bang cutover.</a:t>
            </a:r>
          </a:p>
          <a:p>
            <a:endParaRPr/>
          </a:p>
          <a:p>
            <a:r>
              <a:t>[Caveat]</a:t>
            </a:r>
          </a:p>
          <a:p>
            <a:r>
              <a:t>This is a migration doctrine. Actual destination selection requires workload-level classification and dependency evidence.</a:t>
            </a:r>
          </a:p>
          <a:p>
            <a:endParaRPr/>
          </a:p>
          <a:p>
            <a:r>
              <a:t>[Sources]</a:t>
            </a:r>
          </a:p>
          <a:p>
            <a:r>
              <a:t>- 35-mule-migration-strategy.md</a:t>
            </a:r>
          </a:p>
          <a:p>
            <a:r>
              <a:t>- ../research/glossary.md#kong-terminology-crosswalk</a:t>
            </a:r>
          </a:p>
          <a:p>
            <a:r>
              <a:t>- 48-kong-guided-evaluation.md</a:t>
            </a:r>
          </a:p>
          <a:p>
            <a:r>
              <a:t>- https://docs.mulesoft.com/gateway/latest/</a:t>
            </a:r>
          </a:p>
          <a:p>
            <a:r>
              <a:t>- https://developer.konghq.com/gateway/entities/</a:t>
            </a:r>
          </a:p>
          <a:p>
            <a:r>
              <a:t>- https://developer.konghq.com/gateway/entities/plugin/</a:t>
            </a:r>
          </a:p>
          <a:p>
            <a:r>
              <a:t>- https://developer.konghq.com/gateway/deployment-topologies/</a:t>
            </a:r>
          </a:p>
          <a:p>
            <a:r>
              <a:t>- https://docs.cloud.google.com/apigee/docs/api-platform/fundamentals/download-api-proxies</a:t>
            </a:r>
          </a:p>
          <a:p>
            <a:r>
              <a:t>- https://docs.cloud.google.com/apigee/docs/api-platform/reference/api-proxy-configuration-reference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Show a safe migration control surface without tying it to a specific product claim.</a:t>
            </a:r>
          </a:p>
          <a:p>
            <a:endParaRPr/>
          </a:p>
          <a:p>
            <a:r>
              <a:t>[Talk track]</a:t>
            </a:r>
          </a:p>
          <a:p>
            <a:r>
              <a:t>Consumers see a stable API edge. A bounded cohort can route to the existing Mule runtime or a new owned runtime. Parity evidence compares semantics, side effects and SLOs. Route-back remains active until the exit evidence closes.</a:t>
            </a:r>
          </a:p>
          <a:p>
            <a:endParaRPr/>
          </a:p>
          <a:p>
            <a:r>
              <a:t>[Ask]</a:t>
            </a:r>
          </a:p>
          <a:p>
            <a:r>
              <a:t>Approve cohorting, parity probes and route-back as mandatory migration controls.</a:t>
            </a:r>
          </a:p>
          <a:p>
            <a:endParaRPr/>
          </a:p>
          <a:p>
            <a:r>
              <a:t>[Bridge]</a:t>
            </a:r>
          </a:p>
          <a:p>
            <a:r>
              <a:t>The controls are applied in waves, each with explicit entry and exit evidence.</a:t>
            </a:r>
          </a:p>
          <a:p>
            <a:endParaRPr/>
          </a:p>
          <a:p>
            <a:r>
              <a:t>[Caveat]</a:t>
            </a:r>
          </a:p>
          <a:p>
            <a:r>
              <a:t>The coexistence figure deliberately says stable API edge; the source migration strategy does not choose the exact gateway product for this pattern.</a:t>
            </a:r>
          </a:p>
          <a:p>
            <a:endParaRPr/>
          </a:p>
          <a:p>
            <a:r>
              <a:t>[Sources]</a:t>
            </a:r>
          </a:p>
          <a:p>
            <a:r>
              <a:t>- 35-mule-migration-strategy.md</a:t>
            </a:r>
          </a:p>
          <a:p>
            <a:r>
              <a:t>- 48-kong-guided-evaluation.md</a:t>
            </a:r>
          </a:p>
          <a:p>
            <a:r>
              <a:t>- https://docs.mulesoft.com/gateway/latest/</a:t>
            </a:r>
          </a:p>
          <a:p>
            <a:r>
              <a:t>- https://developer.konghq.com/gateway/entities/</a:t>
            </a:r>
          </a:p>
          <a:p>
            <a:r>
              <a:t>- https://developer.konghq.com/gateway/entities/plugin/</a:t>
            </a:r>
          </a:p>
          <a:p>
            <a:r>
              <a:t>- https://developer.konghq.com/gateway/deployment-topologies/</a:t>
            </a:r>
          </a:p>
          <a:p>
            <a:r>
              <a:t>- https://docs.cloud.google.com/apigee/docs/api-platform/fundamentals/download-api-proxies</a:t>
            </a:r>
          </a:p>
          <a:p>
            <a:r>
              <a:t>- https://docs.cloud.google.com/apigee/docs/api-platform/reference/api-proxy-configuration-reference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Use one stable-edge and evidence-gate doctrine while preserving the different migration units and state boundaries of Mule and Apigee.</a:t>
            </a:r>
          </a:p>
          <a:p>
            <a:endParaRPr/>
          </a:p>
          <a:p>
            <a:r>
              <a:t>[Talk track]</a:t>
            </a:r>
          </a:p>
          <a:p>
            <a:r>
              <a:t>For Apigee, A0 inventories the complete object/state graph; A1 classifies semantic disposition; A2 builds a reversible target; A3 proves a hard representative slice; A4 runs bounded coexistence; A5 collects production-canary evidence; and A6 closes technical, operating, recovery, data, support, and commercial dependency zero. Mule uses a different M0–M5 responsibility/state rail. Both share reconciled source truth, semantic proof, a stable edge, business verification, timed route-back, state reconciliation and dependency-zero authority.</a:t>
            </a:r>
          </a:p>
          <a:p>
            <a:endParaRPr/>
          </a:p>
          <a:p>
            <a:r>
              <a:t>[Ask]</a:t>
            </a:r>
          </a:p>
          <a:p>
            <a:r>
              <a:t>Confirm the actual source archetype, choose the relevant rail, and adopt entry/exit evidence rather than elapsed time, package count, or exported proxy count. Assign migration architecture, API product, IAM/security, SRE, domain, FinOps/sourcing, and independent-review roles.</a:t>
            </a:r>
          </a:p>
          <a:p>
            <a:endParaRPr/>
          </a:p>
          <a:p>
            <a:r>
              <a:t>[Bridge]</a:t>
            </a:r>
          </a:p>
          <a:p>
            <a:r>
              <a:t>The current PoC evidence is far earlier than these production gates.</a:t>
            </a:r>
          </a:p>
          <a:p>
            <a:endParaRPr/>
          </a:p>
          <a:p>
            <a:r>
              <a:t>[Caveat]</a:t>
            </a:r>
          </a:p>
          <a:p>
            <a:r>
              <a:t>These phases are proposed and not run. They do not assert current programme progress, duration, object count, converter success, or semantic parity. The terminology crosswalk supplies nearest analogues only; each mapping still requires behavior, state, lifecycle, authority, evidence, and ownership proof.</a:t>
            </a:r>
          </a:p>
          <a:p>
            <a:endParaRPr/>
          </a:p>
          <a:p>
            <a:r>
              <a:t>[Sources]</a:t>
            </a:r>
          </a:p>
          <a:p>
            <a:r>
              <a:t>- 50-apigee-migration-strategy.md#proposed-a0a6-migration-roadmap</a:t>
            </a:r>
          </a:p>
          <a:p>
            <a:r>
              <a:t>- 35-mule-migration-strategy.md</a:t>
            </a:r>
          </a:p>
          <a:p>
            <a:r>
              <a:t>- 48-kong-guided-evaluation.md</a:t>
            </a:r>
          </a:p>
          <a:p>
            <a:r>
              <a:t>- ../research/glossary.md#kong-terminology-crosswalk</a:t>
            </a:r>
          </a:p>
          <a:p>
            <a:r>
              <a:t>- https://docs.mulesoft.com/gateway/latest/</a:t>
            </a:r>
          </a:p>
          <a:p>
            <a:r>
              <a:t>- https://docs.cloud.google.com/apigee/docs/api-platform/fundamentals/download-api-proxies</a:t>
            </a:r>
          </a:p>
          <a:p>
            <a:r>
              <a:t>- https://docs.cloud.google.com/apigee/docs/api-platform/reference/api-proxy-configuration-reference</a:t>
            </a:r>
          </a:p>
          <a:p>
            <a:r>
              <a:t>- https://developer.konghq.com/gateway/entities/</a:t>
            </a:r>
          </a:p>
          <a:p>
            <a:r>
              <a:t>- https://developer.konghq.com/gateway/entities/plugin/</a:t>
            </a:r>
          </a:p>
          <a:p>
            <a:r>
              <a:t>- https://developer.konghq.com/gateway/deployment-topologies/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Reset confidence before discussing production outcomes.</a:t>
            </a:r>
          </a:p>
          <a:p>
            <a:endParaRPr/>
          </a:p>
          <a:p>
            <a:r>
              <a:t>[Talk track]</a:t>
            </a:r>
          </a:p>
          <a:p>
            <a:r>
              <a:t>Five of sixteen aggregate register items are automated local-baseline checks; eleven are not run. A separate protocol defines 28 atomic comparison cases. Neither system contains target-option E3/E4 results for KP-SMH1.</a:t>
            </a:r>
          </a:p>
          <a:p>
            <a:endParaRPr/>
          </a:p>
          <a:p>
            <a:r>
              <a:t>[Ask]</a:t>
            </a:r>
          </a:p>
          <a:p>
            <a:r>
              <a:t>Authorize the evidence programme and keep all not-run states explicit.</a:t>
            </a:r>
          </a:p>
          <a:p>
            <a:endParaRPr/>
          </a:p>
          <a:p>
            <a:r>
              <a:t>[Bridge]</a:t>
            </a:r>
          </a:p>
          <a:p>
            <a:r>
              <a:t>The gap is not a lack of scripts—it is a lack of target-aligned execution evidence. The next slide defines the proof programme.</a:t>
            </a:r>
          </a:p>
          <a:p>
            <a:endParaRPr/>
          </a:p>
          <a:p>
            <a:r>
              <a:t>[Caveat]</a:t>
            </a:r>
          </a:p>
          <a:p>
            <a:r>
              <a:t>The 16 aggregate items and 28 atomic cases are different systems and must not be added together.</a:t>
            </a:r>
          </a:p>
          <a:p>
            <a:endParaRPr/>
          </a:p>
          <a:p>
            <a:r>
              <a:t>[Sources]</a:t>
            </a:r>
          </a:p>
          <a:p>
            <a:r>
              <a:t>- ../poc/README.md</a:t>
            </a:r>
          </a:p>
          <a:p>
            <a:r>
              <a:t>- 48-kong-guided-evaluation.md</a:t>
            </a:r>
          </a:p>
          <a:p>
            <a:r>
              <a:t>- 47-kong-enterprise-platform-strategy.md</a:t>
            </a:r>
          </a:p>
          <a:p>
            <a:r>
              <a:t>- https://developer.konghq.com/gateway/hybrid-mode/</a:t>
            </a:r>
          </a:p>
          <a:p>
            <a:r>
              <a:t>- https://developer.konghq.com/gateway/monitoring/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Turn the current evidence gap into an executable, target-shaped proof programme.</a:t>
            </a:r>
          </a:p>
          <a:p>
            <a:endParaRPr/>
          </a:p>
          <a:p>
            <a:r>
              <a:t>[Talk track]</a:t>
            </a:r>
          </a:p>
          <a:p>
            <a:r>
              <a:t>This is not a larger feature demonstration. GEP-01–06 prove the target, APIOps, regional resilience, enterprise IAM, separate agentic study, and evidence-gated recommendation. GEP-07 is a separate security-adjunct feasibility line for Kong plus Traceable against the security team’s Mule baseline. Each workstream needs a representative environment, public role owner, exact BOM, method, measure, acceptance artifact, threshold, independent reviewer, and stop condition.</a:t>
            </a:r>
          </a:p>
          <a:p>
            <a:endParaRPr/>
          </a:p>
          <a:p>
            <a:r>
              <a:t>[Ask]</a:t>
            </a:r>
          </a:p>
          <a:p>
            <a:r>
              <a:t>Approve these seven workstreams, their role owners, capacity, evidence budget, reviewers, and stop authority—not production scale and not a Traceable production recommendation.</a:t>
            </a:r>
          </a:p>
          <a:p>
            <a:endParaRPr/>
          </a:p>
          <a:p>
            <a:r>
              <a:t>[Bridge]</a:t>
            </a:r>
          </a:p>
          <a:p>
            <a:r>
              <a:t>Once the proof scope is fixed, production readiness is judged through the outcome measures and acceptance artifacts that follow.</a:t>
            </a:r>
          </a:p>
          <a:p>
            <a:endParaRPr/>
          </a:p>
          <a:p>
            <a:r>
              <a:t>[Caveat]</a:t>
            </a:r>
          </a:p>
          <a:p>
            <a:r>
              <a:t>These are required proof activities, not completed results. For GEP-07, current documentation supports only an `E1` plugin/agent feasibility path. It does not certify the exact Kong Enterprise 3.14 patch, plugin/TPA/EDS BOM, topology, entitlement, support, performance, protocol/payload/streaming coverage, data handling, fail behavior, comparative parity, lifecycle, cost, or production outcome.</a:t>
            </a:r>
          </a:p>
          <a:p>
            <a:endParaRPr/>
          </a:p>
          <a:p>
            <a:r>
              <a:t>[Sources]</a:t>
            </a:r>
          </a:p>
          <a:p>
            <a:r>
              <a:t>- 48-kong-guided-evaluation.md#seven-workstream-target-aligned-proof-programme</a:t>
            </a:r>
          </a:p>
          <a:p>
            <a:r>
              <a:t>- 48-kong-guided-evaluation.md#traceable-by-harness-security-adjunct-feasibility</a:t>
            </a:r>
          </a:p>
          <a:p>
            <a:r>
              <a:t>- https://developer.konghq.com/gateway/version-support-policy/</a:t>
            </a:r>
          </a:p>
          <a:p>
            <a:r>
              <a:t>- https://developer.konghq.com/gateway/hybrid-mode/</a:t>
            </a:r>
          </a:p>
          <a:p>
            <a:r>
              <a:t>- https://developer.konghq.com/gateway/monitoring/</a:t>
            </a:r>
          </a:p>
          <a:p>
            <a:r>
              <a:t>- https://developer.konghq.com/ai-gateway/</a:t>
            </a:r>
          </a:p>
          <a:p>
            <a:r>
              <a:t>- https://docs.traceable.ai/kong</a:t>
            </a:r>
          </a:p>
          <a:p>
            <a:r>
              <a:t>- https://developer.konghq.com/plugins/harness-waap/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Translate the first five production outcomes into decision evidence.</a:t>
            </a:r>
          </a:p>
          <a:p>
            <a:endParaRPr/>
          </a:p>
          <a:p>
            <a:r>
              <a:t>[Talk track]</a:t>
            </a:r>
          </a:p>
          <a:p>
            <a:r>
              <a:t>Each mechanism is paired with a measurable outcome and a reviewable artifact. State fidelity, request reliability, trust admission, recovery and safe change are all separate admission dimensions.</a:t>
            </a:r>
          </a:p>
          <a:p>
            <a:endParaRPr/>
          </a:p>
          <a:p>
            <a:r>
              <a:t>[Ask]</a:t>
            </a:r>
          </a:p>
          <a:p>
            <a:r>
              <a:t>Confirm target forms, artifacts, cadence and accountable owners for KO-1 through KO-5.</a:t>
            </a:r>
          </a:p>
          <a:p>
            <a:endParaRPr/>
          </a:p>
          <a:p>
            <a:r>
              <a:t>[Bridge]</a:t>
            </a:r>
          </a:p>
          <a:p>
            <a:r>
              <a:t>Scale also depends on capacity, adoption, economics, exit and estate truth.</a:t>
            </a:r>
          </a:p>
          <a:p>
            <a:endParaRPr/>
          </a:p>
          <a:p>
            <a:r>
              <a:t>[Caveat]</a:t>
            </a:r>
          </a:p>
          <a:p>
            <a:r>
              <a:t>The slide shows target forms, not achieved results.</a:t>
            </a:r>
          </a:p>
          <a:p>
            <a:endParaRPr/>
          </a:p>
          <a:p>
            <a:r>
              <a:t>[Sources]</a:t>
            </a:r>
          </a:p>
          <a:p>
            <a:r>
              <a:t>- 47-kong-enterprise-platform-strategy.md</a:t>
            </a:r>
          </a:p>
          <a:p>
            <a:r>
              <a:t>- 48-kong-guided-evaluation.md</a:t>
            </a:r>
          </a:p>
          <a:p>
            <a:r>
              <a:t>- https://developer.konghq.com/gateway/hybrid-mode/</a:t>
            </a:r>
          </a:p>
          <a:p>
            <a:r>
              <a:t>- https://developer.konghq.com/gateway/monitoring/</a:t>
            </a:r>
          </a:p>
          <a:p>
            <a:r>
              <a:t>- https://developer.konghq.com/ai-gateway/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Complete the production decision with non-functional and organizational outcomes.</a:t>
            </a:r>
          </a:p>
          <a:p>
            <a:endParaRPr/>
          </a:p>
          <a:p>
            <a:r>
              <a:t>[Talk track]</a:t>
            </a:r>
          </a:p>
          <a:p>
            <a:r>
              <a:t>Capacity and evidence safety matter, but so do adoption, operating sustainability, exit readiness and accurate estate ownership. KO-7 is an outcome: administrative/configuration audit, request and security-decision correlation, business evidence, quantified produced/queued/dropped/delivered gaps, and prohibited-field control. Traceable may be one candidate mechanism, but no product name can make KO-7 pass.</a:t>
            </a:r>
          </a:p>
          <a:p>
            <a:endParaRPr/>
          </a:p>
          <a:p>
            <a:r>
              <a:t>[Ask]</a:t>
            </a:r>
          </a:p>
          <a:p>
            <a:r>
              <a:t>Confirm which outcome is currently the likely scale blocker, which public role owns it, and whether any Traceable dependency is being treated as a mechanism to prove rather than an achieved outcome.</a:t>
            </a:r>
          </a:p>
          <a:p>
            <a:endParaRPr/>
          </a:p>
          <a:p>
            <a:r>
              <a:t>[Bridge]</a:t>
            </a:r>
          </a:p>
          <a:p>
            <a:r>
              <a:t>The final decision must preserve four outcomes: scale, narrow, switch custody or exit.</a:t>
            </a:r>
          </a:p>
          <a:p>
            <a:endParaRPr/>
          </a:p>
          <a:p>
            <a:r>
              <a:t>[Caveat]</a:t>
            </a:r>
          </a:p>
          <a:p>
            <a:r>
              <a:t>These are acceptance categories; no result is asserted on this slide. GEP-07 evidence may inform KO-7 only inside its exact tested boundary and cannot substitute for configuration audit, signal-gap accounting, business correlation, or enterprise evidence controls.</a:t>
            </a:r>
          </a:p>
          <a:p>
            <a:endParaRPr/>
          </a:p>
          <a:p>
            <a:r>
              <a:t>[Sources]</a:t>
            </a:r>
          </a:p>
          <a:p>
            <a:r>
              <a:t>- 47-kong-enterprise-platform-strategy.md</a:t>
            </a:r>
          </a:p>
          <a:p>
            <a:r>
              <a:t>- 48-kong-guided-evaluation.md</a:t>
            </a:r>
          </a:p>
          <a:p>
            <a:r>
              <a:t>- 48-kong-guided-evaluation.md#traceable-by-harness-security-adjunct-feasibility</a:t>
            </a:r>
          </a:p>
          <a:p>
            <a:r>
              <a:t>- https://developer.konghq.com/gateway/hybrid-mode/</a:t>
            </a:r>
          </a:p>
          <a:p>
            <a:r>
              <a:t>- https://developer.konghq.com/gateway/monitoring/</a:t>
            </a:r>
          </a:p>
          <a:p>
            <a:r>
              <a:t>- https://developer.konghq.com/ai-gateway/</a:t>
            </a:r>
          </a:p>
          <a:p>
            <a:r>
              <a:t>- https://docs.traceable.ai/kong</a:t>
            </a:r>
          </a:p>
          <a:p>
            <a:r>
              <a:t>- https://developer.konghq.com/plugins/harness-waap/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Close with a falsifiable decision rather than a predetermined rollout.</a:t>
            </a:r>
          </a:p>
          <a:p>
            <a:endParaRPr/>
          </a:p>
          <a:p>
            <a:r>
              <a:t>[Talk track]</a:t>
            </a:r>
          </a:p>
          <a:p>
            <a:r>
              <a:t>Before evidence runs, commit to four possible outcomes: scale, narrow, switch custody or exit the platform. Recommendation changes when external API governance dominates, Anypoint remains strategic, Azure consolidation outweighs neutrality, custody/offline requirements fail, or E3/E4 and TCO evidence does not close.</a:t>
            </a:r>
          </a:p>
          <a:p>
            <a:endParaRPr/>
          </a:p>
          <a:p>
            <a:r>
              <a:t>[Ask]</a:t>
            </a:r>
          </a:p>
          <a:p>
            <a:r>
              <a:t>Approve the decision outcomes and the authority to stop or change course.</a:t>
            </a:r>
          </a:p>
          <a:p>
            <a:endParaRPr/>
          </a:p>
          <a:p>
            <a:r>
              <a:t>[Bridge]</a:t>
            </a:r>
          </a:p>
          <a:p>
            <a:r>
              <a:t>The appendix preserves the supplied comparison inputs without presenting them as proven facts.</a:t>
            </a:r>
          </a:p>
          <a:p>
            <a:endParaRPr/>
          </a:p>
          <a:p>
            <a:r>
              <a:t>[Caveat]</a:t>
            </a:r>
          </a:p>
          <a:p>
            <a:r>
              <a:t>No outcome is preselected. Konnect is a custody switch; a true platform exit remains separate.</a:t>
            </a:r>
          </a:p>
          <a:p>
            <a:endParaRPr/>
          </a:p>
          <a:p>
            <a:r>
              <a:t>[Sources]</a:t>
            </a:r>
          </a:p>
          <a:p>
            <a:r>
              <a:t>- 47-kong-enterprise-platform-strategy.md</a:t>
            </a:r>
          </a:p>
          <a:p>
            <a:r>
              <a:t>- 48-kong-guided-evaluation.md</a:t>
            </a:r>
          </a:p>
          <a:p>
            <a:r>
              <a:t>- https://developer.konghq.com/gateway/hybrid-mode/</a:t>
            </a:r>
          </a:p>
          <a:p>
            <a:r>
              <a:t>- https://developer.konghq.com/gateway/monitoring/</a:t>
            </a:r>
          </a:p>
          <a:p>
            <a:r>
              <a:t>- https://developer.konghq.com/ai-gateway/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Preserve the sanitized supplied evaluation’s architectural comparison while making the new multicloud, scalability, and robustness obligations explicit.</a:t>
            </a:r>
          </a:p>
          <a:p>
            <a:endParaRPr/>
          </a:p>
          <a:p>
            <a:r>
              <a:t>[Talk track]</a:t>
            </a:r>
          </a:p>
          <a:p>
            <a:r>
              <a:t>The supplied labels remain stakeholder assessments preserved in docs/48. Official documentation supports high-level deployment mechanisms, not relative outcomes. GEC-19 keeps scalability and robustness explicitly unscored until equivalent target-shaped load, saturation, clean-node scale, failure, recovery, and reconciliation evidence exists. Multicloud must separate runtime placement from management dependency, sovereignty, failure independence, support, and operating cost.</a:t>
            </a:r>
          </a:p>
          <a:p>
            <a:endParaRPr/>
          </a:p>
          <a:p>
            <a:r>
              <a:t>[Ask]</a:t>
            </a:r>
          </a:p>
          <a:p>
            <a:r>
              <a:t>Use this table to assign symmetric architecture/SRE proof questions, not to add favorable labels or ratings in the room.</a:t>
            </a:r>
          </a:p>
          <a:p>
            <a:endParaRPr/>
          </a:p>
          <a:p>
            <a:r>
              <a:t>[Bridge]</a:t>
            </a:r>
          </a:p>
          <a:p>
            <a:r>
              <a:t>The next appendix page covers API management, experience and AI claims.</a:t>
            </a:r>
          </a:p>
          <a:p>
            <a:endParaRPr/>
          </a:p>
          <a:p>
            <a:r>
              <a:t>[Caveat]</a:t>
            </a:r>
          </a:p>
          <a:p>
            <a:r>
              <a:t>Qualitative ratings are not independently validated and may change by exact edition, release, topology, entitlement, workload, region, dependency, and operating model. “Multicloud” and “scalable” are not scoreable yes/no features.</a:t>
            </a:r>
          </a:p>
          <a:p>
            <a:endParaRPr/>
          </a:p>
          <a:p>
            <a:r>
              <a:t>[Sources]</a:t>
            </a:r>
          </a:p>
          <a:p>
            <a:r>
              <a:t>- 48-kong-guided-evaluation.md#supplied-comparison-input-architecture-and-delivery</a:t>
            </a:r>
          </a:p>
          <a:p>
            <a:r>
              <a:t>- 48-kong-guided-evaluation.md#meeting-feedback-assurance-crosswalk</a:t>
            </a:r>
          </a:p>
          <a:p>
            <a:r>
              <a:t>- 48-kong-guided-evaluation.md#proposed-governed-re-score</a:t>
            </a:r>
          </a:p>
          <a:p>
            <a:r>
              <a:t>- https://developer.konghq.com/gateway/deployment-topologies/</a:t>
            </a:r>
          </a:p>
          <a:p>
            <a:r>
              <a:t>- https://developer.konghq.com/gateway/hybrid-mode/</a:t>
            </a:r>
          </a:p>
          <a:p>
            <a:r>
              <a:t>- https://developer.konghq.com/ai-gateway/</a:t>
            </a:r>
          </a:p>
          <a:p>
            <a:r>
              <a:t>- https://docs.cloud.google.com/apigee/docs/hybrid/v1.16/what-is-hybrid</a:t>
            </a:r>
          </a:p>
          <a:p>
            <a:r>
              <a:t>- https://docs.mulesoft.com/gateway/latest/</a:t>
            </a:r>
          </a:p>
          <a:p>
            <a:r>
              <a:t>- https://learn.microsoft.com/en-us/azure/api-management/self-hosted-gateway-overview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Preserve the management and experience claims while making emerging AI and third-party security-adjunct evidence boundaries explicit.</a:t>
            </a:r>
          </a:p>
          <a:p>
            <a:endParaRPr/>
          </a:p>
          <a:p>
            <a:r>
              <a:t>[Talk track]</a:t>
            </a:r>
          </a:p>
          <a:p>
            <a:r>
              <a:t>Lifecycle, governance, portal, developer experience, AI, customization, and best-fit claims must be tested against required use cases. GEC-20 records Kong-plus-Traceable as documented feasibility only: a plugin/agent path does not prove exact 3.14 support, security effectiveness, traceability, data safety, performance, scaling, comparative parity, cost, or safe lifecycle behavior.</a:t>
            </a:r>
          </a:p>
          <a:p>
            <a:endParaRPr/>
          </a:p>
          <a:p>
            <a:r>
              <a:t>[Ask]</a:t>
            </a:r>
          </a:p>
          <a:p>
            <a:r>
              <a:t>Move every unverified adjective into the proof backlog with a public role owner, exact option/BOM, artifact, reviewer, and stop rule. Confirm that Traceable remains GEP-07 rather than a gateway option or score.</a:t>
            </a:r>
          </a:p>
          <a:p>
            <a:endParaRPr/>
          </a:p>
          <a:p>
            <a:r>
              <a:t>[Bridge]</a:t>
            </a:r>
          </a:p>
          <a:p>
            <a:r>
              <a:t>The next appendix page covers lock-in, cost, the supplied overall recommendation, and the evidence ceiling.</a:t>
            </a:r>
          </a:p>
          <a:p>
            <a:endParaRPr/>
          </a:p>
          <a:p>
            <a:r>
              <a:t>[Caveat]</a:t>
            </a:r>
          </a:p>
          <a:p>
            <a:r>
              <a:t>Product, plugin, agent, entitlement, support, and commercial terms are edition-, version-, topology-, and date-dependent. Current Traceable/Kong documentation is `E1` mechanism evidence only.</a:t>
            </a:r>
          </a:p>
          <a:p>
            <a:endParaRPr/>
          </a:p>
          <a:p>
            <a:r>
              <a:t>[Sources]</a:t>
            </a:r>
          </a:p>
          <a:p>
            <a:r>
              <a:t>- 48-kong-guided-evaluation.md#supplied-comparison-input-management-experience-and-ai</a:t>
            </a:r>
          </a:p>
          <a:p>
            <a:r>
              <a:t>- 48-kong-guided-evaluation.md#traceable-by-harness-security-adjunct-feasibility</a:t>
            </a:r>
          </a:p>
          <a:p>
            <a:r>
              <a:t>- https://developer.konghq.com/gateway/deployment-topologies/</a:t>
            </a:r>
          </a:p>
          <a:p>
            <a:r>
              <a:t>- https://developer.konghq.com/ai-gateway/</a:t>
            </a:r>
          </a:p>
          <a:p>
            <a:r>
              <a:t>- https://docs.traceable.ai/kong</a:t>
            </a:r>
          </a:p>
          <a:p>
            <a:r>
              <a:t>- https://developer.konghq.com/plugins/harness-waap/</a:t>
            </a:r>
          </a:p>
          <a:p>
            <a:r>
              <a:t>- https://docs.traceable.ai/docs/tracing-agents-rule-evaluation-for-protection</a:t>
            </a:r>
          </a:p>
          <a:p>
            <a:r>
              <a:t>- https://docs.cloud.google.com/apigee/docs/hybrid/v1.16/what-is-hybrid</a:t>
            </a:r>
          </a:p>
          <a:p>
            <a:r>
              <a:t>- https://docs.mulesoft.com/gateway/latest/</a:t>
            </a:r>
          </a:p>
          <a:p>
            <a:r>
              <a:t>- https://learn.microsoft.com/en-us/azure/api-management/self-hosted-gateway-overview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Expose pricing, operating-duty, adjunct-cost, lock-in, and exit claims as separate proof obligations rather than conclusions.</a:t>
            </a:r>
          </a:p>
          <a:p>
            <a:endParaRPr/>
          </a:p>
          <a:p>
            <a:r>
              <a:t>[Talk track]</a:t>
            </a:r>
          </a:p>
          <a:p>
            <a:r>
              <a:t>Public price pages define meters or quote boundaries, not a comparable price rank. Fully allocated TCO requires exact options and quotes plus infrastructure, PostgreSQL, PKI, platform/SRE/on-call labor, HA/DR, telemetry, portal/product tooling, network/egress, plugins and security adjuncts, support, migration, dual run, incident exposure, custody switch, and clean exit. Lock-in requires an observed representative non-source rebuild and a ledger of configuration/policy, identity/product state, data/analytics, plugin, procedure, support, and commercial dependencies.</a:t>
            </a:r>
          </a:p>
          <a:p>
            <a:endParaRPr/>
          </a:p>
          <a:p>
            <a:r>
              <a:t>[Ask]</a:t>
            </a:r>
          </a:p>
          <a:p>
            <a:r>
              <a:t>Assign public FinOps, sourcing, platform/SRE, security-adjunct, migration, and independent-review roles for the normalized low/base/high model, rebuild, custody switch, and clean-exit evidence.</a:t>
            </a:r>
          </a:p>
          <a:p>
            <a:endParaRPr/>
          </a:p>
          <a:p>
            <a:r>
              <a:t>[Bridge]</a:t>
            </a:r>
          </a:p>
          <a:p>
            <a:r>
              <a:t>The final appendix page exposes the raw score inputs and corrected arithmetic.</a:t>
            </a:r>
          </a:p>
          <a:p>
            <a:endParaRPr/>
          </a:p>
          <a:p>
            <a:r>
              <a:t>[Caveat]</a:t>
            </a:r>
          </a:p>
          <a:p>
            <a:r>
              <a:t>Commercial terms and estate leverage are organization- and date-specific. Do not publish restricted quotes. The public record should expose meter/quote boundaries, assumptions, role ownership, evidence state, and disposition only. Operating accountability is not a legal-liability verdict.</a:t>
            </a:r>
          </a:p>
          <a:p>
            <a:endParaRPr/>
          </a:p>
          <a:p>
            <a:r>
              <a:t>[Sources]</a:t>
            </a:r>
          </a:p>
          <a:p>
            <a:r>
              <a:t>- 48-kong-guided-evaluation.md#supplied-comparison-input-economics-and-evidence-ceiling</a:t>
            </a:r>
          </a:p>
          <a:p>
            <a:r>
              <a:t>- 48-kong-guided-evaluation.md#proposed-governed-re-score</a:t>
            </a:r>
          </a:p>
          <a:p>
            <a:r>
              <a:t>- https://konghq.com/pricing</a:t>
            </a:r>
          </a:p>
          <a:p>
            <a:r>
              <a:t>- https://cloud.google.com/apigee/pricing</a:t>
            </a:r>
          </a:p>
          <a:p>
            <a:r>
              <a:t>- https://www.mulesoft.com/anypoint-pricing</a:t>
            </a:r>
          </a:p>
          <a:p>
            <a:r>
              <a:t>- https://developer.konghq.com/gateway/deployment-topologies/</a:t>
            </a:r>
          </a:p>
          <a:p>
            <a:r>
              <a:t>- https://docs.cloud.google.com/apigee/docs/hybrid/v1.16/what-is-hybrid</a:t>
            </a:r>
          </a:p>
          <a:p>
            <a:r>
              <a:t>- https://docs.traceable.ai/kong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Provide an auditable record of the source scorecard while showing what the newly requested dimensions can do to the ranking when their ratings are honestly left unknown.</a:t>
            </a:r>
          </a:p>
          <a:p>
            <a:endParaRPr/>
          </a:p>
          <a:p>
            <a:r>
              <a:t>[Talk track]</a:t>
            </a:r>
          </a:p>
          <a:p>
            <a:r>
              <a:t>The sanitized inputs still recalculate to 93 for Kong, 85.5 for Apigee, and 77 for MuleSoft. The provisional scenario rebases those historical ratings to 60% and assigns 40% to `GRS-01`–`GRS-06`: multicloud, scalability/robustness, enterprise IAM and traceability, reversibility/vendor dependency, fully allocated TCO, and control-plane operating responsibility. Every new product rating remains `Unknown [0,10]`. That produces mechanical envelopes of 55.8–95.8 for Kong, 51.3–91.3 for Apigee, and 46.2–86.2 for MuleSoft. The ranges overlap completely enough that every option can still rank first. A midpoint of 5 is only a neutral drawing aid, not an assigned score.</a:t>
            </a:r>
          </a:p>
          <a:p>
            <a:endParaRPr/>
          </a:p>
          <a:p>
            <a:r>
              <a:t>[Ask]</a:t>
            </a:r>
          </a:p>
          <a:p>
            <a:r>
              <a:t>Review or amend the provisional weight split and double-counting rules, then assign accountable approval for exact options, mandatory gates, rubric, common evidence, ratings, confidence, scorers, sensitivity, bounds, regret, dissent and sign-off. Do not call the neutral midpoint or either range endpoint a product score.</a:t>
            </a:r>
          </a:p>
          <a:p>
            <a:endParaRPr/>
          </a:p>
          <a:p>
            <a:r>
              <a:t>[Bridge]</a:t>
            </a:r>
          </a:p>
          <a:p>
            <a:r>
              <a:t>Return to the bounded decision: direction plus proof, not critical scale.</a:t>
            </a:r>
          </a:p>
          <a:p>
            <a:endParaRPr/>
          </a:p>
          <a:p>
            <a:r>
              <a:t>[Caveat]</a:t>
            </a:r>
          </a:p>
          <a:p>
            <a:r>
              <a:t>The 0–10 bounds are uncertainty limits, not performance estimates or probabilities. Numerical-input coverage is 60%, common score-capable evidence coverage is 0%, and 30 mandatory gates remain unknown. Traceable earns no native Kong points. Control-plane responsibility is an operating-risk and cost input, not a legal-liability conclusion.</a:t>
            </a:r>
          </a:p>
          <a:p>
            <a:endParaRPr/>
          </a:p>
          <a:p>
            <a:r>
              <a:t>[Sources]</a:t>
            </a:r>
          </a:p>
          <a:p>
            <a:r>
              <a:t>- 48-kong-guided-evaluation.md#supplied-scoring-audit</a:t>
            </a:r>
          </a:p>
          <a:p>
            <a:r>
              <a:t>- 48-kong-guided-evaluation.md#provisional-weighting-and-uncertainty-scenario</a:t>
            </a:r>
          </a:p>
          <a:p>
            <a:r>
              <a:t>- 48-kong-guided-evaluation.md#proposed-governed-re-score</a:t>
            </a:r>
          </a:p>
          <a:p>
            <a:r>
              <a:t>- ../decision-matrix/scoring-guide.md</a:t>
            </a:r>
          </a:p>
          <a:p>
            <a:r>
              <a:t>- https://developer.konghq.com/gateway/deployment-topologies/</a:t>
            </a:r>
          </a:p>
          <a:p>
            <a:r>
              <a:t>- https://developer.konghq.com/ai-gateway/</a:t>
            </a:r>
          </a:p>
          <a:p>
            <a:r>
              <a:t>- https://konghq.com/pricing</a:t>
            </a:r>
          </a:p>
          <a:p>
            <a:r>
              <a:t>- https://docs.cloud.google.com/apigee/docs/hybrid/v1.16/what-is-hybrid</a:t>
            </a:r>
          </a:p>
          <a:p>
            <a:r>
              <a:t>- https://cloud.google.com/apigee/pricing</a:t>
            </a:r>
          </a:p>
          <a:p>
            <a:r>
              <a:t>- https://docs.mulesoft.com/gateway/latest/</a:t>
            </a:r>
          </a:p>
          <a:p>
            <a:r>
              <a:t>- https://www.mulesoft.com/anypoint-pricing</a:t>
            </a:r>
          </a:p>
          <a:p>
            <a:r>
              <a:t>- https://learn.microsoft.com/en-us/azure/api-management/self-hosted-gateway-overview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BB303-EDA5-1C19-8C41-0941CF994D5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617D73F-143E-C88B-20E5-DE183C2FF3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AC0A2B8-FB90-5D15-34EE-422500070821}"/>
              </a:ext>
            </a:extLst>
          </p:cNvPr>
          <p:cNvSpPr>
            <a:spLocks noGrp="1"/>
          </p:cNvSpPr>
          <p:nvPr>
            <p:ph type="dt" sz="half" idx="10"/>
          </p:nvPr>
        </p:nvSpPr>
        <p:spPr/>
        <p:txBody>
          <a:bodyPr/>
          <a:lstStyle/>
          <a:p>
            <a:fld id="{C51537AA-315F-204E-9EA9-888A22916B59}" type="datetimeFigureOut">
              <a:rPr lang="en-US" smtClean="0"/>
              <a:t>8/22/26</a:t>
            </a:fld>
            <a:endParaRPr lang="en-US"/>
          </a:p>
        </p:txBody>
      </p:sp>
      <p:sp>
        <p:nvSpPr>
          <p:cNvPr id="5" name="Footer Placeholder 4">
            <a:extLst>
              <a:ext uri="{FF2B5EF4-FFF2-40B4-BE49-F238E27FC236}">
                <a16:creationId xmlns:a16="http://schemas.microsoft.com/office/drawing/2014/main" id="{965FB58F-61CC-EBCB-667A-E840596AB8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D12900-6FB1-B78C-68D1-D8259222880B}"/>
              </a:ext>
            </a:extLst>
          </p:cNvPr>
          <p:cNvSpPr>
            <a:spLocks noGrp="1"/>
          </p:cNvSpPr>
          <p:nvPr>
            <p:ph type="sldNum" sz="quarter" idx="12"/>
          </p:nvPr>
        </p:nvSpPr>
        <p:spPr/>
        <p:txBody>
          <a:bodyPr/>
          <a:lstStyle/>
          <a:p>
            <a:fld id="{25E5E6C5-729B-4849-AC0C-1ABDA3863663}" type="slidenum">
              <a:rPr lang="en-US" smtClean="0"/>
              <a:t>‹#›</a:t>
            </a:fld>
            <a:endParaRPr lang="en-US"/>
          </a:p>
        </p:txBody>
      </p:sp>
    </p:spTree>
    <p:extLst>
      <p:ext uri="{BB962C8B-B14F-4D97-AF65-F5344CB8AC3E}">
        <p14:creationId xmlns:p14="http://schemas.microsoft.com/office/powerpoint/2010/main" val="26876220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5E568-3781-6941-3197-4ED1908B417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1C681C-E0A7-2371-B25E-9A889B7C2F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6D42C7-F7F9-43FA-CFDF-A762922F02D3}"/>
              </a:ext>
            </a:extLst>
          </p:cNvPr>
          <p:cNvSpPr>
            <a:spLocks noGrp="1"/>
          </p:cNvSpPr>
          <p:nvPr>
            <p:ph type="dt" sz="half" idx="10"/>
          </p:nvPr>
        </p:nvSpPr>
        <p:spPr/>
        <p:txBody>
          <a:bodyPr/>
          <a:lstStyle/>
          <a:p>
            <a:fld id="{C51537AA-315F-204E-9EA9-888A22916B59}" type="datetimeFigureOut">
              <a:rPr lang="en-US" smtClean="0"/>
              <a:t>8/22/26</a:t>
            </a:fld>
            <a:endParaRPr lang="en-US"/>
          </a:p>
        </p:txBody>
      </p:sp>
      <p:sp>
        <p:nvSpPr>
          <p:cNvPr id="5" name="Footer Placeholder 4">
            <a:extLst>
              <a:ext uri="{FF2B5EF4-FFF2-40B4-BE49-F238E27FC236}">
                <a16:creationId xmlns:a16="http://schemas.microsoft.com/office/drawing/2014/main" id="{78C6DB6C-4EE3-98DE-42B6-6CBC89A9D1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CDC120-9D6D-37A5-AF4A-538F3CCFFE4C}"/>
              </a:ext>
            </a:extLst>
          </p:cNvPr>
          <p:cNvSpPr>
            <a:spLocks noGrp="1"/>
          </p:cNvSpPr>
          <p:nvPr>
            <p:ph type="sldNum" sz="quarter" idx="12"/>
          </p:nvPr>
        </p:nvSpPr>
        <p:spPr/>
        <p:txBody>
          <a:bodyPr/>
          <a:lstStyle/>
          <a:p>
            <a:fld id="{25E5E6C5-729B-4849-AC0C-1ABDA3863663}" type="slidenum">
              <a:rPr lang="en-US" smtClean="0"/>
              <a:t>‹#›</a:t>
            </a:fld>
            <a:endParaRPr lang="en-US"/>
          </a:p>
        </p:txBody>
      </p:sp>
    </p:spTree>
    <p:extLst>
      <p:ext uri="{BB962C8B-B14F-4D97-AF65-F5344CB8AC3E}">
        <p14:creationId xmlns:p14="http://schemas.microsoft.com/office/powerpoint/2010/main" val="25574025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9D7DE-1CEC-8E53-94E7-6D6CBB6C40A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BDEFC4D-F133-DA36-74C6-382BECC1ACA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854883E-F16D-701D-A1E1-2A216D7F709E}"/>
              </a:ext>
            </a:extLst>
          </p:cNvPr>
          <p:cNvSpPr>
            <a:spLocks noGrp="1"/>
          </p:cNvSpPr>
          <p:nvPr>
            <p:ph type="dt" sz="half" idx="10"/>
          </p:nvPr>
        </p:nvSpPr>
        <p:spPr/>
        <p:txBody>
          <a:bodyPr/>
          <a:lstStyle/>
          <a:p>
            <a:fld id="{C51537AA-315F-204E-9EA9-888A22916B59}" type="datetimeFigureOut">
              <a:rPr lang="en-US" smtClean="0"/>
              <a:t>8/22/26</a:t>
            </a:fld>
            <a:endParaRPr lang="en-US"/>
          </a:p>
        </p:txBody>
      </p:sp>
      <p:sp>
        <p:nvSpPr>
          <p:cNvPr id="5" name="Footer Placeholder 4">
            <a:extLst>
              <a:ext uri="{FF2B5EF4-FFF2-40B4-BE49-F238E27FC236}">
                <a16:creationId xmlns:a16="http://schemas.microsoft.com/office/drawing/2014/main" id="{DBF2F618-1CA4-B987-9286-5648198C51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DCB726-BE3A-9BC9-69E9-BC15DDFFF7DB}"/>
              </a:ext>
            </a:extLst>
          </p:cNvPr>
          <p:cNvSpPr>
            <a:spLocks noGrp="1"/>
          </p:cNvSpPr>
          <p:nvPr>
            <p:ph type="sldNum" sz="quarter" idx="12"/>
          </p:nvPr>
        </p:nvSpPr>
        <p:spPr/>
        <p:txBody>
          <a:bodyPr/>
          <a:lstStyle/>
          <a:p>
            <a:fld id="{25E5E6C5-729B-4849-AC0C-1ABDA3863663}" type="slidenum">
              <a:rPr lang="en-US" smtClean="0"/>
              <a:t>‹#›</a:t>
            </a:fld>
            <a:endParaRPr lang="en-US"/>
          </a:p>
        </p:txBody>
      </p:sp>
    </p:spTree>
    <p:extLst>
      <p:ext uri="{BB962C8B-B14F-4D97-AF65-F5344CB8AC3E}">
        <p14:creationId xmlns:p14="http://schemas.microsoft.com/office/powerpoint/2010/main" val="11658895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B780E-8B31-49BE-339A-B0692D73E82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02A08B9-08A8-6809-F870-F3582F559C4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5E5A5C9-F1F1-526C-0735-C364087338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2049C0B-EFED-6E2E-E8DA-4F749140C869}"/>
              </a:ext>
            </a:extLst>
          </p:cNvPr>
          <p:cNvSpPr>
            <a:spLocks noGrp="1"/>
          </p:cNvSpPr>
          <p:nvPr>
            <p:ph type="dt" sz="half" idx="10"/>
          </p:nvPr>
        </p:nvSpPr>
        <p:spPr/>
        <p:txBody>
          <a:bodyPr/>
          <a:lstStyle/>
          <a:p>
            <a:fld id="{C51537AA-315F-204E-9EA9-888A22916B59}" type="datetimeFigureOut">
              <a:rPr lang="en-US" smtClean="0"/>
              <a:t>8/22/26</a:t>
            </a:fld>
            <a:endParaRPr lang="en-US"/>
          </a:p>
        </p:txBody>
      </p:sp>
      <p:sp>
        <p:nvSpPr>
          <p:cNvPr id="6" name="Footer Placeholder 5">
            <a:extLst>
              <a:ext uri="{FF2B5EF4-FFF2-40B4-BE49-F238E27FC236}">
                <a16:creationId xmlns:a16="http://schemas.microsoft.com/office/drawing/2014/main" id="{A9C2E1F6-1401-5FB4-0EF8-E9FF11F9AB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FF8D28-9A1A-0DA1-315B-77E311F628DE}"/>
              </a:ext>
            </a:extLst>
          </p:cNvPr>
          <p:cNvSpPr>
            <a:spLocks noGrp="1"/>
          </p:cNvSpPr>
          <p:nvPr>
            <p:ph type="sldNum" sz="quarter" idx="12"/>
          </p:nvPr>
        </p:nvSpPr>
        <p:spPr/>
        <p:txBody>
          <a:bodyPr/>
          <a:lstStyle/>
          <a:p>
            <a:fld id="{25E5E6C5-729B-4849-AC0C-1ABDA3863663}" type="slidenum">
              <a:rPr lang="en-US" smtClean="0"/>
              <a:t>‹#›</a:t>
            </a:fld>
            <a:endParaRPr lang="en-US"/>
          </a:p>
        </p:txBody>
      </p:sp>
    </p:spTree>
    <p:extLst>
      <p:ext uri="{BB962C8B-B14F-4D97-AF65-F5344CB8AC3E}">
        <p14:creationId xmlns:p14="http://schemas.microsoft.com/office/powerpoint/2010/main" val="7473226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BE9A4-CBF7-40B2-2CCA-C1F0B92E3B2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67501EC-023F-5ECD-839B-878A7236AF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456712-EA93-09C2-F4D2-BC3251EB463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17906A9-3AA0-533A-A2F1-7D93CF6198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6B8469-F9AB-6C2D-8B56-6C1FEB4651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0B7588-305F-340C-6977-744D194C20F0}"/>
              </a:ext>
            </a:extLst>
          </p:cNvPr>
          <p:cNvSpPr>
            <a:spLocks noGrp="1"/>
          </p:cNvSpPr>
          <p:nvPr>
            <p:ph type="dt" sz="half" idx="10"/>
          </p:nvPr>
        </p:nvSpPr>
        <p:spPr/>
        <p:txBody>
          <a:bodyPr/>
          <a:lstStyle/>
          <a:p>
            <a:fld id="{C51537AA-315F-204E-9EA9-888A22916B59}" type="datetimeFigureOut">
              <a:rPr lang="en-US" smtClean="0"/>
              <a:t>8/22/26</a:t>
            </a:fld>
            <a:endParaRPr lang="en-US"/>
          </a:p>
        </p:txBody>
      </p:sp>
      <p:sp>
        <p:nvSpPr>
          <p:cNvPr id="8" name="Footer Placeholder 7">
            <a:extLst>
              <a:ext uri="{FF2B5EF4-FFF2-40B4-BE49-F238E27FC236}">
                <a16:creationId xmlns:a16="http://schemas.microsoft.com/office/drawing/2014/main" id="{9D1F9887-9B63-CA62-992E-73053D830C9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078A85D-3729-612B-6FA8-14D1627814D3}"/>
              </a:ext>
            </a:extLst>
          </p:cNvPr>
          <p:cNvSpPr>
            <a:spLocks noGrp="1"/>
          </p:cNvSpPr>
          <p:nvPr>
            <p:ph type="sldNum" sz="quarter" idx="12"/>
          </p:nvPr>
        </p:nvSpPr>
        <p:spPr/>
        <p:txBody>
          <a:bodyPr/>
          <a:lstStyle/>
          <a:p>
            <a:fld id="{25E5E6C5-729B-4849-AC0C-1ABDA3863663}" type="slidenum">
              <a:rPr lang="en-US" smtClean="0"/>
              <a:t>‹#›</a:t>
            </a:fld>
            <a:endParaRPr lang="en-US"/>
          </a:p>
        </p:txBody>
      </p:sp>
    </p:spTree>
    <p:extLst>
      <p:ext uri="{BB962C8B-B14F-4D97-AF65-F5344CB8AC3E}">
        <p14:creationId xmlns:p14="http://schemas.microsoft.com/office/powerpoint/2010/main" val="2514263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680CD-2AE2-375E-FD42-47C9F4CD5B4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C7EB035-E195-8B4A-5564-170130B532B5}"/>
              </a:ext>
            </a:extLst>
          </p:cNvPr>
          <p:cNvSpPr>
            <a:spLocks noGrp="1"/>
          </p:cNvSpPr>
          <p:nvPr>
            <p:ph type="dt" sz="half" idx="10"/>
          </p:nvPr>
        </p:nvSpPr>
        <p:spPr/>
        <p:txBody>
          <a:bodyPr/>
          <a:lstStyle/>
          <a:p>
            <a:fld id="{C51537AA-315F-204E-9EA9-888A22916B59}" type="datetimeFigureOut">
              <a:rPr lang="en-US" smtClean="0"/>
              <a:t>8/22/26</a:t>
            </a:fld>
            <a:endParaRPr lang="en-US"/>
          </a:p>
        </p:txBody>
      </p:sp>
      <p:sp>
        <p:nvSpPr>
          <p:cNvPr id="4" name="Footer Placeholder 3">
            <a:extLst>
              <a:ext uri="{FF2B5EF4-FFF2-40B4-BE49-F238E27FC236}">
                <a16:creationId xmlns:a16="http://schemas.microsoft.com/office/drawing/2014/main" id="{9B717204-8EAD-DFBB-4233-93233248D9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707D31B-D5D6-E949-2FF9-CDD2292B006A}"/>
              </a:ext>
            </a:extLst>
          </p:cNvPr>
          <p:cNvSpPr>
            <a:spLocks noGrp="1"/>
          </p:cNvSpPr>
          <p:nvPr>
            <p:ph type="sldNum" sz="quarter" idx="12"/>
          </p:nvPr>
        </p:nvSpPr>
        <p:spPr/>
        <p:txBody>
          <a:bodyPr/>
          <a:lstStyle/>
          <a:p>
            <a:fld id="{25E5E6C5-729B-4849-AC0C-1ABDA3863663}" type="slidenum">
              <a:rPr lang="en-US" smtClean="0"/>
              <a:t>‹#›</a:t>
            </a:fld>
            <a:endParaRPr lang="en-US"/>
          </a:p>
        </p:txBody>
      </p:sp>
    </p:spTree>
    <p:extLst>
      <p:ext uri="{BB962C8B-B14F-4D97-AF65-F5344CB8AC3E}">
        <p14:creationId xmlns:p14="http://schemas.microsoft.com/office/powerpoint/2010/main" val="9090912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2ED2BC-0255-2351-D5D3-A61B33E23699}"/>
              </a:ext>
            </a:extLst>
          </p:cNvPr>
          <p:cNvSpPr>
            <a:spLocks noGrp="1"/>
          </p:cNvSpPr>
          <p:nvPr>
            <p:ph type="dt" sz="half" idx="10"/>
          </p:nvPr>
        </p:nvSpPr>
        <p:spPr/>
        <p:txBody>
          <a:bodyPr/>
          <a:lstStyle/>
          <a:p>
            <a:fld id="{C51537AA-315F-204E-9EA9-888A22916B59}" type="datetimeFigureOut">
              <a:rPr lang="en-US" smtClean="0"/>
              <a:t>8/22/26</a:t>
            </a:fld>
            <a:endParaRPr lang="en-US"/>
          </a:p>
        </p:txBody>
      </p:sp>
      <p:sp>
        <p:nvSpPr>
          <p:cNvPr id="3" name="Footer Placeholder 2">
            <a:extLst>
              <a:ext uri="{FF2B5EF4-FFF2-40B4-BE49-F238E27FC236}">
                <a16:creationId xmlns:a16="http://schemas.microsoft.com/office/drawing/2014/main" id="{0F0B7899-3A8F-1FD9-7972-CC5BB5509D3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DF4AF48-D81E-2883-10C1-DDAFF22436F1}"/>
              </a:ext>
            </a:extLst>
          </p:cNvPr>
          <p:cNvSpPr>
            <a:spLocks noGrp="1"/>
          </p:cNvSpPr>
          <p:nvPr>
            <p:ph type="sldNum" sz="quarter" idx="12"/>
          </p:nvPr>
        </p:nvSpPr>
        <p:spPr/>
        <p:txBody>
          <a:bodyPr/>
          <a:lstStyle/>
          <a:p>
            <a:fld id="{25E5E6C5-729B-4849-AC0C-1ABDA3863663}" type="slidenum">
              <a:rPr lang="en-US" smtClean="0"/>
              <a:t>‹#›</a:t>
            </a:fld>
            <a:endParaRPr lang="en-US"/>
          </a:p>
        </p:txBody>
      </p:sp>
    </p:spTree>
    <p:extLst>
      <p:ext uri="{BB962C8B-B14F-4D97-AF65-F5344CB8AC3E}">
        <p14:creationId xmlns:p14="http://schemas.microsoft.com/office/powerpoint/2010/main" val="2293672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94559-90D2-5C4C-8327-C2C93BBB74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76D56FC-D38F-02B6-C011-831380B1B34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1EECE74-E287-4118-F76A-0CF7D7EDFF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27A19D-47AA-50DB-4243-461B9C7D259E}"/>
              </a:ext>
            </a:extLst>
          </p:cNvPr>
          <p:cNvSpPr>
            <a:spLocks noGrp="1"/>
          </p:cNvSpPr>
          <p:nvPr>
            <p:ph type="dt" sz="half" idx="10"/>
          </p:nvPr>
        </p:nvSpPr>
        <p:spPr/>
        <p:txBody>
          <a:bodyPr/>
          <a:lstStyle/>
          <a:p>
            <a:fld id="{C51537AA-315F-204E-9EA9-888A22916B59}" type="datetimeFigureOut">
              <a:rPr lang="en-US" smtClean="0"/>
              <a:t>8/22/26</a:t>
            </a:fld>
            <a:endParaRPr lang="en-US"/>
          </a:p>
        </p:txBody>
      </p:sp>
      <p:sp>
        <p:nvSpPr>
          <p:cNvPr id="6" name="Footer Placeholder 5">
            <a:extLst>
              <a:ext uri="{FF2B5EF4-FFF2-40B4-BE49-F238E27FC236}">
                <a16:creationId xmlns:a16="http://schemas.microsoft.com/office/drawing/2014/main" id="{7983A457-4E04-9B33-399C-121AFD84BD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4146A5-31DA-9B61-6A8B-3D4C189B190B}"/>
              </a:ext>
            </a:extLst>
          </p:cNvPr>
          <p:cNvSpPr>
            <a:spLocks noGrp="1"/>
          </p:cNvSpPr>
          <p:nvPr>
            <p:ph type="sldNum" sz="quarter" idx="12"/>
          </p:nvPr>
        </p:nvSpPr>
        <p:spPr/>
        <p:txBody>
          <a:bodyPr/>
          <a:lstStyle/>
          <a:p>
            <a:fld id="{25E5E6C5-729B-4849-AC0C-1ABDA3863663}" type="slidenum">
              <a:rPr lang="en-US" smtClean="0"/>
              <a:t>‹#›</a:t>
            </a:fld>
            <a:endParaRPr lang="en-US"/>
          </a:p>
        </p:txBody>
      </p:sp>
    </p:spTree>
    <p:extLst>
      <p:ext uri="{BB962C8B-B14F-4D97-AF65-F5344CB8AC3E}">
        <p14:creationId xmlns:p14="http://schemas.microsoft.com/office/powerpoint/2010/main" val="2246722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4655F-479A-885F-A73C-F0EBB17BEC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E283AB7-2464-FB84-7C86-1F08911A25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95F9AFB-74D1-2C53-6418-A5C89D415B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AE4AE0-486E-99AC-1920-3C2BFD356780}"/>
              </a:ext>
            </a:extLst>
          </p:cNvPr>
          <p:cNvSpPr>
            <a:spLocks noGrp="1"/>
          </p:cNvSpPr>
          <p:nvPr>
            <p:ph type="dt" sz="half" idx="10"/>
          </p:nvPr>
        </p:nvSpPr>
        <p:spPr/>
        <p:txBody>
          <a:bodyPr/>
          <a:lstStyle/>
          <a:p>
            <a:fld id="{C51537AA-315F-204E-9EA9-888A22916B59}" type="datetimeFigureOut">
              <a:rPr lang="en-US" smtClean="0"/>
              <a:t>8/22/26</a:t>
            </a:fld>
            <a:endParaRPr lang="en-US"/>
          </a:p>
        </p:txBody>
      </p:sp>
      <p:sp>
        <p:nvSpPr>
          <p:cNvPr id="6" name="Footer Placeholder 5">
            <a:extLst>
              <a:ext uri="{FF2B5EF4-FFF2-40B4-BE49-F238E27FC236}">
                <a16:creationId xmlns:a16="http://schemas.microsoft.com/office/drawing/2014/main" id="{16C47721-C253-7701-19AB-DA73AEF1E6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4C027A-D303-A375-E31D-BCFFF8AEBE1D}"/>
              </a:ext>
            </a:extLst>
          </p:cNvPr>
          <p:cNvSpPr>
            <a:spLocks noGrp="1"/>
          </p:cNvSpPr>
          <p:nvPr>
            <p:ph type="sldNum" sz="quarter" idx="12"/>
          </p:nvPr>
        </p:nvSpPr>
        <p:spPr/>
        <p:txBody>
          <a:bodyPr/>
          <a:lstStyle/>
          <a:p>
            <a:fld id="{25E5E6C5-729B-4849-AC0C-1ABDA3863663}" type="slidenum">
              <a:rPr lang="en-US" smtClean="0"/>
              <a:t>‹#›</a:t>
            </a:fld>
            <a:endParaRPr lang="en-US"/>
          </a:p>
        </p:txBody>
      </p:sp>
    </p:spTree>
    <p:extLst>
      <p:ext uri="{BB962C8B-B14F-4D97-AF65-F5344CB8AC3E}">
        <p14:creationId xmlns:p14="http://schemas.microsoft.com/office/powerpoint/2010/main" val="3631691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0F717-7C93-2546-F30F-96A1E9533BB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8BA0402-362F-C691-BBD9-47D2DA7C27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B6AEF8-7EEC-08F2-C7AC-ABB8CE15CCFD}"/>
              </a:ext>
            </a:extLst>
          </p:cNvPr>
          <p:cNvSpPr>
            <a:spLocks noGrp="1"/>
          </p:cNvSpPr>
          <p:nvPr>
            <p:ph type="dt" sz="half" idx="10"/>
          </p:nvPr>
        </p:nvSpPr>
        <p:spPr/>
        <p:txBody>
          <a:bodyPr/>
          <a:lstStyle/>
          <a:p>
            <a:fld id="{C51537AA-315F-204E-9EA9-888A22916B59}" type="datetimeFigureOut">
              <a:rPr lang="en-US" smtClean="0"/>
              <a:t>8/22/26</a:t>
            </a:fld>
            <a:endParaRPr lang="en-US"/>
          </a:p>
        </p:txBody>
      </p:sp>
      <p:sp>
        <p:nvSpPr>
          <p:cNvPr id="5" name="Footer Placeholder 4">
            <a:extLst>
              <a:ext uri="{FF2B5EF4-FFF2-40B4-BE49-F238E27FC236}">
                <a16:creationId xmlns:a16="http://schemas.microsoft.com/office/drawing/2014/main" id="{C8A788B5-349D-3D3B-E392-62BEE84B24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632967-4B10-51B3-1FF5-C8A63160888F}"/>
              </a:ext>
            </a:extLst>
          </p:cNvPr>
          <p:cNvSpPr>
            <a:spLocks noGrp="1"/>
          </p:cNvSpPr>
          <p:nvPr>
            <p:ph type="sldNum" sz="quarter" idx="12"/>
          </p:nvPr>
        </p:nvSpPr>
        <p:spPr/>
        <p:txBody>
          <a:bodyPr/>
          <a:lstStyle/>
          <a:p>
            <a:fld id="{25E5E6C5-729B-4849-AC0C-1ABDA3863663}" type="slidenum">
              <a:rPr lang="en-US" smtClean="0"/>
              <a:t>‹#›</a:t>
            </a:fld>
            <a:endParaRPr lang="en-US"/>
          </a:p>
        </p:txBody>
      </p:sp>
    </p:spTree>
    <p:extLst>
      <p:ext uri="{BB962C8B-B14F-4D97-AF65-F5344CB8AC3E}">
        <p14:creationId xmlns:p14="http://schemas.microsoft.com/office/powerpoint/2010/main" val="13971704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5AA6D4B-40FF-3254-4383-3DE95C2FBAF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57516BF-E6C2-FB30-D1E4-3756862AC7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61E060-DCA5-8D91-E74A-F5F5FEF8DA78}"/>
              </a:ext>
            </a:extLst>
          </p:cNvPr>
          <p:cNvSpPr>
            <a:spLocks noGrp="1"/>
          </p:cNvSpPr>
          <p:nvPr>
            <p:ph type="dt" sz="half" idx="10"/>
          </p:nvPr>
        </p:nvSpPr>
        <p:spPr/>
        <p:txBody>
          <a:bodyPr/>
          <a:lstStyle/>
          <a:p>
            <a:fld id="{C51537AA-315F-204E-9EA9-888A22916B59}" type="datetimeFigureOut">
              <a:rPr lang="en-US" smtClean="0"/>
              <a:t>8/22/26</a:t>
            </a:fld>
            <a:endParaRPr lang="en-US"/>
          </a:p>
        </p:txBody>
      </p:sp>
      <p:sp>
        <p:nvSpPr>
          <p:cNvPr id="5" name="Footer Placeholder 4">
            <a:extLst>
              <a:ext uri="{FF2B5EF4-FFF2-40B4-BE49-F238E27FC236}">
                <a16:creationId xmlns:a16="http://schemas.microsoft.com/office/drawing/2014/main" id="{F131D593-9EC8-080D-BD76-DDE228E7E6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2B503E-48B9-52C5-5BD2-06C9C5AC7D0D}"/>
              </a:ext>
            </a:extLst>
          </p:cNvPr>
          <p:cNvSpPr>
            <a:spLocks noGrp="1"/>
          </p:cNvSpPr>
          <p:nvPr>
            <p:ph type="sldNum" sz="quarter" idx="12"/>
          </p:nvPr>
        </p:nvSpPr>
        <p:spPr/>
        <p:txBody>
          <a:bodyPr/>
          <a:lstStyle/>
          <a:p>
            <a:fld id="{25E5E6C5-729B-4849-AC0C-1ABDA3863663}" type="slidenum">
              <a:rPr lang="en-US" smtClean="0"/>
              <a:t>‹#›</a:t>
            </a:fld>
            <a:endParaRPr lang="en-US"/>
          </a:p>
        </p:txBody>
      </p:sp>
    </p:spTree>
    <p:extLst>
      <p:ext uri="{BB962C8B-B14F-4D97-AF65-F5344CB8AC3E}">
        <p14:creationId xmlns:p14="http://schemas.microsoft.com/office/powerpoint/2010/main" val="12975925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8275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71930C1-3456-7DE7-87E4-F02A00AFA4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46C1CDB-D0A1-F91C-A18B-F7E80491B0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872719-430F-03A1-F2F3-F317FD2683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51537AA-315F-204E-9EA9-888A22916B59}" type="datetimeFigureOut">
              <a:rPr lang="en-US" smtClean="0"/>
              <a:t>8/22/26</a:t>
            </a:fld>
            <a:endParaRPr lang="en-US"/>
          </a:p>
        </p:txBody>
      </p:sp>
      <p:sp>
        <p:nvSpPr>
          <p:cNvPr id="5" name="Footer Placeholder 4">
            <a:extLst>
              <a:ext uri="{FF2B5EF4-FFF2-40B4-BE49-F238E27FC236}">
                <a16:creationId xmlns:a16="http://schemas.microsoft.com/office/drawing/2014/main" id="{AF430D48-A7F7-AC94-0637-96BA458942E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B72C786-6B6F-41B4-7D2F-820C14EBBAB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5E5E6C5-729B-4849-AC0C-1ABDA3863663}" type="slidenum">
              <a:rPr lang="en-US" smtClean="0"/>
              <a:t>‹#›</a:t>
            </a:fld>
            <a:endParaRPr lang="en-US"/>
          </a:p>
        </p:txBody>
      </p:sp>
    </p:spTree>
    <p:extLst>
      <p:ext uri="{BB962C8B-B14F-4D97-AF65-F5344CB8AC3E}">
        <p14:creationId xmlns:p14="http://schemas.microsoft.com/office/powerpoint/2010/main" val="2432220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tomqwu/apim/blob/main/docs/48-kong-guided-evaluation.md"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hyperlink" Target="https://developer.konghq.com/gateway/deployment-topologies/"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tomqwu/apim/blob/main/docs/48-kong-guided-evaluation.md" TargetMode="External"/><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hyperlink" Target="https://docs.traceable.ai/kong"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tomqwu/apim/blob/main/docs/48-kong-guided-evaluation.md" TargetMode="External"/><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hyperlink" Target="https://konghq.com/pricing"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tomqwu/apim/blob/main/docs/48-kong-guided-evaluation.md" TargetMode="External"/><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hyperlink" Target="https://docs.cloud.google.com/apigee/docs/hybrid/v1.16/what-is-hybrid"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tomqwu/apim/blob/main/docs/48-kong-guided-evaluation.md" TargetMode="External"/><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hyperlink" Target="https://developer.konghq.com/gateway/deployment-topologies/"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tomqwu/apim/blob/main/docs/48-kong-guided-evaluation.md" TargetMode="External"/><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hyperlink" Target="https://developer.konghq.com/gateway/hybrid-mode/"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tomqwu/apim/blob/main/docs/44-kong-multicloud-study-roadmap.md" TargetMode="External"/><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hyperlink" Target="https://developer.konghq.com/gateway/hybrid-mode/"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tomqwu/apim/blob/main/docs/47-kong-enterprise-platform-strategy.md" TargetMode="External"/><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hyperlink" Target="https://developer.konghq.com/gateway/hybrid-mode/"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tomqwu/apim/blob/main/docs/47-kong-enterprise-platform-strategy.md" TargetMode="External"/><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hyperlink" Target="https://developer.konghq.com/gateway/hybrid-mode/"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tomqwu/apim/blob/main/docs/47-kong-enterprise-platform-strategy.md" TargetMode="External"/><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hyperlink" Target="https://developer.konghq.com/gateway/hybrid-mode/"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tomqwu/apim/blob/main/docs/47-kong-enterprise-platform-strategy.md" TargetMode="External"/><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hyperlink" Target="https://developer.konghq.com/gateway/hybrid-mode/"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tomqwu/apim/blob/main/docs/47-kong-enterprise-platform-strategy.md" TargetMode="External"/><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hyperlink" Target="https://developer.konghq.com/gateway/monitoring/"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tomqwu/apim/blob/main/docs/47-kong-enterprise-platform-strategy.md" TargetMode="External"/><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hyperlink" Target="https://developer.konghq.com/gateway/hybrid-mode/"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tomqwu/apim/blob/main/docs/35-mule-migration-strategy.md" TargetMode="External"/><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hyperlink" Target="https://developer.konghq.com/gateway/entities/"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tomqwu/apim/blob/main/docs/35-mule-migration-strategy.md" TargetMode="External"/><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hyperlink" Target="https://docs.mulesoft.com/gateway/latest/"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tomqwu/apim/blob/main/docs/50-apigee-migration-strategy.md" TargetMode="External"/><Relationship Id="rId7" Type="http://schemas.openxmlformats.org/officeDocument/2006/relationships/hyperlink" Target="https://github.com/tomqwu/apim/blob/main/research/glossary.md#kong-terminology-crosswalk" TargetMode="External"/><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hyperlink" Target="https://github.com/tomqwu/apim/blob/main/docs/35-mule-migration-strategy.md" TargetMode="External"/><Relationship Id="rId5" Type="http://schemas.openxmlformats.org/officeDocument/2006/relationships/hyperlink" Target="https://github.com/tomqwu/apim/blob/main/docs/50-apigee-migration-strategy.md#proposed-a0a6-migration-roadmap" TargetMode="External"/><Relationship Id="rId4" Type="http://schemas.openxmlformats.org/officeDocument/2006/relationships/hyperlink" Target="https://docs.cloud.google.com/apigee/docs/api-platform/reference/api-proxy-configuration-reference"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tomqwu/apim/blob/main/poc/README.md" TargetMode="External"/><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hyperlink" Target="https://developer.konghq.com/gateway/monitoring/"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tomqwu/apim/blob/main/docs/48-kong-guided-evaluation.md" TargetMode="External"/><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hyperlink" Target="https://docs.traceable.ai/kong"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tomqwu/apim/blob/main/docs/47-kong-enterprise-platform-strategy.md" TargetMode="External"/><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hyperlink" Target="https://developer.konghq.com/gateway/monitoring/"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github.com/tomqwu/apim/blob/main/docs/47-kong-enterprise-platform-strategy.md" TargetMode="External"/><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hyperlink" Target="https://developer.konghq.com/gateway/monitoring/"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github.com/tomqwu/apim/blob/main/docs/47-kong-enterprise-platform-strategy.md" TargetMode="External"/><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hyperlink" Target="https://developer.konghq.com/gateway/monitoring/"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github.com/tomqwu/apim/blob/main/docs/48-kong-guided-evaluation.md" TargetMode="External"/><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hyperlink" Target="https://developer.konghq.com/gateway/deployment-topologies/"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github.com/tomqwu/apim/blob/main/docs/48-kong-guided-evaluation.md" TargetMode="External"/><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hyperlink" Target="https://docs.traceable.ai/kong"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github.com/tomqwu/apim/blob/main/docs/48-kong-guided-evaluation.md" TargetMode="External"/><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hyperlink" Target="https://konghq.com/pricing"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github.com/tomqwu/apim/blob/main/docs/48-kong-guided-evaluation.md" TargetMode="External"/><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hyperlink" Target="https://konghq.com/pric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F9B7B2B-3FC6-4E20-A1EB-47EE06CB9A23}"/>
              </a:ext>
            </a:extLst>
          </p:cNvPr>
          <p:cNvSpPr>
            <a:spLocks noGrp="1"/>
          </p:cNvSpPr>
          <p:nvPr/>
        </p:nvSpPr>
        <p:spPr>
          <a:xfrm>
            <a:off x="0" y="0"/>
            <a:ext cx="12192000" cy="133350"/>
          </a:xfrm>
          <a:prstGeom prst="rect">
            <a:avLst/>
          </a:prstGeom>
          <a:solidFill>
            <a:srgbClr val="FFC72C"/>
          </a:solidFill>
          <a:ln w="0">
            <a:noFill/>
            <a:prstDash val="solid"/>
          </a:ln>
        </p:spPr>
        <p:txBody>
          <a:bodyPr/>
          <a:lstStyle/>
          <a:p>
            <a:endParaRPr lang="en-US"/>
          </a:p>
        </p:txBody>
      </p:sp>
      <p:sp>
        <p:nvSpPr>
          <p:cNvPr id="2" name="Rectangle 1">
            <a:extLst>
              <a:ext uri="{FF2B5EF4-FFF2-40B4-BE49-F238E27FC236}">
                <a16:creationId xmlns:a16="http://schemas.microsoft.com/office/drawing/2014/main" id="{B10B1027-8704-4CD2-AB9C-6738D5E38DAC}"/>
              </a:ext>
            </a:extLst>
          </p:cNvPr>
          <p:cNvSpPr>
            <a:spLocks noGrp="1"/>
          </p:cNvSpPr>
          <p:nvPr/>
        </p:nvSpPr>
        <p:spPr>
          <a:xfrm>
            <a:off x="10287000" y="0"/>
            <a:ext cx="1905000" cy="133350"/>
          </a:xfrm>
          <a:prstGeom prst="rect">
            <a:avLst/>
          </a:prstGeom>
          <a:solidFill>
            <a:srgbClr val="5537D6"/>
          </a:solidFill>
          <a:ln w="0">
            <a:noFill/>
            <a:prstDash val="solid"/>
          </a:ln>
        </p:spPr>
        <p:txBody>
          <a:bodyPr/>
          <a:lstStyle/>
          <a:p>
            <a:endParaRPr lang="en-US"/>
          </a:p>
        </p:txBody>
      </p:sp>
      <p:sp>
        <p:nvSpPr>
          <p:cNvPr id="3" name="Rectangle 2">
            <a:extLst>
              <a:ext uri="{FF2B5EF4-FFF2-40B4-BE49-F238E27FC236}">
                <a16:creationId xmlns:a16="http://schemas.microsoft.com/office/drawing/2014/main" id="{D7BD4DFB-F258-41BC-A20A-DCF625BE7B27}"/>
              </a:ext>
            </a:extLst>
          </p:cNvPr>
          <p:cNvSpPr>
            <a:spLocks noGrp="1"/>
          </p:cNvSpPr>
          <p:nvPr/>
        </p:nvSpPr>
        <p:spPr>
          <a:xfrm>
            <a:off x="685800" y="609600"/>
            <a:ext cx="4762500" cy="266700"/>
          </a:xfrm>
          <a:prstGeom prst="rect">
            <a:avLst/>
          </a:prstGeom>
          <a:noFill/>
          <a:ln w="0">
            <a:noFill/>
            <a:prstDash val="solid"/>
          </a:ln>
        </p:spPr>
        <p:txBody>
          <a:bodyPr wrap="square" lIns="0" tIns="0" rIns="0" bIns="0" anchor="t">
            <a:normAutofit/>
          </a:bodyPr>
          <a:lstStyle/>
          <a:p>
            <a:pPr algn="l">
              <a:buNone/>
              <a:defRPr sz="1200" b="1" i="0">
                <a:solidFill>
                  <a:srgbClr val="5537D6"/>
                </a:solidFill>
                <a:latin typeface="Consolas"/>
                <a:ea typeface="Consolas"/>
                <a:cs typeface="Consolas"/>
              </a:defRPr>
            </a:pPr>
            <a:r>
              <a:rPr sz="1200" b="1" i="0">
                <a:solidFill>
                  <a:srgbClr val="5537D6"/>
                </a:solidFill>
                <a:latin typeface="Consolas"/>
                <a:ea typeface="Consolas"/>
                <a:cs typeface="Consolas"/>
              </a:rPr>
              <a:t>GUIDED DECISION DECK</a:t>
            </a:r>
          </a:p>
        </p:txBody>
      </p:sp>
      <p:sp>
        <p:nvSpPr>
          <p:cNvPr id="4" name="Rectangle 3">
            <a:extLst>
              <a:ext uri="{FF2B5EF4-FFF2-40B4-BE49-F238E27FC236}">
                <a16:creationId xmlns:a16="http://schemas.microsoft.com/office/drawing/2014/main" id="{B110D842-6E78-4D59-84FF-324A2F147523}"/>
              </a:ext>
            </a:extLst>
          </p:cNvPr>
          <p:cNvSpPr>
            <a:spLocks noGrp="1"/>
          </p:cNvSpPr>
          <p:nvPr/>
        </p:nvSpPr>
        <p:spPr>
          <a:xfrm>
            <a:off x="685800" y="1200150"/>
            <a:ext cx="8858250" cy="2857500"/>
          </a:xfrm>
          <a:prstGeom prst="rect">
            <a:avLst/>
          </a:prstGeom>
          <a:noFill/>
          <a:ln w="0">
            <a:noFill/>
            <a:prstDash val="solid"/>
          </a:ln>
        </p:spPr>
        <p:txBody>
          <a:bodyPr wrap="square" lIns="0" tIns="0" rIns="0" bIns="0" anchor="t">
            <a:normAutofit/>
          </a:bodyPr>
          <a:lstStyle/>
          <a:p>
            <a:pPr algn="l">
              <a:buNone/>
              <a:defRPr sz="4650" b="1" i="0">
                <a:solidFill>
                  <a:srgbClr val="111111"/>
                </a:solidFill>
                <a:latin typeface="Arial"/>
                <a:ea typeface="Arial"/>
                <a:cs typeface="Arial"/>
              </a:defRPr>
            </a:pPr>
            <a:r>
              <a:rPr sz="4650" b="1" i="0">
                <a:solidFill>
                  <a:srgbClr val="111111"/>
                </a:solidFill>
                <a:latin typeface="Arial"/>
                <a:ea typeface="Arial"/>
                <a:cs typeface="Arial"/>
              </a:rPr>
              <a:t>API management</a:t>
            </a:r>
          </a:p>
          <a:p>
            <a:pPr algn="l">
              <a:buNone/>
              <a:defRPr sz="4650" b="1" i="0">
                <a:solidFill>
                  <a:srgbClr val="111111"/>
                </a:solidFill>
                <a:latin typeface="Arial"/>
                <a:ea typeface="Arial"/>
                <a:cs typeface="Arial"/>
              </a:defRPr>
            </a:pPr>
            <a:r>
              <a:rPr sz="4650" b="1" i="0">
                <a:solidFill>
                  <a:srgbClr val="111111"/>
                </a:solidFill>
                <a:latin typeface="Arial"/>
                <a:ea typeface="Arial"/>
                <a:cs typeface="Arial"/>
              </a:rPr>
              <a:t>from platform choice</a:t>
            </a:r>
          </a:p>
          <a:p>
            <a:pPr algn="l">
              <a:buNone/>
              <a:defRPr sz="4650" b="1" i="0">
                <a:solidFill>
                  <a:srgbClr val="111111"/>
                </a:solidFill>
                <a:latin typeface="Arial"/>
                <a:ea typeface="Arial"/>
                <a:cs typeface="Arial"/>
              </a:defRPr>
            </a:pPr>
            <a:r>
              <a:rPr sz="4650" b="1" i="0">
                <a:solidFill>
                  <a:srgbClr val="111111"/>
                </a:solidFill>
                <a:latin typeface="Arial"/>
                <a:ea typeface="Arial"/>
                <a:cs typeface="Arial"/>
              </a:rPr>
              <a:t>to production proof</a:t>
            </a:r>
          </a:p>
        </p:txBody>
      </p:sp>
      <p:sp>
        <p:nvSpPr>
          <p:cNvPr id="5" name="Rectangle 4">
            <a:extLst>
              <a:ext uri="{FF2B5EF4-FFF2-40B4-BE49-F238E27FC236}">
                <a16:creationId xmlns:a16="http://schemas.microsoft.com/office/drawing/2014/main" id="{72D1D412-55F2-4320-BF68-DECDFCF3DBEA}"/>
              </a:ext>
            </a:extLst>
          </p:cNvPr>
          <p:cNvSpPr>
            <a:spLocks noGrp="1"/>
          </p:cNvSpPr>
          <p:nvPr/>
        </p:nvSpPr>
        <p:spPr>
          <a:xfrm>
            <a:off x="723900" y="4343400"/>
            <a:ext cx="7429500" cy="876300"/>
          </a:xfrm>
          <a:prstGeom prst="rect">
            <a:avLst/>
          </a:prstGeom>
          <a:noFill/>
          <a:ln w="0">
            <a:noFill/>
            <a:prstDash val="solid"/>
          </a:ln>
        </p:spPr>
        <p:txBody>
          <a:bodyPr wrap="square" lIns="0" tIns="0" rIns="0" bIns="0" anchor="t">
            <a:normAutofit/>
          </a:bodyPr>
          <a:lstStyle/>
          <a:p>
            <a:pPr algn="l">
              <a:buNone/>
              <a:defRPr sz="1800" b="0" i="0">
                <a:solidFill>
                  <a:srgbClr val="686A66"/>
                </a:solidFill>
                <a:latin typeface="Arial"/>
                <a:ea typeface="Arial"/>
                <a:cs typeface="Arial"/>
              </a:defRPr>
            </a:pPr>
            <a:r>
              <a:rPr sz="1800" b="0" i="0">
                <a:solidFill>
                  <a:srgbClr val="686A66"/>
                </a:solidFill>
                <a:latin typeface="Arial"/>
                <a:ea typeface="Arial"/>
                <a:cs typeface="Arial"/>
              </a:rPr>
              <a:t>A Kong-specific journey that merges the supplied assessment with architecture, adoption, migration and outcome gates.</a:t>
            </a:r>
          </a:p>
        </p:txBody>
      </p:sp>
      <p:sp>
        <p:nvSpPr>
          <p:cNvPr id="6" name="Rectangle 5">
            <a:extLst>
              <a:ext uri="{FF2B5EF4-FFF2-40B4-BE49-F238E27FC236}">
                <a16:creationId xmlns:a16="http://schemas.microsoft.com/office/drawing/2014/main" id="{4CDAEA33-4A1C-49BB-834D-4A451F11BEC0}"/>
              </a:ext>
            </a:extLst>
          </p:cNvPr>
          <p:cNvSpPr>
            <a:spLocks noGrp="1"/>
          </p:cNvSpPr>
          <p:nvPr/>
        </p:nvSpPr>
        <p:spPr>
          <a:xfrm>
            <a:off x="685800" y="5524500"/>
            <a:ext cx="10820400" cy="9525"/>
          </a:xfrm>
          <a:prstGeom prst="rect">
            <a:avLst/>
          </a:prstGeom>
          <a:solidFill>
            <a:srgbClr val="8A8B86"/>
          </a:solidFill>
          <a:ln w="0">
            <a:noFill/>
            <a:prstDash val="solid"/>
          </a:ln>
        </p:spPr>
        <p:txBody>
          <a:bodyPr/>
          <a:lstStyle/>
          <a:p>
            <a:endParaRPr lang="en-US"/>
          </a:p>
        </p:txBody>
      </p:sp>
      <p:sp>
        <p:nvSpPr>
          <p:cNvPr id="7" name="Rounded Rectangle 6">
            <a:extLst>
              <a:ext uri="{FF2B5EF4-FFF2-40B4-BE49-F238E27FC236}">
                <a16:creationId xmlns:a16="http://schemas.microsoft.com/office/drawing/2014/main" id="{9DE88FC0-A3F7-4C12-B35F-360A9ABEF4BB}"/>
              </a:ext>
            </a:extLst>
          </p:cNvPr>
          <p:cNvSpPr>
            <a:spLocks noGrp="1"/>
          </p:cNvSpPr>
          <p:nvPr/>
        </p:nvSpPr>
        <p:spPr>
          <a:xfrm>
            <a:off x="685800" y="5772150"/>
            <a:ext cx="1771650" cy="361950"/>
          </a:xfrm>
          <a:prstGeom prst="roundRect">
            <a:avLst>
              <a:gd name="adj" fmla="val 21053"/>
            </a:avLst>
          </a:prstGeom>
          <a:solidFill>
            <a:srgbClr val="FFC72C"/>
          </a:solidFill>
          <a:ln w="9525">
            <a:solidFill>
              <a:srgbClr val="FFC72C"/>
            </a:solidFill>
            <a:prstDash val="solid"/>
          </a:ln>
        </p:spPr>
        <p:txBody>
          <a:bodyPr lIns="76200" tIns="38100" rIns="76200" bIns="38100" anchor="ctr">
            <a:normAutofit/>
          </a:bodyPr>
          <a:lstStyle/>
          <a:p>
            <a:pPr algn="ctr">
              <a:buNone/>
              <a:defRPr sz="1125" b="1">
                <a:solidFill>
                  <a:srgbClr val="111111"/>
                </a:solidFill>
                <a:latin typeface="Consolas"/>
                <a:ea typeface="Consolas"/>
                <a:cs typeface="Consolas"/>
              </a:defRPr>
            </a:pPr>
            <a:r>
              <a:rPr sz="1125" b="1">
                <a:solidFill>
                  <a:srgbClr val="111111"/>
                </a:solidFill>
                <a:latin typeface="Consolas"/>
                <a:ea typeface="Consolas"/>
                <a:cs typeface="Consolas"/>
              </a:rPr>
              <a:t>OPTIONS</a:t>
            </a:r>
          </a:p>
        </p:txBody>
      </p:sp>
      <p:sp>
        <p:nvSpPr>
          <p:cNvPr id="8" name="Rounded Rectangle 7">
            <a:extLst>
              <a:ext uri="{FF2B5EF4-FFF2-40B4-BE49-F238E27FC236}">
                <a16:creationId xmlns:a16="http://schemas.microsoft.com/office/drawing/2014/main" id="{15504A6E-1C7D-49BF-8457-BEECE448524F}"/>
              </a:ext>
            </a:extLst>
          </p:cNvPr>
          <p:cNvSpPr>
            <a:spLocks noGrp="1"/>
          </p:cNvSpPr>
          <p:nvPr/>
        </p:nvSpPr>
        <p:spPr>
          <a:xfrm>
            <a:off x="2724150" y="5772150"/>
            <a:ext cx="1771650" cy="361950"/>
          </a:xfrm>
          <a:prstGeom prst="roundRect">
            <a:avLst>
              <a:gd name="adj" fmla="val 21053"/>
            </a:avLst>
          </a:prstGeom>
          <a:solidFill>
            <a:srgbClr val="FFFCF5"/>
          </a:solidFill>
          <a:ln w="9525">
            <a:solidFill>
              <a:srgbClr val="111111"/>
            </a:solidFill>
            <a:prstDash val="solid"/>
          </a:ln>
        </p:spPr>
        <p:txBody>
          <a:bodyPr lIns="76200" tIns="38100" rIns="76200" bIns="38100" anchor="ctr">
            <a:normAutofit/>
          </a:bodyPr>
          <a:lstStyle/>
          <a:p>
            <a:pPr algn="ctr">
              <a:buNone/>
              <a:defRPr sz="1125" b="1">
                <a:solidFill>
                  <a:srgbClr val="111111"/>
                </a:solidFill>
                <a:latin typeface="Consolas"/>
                <a:ea typeface="Consolas"/>
                <a:cs typeface="Consolas"/>
              </a:defRPr>
            </a:pPr>
            <a:r>
              <a:rPr sz="1125" b="1">
                <a:solidFill>
                  <a:srgbClr val="111111"/>
                </a:solidFill>
                <a:latin typeface="Consolas"/>
                <a:ea typeface="Consolas"/>
                <a:cs typeface="Consolas"/>
              </a:rPr>
              <a:t>ARCHITECTURE</a:t>
            </a:r>
          </a:p>
        </p:txBody>
      </p:sp>
      <p:sp>
        <p:nvSpPr>
          <p:cNvPr id="9" name="Rounded Rectangle 8">
            <a:extLst>
              <a:ext uri="{FF2B5EF4-FFF2-40B4-BE49-F238E27FC236}">
                <a16:creationId xmlns:a16="http://schemas.microsoft.com/office/drawing/2014/main" id="{DA1F3E58-2009-40D8-B5AC-B53482913FF7}"/>
              </a:ext>
            </a:extLst>
          </p:cNvPr>
          <p:cNvSpPr>
            <a:spLocks noGrp="1"/>
          </p:cNvSpPr>
          <p:nvPr/>
        </p:nvSpPr>
        <p:spPr>
          <a:xfrm>
            <a:off x="4762500" y="5772150"/>
            <a:ext cx="1771650" cy="361950"/>
          </a:xfrm>
          <a:prstGeom prst="roundRect">
            <a:avLst>
              <a:gd name="adj" fmla="val 21053"/>
            </a:avLst>
          </a:prstGeom>
          <a:solidFill>
            <a:srgbClr val="FFFCF5"/>
          </a:solidFill>
          <a:ln w="9525">
            <a:solidFill>
              <a:srgbClr val="111111"/>
            </a:solidFill>
            <a:prstDash val="solid"/>
          </a:ln>
        </p:spPr>
        <p:txBody>
          <a:bodyPr lIns="76200" tIns="38100" rIns="76200" bIns="38100" anchor="ctr">
            <a:normAutofit/>
          </a:bodyPr>
          <a:lstStyle/>
          <a:p>
            <a:pPr algn="ctr">
              <a:buNone/>
              <a:defRPr sz="1125" b="1">
                <a:solidFill>
                  <a:srgbClr val="111111"/>
                </a:solidFill>
                <a:latin typeface="Consolas"/>
                <a:ea typeface="Consolas"/>
                <a:cs typeface="Consolas"/>
              </a:defRPr>
            </a:pPr>
            <a:r>
              <a:rPr sz="1125" b="1">
                <a:solidFill>
                  <a:srgbClr val="111111"/>
                </a:solidFill>
                <a:latin typeface="Consolas"/>
                <a:ea typeface="Consolas"/>
                <a:cs typeface="Consolas"/>
              </a:rPr>
              <a:t>ADOPTION</a:t>
            </a:r>
          </a:p>
        </p:txBody>
      </p:sp>
      <p:sp>
        <p:nvSpPr>
          <p:cNvPr id="10" name="Rounded Rectangle 9">
            <a:extLst>
              <a:ext uri="{FF2B5EF4-FFF2-40B4-BE49-F238E27FC236}">
                <a16:creationId xmlns:a16="http://schemas.microsoft.com/office/drawing/2014/main" id="{EECB76A1-87BE-412E-8501-74CE79906F97}"/>
              </a:ext>
            </a:extLst>
          </p:cNvPr>
          <p:cNvSpPr>
            <a:spLocks noGrp="1"/>
          </p:cNvSpPr>
          <p:nvPr/>
        </p:nvSpPr>
        <p:spPr>
          <a:xfrm>
            <a:off x="6800850" y="5772150"/>
            <a:ext cx="1771650" cy="361950"/>
          </a:xfrm>
          <a:prstGeom prst="roundRect">
            <a:avLst>
              <a:gd name="adj" fmla="val 21053"/>
            </a:avLst>
          </a:prstGeom>
          <a:solidFill>
            <a:srgbClr val="FFFCF5"/>
          </a:solidFill>
          <a:ln w="9525">
            <a:solidFill>
              <a:srgbClr val="111111"/>
            </a:solidFill>
            <a:prstDash val="solid"/>
          </a:ln>
        </p:spPr>
        <p:txBody>
          <a:bodyPr lIns="76200" tIns="38100" rIns="76200" bIns="38100" anchor="ctr">
            <a:normAutofit/>
          </a:bodyPr>
          <a:lstStyle/>
          <a:p>
            <a:pPr algn="ctr">
              <a:buNone/>
              <a:defRPr sz="1125" b="1">
                <a:solidFill>
                  <a:srgbClr val="111111"/>
                </a:solidFill>
                <a:latin typeface="Consolas"/>
                <a:ea typeface="Consolas"/>
                <a:cs typeface="Consolas"/>
              </a:defRPr>
            </a:pPr>
            <a:r>
              <a:rPr sz="1125" b="1">
                <a:solidFill>
                  <a:srgbClr val="111111"/>
                </a:solidFill>
                <a:latin typeface="Consolas"/>
                <a:ea typeface="Consolas"/>
                <a:cs typeface="Consolas"/>
              </a:rPr>
              <a:t>MIGRATION</a:t>
            </a:r>
          </a:p>
        </p:txBody>
      </p:sp>
      <p:sp>
        <p:nvSpPr>
          <p:cNvPr id="11" name="Rounded Rectangle 10">
            <a:extLst>
              <a:ext uri="{FF2B5EF4-FFF2-40B4-BE49-F238E27FC236}">
                <a16:creationId xmlns:a16="http://schemas.microsoft.com/office/drawing/2014/main" id="{EB9806EC-D628-498B-BCD8-A96A46EABD74}"/>
              </a:ext>
            </a:extLst>
          </p:cNvPr>
          <p:cNvSpPr>
            <a:spLocks noGrp="1"/>
          </p:cNvSpPr>
          <p:nvPr/>
        </p:nvSpPr>
        <p:spPr>
          <a:xfrm>
            <a:off x="8839200" y="5772150"/>
            <a:ext cx="1771650" cy="361950"/>
          </a:xfrm>
          <a:prstGeom prst="roundRect">
            <a:avLst>
              <a:gd name="adj" fmla="val 21053"/>
            </a:avLst>
          </a:prstGeom>
          <a:solidFill>
            <a:srgbClr val="FFFCF5"/>
          </a:solidFill>
          <a:ln w="9525">
            <a:solidFill>
              <a:srgbClr val="111111"/>
            </a:solidFill>
            <a:prstDash val="solid"/>
          </a:ln>
        </p:spPr>
        <p:txBody>
          <a:bodyPr lIns="76200" tIns="38100" rIns="76200" bIns="38100" anchor="ctr">
            <a:normAutofit/>
          </a:bodyPr>
          <a:lstStyle/>
          <a:p>
            <a:pPr algn="ctr">
              <a:buNone/>
              <a:defRPr sz="1125" b="1">
                <a:solidFill>
                  <a:srgbClr val="111111"/>
                </a:solidFill>
                <a:latin typeface="Consolas"/>
                <a:ea typeface="Consolas"/>
                <a:cs typeface="Consolas"/>
              </a:defRPr>
            </a:pPr>
            <a:r>
              <a:rPr sz="1125" b="1">
                <a:solidFill>
                  <a:srgbClr val="111111"/>
                </a:solidFill>
                <a:latin typeface="Consolas"/>
                <a:ea typeface="Consolas"/>
                <a:cs typeface="Consolas"/>
              </a:rPr>
              <a:t>PRODUCTION</a:t>
            </a:r>
          </a:p>
        </p:txBody>
      </p:sp>
      <p:sp>
        <p:nvSpPr>
          <p:cNvPr id="12" name="Rectangle 11">
            <a:extLst>
              <a:ext uri="{FF2B5EF4-FFF2-40B4-BE49-F238E27FC236}">
                <a16:creationId xmlns:a16="http://schemas.microsoft.com/office/drawing/2014/main" id="{50E7E7EC-796D-4B58-9497-3861E5A17270}"/>
              </a:ext>
            </a:extLst>
          </p:cNvPr>
          <p:cNvSpPr>
            <a:spLocks noGrp="1"/>
          </p:cNvSpPr>
          <p:nvPr/>
        </p:nvSpPr>
        <p:spPr>
          <a:xfrm>
            <a:off x="8343900" y="6400800"/>
            <a:ext cx="3162300" cy="190500"/>
          </a:xfrm>
          <a:prstGeom prst="rect">
            <a:avLst/>
          </a:prstGeom>
          <a:noFill/>
          <a:ln w="0">
            <a:noFill/>
            <a:prstDash val="solid"/>
          </a:ln>
        </p:spPr>
        <p:txBody>
          <a:bodyPr wrap="square" lIns="0" tIns="0" rIns="0" bIns="0" anchor="t">
            <a:normAutofit/>
          </a:bodyPr>
          <a:lstStyle/>
          <a:p>
            <a:pPr algn="r">
              <a:buNone/>
              <a:defRPr sz="975" b="0" i="0">
                <a:solidFill>
                  <a:srgbClr val="686A66"/>
                </a:solidFill>
                <a:latin typeface="Consolas"/>
                <a:ea typeface="Consolas"/>
                <a:cs typeface="Consolas"/>
              </a:defRPr>
            </a:pPr>
            <a:r>
              <a:rPr sz="975" b="0" i="0">
                <a:solidFill>
                  <a:srgbClr val="686A66"/>
                </a:solidFill>
                <a:latin typeface="Consolas"/>
                <a:ea typeface="Consolas"/>
                <a:cs typeface="Consolas"/>
              </a:rPr>
              <a:t>20 AUG 2026  •  WORKING DECISION BRIEF</a:t>
            </a:r>
          </a:p>
        </p:txBody>
      </p:sp>
      <p:sp>
        <p:nvSpPr>
          <p:cNvPr id="14" name="Visible references">
            <a:extLst>
              <a:ext uri="{FF2B5EF4-FFF2-40B4-BE49-F238E27FC236}">
                <a16:creationId xmlns:a16="http://schemas.microsoft.com/office/drawing/2014/main" id="{736D3494-27C1-4FD2-BDDB-CB6199D5301A}"/>
              </a:ext>
            </a:extLst>
          </p:cNvPr>
          <p:cNvSpPr>
            <a:spLocks noGrp="1"/>
          </p:cNvSpPr>
          <p:nvPr/>
        </p:nvSpPr>
        <p:spPr>
          <a:xfrm>
            <a:off x="685800" y="6400800"/>
            <a:ext cx="6572250" cy="190500"/>
          </a:xfrm>
          <a:prstGeom prst="rect">
            <a:avLst/>
          </a:prstGeom>
          <a:noFill/>
          <a:ln w="0">
            <a:noFill/>
          </a:ln>
        </p:spPr>
        <p:txBody>
          <a:bodyPr lIns="0" tIns="0" rIns="0" bIns="0" anchor="ctr">
            <a:normAutofit/>
          </a:bodyPr>
          <a:lstStyle/>
          <a:p>
            <a:pPr>
              <a:buNone/>
              <a:defRPr sz="825">
                <a:solidFill>
                  <a:srgbClr val="666762"/>
                </a:solidFill>
              </a:defRPr>
            </a:pPr>
            <a:r>
              <a:rPr sz="825" b="1">
                <a:solidFill>
                  <a:srgbClr val="666762"/>
                </a:solidFill>
              </a:rPr>
              <a:t>REFERENCES  </a:t>
            </a:r>
            <a:r>
              <a:rPr sz="825" u="sng">
                <a:solidFill>
                  <a:srgbClr val="666762"/>
                </a:solidFill>
                <a:hlinkClick r:id="rId3"/>
              </a:rPr>
              <a:t>Repo reference</a:t>
            </a:r>
            <a:r>
              <a:rPr sz="825">
                <a:solidFill>
                  <a:srgbClr val="666762"/>
                </a:solidFill>
              </a:rPr>
              <a:t>  ·  </a:t>
            </a:r>
            <a:r>
              <a:rPr sz="825" u="sng">
                <a:solidFill>
                  <a:srgbClr val="666762"/>
                </a:solidFill>
                <a:hlinkClick r:id="rId4"/>
              </a:rPr>
              <a:t>Official docs</a:t>
            </a:r>
          </a:p>
        </p:txBody>
      </p:sp>
    </p:spTree>
    <p:extLst>
      <p:ext uri="{BB962C8B-B14F-4D97-AF65-F5344CB8AC3E}">
        <p14:creationId xmlns:p14="http://schemas.microsoft.com/office/powerpoint/2010/main" val="16659059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993B77B1-25A1-43D9-B77B-0D600B3F4644}"/>
              </a:ext>
            </a:extLst>
          </p:cNvPr>
          <p:cNvSpPr>
            <a:spLocks noGrp="1"/>
          </p:cNvSpPr>
          <p:nvPr/>
        </p:nvSpPr>
        <p:spPr>
          <a:xfrm>
            <a:off x="0" y="0"/>
            <a:ext cx="12192000" cy="266700"/>
          </a:xfrm>
          <a:prstGeom prst="rect">
            <a:avLst/>
          </a:prstGeom>
          <a:solidFill>
            <a:srgbClr val="FFC72C"/>
          </a:solidFill>
          <a:ln w="0">
            <a:noFill/>
            <a:prstDash val="solid"/>
          </a:ln>
        </p:spPr>
        <p:txBody>
          <a:bodyPr/>
          <a:lstStyle/>
          <a:p>
            <a:endParaRPr lang="en-US"/>
          </a:p>
        </p:txBody>
      </p:sp>
      <p:sp>
        <p:nvSpPr>
          <p:cNvPr id="2" name="Rectangle 1">
            <a:extLst>
              <a:ext uri="{FF2B5EF4-FFF2-40B4-BE49-F238E27FC236}">
                <a16:creationId xmlns:a16="http://schemas.microsoft.com/office/drawing/2014/main" id="{AF19E404-3DAF-4DF0-96B3-D97FAB85E50E}"/>
              </a:ext>
            </a:extLst>
          </p:cNvPr>
          <p:cNvSpPr>
            <a:spLocks noGrp="1"/>
          </p:cNvSpPr>
          <p:nvPr/>
        </p:nvSpPr>
        <p:spPr>
          <a:xfrm>
            <a:off x="10668000" y="0"/>
            <a:ext cx="1524000" cy="266700"/>
          </a:xfrm>
          <a:prstGeom prst="rect">
            <a:avLst/>
          </a:prstGeom>
          <a:solidFill>
            <a:srgbClr val="5537D6"/>
          </a:solidFill>
          <a:ln w="0">
            <a:noFill/>
            <a:prstDash val="solid"/>
          </a:ln>
        </p:spPr>
        <p:txBody>
          <a:bodyPr/>
          <a:lstStyle/>
          <a:p>
            <a:endParaRPr lang="en-US"/>
          </a:p>
        </p:txBody>
      </p:sp>
      <p:sp>
        <p:nvSpPr>
          <p:cNvPr id="3" name="Rectangle 2">
            <a:extLst>
              <a:ext uri="{FF2B5EF4-FFF2-40B4-BE49-F238E27FC236}">
                <a16:creationId xmlns:a16="http://schemas.microsoft.com/office/drawing/2014/main" id="{220A15C9-3F58-49DD-A72C-C3A63B02987B}"/>
              </a:ext>
            </a:extLst>
          </p:cNvPr>
          <p:cNvSpPr>
            <a:spLocks noGrp="1"/>
          </p:cNvSpPr>
          <p:nvPr/>
        </p:nvSpPr>
        <p:spPr>
          <a:xfrm>
            <a:off x="609600" y="38100"/>
            <a:ext cx="3429000" cy="190500"/>
          </a:xfrm>
          <a:prstGeom prst="rect">
            <a:avLst/>
          </a:prstGeom>
          <a:noFill/>
          <a:ln w="0">
            <a:noFill/>
            <a:prstDash val="solid"/>
          </a:ln>
        </p:spPr>
        <p:txBody>
          <a:bodyPr wrap="square" lIns="0" tIns="0" rIns="0" bIns="0" anchor="t">
            <a:normAutofit/>
          </a:bodyPr>
          <a:lstStyle/>
          <a:p>
            <a:pPr algn="l">
              <a:buNone/>
              <a:defRPr sz="975" b="1" i="0">
                <a:solidFill>
                  <a:srgbClr val="111111"/>
                </a:solidFill>
                <a:latin typeface="Consolas"/>
                <a:ea typeface="Consolas"/>
                <a:cs typeface="Consolas"/>
              </a:defRPr>
            </a:pPr>
            <a:r>
              <a:rPr sz="975" b="1" i="0">
                <a:solidFill>
                  <a:srgbClr val="111111"/>
                </a:solidFill>
                <a:latin typeface="Consolas"/>
                <a:ea typeface="Consolas"/>
                <a:cs typeface="Consolas"/>
              </a:rPr>
              <a:t>02 / WHY NOW</a:t>
            </a:r>
          </a:p>
        </p:txBody>
      </p:sp>
      <p:sp>
        <p:nvSpPr>
          <p:cNvPr id="4" name="Rectangle 3">
            <a:extLst>
              <a:ext uri="{FF2B5EF4-FFF2-40B4-BE49-F238E27FC236}">
                <a16:creationId xmlns:a16="http://schemas.microsoft.com/office/drawing/2014/main" id="{9C6DD5AE-4E53-4E57-91DC-1AA97D7A09C4}"/>
              </a:ext>
            </a:extLst>
          </p:cNvPr>
          <p:cNvSpPr>
            <a:spLocks noGrp="1"/>
          </p:cNvSpPr>
          <p:nvPr/>
        </p:nvSpPr>
        <p:spPr>
          <a:xfrm>
            <a:off x="609600" y="428625"/>
            <a:ext cx="10572750" cy="1028700"/>
          </a:xfrm>
          <a:prstGeom prst="rect">
            <a:avLst/>
          </a:prstGeom>
          <a:noFill/>
          <a:ln w="0">
            <a:noFill/>
            <a:prstDash val="solid"/>
          </a:ln>
        </p:spPr>
        <p:txBody>
          <a:bodyPr wrap="square" lIns="0" tIns="0" rIns="0" bIns="0" anchor="t">
            <a:noAutofit/>
          </a:bodyPr>
          <a:lstStyle/>
          <a:p>
            <a:pPr algn="l">
              <a:buNone/>
              <a:defRPr sz="3300" b="1" i="0">
                <a:solidFill>
                  <a:srgbClr val="111111"/>
                </a:solidFill>
                <a:latin typeface="Arial"/>
                <a:ea typeface="Arial"/>
                <a:cs typeface="Arial"/>
              </a:defRPr>
            </a:pPr>
            <a:r>
              <a:rPr sz="3300" b="1" i="0">
                <a:solidFill>
                  <a:srgbClr val="111111"/>
                </a:solidFill>
                <a:latin typeface="Arial"/>
                <a:ea typeface="Arial"/>
                <a:cs typeface="Arial"/>
              </a:rPr>
              <a:t>The operating model and four early gates drive the decision</a:t>
            </a:r>
          </a:p>
        </p:txBody>
      </p:sp>
      <p:sp>
        <p:nvSpPr>
          <p:cNvPr id="5" name="Rectangle 4">
            <a:extLst>
              <a:ext uri="{FF2B5EF4-FFF2-40B4-BE49-F238E27FC236}">
                <a16:creationId xmlns:a16="http://schemas.microsoft.com/office/drawing/2014/main" id="{0931CF01-14EC-4654-BA8E-302B9FFA8323}"/>
              </a:ext>
            </a:extLst>
          </p:cNvPr>
          <p:cNvSpPr>
            <a:spLocks noGrp="1"/>
          </p:cNvSpPr>
          <p:nvPr/>
        </p:nvSpPr>
        <p:spPr>
          <a:xfrm>
            <a:off x="628650" y="1514475"/>
            <a:ext cx="10382250" cy="323850"/>
          </a:xfrm>
          <a:prstGeom prst="rect">
            <a:avLst/>
          </a:prstGeom>
          <a:noFill/>
          <a:ln w="0">
            <a:noFill/>
            <a:prstDash val="solid"/>
          </a:ln>
        </p:spPr>
        <p:txBody>
          <a:bodyPr wrap="square" lIns="0" tIns="0" rIns="0" bIns="0" anchor="t">
            <a:noAutofit/>
          </a:bodyPr>
          <a:lstStyle/>
          <a:p>
            <a:pPr algn="l">
              <a:buNone/>
              <a:defRPr sz="1575" b="0" i="0">
                <a:solidFill>
                  <a:srgbClr val="686A66"/>
                </a:solidFill>
                <a:latin typeface="Arial"/>
                <a:ea typeface="Arial"/>
                <a:cs typeface="Arial"/>
              </a:defRPr>
            </a:pPr>
            <a:r>
              <a:rPr sz="1575" b="0" i="0">
                <a:solidFill>
                  <a:srgbClr val="686A66"/>
                </a:solidFill>
                <a:latin typeface="Arial"/>
                <a:ea typeface="Arial"/>
                <a:cs typeface="Arial"/>
              </a:rPr>
              <a:t>Confirm target inputs, then disposition multicloud, exit, TCO and the Traceable adjunct.</a:t>
            </a:r>
          </a:p>
        </p:txBody>
      </p:sp>
      <p:sp>
        <p:nvSpPr>
          <p:cNvPr id="6" name="Rectangle 5">
            <a:extLst>
              <a:ext uri="{FF2B5EF4-FFF2-40B4-BE49-F238E27FC236}">
                <a16:creationId xmlns:a16="http://schemas.microsoft.com/office/drawing/2014/main" id="{14FFC468-3156-466E-9AFD-3C6F91090422}"/>
              </a:ext>
            </a:extLst>
          </p:cNvPr>
          <p:cNvSpPr>
            <a:spLocks noGrp="1"/>
          </p:cNvSpPr>
          <p:nvPr/>
        </p:nvSpPr>
        <p:spPr>
          <a:xfrm>
            <a:off x="609600" y="1905000"/>
            <a:ext cx="10972800" cy="9525"/>
          </a:xfrm>
          <a:prstGeom prst="rect">
            <a:avLst/>
          </a:prstGeom>
          <a:solidFill>
            <a:srgbClr val="8A8B86"/>
          </a:solidFill>
          <a:ln w="0">
            <a:noFill/>
            <a:prstDash val="solid"/>
          </a:ln>
        </p:spPr>
        <p:txBody>
          <a:bodyPr/>
          <a:lstStyle/>
          <a:p>
            <a:endParaRPr lang="en-US"/>
          </a:p>
        </p:txBody>
      </p:sp>
      <p:sp>
        <p:nvSpPr>
          <p:cNvPr id="7" name="Rectangle 6">
            <a:extLst>
              <a:ext uri="{FF2B5EF4-FFF2-40B4-BE49-F238E27FC236}">
                <a16:creationId xmlns:a16="http://schemas.microsoft.com/office/drawing/2014/main" id="{BCDE6897-B2F9-4D23-89BE-C8C9622B09FA}"/>
              </a:ext>
            </a:extLst>
          </p:cNvPr>
          <p:cNvSpPr>
            <a:spLocks noGrp="1"/>
          </p:cNvSpPr>
          <p:nvPr/>
        </p:nvSpPr>
        <p:spPr>
          <a:xfrm>
            <a:off x="609600" y="6524625"/>
            <a:ext cx="8858250" cy="180975"/>
          </a:xfrm>
          <a:prstGeom prst="rect">
            <a:avLst/>
          </a:prstGeom>
          <a:noFill/>
          <a:ln w="0">
            <a:noFill/>
            <a:prstDash val="solid"/>
          </a:ln>
        </p:spPr>
        <p:txBody>
          <a:bodyPr wrap="square" lIns="0" tIns="0" rIns="0" bIns="0" anchor="ctr">
            <a:normAutofit/>
          </a:bodyPr>
          <a:lstStyle/>
          <a:p>
            <a:pPr>
              <a:buNone/>
              <a:defRPr sz="825">
                <a:solidFill>
                  <a:srgbClr val="666762"/>
                </a:solidFill>
              </a:defRPr>
            </a:pPr>
            <a:r>
              <a:rPr sz="825" b="1">
                <a:solidFill>
                  <a:srgbClr val="666762"/>
                </a:solidFill>
              </a:rPr>
              <a:t>REFERENCES  </a:t>
            </a:r>
            <a:r>
              <a:rPr sz="825" u="sng">
                <a:solidFill>
                  <a:srgbClr val="666762"/>
                </a:solidFill>
                <a:hlinkClick r:id="rId3"/>
              </a:rPr>
              <a:t>Repo reference</a:t>
            </a:r>
            <a:r>
              <a:rPr sz="825">
                <a:solidFill>
                  <a:srgbClr val="666762"/>
                </a:solidFill>
              </a:rPr>
              <a:t>  ·  </a:t>
            </a:r>
            <a:r>
              <a:rPr sz="825" u="sng">
                <a:solidFill>
                  <a:srgbClr val="666762"/>
                </a:solidFill>
                <a:hlinkClick r:id="rId4"/>
              </a:rPr>
              <a:t>Official docs</a:t>
            </a:r>
          </a:p>
        </p:txBody>
      </p:sp>
      <p:sp>
        <p:nvSpPr>
          <p:cNvPr id="8" name="Rectangle 7">
            <a:extLst>
              <a:ext uri="{FF2B5EF4-FFF2-40B4-BE49-F238E27FC236}">
                <a16:creationId xmlns:a16="http://schemas.microsoft.com/office/drawing/2014/main" id="{CC93353B-E785-4C86-B8C3-1418AB129331}"/>
              </a:ext>
            </a:extLst>
          </p:cNvPr>
          <p:cNvSpPr>
            <a:spLocks noGrp="1"/>
          </p:cNvSpPr>
          <p:nvPr/>
        </p:nvSpPr>
        <p:spPr>
          <a:xfrm>
            <a:off x="10287000" y="6486525"/>
            <a:ext cx="1295400" cy="209550"/>
          </a:xfrm>
          <a:prstGeom prst="rect">
            <a:avLst/>
          </a:prstGeom>
          <a:noFill/>
          <a:ln w="0">
            <a:noFill/>
            <a:prstDash val="solid"/>
          </a:ln>
        </p:spPr>
        <p:txBody>
          <a:bodyPr wrap="square" lIns="0" tIns="0" rIns="0" bIns="0" anchor="t">
            <a:normAutofit/>
          </a:bodyPr>
          <a:lstStyle/>
          <a:p>
            <a:pPr algn="r">
              <a:buNone/>
              <a:defRPr sz="975" b="1" i="0">
                <a:solidFill>
                  <a:srgbClr val="686A66"/>
                </a:solidFill>
                <a:latin typeface="Consolas"/>
                <a:ea typeface="Consolas"/>
                <a:cs typeface="Consolas"/>
              </a:defRPr>
            </a:pPr>
            <a:r>
              <a:rPr sz="975" b="1" i="0">
                <a:solidFill>
                  <a:srgbClr val="686A66"/>
                </a:solidFill>
                <a:latin typeface="Consolas"/>
                <a:ea typeface="Consolas"/>
                <a:cs typeface="Consolas"/>
              </a:rPr>
              <a:t>02 / 25</a:t>
            </a:r>
          </a:p>
        </p:txBody>
      </p:sp>
      <p:sp>
        <p:nvSpPr>
          <p:cNvPr id="9" name="Rectangle 8">
            <a:extLst>
              <a:ext uri="{FF2B5EF4-FFF2-40B4-BE49-F238E27FC236}">
                <a16:creationId xmlns:a16="http://schemas.microsoft.com/office/drawing/2014/main" id="{335E7EDC-F6E5-449F-B5CC-028E297153AC}"/>
              </a:ext>
            </a:extLst>
          </p:cNvPr>
          <p:cNvSpPr>
            <a:spLocks noGrp="1"/>
          </p:cNvSpPr>
          <p:nvPr/>
        </p:nvSpPr>
        <p:spPr>
          <a:xfrm>
            <a:off x="666750" y="2305050"/>
            <a:ext cx="1143000" cy="228600"/>
          </a:xfrm>
          <a:prstGeom prst="rect">
            <a:avLst/>
          </a:prstGeom>
          <a:noFill/>
          <a:ln w="0">
            <a:noFill/>
            <a:prstDash val="solid"/>
          </a:ln>
        </p:spPr>
        <p:txBody>
          <a:bodyPr wrap="square" lIns="0" tIns="0" rIns="0" bIns="0" anchor="t">
            <a:normAutofit/>
          </a:bodyPr>
          <a:lstStyle/>
          <a:p>
            <a:pPr algn="l">
              <a:buNone/>
              <a:defRPr sz="1125" b="1" i="0">
                <a:solidFill>
                  <a:srgbClr val="5537D6"/>
                </a:solidFill>
                <a:latin typeface="Consolas"/>
                <a:ea typeface="Consolas"/>
                <a:cs typeface="Consolas"/>
              </a:defRPr>
            </a:pPr>
            <a:r>
              <a:rPr sz="1125" b="1" i="0">
                <a:solidFill>
                  <a:srgbClr val="5537D6"/>
                </a:solidFill>
                <a:latin typeface="Consolas"/>
                <a:ea typeface="Consolas"/>
                <a:cs typeface="Consolas"/>
              </a:rPr>
              <a:t>DELIVERY</a:t>
            </a:r>
          </a:p>
        </p:txBody>
      </p:sp>
      <p:sp>
        <p:nvSpPr>
          <p:cNvPr id="10" name="Rectangle 9">
            <a:extLst>
              <a:ext uri="{FF2B5EF4-FFF2-40B4-BE49-F238E27FC236}">
                <a16:creationId xmlns:a16="http://schemas.microsoft.com/office/drawing/2014/main" id="{1D1D045D-9672-49E1-8BD1-0A19A7A13D54}"/>
              </a:ext>
            </a:extLst>
          </p:cNvPr>
          <p:cNvSpPr>
            <a:spLocks noGrp="1"/>
          </p:cNvSpPr>
          <p:nvPr/>
        </p:nvSpPr>
        <p:spPr>
          <a:xfrm>
            <a:off x="1790700" y="2419350"/>
            <a:ext cx="9525000" cy="9525"/>
          </a:xfrm>
          <a:prstGeom prst="rect">
            <a:avLst/>
          </a:prstGeom>
          <a:solidFill>
            <a:srgbClr val="D9D6CD"/>
          </a:solidFill>
          <a:ln w="0">
            <a:noFill/>
            <a:prstDash val="solid"/>
          </a:ln>
        </p:spPr>
        <p:txBody>
          <a:bodyPr/>
          <a:lstStyle/>
          <a:p>
            <a:endParaRPr lang="en-US"/>
          </a:p>
        </p:txBody>
      </p:sp>
      <p:sp>
        <p:nvSpPr>
          <p:cNvPr id="11" name="Rounded Rectangle 10">
            <a:extLst>
              <a:ext uri="{FF2B5EF4-FFF2-40B4-BE49-F238E27FC236}">
                <a16:creationId xmlns:a16="http://schemas.microsoft.com/office/drawing/2014/main" id="{2797AACD-BC52-424B-B5D9-2E408DAF057F}"/>
              </a:ext>
            </a:extLst>
          </p:cNvPr>
          <p:cNvSpPr>
            <a:spLocks noGrp="1"/>
          </p:cNvSpPr>
          <p:nvPr/>
        </p:nvSpPr>
        <p:spPr>
          <a:xfrm>
            <a:off x="2076450" y="2152650"/>
            <a:ext cx="2724150" cy="781050"/>
          </a:xfrm>
          <a:prstGeom prst="roundRect">
            <a:avLst>
              <a:gd name="adj" fmla="val 9756"/>
            </a:avLst>
          </a:prstGeom>
          <a:solidFill>
            <a:srgbClr val="FFFFFF"/>
          </a:solidFill>
          <a:ln w="9525">
            <a:solidFill>
              <a:srgbClr val="8A8B86"/>
            </a:solidFill>
            <a:prstDash val="solid"/>
          </a:ln>
        </p:spPr>
        <p:txBody>
          <a:bodyPr/>
          <a:lstStyle/>
          <a:p>
            <a:endParaRPr lang="en-US"/>
          </a:p>
        </p:txBody>
      </p:sp>
      <p:sp>
        <p:nvSpPr>
          <p:cNvPr id="12" name="Rectangle 11">
            <a:extLst>
              <a:ext uri="{FF2B5EF4-FFF2-40B4-BE49-F238E27FC236}">
                <a16:creationId xmlns:a16="http://schemas.microsoft.com/office/drawing/2014/main" id="{CC4A0BC2-246C-4B32-83CD-47B19C81C67D}"/>
              </a:ext>
            </a:extLst>
          </p:cNvPr>
          <p:cNvSpPr>
            <a:spLocks noGrp="1"/>
          </p:cNvSpPr>
          <p:nvPr/>
        </p:nvSpPr>
        <p:spPr>
          <a:xfrm>
            <a:off x="2228850" y="2286000"/>
            <a:ext cx="2419350" cy="533400"/>
          </a:xfrm>
          <a:prstGeom prst="rect">
            <a:avLst/>
          </a:prstGeom>
          <a:noFill/>
          <a:ln w="0">
            <a:noFill/>
            <a:prstDash val="solid"/>
          </a:ln>
        </p:spPr>
        <p:txBody>
          <a:bodyPr wrap="square" lIns="0" tIns="0" rIns="0" bIns="0" anchor="ctr">
            <a:normAutofit/>
          </a:bodyPr>
          <a:lstStyle/>
          <a:p>
            <a:pPr algn="ctr">
              <a:buNone/>
              <a:defRPr sz="1650" b="0" i="0">
                <a:solidFill>
                  <a:srgbClr val="111111"/>
                </a:solidFill>
                <a:latin typeface="Georgia"/>
                <a:ea typeface="Georgia"/>
                <a:cs typeface="Georgia"/>
              </a:defRPr>
            </a:pPr>
            <a:r>
              <a:rPr sz="1650" b="0" i="0">
                <a:solidFill>
                  <a:srgbClr val="111111"/>
                </a:solidFill>
                <a:latin typeface="Georgia"/>
                <a:ea typeface="Georgia"/>
                <a:cs typeface="Georgia"/>
              </a:rPr>
              <a:t>AKS / Kubernetes</a:t>
            </a:r>
          </a:p>
        </p:txBody>
      </p:sp>
      <p:sp>
        <p:nvSpPr>
          <p:cNvPr id="13" name="Rounded Rectangle 12">
            <a:extLst>
              <a:ext uri="{FF2B5EF4-FFF2-40B4-BE49-F238E27FC236}">
                <a16:creationId xmlns:a16="http://schemas.microsoft.com/office/drawing/2014/main" id="{33FB4CF2-F398-4646-9FBB-0C693CB6FA97}"/>
              </a:ext>
            </a:extLst>
          </p:cNvPr>
          <p:cNvSpPr>
            <a:spLocks noGrp="1"/>
          </p:cNvSpPr>
          <p:nvPr/>
        </p:nvSpPr>
        <p:spPr>
          <a:xfrm>
            <a:off x="5105400" y="2152650"/>
            <a:ext cx="2724150" cy="781050"/>
          </a:xfrm>
          <a:prstGeom prst="roundRect">
            <a:avLst>
              <a:gd name="adj" fmla="val 9756"/>
            </a:avLst>
          </a:prstGeom>
          <a:solidFill>
            <a:srgbClr val="FFFFFF"/>
          </a:solidFill>
          <a:ln w="9525">
            <a:solidFill>
              <a:srgbClr val="8A8B86"/>
            </a:solidFill>
            <a:prstDash val="solid"/>
          </a:ln>
        </p:spPr>
        <p:txBody>
          <a:bodyPr/>
          <a:lstStyle/>
          <a:p>
            <a:endParaRPr lang="en-US"/>
          </a:p>
        </p:txBody>
      </p:sp>
      <p:sp>
        <p:nvSpPr>
          <p:cNvPr id="14" name="Rectangle 13">
            <a:extLst>
              <a:ext uri="{FF2B5EF4-FFF2-40B4-BE49-F238E27FC236}">
                <a16:creationId xmlns:a16="http://schemas.microsoft.com/office/drawing/2014/main" id="{C4F622E0-A972-4383-8042-820FD6866A38}"/>
              </a:ext>
            </a:extLst>
          </p:cNvPr>
          <p:cNvSpPr>
            <a:spLocks noGrp="1"/>
          </p:cNvSpPr>
          <p:nvPr/>
        </p:nvSpPr>
        <p:spPr>
          <a:xfrm>
            <a:off x="5257800" y="2286000"/>
            <a:ext cx="2419350" cy="533400"/>
          </a:xfrm>
          <a:prstGeom prst="rect">
            <a:avLst/>
          </a:prstGeom>
          <a:noFill/>
          <a:ln w="0">
            <a:noFill/>
            <a:prstDash val="solid"/>
          </a:ln>
        </p:spPr>
        <p:txBody>
          <a:bodyPr wrap="square" lIns="0" tIns="0" rIns="0" bIns="0" anchor="ctr">
            <a:normAutofit/>
          </a:bodyPr>
          <a:lstStyle/>
          <a:p>
            <a:pPr algn="ctr">
              <a:buNone/>
              <a:defRPr sz="1650" b="0" i="0">
                <a:solidFill>
                  <a:srgbClr val="111111"/>
                </a:solidFill>
                <a:latin typeface="Georgia"/>
                <a:ea typeface="Georgia"/>
                <a:cs typeface="Georgia"/>
              </a:defRPr>
            </a:pPr>
            <a:r>
              <a:rPr sz="1650" b="0" i="0">
                <a:solidFill>
                  <a:srgbClr val="111111"/>
                </a:solidFill>
                <a:latin typeface="Georgia"/>
                <a:ea typeface="Georgia"/>
                <a:cs typeface="Georgia"/>
              </a:rPr>
              <a:t>Spring Boot modernization</a:t>
            </a:r>
          </a:p>
        </p:txBody>
      </p:sp>
      <p:sp>
        <p:nvSpPr>
          <p:cNvPr id="15" name="Rounded Rectangle 14">
            <a:extLst>
              <a:ext uri="{FF2B5EF4-FFF2-40B4-BE49-F238E27FC236}">
                <a16:creationId xmlns:a16="http://schemas.microsoft.com/office/drawing/2014/main" id="{00DA3AA5-C266-4548-A5F1-5F415EC49A90}"/>
              </a:ext>
            </a:extLst>
          </p:cNvPr>
          <p:cNvSpPr>
            <a:spLocks noGrp="1"/>
          </p:cNvSpPr>
          <p:nvPr/>
        </p:nvSpPr>
        <p:spPr>
          <a:xfrm>
            <a:off x="8134350" y="2152650"/>
            <a:ext cx="2724150" cy="781050"/>
          </a:xfrm>
          <a:prstGeom prst="roundRect">
            <a:avLst>
              <a:gd name="adj" fmla="val 9756"/>
            </a:avLst>
          </a:prstGeom>
          <a:solidFill>
            <a:srgbClr val="FFFFFF"/>
          </a:solidFill>
          <a:ln w="9525">
            <a:solidFill>
              <a:srgbClr val="8A8B86"/>
            </a:solidFill>
            <a:prstDash val="solid"/>
          </a:ln>
        </p:spPr>
        <p:txBody>
          <a:bodyPr/>
          <a:lstStyle/>
          <a:p>
            <a:endParaRPr lang="en-US"/>
          </a:p>
        </p:txBody>
      </p:sp>
      <p:sp>
        <p:nvSpPr>
          <p:cNvPr id="16" name="Rectangle 15">
            <a:extLst>
              <a:ext uri="{FF2B5EF4-FFF2-40B4-BE49-F238E27FC236}">
                <a16:creationId xmlns:a16="http://schemas.microsoft.com/office/drawing/2014/main" id="{ED2F272B-D56C-4A4A-99F2-75E4A12EB711}"/>
              </a:ext>
            </a:extLst>
          </p:cNvPr>
          <p:cNvSpPr>
            <a:spLocks noGrp="1"/>
          </p:cNvSpPr>
          <p:nvPr/>
        </p:nvSpPr>
        <p:spPr>
          <a:xfrm>
            <a:off x="8286750" y="2286000"/>
            <a:ext cx="2419350" cy="533400"/>
          </a:xfrm>
          <a:prstGeom prst="rect">
            <a:avLst/>
          </a:prstGeom>
          <a:noFill/>
          <a:ln w="0">
            <a:noFill/>
            <a:prstDash val="solid"/>
          </a:ln>
        </p:spPr>
        <p:txBody>
          <a:bodyPr wrap="square" lIns="0" tIns="0" rIns="0" bIns="0" anchor="ctr">
            <a:normAutofit/>
          </a:bodyPr>
          <a:lstStyle/>
          <a:p>
            <a:pPr algn="ctr">
              <a:buNone/>
              <a:defRPr sz="1650" b="0" i="0">
                <a:solidFill>
                  <a:srgbClr val="111111"/>
                </a:solidFill>
                <a:latin typeface="Georgia"/>
                <a:ea typeface="Georgia"/>
                <a:cs typeface="Georgia"/>
              </a:defRPr>
            </a:pPr>
            <a:r>
              <a:rPr sz="1650" b="0" i="0">
                <a:solidFill>
                  <a:srgbClr val="111111"/>
                </a:solidFill>
                <a:latin typeface="Georgia"/>
                <a:ea typeface="Georgia"/>
                <a:cs typeface="Georgia"/>
              </a:rPr>
              <a:t>GitOps deployment</a:t>
            </a:r>
          </a:p>
        </p:txBody>
      </p:sp>
      <p:sp>
        <p:nvSpPr>
          <p:cNvPr id="17" name="Rectangle 16">
            <a:extLst>
              <a:ext uri="{FF2B5EF4-FFF2-40B4-BE49-F238E27FC236}">
                <a16:creationId xmlns:a16="http://schemas.microsoft.com/office/drawing/2014/main" id="{9AEB2BC6-5035-4651-A1F8-A746FB57B58A}"/>
              </a:ext>
            </a:extLst>
          </p:cNvPr>
          <p:cNvSpPr>
            <a:spLocks noGrp="1"/>
          </p:cNvSpPr>
          <p:nvPr/>
        </p:nvSpPr>
        <p:spPr>
          <a:xfrm>
            <a:off x="666750" y="3524250"/>
            <a:ext cx="1143000" cy="228600"/>
          </a:xfrm>
          <a:prstGeom prst="rect">
            <a:avLst/>
          </a:prstGeom>
          <a:noFill/>
          <a:ln w="0">
            <a:noFill/>
            <a:prstDash val="solid"/>
          </a:ln>
        </p:spPr>
        <p:txBody>
          <a:bodyPr wrap="square" lIns="0" tIns="0" rIns="0" bIns="0" anchor="t">
            <a:normAutofit/>
          </a:bodyPr>
          <a:lstStyle/>
          <a:p>
            <a:pPr algn="l">
              <a:buNone/>
              <a:defRPr sz="1125" b="1" i="0">
                <a:solidFill>
                  <a:srgbClr val="5537D6"/>
                </a:solidFill>
                <a:latin typeface="Consolas"/>
                <a:ea typeface="Consolas"/>
                <a:cs typeface="Consolas"/>
              </a:defRPr>
            </a:pPr>
            <a:r>
              <a:rPr sz="1125" b="1" i="0">
                <a:solidFill>
                  <a:srgbClr val="5537D6"/>
                </a:solidFill>
                <a:latin typeface="Consolas"/>
                <a:ea typeface="Consolas"/>
                <a:cs typeface="Consolas"/>
              </a:rPr>
              <a:t>PLATFORM</a:t>
            </a:r>
          </a:p>
        </p:txBody>
      </p:sp>
      <p:sp>
        <p:nvSpPr>
          <p:cNvPr id="18" name="Rectangle 17">
            <a:extLst>
              <a:ext uri="{FF2B5EF4-FFF2-40B4-BE49-F238E27FC236}">
                <a16:creationId xmlns:a16="http://schemas.microsoft.com/office/drawing/2014/main" id="{264E2770-8141-440D-A82B-59F5B2077D87}"/>
              </a:ext>
            </a:extLst>
          </p:cNvPr>
          <p:cNvSpPr>
            <a:spLocks noGrp="1"/>
          </p:cNvSpPr>
          <p:nvPr/>
        </p:nvSpPr>
        <p:spPr>
          <a:xfrm>
            <a:off x="1790700" y="3638550"/>
            <a:ext cx="9525000" cy="9525"/>
          </a:xfrm>
          <a:prstGeom prst="rect">
            <a:avLst/>
          </a:prstGeom>
          <a:solidFill>
            <a:srgbClr val="D9D6CD"/>
          </a:solidFill>
          <a:ln w="0">
            <a:noFill/>
            <a:prstDash val="solid"/>
          </a:ln>
        </p:spPr>
        <p:txBody>
          <a:bodyPr/>
          <a:lstStyle/>
          <a:p>
            <a:endParaRPr lang="en-US"/>
          </a:p>
        </p:txBody>
      </p:sp>
      <p:sp>
        <p:nvSpPr>
          <p:cNvPr id="19" name="Rounded Rectangle 18">
            <a:extLst>
              <a:ext uri="{FF2B5EF4-FFF2-40B4-BE49-F238E27FC236}">
                <a16:creationId xmlns:a16="http://schemas.microsoft.com/office/drawing/2014/main" id="{A0608DC6-1F32-40B4-AC41-8561C4A08BC7}"/>
              </a:ext>
            </a:extLst>
          </p:cNvPr>
          <p:cNvSpPr>
            <a:spLocks noGrp="1"/>
          </p:cNvSpPr>
          <p:nvPr/>
        </p:nvSpPr>
        <p:spPr>
          <a:xfrm>
            <a:off x="2076450" y="3371850"/>
            <a:ext cx="2724150" cy="781050"/>
          </a:xfrm>
          <a:prstGeom prst="roundRect">
            <a:avLst>
              <a:gd name="adj" fmla="val 9756"/>
            </a:avLst>
          </a:prstGeom>
          <a:solidFill>
            <a:srgbClr val="FFFFFF"/>
          </a:solidFill>
          <a:ln w="9525">
            <a:solidFill>
              <a:srgbClr val="8A8B86"/>
            </a:solidFill>
            <a:prstDash val="solid"/>
          </a:ln>
        </p:spPr>
        <p:txBody>
          <a:bodyPr/>
          <a:lstStyle/>
          <a:p>
            <a:endParaRPr lang="en-US"/>
          </a:p>
        </p:txBody>
      </p:sp>
      <p:sp>
        <p:nvSpPr>
          <p:cNvPr id="20" name="Rectangle 19">
            <a:extLst>
              <a:ext uri="{FF2B5EF4-FFF2-40B4-BE49-F238E27FC236}">
                <a16:creationId xmlns:a16="http://schemas.microsoft.com/office/drawing/2014/main" id="{A7028B28-EE76-4786-82F8-97BD8903E685}"/>
              </a:ext>
            </a:extLst>
          </p:cNvPr>
          <p:cNvSpPr>
            <a:spLocks noGrp="1"/>
          </p:cNvSpPr>
          <p:nvPr/>
        </p:nvSpPr>
        <p:spPr>
          <a:xfrm>
            <a:off x="2228850" y="3505200"/>
            <a:ext cx="2419350" cy="533400"/>
          </a:xfrm>
          <a:prstGeom prst="rect">
            <a:avLst/>
          </a:prstGeom>
          <a:noFill/>
          <a:ln w="0">
            <a:noFill/>
            <a:prstDash val="solid"/>
          </a:ln>
        </p:spPr>
        <p:txBody>
          <a:bodyPr wrap="square" lIns="0" tIns="0" rIns="0" bIns="0" anchor="ctr">
            <a:normAutofit/>
          </a:bodyPr>
          <a:lstStyle/>
          <a:p>
            <a:pPr algn="ctr">
              <a:buNone/>
              <a:defRPr sz="1650" b="0" i="0">
                <a:solidFill>
                  <a:srgbClr val="111111"/>
                </a:solidFill>
                <a:latin typeface="Georgia"/>
                <a:ea typeface="Georgia"/>
                <a:cs typeface="Georgia"/>
              </a:defRPr>
            </a:pPr>
            <a:r>
              <a:rPr sz="1650" b="0" i="0">
                <a:solidFill>
                  <a:srgbClr val="111111"/>
                </a:solidFill>
                <a:latin typeface="Georgia"/>
                <a:ea typeface="Georgia"/>
                <a:cs typeface="Georgia"/>
              </a:rPr>
              <a:t>Platform engineering</a:t>
            </a:r>
          </a:p>
        </p:txBody>
      </p:sp>
      <p:sp>
        <p:nvSpPr>
          <p:cNvPr id="21" name="Rounded Rectangle 20">
            <a:extLst>
              <a:ext uri="{FF2B5EF4-FFF2-40B4-BE49-F238E27FC236}">
                <a16:creationId xmlns:a16="http://schemas.microsoft.com/office/drawing/2014/main" id="{6C5C9550-3BFF-46BD-A6F4-25056765255C}"/>
              </a:ext>
            </a:extLst>
          </p:cNvPr>
          <p:cNvSpPr>
            <a:spLocks noGrp="1"/>
          </p:cNvSpPr>
          <p:nvPr/>
        </p:nvSpPr>
        <p:spPr>
          <a:xfrm>
            <a:off x="5105400" y="3371850"/>
            <a:ext cx="2724150" cy="781050"/>
          </a:xfrm>
          <a:prstGeom prst="roundRect">
            <a:avLst>
              <a:gd name="adj" fmla="val 9756"/>
            </a:avLst>
          </a:prstGeom>
          <a:solidFill>
            <a:srgbClr val="FFFFFF"/>
          </a:solidFill>
          <a:ln w="9525">
            <a:solidFill>
              <a:srgbClr val="8A8B86"/>
            </a:solidFill>
            <a:prstDash val="solid"/>
          </a:ln>
        </p:spPr>
        <p:txBody>
          <a:bodyPr/>
          <a:lstStyle/>
          <a:p>
            <a:endParaRPr lang="en-US"/>
          </a:p>
        </p:txBody>
      </p:sp>
      <p:sp>
        <p:nvSpPr>
          <p:cNvPr id="22" name="Rectangle 21">
            <a:extLst>
              <a:ext uri="{FF2B5EF4-FFF2-40B4-BE49-F238E27FC236}">
                <a16:creationId xmlns:a16="http://schemas.microsoft.com/office/drawing/2014/main" id="{30777818-B7EB-41B7-A63F-1F94B617006F}"/>
              </a:ext>
            </a:extLst>
          </p:cNvPr>
          <p:cNvSpPr>
            <a:spLocks noGrp="1"/>
          </p:cNvSpPr>
          <p:nvPr/>
        </p:nvSpPr>
        <p:spPr>
          <a:xfrm>
            <a:off x="5257800" y="3505200"/>
            <a:ext cx="2419350" cy="533400"/>
          </a:xfrm>
          <a:prstGeom prst="rect">
            <a:avLst/>
          </a:prstGeom>
          <a:noFill/>
          <a:ln w="0">
            <a:noFill/>
            <a:prstDash val="solid"/>
          </a:ln>
        </p:spPr>
        <p:txBody>
          <a:bodyPr wrap="square" lIns="0" tIns="0" rIns="0" bIns="0" anchor="ctr">
            <a:normAutofit/>
          </a:bodyPr>
          <a:lstStyle/>
          <a:p>
            <a:pPr algn="ctr">
              <a:buNone/>
              <a:defRPr sz="1650" b="0" i="0">
                <a:solidFill>
                  <a:srgbClr val="111111"/>
                </a:solidFill>
                <a:latin typeface="Georgia"/>
                <a:ea typeface="Georgia"/>
                <a:cs typeface="Georgia"/>
              </a:defRPr>
            </a:pPr>
            <a:r>
              <a:rPr sz="1650" b="0" i="0">
                <a:solidFill>
                  <a:srgbClr val="111111"/>
                </a:solidFill>
                <a:latin typeface="Georgia"/>
                <a:ea typeface="Georgia"/>
                <a:cs typeface="Georgia"/>
              </a:rPr>
              <a:t>Internal developer platform</a:t>
            </a:r>
          </a:p>
        </p:txBody>
      </p:sp>
      <p:sp>
        <p:nvSpPr>
          <p:cNvPr id="23" name="Rounded Rectangle 22">
            <a:extLst>
              <a:ext uri="{FF2B5EF4-FFF2-40B4-BE49-F238E27FC236}">
                <a16:creationId xmlns:a16="http://schemas.microsoft.com/office/drawing/2014/main" id="{152DAC69-C2D7-471F-BBE6-37E65F309755}"/>
              </a:ext>
            </a:extLst>
          </p:cNvPr>
          <p:cNvSpPr>
            <a:spLocks noGrp="1"/>
          </p:cNvSpPr>
          <p:nvPr/>
        </p:nvSpPr>
        <p:spPr>
          <a:xfrm>
            <a:off x="8134350" y="3371850"/>
            <a:ext cx="2724150" cy="781050"/>
          </a:xfrm>
          <a:prstGeom prst="roundRect">
            <a:avLst>
              <a:gd name="adj" fmla="val 9756"/>
            </a:avLst>
          </a:prstGeom>
          <a:solidFill>
            <a:srgbClr val="FFFFFF"/>
          </a:solidFill>
          <a:ln w="9525">
            <a:solidFill>
              <a:srgbClr val="8A8B86"/>
            </a:solidFill>
            <a:prstDash val="solid"/>
          </a:ln>
        </p:spPr>
        <p:txBody>
          <a:bodyPr/>
          <a:lstStyle/>
          <a:p>
            <a:endParaRPr lang="en-US"/>
          </a:p>
        </p:txBody>
      </p:sp>
      <p:sp>
        <p:nvSpPr>
          <p:cNvPr id="24" name="Rectangle 23">
            <a:extLst>
              <a:ext uri="{FF2B5EF4-FFF2-40B4-BE49-F238E27FC236}">
                <a16:creationId xmlns:a16="http://schemas.microsoft.com/office/drawing/2014/main" id="{6BF0BFE0-F415-431C-AD7E-4108B460A995}"/>
              </a:ext>
            </a:extLst>
          </p:cNvPr>
          <p:cNvSpPr>
            <a:spLocks noGrp="1"/>
          </p:cNvSpPr>
          <p:nvPr/>
        </p:nvSpPr>
        <p:spPr>
          <a:xfrm>
            <a:off x="8286750" y="3505200"/>
            <a:ext cx="2419350" cy="533400"/>
          </a:xfrm>
          <a:prstGeom prst="rect">
            <a:avLst/>
          </a:prstGeom>
          <a:noFill/>
          <a:ln w="0">
            <a:noFill/>
            <a:prstDash val="solid"/>
          </a:ln>
        </p:spPr>
        <p:txBody>
          <a:bodyPr wrap="square" lIns="0" tIns="0" rIns="0" bIns="0" anchor="ctr">
            <a:normAutofit/>
          </a:bodyPr>
          <a:lstStyle/>
          <a:p>
            <a:pPr algn="ctr">
              <a:buNone/>
              <a:defRPr sz="1650" b="0" i="0">
                <a:solidFill>
                  <a:srgbClr val="111111"/>
                </a:solidFill>
                <a:latin typeface="Georgia"/>
                <a:ea typeface="Georgia"/>
                <a:cs typeface="Georgia"/>
              </a:defRPr>
            </a:pPr>
            <a:r>
              <a:rPr sz="1650" b="0" i="0">
                <a:solidFill>
                  <a:srgbClr val="111111"/>
                </a:solidFill>
                <a:latin typeface="Georgia"/>
                <a:ea typeface="Georgia"/>
                <a:cs typeface="Georgia"/>
              </a:rPr>
              <a:t>Developer self-service</a:t>
            </a:r>
          </a:p>
        </p:txBody>
      </p:sp>
      <p:sp>
        <p:nvSpPr>
          <p:cNvPr id="25" name="Rectangle 24">
            <a:extLst>
              <a:ext uri="{FF2B5EF4-FFF2-40B4-BE49-F238E27FC236}">
                <a16:creationId xmlns:a16="http://schemas.microsoft.com/office/drawing/2014/main" id="{5FC52D63-6605-4E74-A7C0-2A53AEBAFC41}"/>
              </a:ext>
            </a:extLst>
          </p:cNvPr>
          <p:cNvSpPr>
            <a:spLocks noGrp="1"/>
          </p:cNvSpPr>
          <p:nvPr/>
        </p:nvSpPr>
        <p:spPr>
          <a:xfrm>
            <a:off x="666750" y="4743450"/>
            <a:ext cx="1143000" cy="228600"/>
          </a:xfrm>
          <a:prstGeom prst="rect">
            <a:avLst/>
          </a:prstGeom>
          <a:noFill/>
          <a:ln w="0">
            <a:noFill/>
            <a:prstDash val="solid"/>
          </a:ln>
        </p:spPr>
        <p:txBody>
          <a:bodyPr wrap="square" lIns="0" tIns="0" rIns="0" bIns="0" anchor="t">
            <a:normAutofit/>
          </a:bodyPr>
          <a:lstStyle/>
          <a:p>
            <a:pPr algn="l">
              <a:buNone/>
              <a:defRPr sz="1125" b="1" i="0">
                <a:solidFill>
                  <a:srgbClr val="5537D6"/>
                </a:solidFill>
                <a:latin typeface="Consolas"/>
                <a:ea typeface="Consolas"/>
                <a:cs typeface="Consolas"/>
              </a:defRPr>
            </a:pPr>
            <a:r>
              <a:rPr sz="1125" b="1" i="0">
                <a:solidFill>
                  <a:srgbClr val="5537D6"/>
                </a:solidFill>
                <a:latin typeface="Consolas"/>
                <a:ea typeface="Consolas"/>
                <a:cs typeface="Consolas"/>
              </a:rPr>
              <a:t>CONTROL</a:t>
            </a:r>
          </a:p>
        </p:txBody>
      </p:sp>
      <p:sp>
        <p:nvSpPr>
          <p:cNvPr id="26" name="Rectangle 25">
            <a:extLst>
              <a:ext uri="{FF2B5EF4-FFF2-40B4-BE49-F238E27FC236}">
                <a16:creationId xmlns:a16="http://schemas.microsoft.com/office/drawing/2014/main" id="{0E153F0B-6F24-4E7D-BC6F-BAC99E40F4D5}"/>
              </a:ext>
            </a:extLst>
          </p:cNvPr>
          <p:cNvSpPr>
            <a:spLocks noGrp="1"/>
          </p:cNvSpPr>
          <p:nvPr/>
        </p:nvSpPr>
        <p:spPr>
          <a:xfrm>
            <a:off x="1790700" y="4857750"/>
            <a:ext cx="9525000" cy="9525"/>
          </a:xfrm>
          <a:prstGeom prst="rect">
            <a:avLst/>
          </a:prstGeom>
          <a:solidFill>
            <a:srgbClr val="D9D6CD"/>
          </a:solidFill>
          <a:ln w="0">
            <a:noFill/>
            <a:prstDash val="solid"/>
          </a:ln>
        </p:spPr>
        <p:txBody>
          <a:bodyPr/>
          <a:lstStyle/>
          <a:p>
            <a:endParaRPr lang="en-US"/>
          </a:p>
        </p:txBody>
      </p:sp>
      <p:sp>
        <p:nvSpPr>
          <p:cNvPr id="27" name="Rounded Rectangle 26">
            <a:extLst>
              <a:ext uri="{FF2B5EF4-FFF2-40B4-BE49-F238E27FC236}">
                <a16:creationId xmlns:a16="http://schemas.microsoft.com/office/drawing/2014/main" id="{F9C978E2-281E-42AE-A703-F4A7CF299835}"/>
              </a:ext>
            </a:extLst>
          </p:cNvPr>
          <p:cNvSpPr>
            <a:spLocks noGrp="1"/>
          </p:cNvSpPr>
          <p:nvPr/>
        </p:nvSpPr>
        <p:spPr>
          <a:xfrm>
            <a:off x="2076450" y="4591050"/>
            <a:ext cx="2724150" cy="781050"/>
          </a:xfrm>
          <a:prstGeom prst="roundRect">
            <a:avLst>
              <a:gd name="adj" fmla="val 9756"/>
            </a:avLst>
          </a:prstGeom>
          <a:solidFill>
            <a:srgbClr val="FFFFFF"/>
          </a:solidFill>
          <a:ln w="9525">
            <a:solidFill>
              <a:srgbClr val="8A8B86"/>
            </a:solidFill>
            <a:prstDash val="solid"/>
          </a:ln>
        </p:spPr>
        <p:txBody>
          <a:bodyPr/>
          <a:lstStyle/>
          <a:p>
            <a:endParaRPr lang="en-US"/>
          </a:p>
        </p:txBody>
      </p:sp>
      <p:sp>
        <p:nvSpPr>
          <p:cNvPr id="28" name="Rectangle 27">
            <a:extLst>
              <a:ext uri="{FF2B5EF4-FFF2-40B4-BE49-F238E27FC236}">
                <a16:creationId xmlns:a16="http://schemas.microsoft.com/office/drawing/2014/main" id="{93096274-681A-4131-A2ED-6AA56969B456}"/>
              </a:ext>
            </a:extLst>
          </p:cNvPr>
          <p:cNvSpPr>
            <a:spLocks noGrp="1"/>
          </p:cNvSpPr>
          <p:nvPr/>
        </p:nvSpPr>
        <p:spPr>
          <a:xfrm>
            <a:off x="2228850" y="4724400"/>
            <a:ext cx="2419350" cy="533400"/>
          </a:xfrm>
          <a:prstGeom prst="rect">
            <a:avLst/>
          </a:prstGeom>
          <a:noFill/>
          <a:ln w="0">
            <a:noFill/>
            <a:prstDash val="solid"/>
          </a:ln>
        </p:spPr>
        <p:txBody>
          <a:bodyPr wrap="square" lIns="0" tIns="0" rIns="0" bIns="0" anchor="ctr">
            <a:normAutofit/>
          </a:bodyPr>
          <a:lstStyle/>
          <a:p>
            <a:pPr algn="ctr">
              <a:buNone/>
              <a:defRPr sz="1650" b="0" i="0">
                <a:solidFill>
                  <a:srgbClr val="111111"/>
                </a:solidFill>
                <a:latin typeface="Georgia"/>
                <a:ea typeface="Georgia"/>
                <a:cs typeface="Georgia"/>
              </a:defRPr>
            </a:pPr>
            <a:r>
              <a:rPr sz="1650" b="0" i="0">
                <a:solidFill>
                  <a:srgbClr val="111111"/>
                </a:solidFill>
                <a:latin typeface="Georgia"/>
                <a:ea typeface="Georgia"/>
                <a:cs typeface="Georgia"/>
              </a:rPr>
              <a:t>Security + Traceable adjunct</a:t>
            </a:r>
          </a:p>
        </p:txBody>
      </p:sp>
      <p:sp>
        <p:nvSpPr>
          <p:cNvPr id="29" name="Rounded Rectangle 28">
            <a:extLst>
              <a:ext uri="{FF2B5EF4-FFF2-40B4-BE49-F238E27FC236}">
                <a16:creationId xmlns:a16="http://schemas.microsoft.com/office/drawing/2014/main" id="{0E7C7B84-0A15-41B7-B6B1-852992A649D7}"/>
              </a:ext>
            </a:extLst>
          </p:cNvPr>
          <p:cNvSpPr>
            <a:spLocks noGrp="1"/>
          </p:cNvSpPr>
          <p:nvPr/>
        </p:nvSpPr>
        <p:spPr>
          <a:xfrm>
            <a:off x="5105400" y="4591050"/>
            <a:ext cx="2724150" cy="781050"/>
          </a:xfrm>
          <a:prstGeom prst="roundRect">
            <a:avLst>
              <a:gd name="adj" fmla="val 9756"/>
            </a:avLst>
          </a:prstGeom>
          <a:solidFill>
            <a:srgbClr val="FFFFFF"/>
          </a:solidFill>
          <a:ln w="9525">
            <a:solidFill>
              <a:srgbClr val="8A8B86"/>
            </a:solidFill>
            <a:prstDash val="solid"/>
          </a:ln>
        </p:spPr>
        <p:txBody>
          <a:bodyPr/>
          <a:lstStyle/>
          <a:p>
            <a:endParaRPr lang="en-US"/>
          </a:p>
        </p:txBody>
      </p:sp>
      <p:sp>
        <p:nvSpPr>
          <p:cNvPr id="30" name="Rectangle 29">
            <a:extLst>
              <a:ext uri="{FF2B5EF4-FFF2-40B4-BE49-F238E27FC236}">
                <a16:creationId xmlns:a16="http://schemas.microsoft.com/office/drawing/2014/main" id="{988FD800-1915-4EDA-B9AA-85CC0E538C9A}"/>
              </a:ext>
            </a:extLst>
          </p:cNvPr>
          <p:cNvSpPr>
            <a:spLocks noGrp="1"/>
          </p:cNvSpPr>
          <p:nvPr/>
        </p:nvSpPr>
        <p:spPr>
          <a:xfrm>
            <a:off x="5257800" y="4724400"/>
            <a:ext cx="2419350" cy="533400"/>
          </a:xfrm>
          <a:prstGeom prst="rect">
            <a:avLst/>
          </a:prstGeom>
          <a:noFill/>
          <a:ln w="0">
            <a:noFill/>
            <a:prstDash val="solid"/>
          </a:ln>
        </p:spPr>
        <p:txBody>
          <a:bodyPr wrap="square" lIns="0" tIns="0" rIns="0" bIns="0" anchor="ctr">
            <a:normAutofit/>
          </a:bodyPr>
          <a:lstStyle/>
          <a:p>
            <a:pPr algn="ctr">
              <a:buNone/>
              <a:defRPr sz="1650" b="0" i="0">
                <a:solidFill>
                  <a:srgbClr val="111111"/>
                </a:solidFill>
                <a:latin typeface="Georgia"/>
                <a:ea typeface="Georgia"/>
                <a:cs typeface="Georgia"/>
              </a:defRPr>
            </a:pPr>
            <a:r>
              <a:rPr sz="1650" b="0" i="0">
                <a:solidFill>
                  <a:srgbClr val="111111"/>
                </a:solidFill>
                <a:latin typeface="Georgia"/>
                <a:ea typeface="Georgia"/>
                <a:cs typeface="Georgia"/>
              </a:rPr>
              <a:t>Multicloud placement</a:t>
            </a:r>
          </a:p>
        </p:txBody>
      </p:sp>
      <p:sp>
        <p:nvSpPr>
          <p:cNvPr id="31" name="Rounded Rectangle 30">
            <a:extLst>
              <a:ext uri="{FF2B5EF4-FFF2-40B4-BE49-F238E27FC236}">
                <a16:creationId xmlns:a16="http://schemas.microsoft.com/office/drawing/2014/main" id="{6C6DE888-EE8A-4D10-AE88-FA392BE67209}"/>
              </a:ext>
            </a:extLst>
          </p:cNvPr>
          <p:cNvSpPr>
            <a:spLocks noGrp="1"/>
          </p:cNvSpPr>
          <p:nvPr/>
        </p:nvSpPr>
        <p:spPr>
          <a:xfrm>
            <a:off x="8134350" y="4591050"/>
            <a:ext cx="2724150" cy="781050"/>
          </a:xfrm>
          <a:prstGeom prst="roundRect">
            <a:avLst>
              <a:gd name="adj" fmla="val 9756"/>
            </a:avLst>
          </a:prstGeom>
          <a:solidFill>
            <a:srgbClr val="FFFFFF"/>
          </a:solidFill>
          <a:ln w="9525">
            <a:solidFill>
              <a:srgbClr val="8A8B86"/>
            </a:solidFill>
            <a:prstDash val="solid"/>
          </a:ln>
        </p:spPr>
        <p:txBody>
          <a:bodyPr/>
          <a:lstStyle/>
          <a:p>
            <a:endParaRPr lang="en-US"/>
          </a:p>
        </p:txBody>
      </p:sp>
      <p:sp>
        <p:nvSpPr>
          <p:cNvPr id="32" name="Rectangle 31">
            <a:extLst>
              <a:ext uri="{FF2B5EF4-FFF2-40B4-BE49-F238E27FC236}">
                <a16:creationId xmlns:a16="http://schemas.microsoft.com/office/drawing/2014/main" id="{BD6F468D-F2D5-4523-ADC2-39FFF9520D37}"/>
              </a:ext>
            </a:extLst>
          </p:cNvPr>
          <p:cNvSpPr>
            <a:spLocks noGrp="1"/>
          </p:cNvSpPr>
          <p:nvPr/>
        </p:nvSpPr>
        <p:spPr>
          <a:xfrm>
            <a:off x="8286750" y="4724400"/>
            <a:ext cx="2419350" cy="533400"/>
          </a:xfrm>
          <a:prstGeom prst="rect">
            <a:avLst/>
          </a:prstGeom>
          <a:noFill/>
          <a:ln w="0">
            <a:noFill/>
            <a:prstDash val="solid"/>
          </a:ln>
        </p:spPr>
        <p:txBody>
          <a:bodyPr wrap="square" lIns="0" tIns="0" rIns="0" bIns="0" anchor="ctr">
            <a:normAutofit/>
          </a:bodyPr>
          <a:lstStyle/>
          <a:p>
            <a:pPr algn="ctr">
              <a:buNone/>
              <a:defRPr sz="1650" b="0" i="0">
                <a:solidFill>
                  <a:srgbClr val="111111"/>
                </a:solidFill>
                <a:latin typeface="Georgia"/>
                <a:ea typeface="Georgia"/>
                <a:cs typeface="Georgia"/>
              </a:defRPr>
            </a:pPr>
            <a:r>
              <a:rPr sz="1650" b="0" i="0">
                <a:solidFill>
                  <a:srgbClr val="111111"/>
                </a:solidFill>
                <a:latin typeface="Georgia"/>
                <a:ea typeface="Georgia"/>
                <a:cs typeface="Georgia"/>
              </a:rPr>
              <a:t>AI / agentic traffic</a:t>
            </a:r>
          </a:p>
        </p:txBody>
      </p:sp>
      <p:sp>
        <p:nvSpPr>
          <p:cNvPr id="33" name="Rectangle 32">
            <a:extLst>
              <a:ext uri="{FF2B5EF4-FFF2-40B4-BE49-F238E27FC236}">
                <a16:creationId xmlns:a16="http://schemas.microsoft.com/office/drawing/2014/main" id="{82166C70-84D1-41B2-A3E7-3F6C65F02202}"/>
              </a:ext>
            </a:extLst>
          </p:cNvPr>
          <p:cNvSpPr>
            <a:spLocks noGrp="1"/>
          </p:cNvSpPr>
          <p:nvPr/>
        </p:nvSpPr>
        <p:spPr>
          <a:xfrm>
            <a:off x="2076450" y="5819775"/>
            <a:ext cx="8801100" cy="400050"/>
          </a:xfrm>
          <a:prstGeom prst="rect">
            <a:avLst/>
          </a:prstGeom>
          <a:solidFill>
            <a:srgbClr val="111111"/>
          </a:solidFill>
          <a:ln w="0">
            <a:noFill/>
            <a:prstDash val="solid"/>
          </a:ln>
        </p:spPr>
        <p:txBody>
          <a:bodyPr/>
          <a:lstStyle/>
          <a:p>
            <a:endParaRPr lang="en-US"/>
          </a:p>
        </p:txBody>
      </p:sp>
      <p:sp>
        <p:nvSpPr>
          <p:cNvPr id="34" name="Rectangle 33">
            <a:extLst>
              <a:ext uri="{FF2B5EF4-FFF2-40B4-BE49-F238E27FC236}">
                <a16:creationId xmlns:a16="http://schemas.microsoft.com/office/drawing/2014/main" id="{24C17F99-8C78-4F10-B889-03B88774EB73}"/>
              </a:ext>
            </a:extLst>
          </p:cNvPr>
          <p:cNvSpPr>
            <a:spLocks noGrp="1"/>
          </p:cNvSpPr>
          <p:nvPr/>
        </p:nvSpPr>
        <p:spPr>
          <a:xfrm>
            <a:off x="2228850" y="5895975"/>
            <a:ext cx="8496300" cy="247650"/>
          </a:xfrm>
          <a:prstGeom prst="rect">
            <a:avLst/>
          </a:prstGeom>
          <a:noFill/>
          <a:ln w="0">
            <a:noFill/>
            <a:prstDash val="solid"/>
          </a:ln>
        </p:spPr>
        <p:txBody>
          <a:bodyPr wrap="square" lIns="0" tIns="0" rIns="0" bIns="0" anchor="t">
            <a:normAutofit/>
          </a:bodyPr>
          <a:lstStyle/>
          <a:p>
            <a:pPr algn="ctr">
              <a:buNone/>
              <a:defRPr sz="1350" b="1" i="0">
                <a:solidFill>
                  <a:srgbClr val="FFFFFF"/>
                </a:solidFill>
                <a:latin typeface="Arial"/>
                <a:ea typeface="Arial"/>
                <a:cs typeface="Arial"/>
              </a:defRPr>
            </a:pPr>
            <a:r>
              <a:rPr sz="1350" b="1" i="0">
                <a:solidFill>
                  <a:srgbClr val="FFFFFF"/>
                </a:solidFill>
                <a:latin typeface="Arial"/>
                <a:ea typeface="Arial"/>
                <a:cs typeface="Arial"/>
              </a:rPr>
              <a:t>EARLY GATES: MULTICLOUD · CLEAN EXIT · FULL TCO · TRACEABLE / HARNESS</a:t>
            </a:r>
          </a:p>
        </p:txBody>
      </p:sp>
    </p:spTree>
    <p:extLst>
      <p:ext uri="{BB962C8B-B14F-4D97-AF65-F5344CB8AC3E}">
        <p14:creationId xmlns:p14="http://schemas.microsoft.com/office/powerpoint/2010/main" val="11277665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DC995484-FE59-4A54-AC8B-B70CC555413D}"/>
              </a:ext>
            </a:extLst>
          </p:cNvPr>
          <p:cNvSpPr>
            <a:spLocks noGrp="1"/>
          </p:cNvSpPr>
          <p:nvPr/>
        </p:nvSpPr>
        <p:spPr>
          <a:xfrm>
            <a:off x="0" y="0"/>
            <a:ext cx="12192000" cy="266700"/>
          </a:xfrm>
          <a:prstGeom prst="rect">
            <a:avLst/>
          </a:prstGeom>
          <a:solidFill>
            <a:srgbClr val="FFC72C"/>
          </a:solidFill>
          <a:ln w="0">
            <a:noFill/>
            <a:prstDash val="solid"/>
          </a:ln>
        </p:spPr>
        <p:txBody>
          <a:bodyPr/>
          <a:lstStyle/>
          <a:p>
            <a:endParaRPr lang="en-US"/>
          </a:p>
        </p:txBody>
      </p:sp>
      <p:sp>
        <p:nvSpPr>
          <p:cNvPr id="2" name="Rectangle 1">
            <a:extLst>
              <a:ext uri="{FF2B5EF4-FFF2-40B4-BE49-F238E27FC236}">
                <a16:creationId xmlns:a16="http://schemas.microsoft.com/office/drawing/2014/main" id="{94E1E85B-4907-44F3-B3F3-30CA44CC9BDD}"/>
              </a:ext>
            </a:extLst>
          </p:cNvPr>
          <p:cNvSpPr>
            <a:spLocks noGrp="1"/>
          </p:cNvSpPr>
          <p:nvPr/>
        </p:nvSpPr>
        <p:spPr>
          <a:xfrm>
            <a:off x="10668000" y="0"/>
            <a:ext cx="1524000" cy="266700"/>
          </a:xfrm>
          <a:prstGeom prst="rect">
            <a:avLst/>
          </a:prstGeom>
          <a:solidFill>
            <a:srgbClr val="5537D6"/>
          </a:solidFill>
          <a:ln w="0">
            <a:noFill/>
            <a:prstDash val="solid"/>
          </a:ln>
        </p:spPr>
        <p:txBody>
          <a:bodyPr/>
          <a:lstStyle/>
          <a:p>
            <a:endParaRPr lang="en-US"/>
          </a:p>
        </p:txBody>
      </p:sp>
      <p:sp>
        <p:nvSpPr>
          <p:cNvPr id="3" name="Rectangle 2">
            <a:extLst>
              <a:ext uri="{FF2B5EF4-FFF2-40B4-BE49-F238E27FC236}">
                <a16:creationId xmlns:a16="http://schemas.microsoft.com/office/drawing/2014/main" id="{C2E8364E-3AF6-4B6B-A9AC-736E6A92C060}"/>
              </a:ext>
            </a:extLst>
          </p:cNvPr>
          <p:cNvSpPr>
            <a:spLocks noGrp="1"/>
          </p:cNvSpPr>
          <p:nvPr/>
        </p:nvSpPr>
        <p:spPr>
          <a:xfrm>
            <a:off x="609600" y="38100"/>
            <a:ext cx="3429000" cy="190500"/>
          </a:xfrm>
          <a:prstGeom prst="rect">
            <a:avLst/>
          </a:prstGeom>
          <a:noFill/>
          <a:ln w="0">
            <a:noFill/>
            <a:prstDash val="solid"/>
          </a:ln>
        </p:spPr>
        <p:txBody>
          <a:bodyPr wrap="square" lIns="0" tIns="0" rIns="0" bIns="0" anchor="t">
            <a:normAutofit/>
          </a:bodyPr>
          <a:lstStyle/>
          <a:p>
            <a:pPr algn="l">
              <a:buNone/>
              <a:defRPr sz="975" b="1" i="0">
                <a:solidFill>
                  <a:srgbClr val="111111"/>
                </a:solidFill>
                <a:latin typeface="Consolas"/>
                <a:ea typeface="Consolas"/>
                <a:cs typeface="Consolas"/>
              </a:defRPr>
            </a:pPr>
            <a:r>
              <a:rPr sz="975" b="1" i="0">
                <a:solidFill>
                  <a:srgbClr val="111111"/>
                </a:solidFill>
                <a:latin typeface="Consolas"/>
                <a:ea typeface="Consolas"/>
                <a:cs typeface="Consolas"/>
              </a:rPr>
              <a:t>03 / WHY NOW</a:t>
            </a:r>
          </a:p>
        </p:txBody>
      </p:sp>
      <p:sp>
        <p:nvSpPr>
          <p:cNvPr id="4" name="Rectangle 3">
            <a:extLst>
              <a:ext uri="{FF2B5EF4-FFF2-40B4-BE49-F238E27FC236}">
                <a16:creationId xmlns:a16="http://schemas.microsoft.com/office/drawing/2014/main" id="{12D85729-2CB3-4219-8470-B936ACC11A3D}"/>
              </a:ext>
            </a:extLst>
          </p:cNvPr>
          <p:cNvSpPr>
            <a:spLocks noGrp="1"/>
          </p:cNvSpPr>
          <p:nvPr/>
        </p:nvSpPr>
        <p:spPr>
          <a:xfrm>
            <a:off x="609600" y="428625"/>
            <a:ext cx="10572750" cy="1028700"/>
          </a:xfrm>
          <a:prstGeom prst="rect">
            <a:avLst/>
          </a:prstGeom>
          <a:noFill/>
          <a:ln w="0">
            <a:noFill/>
            <a:prstDash val="solid"/>
          </a:ln>
        </p:spPr>
        <p:txBody>
          <a:bodyPr wrap="square" lIns="0" tIns="0" rIns="0" bIns="0" anchor="t">
            <a:noAutofit/>
          </a:bodyPr>
          <a:lstStyle/>
          <a:p>
            <a:pPr algn="l">
              <a:buNone/>
              <a:defRPr sz="3300" b="1" i="0">
                <a:solidFill>
                  <a:srgbClr val="111111"/>
                </a:solidFill>
                <a:latin typeface="Arial"/>
                <a:ea typeface="Arial"/>
                <a:cs typeface="Arial"/>
              </a:defRPr>
            </a:pPr>
            <a:r>
              <a:rPr sz="3300" b="1" i="0">
                <a:solidFill>
                  <a:srgbClr val="111111"/>
                </a:solidFill>
                <a:latin typeface="Arial"/>
                <a:ea typeface="Arial"/>
                <a:cs typeface="Arial"/>
              </a:rPr>
              <a:t>The scorecard favors cloud-native delivery</a:t>
            </a:r>
          </a:p>
        </p:txBody>
      </p:sp>
      <p:sp>
        <p:nvSpPr>
          <p:cNvPr id="5" name="Rectangle 4">
            <a:extLst>
              <a:ext uri="{FF2B5EF4-FFF2-40B4-BE49-F238E27FC236}">
                <a16:creationId xmlns:a16="http://schemas.microsoft.com/office/drawing/2014/main" id="{266CE50A-98C5-4374-8F72-CC8CC2B51B88}"/>
              </a:ext>
            </a:extLst>
          </p:cNvPr>
          <p:cNvSpPr>
            <a:spLocks noGrp="1"/>
          </p:cNvSpPr>
          <p:nvPr/>
        </p:nvSpPr>
        <p:spPr>
          <a:xfrm>
            <a:off x="628650" y="1514475"/>
            <a:ext cx="10382250" cy="323850"/>
          </a:xfrm>
          <a:prstGeom prst="rect">
            <a:avLst/>
          </a:prstGeom>
          <a:noFill/>
          <a:ln w="0">
            <a:noFill/>
            <a:prstDash val="solid"/>
          </a:ln>
        </p:spPr>
        <p:txBody>
          <a:bodyPr wrap="square" lIns="0" tIns="0" rIns="0" bIns="0" anchor="t">
            <a:noAutofit/>
          </a:bodyPr>
          <a:lstStyle/>
          <a:p>
            <a:pPr algn="l">
              <a:buNone/>
              <a:defRPr sz="1575" b="0" i="0">
                <a:solidFill>
                  <a:srgbClr val="686A66"/>
                </a:solidFill>
                <a:latin typeface="Arial"/>
                <a:ea typeface="Arial"/>
                <a:cs typeface="Arial"/>
              </a:defRPr>
            </a:pPr>
            <a:r>
              <a:rPr sz="1575" b="0" i="0">
                <a:solidFill>
                  <a:srgbClr val="686A66"/>
                </a:solidFill>
                <a:latin typeface="Arial"/>
                <a:ea typeface="Arial"/>
                <a:cs typeface="Arial"/>
              </a:rPr>
              <a:t>Historical weights stay visible; six added dimensions remain unknown, and Traceable stays an unscored gate.</a:t>
            </a:r>
          </a:p>
        </p:txBody>
      </p:sp>
      <p:sp>
        <p:nvSpPr>
          <p:cNvPr id="6" name="Rectangle 5">
            <a:extLst>
              <a:ext uri="{FF2B5EF4-FFF2-40B4-BE49-F238E27FC236}">
                <a16:creationId xmlns:a16="http://schemas.microsoft.com/office/drawing/2014/main" id="{ADB1DBB9-C1D8-4F0E-B793-1F3E974AAE2C}"/>
              </a:ext>
            </a:extLst>
          </p:cNvPr>
          <p:cNvSpPr>
            <a:spLocks noGrp="1"/>
          </p:cNvSpPr>
          <p:nvPr/>
        </p:nvSpPr>
        <p:spPr>
          <a:xfrm>
            <a:off x="609600" y="1905000"/>
            <a:ext cx="10972800" cy="9525"/>
          </a:xfrm>
          <a:prstGeom prst="rect">
            <a:avLst/>
          </a:prstGeom>
          <a:solidFill>
            <a:srgbClr val="8A8B86"/>
          </a:solidFill>
          <a:ln w="0">
            <a:noFill/>
            <a:prstDash val="solid"/>
          </a:ln>
        </p:spPr>
        <p:txBody>
          <a:bodyPr/>
          <a:lstStyle/>
          <a:p>
            <a:endParaRPr lang="en-US"/>
          </a:p>
        </p:txBody>
      </p:sp>
      <p:sp>
        <p:nvSpPr>
          <p:cNvPr id="7" name="Rectangle 6">
            <a:extLst>
              <a:ext uri="{FF2B5EF4-FFF2-40B4-BE49-F238E27FC236}">
                <a16:creationId xmlns:a16="http://schemas.microsoft.com/office/drawing/2014/main" id="{A5DE1D53-DBB2-4360-8E9A-0FEDF33F256C}"/>
              </a:ext>
            </a:extLst>
          </p:cNvPr>
          <p:cNvSpPr>
            <a:spLocks noGrp="1"/>
          </p:cNvSpPr>
          <p:nvPr/>
        </p:nvSpPr>
        <p:spPr>
          <a:xfrm>
            <a:off x="609600" y="6524625"/>
            <a:ext cx="8858250" cy="180975"/>
          </a:xfrm>
          <a:prstGeom prst="rect">
            <a:avLst/>
          </a:prstGeom>
          <a:noFill/>
          <a:ln w="0">
            <a:noFill/>
            <a:prstDash val="solid"/>
          </a:ln>
        </p:spPr>
        <p:txBody>
          <a:bodyPr wrap="square" lIns="0" tIns="0" rIns="0" bIns="0" anchor="ctr">
            <a:normAutofit/>
          </a:bodyPr>
          <a:lstStyle/>
          <a:p>
            <a:pPr>
              <a:buNone/>
              <a:defRPr sz="825">
                <a:solidFill>
                  <a:srgbClr val="666762"/>
                </a:solidFill>
              </a:defRPr>
            </a:pPr>
            <a:r>
              <a:rPr sz="825" b="1">
                <a:solidFill>
                  <a:srgbClr val="666762"/>
                </a:solidFill>
              </a:rPr>
              <a:t>REFERENCES  </a:t>
            </a:r>
            <a:r>
              <a:rPr sz="825" u="sng">
                <a:solidFill>
                  <a:srgbClr val="666762"/>
                </a:solidFill>
                <a:hlinkClick r:id="rId3"/>
              </a:rPr>
              <a:t>Repo reference</a:t>
            </a:r>
            <a:r>
              <a:rPr sz="825">
                <a:solidFill>
                  <a:srgbClr val="666762"/>
                </a:solidFill>
              </a:rPr>
              <a:t>  ·  </a:t>
            </a:r>
            <a:r>
              <a:rPr sz="825" u="sng">
                <a:solidFill>
                  <a:srgbClr val="666762"/>
                </a:solidFill>
                <a:hlinkClick r:id="rId4"/>
              </a:rPr>
              <a:t>Official docs</a:t>
            </a:r>
          </a:p>
        </p:txBody>
      </p:sp>
      <p:sp>
        <p:nvSpPr>
          <p:cNvPr id="8" name="Rectangle 7">
            <a:extLst>
              <a:ext uri="{FF2B5EF4-FFF2-40B4-BE49-F238E27FC236}">
                <a16:creationId xmlns:a16="http://schemas.microsoft.com/office/drawing/2014/main" id="{3DB7BB16-FDBD-4FCB-8992-D7D49E5F9E18}"/>
              </a:ext>
            </a:extLst>
          </p:cNvPr>
          <p:cNvSpPr>
            <a:spLocks noGrp="1"/>
          </p:cNvSpPr>
          <p:nvPr/>
        </p:nvSpPr>
        <p:spPr>
          <a:xfrm>
            <a:off x="10287000" y="6486525"/>
            <a:ext cx="1295400" cy="209550"/>
          </a:xfrm>
          <a:prstGeom prst="rect">
            <a:avLst/>
          </a:prstGeom>
          <a:noFill/>
          <a:ln w="0">
            <a:noFill/>
            <a:prstDash val="solid"/>
          </a:ln>
        </p:spPr>
        <p:txBody>
          <a:bodyPr wrap="square" lIns="0" tIns="0" rIns="0" bIns="0" anchor="t">
            <a:normAutofit/>
          </a:bodyPr>
          <a:lstStyle/>
          <a:p>
            <a:pPr algn="r">
              <a:buNone/>
              <a:defRPr sz="975" b="1" i="0">
                <a:solidFill>
                  <a:srgbClr val="686A66"/>
                </a:solidFill>
                <a:latin typeface="Consolas"/>
                <a:ea typeface="Consolas"/>
                <a:cs typeface="Consolas"/>
              </a:defRPr>
            </a:pPr>
            <a:r>
              <a:rPr sz="975" b="1" i="0">
                <a:solidFill>
                  <a:srgbClr val="686A66"/>
                </a:solidFill>
                <a:latin typeface="Consolas"/>
                <a:ea typeface="Consolas"/>
                <a:cs typeface="Consolas"/>
              </a:rPr>
              <a:t>03 / 25</a:t>
            </a:r>
          </a:p>
        </p:txBody>
      </p:sp>
      <p:sp>
        <p:nvSpPr>
          <p:cNvPr id="9" name="Rectangle 8">
            <a:extLst>
              <a:ext uri="{FF2B5EF4-FFF2-40B4-BE49-F238E27FC236}">
                <a16:creationId xmlns:a16="http://schemas.microsoft.com/office/drawing/2014/main" id="{83999E3B-B592-469C-8D41-B4164F6ED5F4}"/>
              </a:ext>
            </a:extLst>
          </p:cNvPr>
          <p:cNvSpPr>
            <a:spLocks noGrp="1"/>
          </p:cNvSpPr>
          <p:nvPr/>
        </p:nvSpPr>
        <p:spPr>
          <a:xfrm>
            <a:off x="647700" y="2133600"/>
            <a:ext cx="2619375" cy="266700"/>
          </a:xfrm>
          <a:prstGeom prst="rect">
            <a:avLst/>
          </a:prstGeom>
          <a:noFill/>
          <a:ln w="0">
            <a:noFill/>
            <a:prstDash val="solid"/>
          </a:ln>
        </p:spPr>
        <p:txBody>
          <a:bodyPr wrap="square" lIns="0" tIns="0" rIns="0" bIns="0" anchor="t">
            <a:normAutofit/>
          </a:bodyPr>
          <a:lstStyle/>
          <a:p>
            <a:pPr algn="l">
              <a:buNone/>
              <a:defRPr sz="1350" b="0" i="0">
                <a:solidFill>
                  <a:srgbClr val="111111"/>
                </a:solidFill>
                <a:latin typeface="Arial"/>
                <a:ea typeface="Arial"/>
                <a:cs typeface="Arial"/>
              </a:defRPr>
            </a:pPr>
            <a:r>
              <a:rPr sz="1350" b="0" i="0">
                <a:solidFill>
                  <a:srgbClr val="111111"/>
                </a:solidFill>
                <a:latin typeface="Arial"/>
                <a:ea typeface="Arial"/>
                <a:cs typeface="Arial"/>
              </a:rPr>
              <a:t>Kubernetes &amp; cloud native</a:t>
            </a:r>
          </a:p>
        </p:txBody>
      </p:sp>
      <p:sp>
        <p:nvSpPr>
          <p:cNvPr id="10" name="Rectangle 9">
            <a:extLst>
              <a:ext uri="{FF2B5EF4-FFF2-40B4-BE49-F238E27FC236}">
                <a16:creationId xmlns:a16="http://schemas.microsoft.com/office/drawing/2014/main" id="{DCA90892-E157-4E68-8788-E175B5FEB646}"/>
              </a:ext>
            </a:extLst>
          </p:cNvPr>
          <p:cNvSpPr>
            <a:spLocks noGrp="1"/>
          </p:cNvSpPr>
          <p:nvPr/>
        </p:nvSpPr>
        <p:spPr>
          <a:xfrm>
            <a:off x="3314700" y="2181225"/>
            <a:ext cx="3714750" cy="180975"/>
          </a:xfrm>
          <a:prstGeom prst="rect">
            <a:avLst/>
          </a:prstGeom>
          <a:solidFill>
            <a:srgbClr val="ECE9E1"/>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0BBDC538-88E7-4D3F-B255-6D2D45CD43EA}"/>
              </a:ext>
            </a:extLst>
          </p:cNvPr>
          <p:cNvSpPr>
            <a:spLocks noGrp="1"/>
          </p:cNvSpPr>
          <p:nvPr/>
        </p:nvSpPr>
        <p:spPr>
          <a:xfrm>
            <a:off x="3314700" y="2181225"/>
            <a:ext cx="3714750" cy="180975"/>
          </a:xfrm>
          <a:prstGeom prst="rect">
            <a:avLst/>
          </a:prstGeom>
          <a:solidFill>
            <a:srgbClr val="FFC72C"/>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AECF084A-2265-47E1-88CA-FFAF863D3346}"/>
              </a:ext>
            </a:extLst>
          </p:cNvPr>
          <p:cNvSpPr>
            <a:spLocks noGrp="1"/>
          </p:cNvSpPr>
          <p:nvPr/>
        </p:nvSpPr>
        <p:spPr>
          <a:xfrm>
            <a:off x="7124700" y="2114550"/>
            <a:ext cx="514350" cy="266700"/>
          </a:xfrm>
          <a:prstGeom prst="rect">
            <a:avLst/>
          </a:prstGeom>
          <a:noFill/>
          <a:ln w="0">
            <a:noFill/>
            <a:prstDash val="solid"/>
          </a:ln>
        </p:spPr>
        <p:txBody>
          <a:bodyPr wrap="square" lIns="0" tIns="0" rIns="0" bIns="0" anchor="t">
            <a:normAutofit/>
          </a:bodyPr>
          <a:lstStyle/>
          <a:p>
            <a:pPr algn="r">
              <a:buNone/>
              <a:defRPr sz="1275" b="1" i="0">
                <a:solidFill>
                  <a:srgbClr val="5537D6"/>
                </a:solidFill>
                <a:latin typeface="Consolas"/>
                <a:ea typeface="Consolas"/>
                <a:cs typeface="Consolas"/>
              </a:defRPr>
            </a:pPr>
            <a:r>
              <a:rPr sz="1275" b="1" i="0">
                <a:solidFill>
                  <a:srgbClr val="5537D6"/>
                </a:solidFill>
                <a:latin typeface="Consolas"/>
                <a:ea typeface="Consolas"/>
                <a:cs typeface="Consolas"/>
              </a:rPr>
              <a:t>20%</a:t>
            </a:r>
          </a:p>
        </p:txBody>
      </p:sp>
      <p:sp>
        <p:nvSpPr>
          <p:cNvPr id="13" name="Rectangle 12">
            <a:extLst>
              <a:ext uri="{FF2B5EF4-FFF2-40B4-BE49-F238E27FC236}">
                <a16:creationId xmlns:a16="http://schemas.microsoft.com/office/drawing/2014/main" id="{407C0A2A-4553-4DE7-AB51-886EF5D228B9}"/>
              </a:ext>
            </a:extLst>
          </p:cNvPr>
          <p:cNvSpPr>
            <a:spLocks noGrp="1"/>
          </p:cNvSpPr>
          <p:nvPr/>
        </p:nvSpPr>
        <p:spPr>
          <a:xfrm>
            <a:off x="647700" y="2600325"/>
            <a:ext cx="2619375" cy="266700"/>
          </a:xfrm>
          <a:prstGeom prst="rect">
            <a:avLst/>
          </a:prstGeom>
          <a:noFill/>
          <a:ln w="0">
            <a:noFill/>
            <a:prstDash val="solid"/>
          </a:ln>
        </p:spPr>
        <p:txBody>
          <a:bodyPr wrap="square" lIns="0" tIns="0" rIns="0" bIns="0" anchor="t">
            <a:normAutofit/>
          </a:bodyPr>
          <a:lstStyle/>
          <a:p>
            <a:pPr algn="l">
              <a:buNone/>
              <a:defRPr sz="1350" b="0" i="0">
                <a:solidFill>
                  <a:srgbClr val="111111"/>
                </a:solidFill>
                <a:latin typeface="Arial"/>
                <a:ea typeface="Arial"/>
                <a:cs typeface="Arial"/>
              </a:defRPr>
            </a:pPr>
            <a:r>
              <a:rPr sz="1350" b="0" i="0">
                <a:solidFill>
                  <a:srgbClr val="111111"/>
                </a:solidFill>
                <a:latin typeface="Arial"/>
                <a:ea typeface="Arial"/>
                <a:cs typeface="Arial"/>
              </a:rPr>
              <a:t>GitOps &amp; DevOps</a:t>
            </a:r>
          </a:p>
        </p:txBody>
      </p:sp>
      <p:sp>
        <p:nvSpPr>
          <p:cNvPr id="14" name="Rectangle 13">
            <a:extLst>
              <a:ext uri="{FF2B5EF4-FFF2-40B4-BE49-F238E27FC236}">
                <a16:creationId xmlns:a16="http://schemas.microsoft.com/office/drawing/2014/main" id="{8EE13771-E623-4CD2-8628-E935B10BAB78}"/>
              </a:ext>
            </a:extLst>
          </p:cNvPr>
          <p:cNvSpPr>
            <a:spLocks noGrp="1"/>
          </p:cNvSpPr>
          <p:nvPr/>
        </p:nvSpPr>
        <p:spPr>
          <a:xfrm>
            <a:off x="3314700" y="2647950"/>
            <a:ext cx="3714750" cy="180975"/>
          </a:xfrm>
          <a:prstGeom prst="rect">
            <a:avLst/>
          </a:prstGeom>
          <a:solidFill>
            <a:srgbClr val="ECE9E1"/>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4737DB41-35AB-4B66-AF02-A486876F3044}"/>
              </a:ext>
            </a:extLst>
          </p:cNvPr>
          <p:cNvSpPr>
            <a:spLocks noGrp="1"/>
          </p:cNvSpPr>
          <p:nvPr/>
        </p:nvSpPr>
        <p:spPr>
          <a:xfrm>
            <a:off x="3314700" y="2647950"/>
            <a:ext cx="2786063" cy="180975"/>
          </a:xfrm>
          <a:prstGeom prst="rect">
            <a:avLst/>
          </a:prstGeom>
          <a:solidFill>
            <a:srgbClr val="FFC72C"/>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C51B1E4F-0B29-4FB5-B952-AF63A8AE764B}"/>
              </a:ext>
            </a:extLst>
          </p:cNvPr>
          <p:cNvSpPr>
            <a:spLocks noGrp="1"/>
          </p:cNvSpPr>
          <p:nvPr/>
        </p:nvSpPr>
        <p:spPr>
          <a:xfrm>
            <a:off x="7124700" y="2581275"/>
            <a:ext cx="514350" cy="266700"/>
          </a:xfrm>
          <a:prstGeom prst="rect">
            <a:avLst/>
          </a:prstGeom>
          <a:noFill/>
          <a:ln w="0">
            <a:noFill/>
            <a:prstDash val="solid"/>
          </a:ln>
        </p:spPr>
        <p:txBody>
          <a:bodyPr wrap="square" lIns="0" tIns="0" rIns="0" bIns="0" anchor="t">
            <a:normAutofit/>
          </a:bodyPr>
          <a:lstStyle/>
          <a:p>
            <a:pPr algn="r">
              <a:buNone/>
              <a:defRPr sz="1275" b="1" i="0">
                <a:solidFill>
                  <a:srgbClr val="5537D6"/>
                </a:solidFill>
                <a:latin typeface="Consolas"/>
                <a:ea typeface="Consolas"/>
                <a:cs typeface="Consolas"/>
              </a:defRPr>
            </a:pPr>
            <a:r>
              <a:rPr sz="1275" b="1" i="0">
                <a:solidFill>
                  <a:srgbClr val="5537D6"/>
                </a:solidFill>
                <a:latin typeface="Consolas"/>
                <a:ea typeface="Consolas"/>
                <a:cs typeface="Consolas"/>
              </a:rPr>
              <a:t>15%</a:t>
            </a:r>
          </a:p>
        </p:txBody>
      </p:sp>
      <p:sp>
        <p:nvSpPr>
          <p:cNvPr id="17" name="Rectangle 16">
            <a:extLst>
              <a:ext uri="{FF2B5EF4-FFF2-40B4-BE49-F238E27FC236}">
                <a16:creationId xmlns:a16="http://schemas.microsoft.com/office/drawing/2014/main" id="{8CEA0EB6-ACB8-45C6-A329-720E0EED5D72}"/>
              </a:ext>
            </a:extLst>
          </p:cNvPr>
          <p:cNvSpPr>
            <a:spLocks noGrp="1"/>
          </p:cNvSpPr>
          <p:nvPr/>
        </p:nvSpPr>
        <p:spPr>
          <a:xfrm>
            <a:off x="647700" y="3067050"/>
            <a:ext cx="2619375" cy="266700"/>
          </a:xfrm>
          <a:prstGeom prst="rect">
            <a:avLst/>
          </a:prstGeom>
          <a:noFill/>
          <a:ln w="0">
            <a:noFill/>
            <a:prstDash val="solid"/>
          </a:ln>
        </p:spPr>
        <p:txBody>
          <a:bodyPr wrap="square" lIns="0" tIns="0" rIns="0" bIns="0" anchor="t">
            <a:normAutofit/>
          </a:bodyPr>
          <a:lstStyle/>
          <a:p>
            <a:pPr algn="l">
              <a:buNone/>
              <a:defRPr sz="1350" b="0" i="0">
                <a:solidFill>
                  <a:srgbClr val="111111"/>
                </a:solidFill>
                <a:latin typeface="Arial"/>
                <a:ea typeface="Arial"/>
                <a:cs typeface="Arial"/>
              </a:defRPr>
            </a:pPr>
            <a:r>
              <a:rPr sz="1350" b="0" i="0">
                <a:solidFill>
                  <a:srgbClr val="111111"/>
                </a:solidFill>
                <a:latin typeface="Arial"/>
                <a:ea typeface="Arial"/>
                <a:cs typeface="Arial"/>
              </a:rPr>
              <a:t>API management</a:t>
            </a:r>
          </a:p>
        </p:txBody>
      </p:sp>
      <p:sp>
        <p:nvSpPr>
          <p:cNvPr id="18" name="Rectangle 17">
            <a:extLst>
              <a:ext uri="{FF2B5EF4-FFF2-40B4-BE49-F238E27FC236}">
                <a16:creationId xmlns:a16="http://schemas.microsoft.com/office/drawing/2014/main" id="{210CB3BC-0BB0-4B73-BE33-46152DEBA480}"/>
              </a:ext>
            </a:extLst>
          </p:cNvPr>
          <p:cNvSpPr>
            <a:spLocks noGrp="1"/>
          </p:cNvSpPr>
          <p:nvPr/>
        </p:nvSpPr>
        <p:spPr>
          <a:xfrm>
            <a:off x="3314700" y="3114675"/>
            <a:ext cx="3714750" cy="180975"/>
          </a:xfrm>
          <a:prstGeom prst="rect">
            <a:avLst/>
          </a:prstGeom>
          <a:solidFill>
            <a:srgbClr val="ECE9E1"/>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506C06BA-183D-420F-A21E-DFE98BA51892}"/>
              </a:ext>
            </a:extLst>
          </p:cNvPr>
          <p:cNvSpPr>
            <a:spLocks noGrp="1"/>
          </p:cNvSpPr>
          <p:nvPr/>
        </p:nvSpPr>
        <p:spPr>
          <a:xfrm>
            <a:off x="3314700" y="3114675"/>
            <a:ext cx="2786063" cy="180975"/>
          </a:xfrm>
          <a:prstGeom prst="rect">
            <a:avLst/>
          </a:prstGeom>
          <a:solidFill>
            <a:srgbClr val="111111"/>
          </a:solidFill>
          <a:ln w="0">
            <a:noFill/>
            <a:prstDash val="solid"/>
          </a:ln>
        </p:spPr>
        <p:txBody>
          <a:bodyPr/>
          <a:lstStyle/>
          <a:p>
            <a:endParaRPr lang="en-US"/>
          </a:p>
        </p:txBody>
      </p:sp>
      <p:sp>
        <p:nvSpPr>
          <p:cNvPr id="20" name="Rectangle 19">
            <a:extLst>
              <a:ext uri="{FF2B5EF4-FFF2-40B4-BE49-F238E27FC236}">
                <a16:creationId xmlns:a16="http://schemas.microsoft.com/office/drawing/2014/main" id="{F912B96C-71EC-477A-B898-3B52A5527A44}"/>
              </a:ext>
            </a:extLst>
          </p:cNvPr>
          <p:cNvSpPr>
            <a:spLocks noGrp="1"/>
          </p:cNvSpPr>
          <p:nvPr/>
        </p:nvSpPr>
        <p:spPr>
          <a:xfrm>
            <a:off x="7124700" y="3048000"/>
            <a:ext cx="514350" cy="266700"/>
          </a:xfrm>
          <a:prstGeom prst="rect">
            <a:avLst/>
          </a:prstGeom>
          <a:noFill/>
          <a:ln w="0">
            <a:noFill/>
            <a:prstDash val="solid"/>
          </a:ln>
        </p:spPr>
        <p:txBody>
          <a:bodyPr wrap="square" lIns="0" tIns="0" rIns="0" bIns="0" anchor="t">
            <a:normAutofit/>
          </a:bodyPr>
          <a:lstStyle/>
          <a:p>
            <a:pPr algn="r">
              <a:buNone/>
              <a:defRPr sz="1275" b="1" i="0">
                <a:solidFill>
                  <a:srgbClr val="111111"/>
                </a:solidFill>
                <a:latin typeface="Consolas"/>
                <a:ea typeface="Consolas"/>
                <a:cs typeface="Consolas"/>
              </a:defRPr>
            </a:pPr>
            <a:r>
              <a:rPr sz="1275" b="1" i="0">
                <a:solidFill>
                  <a:srgbClr val="111111"/>
                </a:solidFill>
                <a:latin typeface="Consolas"/>
                <a:ea typeface="Consolas"/>
                <a:cs typeface="Consolas"/>
              </a:rPr>
              <a:t>15%</a:t>
            </a:r>
          </a:p>
        </p:txBody>
      </p:sp>
      <p:sp>
        <p:nvSpPr>
          <p:cNvPr id="21" name="Rectangle 20">
            <a:extLst>
              <a:ext uri="{FF2B5EF4-FFF2-40B4-BE49-F238E27FC236}">
                <a16:creationId xmlns:a16="http://schemas.microsoft.com/office/drawing/2014/main" id="{43CE0393-1EE3-4979-B491-292EC7DC327B}"/>
              </a:ext>
            </a:extLst>
          </p:cNvPr>
          <p:cNvSpPr>
            <a:spLocks noGrp="1"/>
          </p:cNvSpPr>
          <p:nvPr/>
        </p:nvSpPr>
        <p:spPr>
          <a:xfrm>
            <a:off x="647700" y="3533775"/>
            <a:ext cx="2619375" cy="266700"/>
          </a:xfrm>
          <a:prstGeom prst="rect">
            <a:avLst/>
          </a:prstGeom>
          <a:noFill/>
          <a:ln w="0">
            <a:noFill/>
            <a:prstDash val="solid"/>
          </a:ln>
        </p:spPr>
        <p:txBody>
          <a:bodyPr wrap="square" lIns="0" tIns="0" rIns="0" bIns="0" anchor="t">
            <a:normAutofit/>
          </a:bodyPr>
          <a:lstStyle/>
          <a:p>
            <a:pPr algn="l">
              <a:buNone/>
              <a:defRPr sz="1350" b="0" i="0">
                <a:solidFill>
                  <a:srgbClr val="111111"/>
                </a:solidFill>
                <a:latin typeface="Arial"/>
                <a:ea typeface="Arial"/>
                <a:cs typeface="Arial"/>
              </a:defRPr>
            </a:pPr>
            <a:r>
              <a:rPr sz="1350" b="0" i="0">
                <a:solidFill>
                  <a:srgbClr val="111111"/>
                </a:solidFill>
                <a:latin typeface="Arial"/>
                <a:ea typeface="Arial"/>
                <a:cs typeface="Arial"/>
              </a:rPr>
              <a:t>API governance</a:t>
            </a:r>
          </a:p>
        </p:txBody>
      </p:sp>
      <p:sp>
        <p:nvSpPr>
          <p:cNvPr id="22" name="Rectangle 21">
            <a:extLst>
              <a:ext uri="{FF2B5EF4-FFF2-40B4-BE49-F238E27FC236}">
                <a16:creationId xmlns:a16="http://schemas.microsoft.com/office/drawing/2014/main" id="{8C84072F-01C5-4B00-B728-BE8307A07101}"/>
              </a:ext>
            </a:extLst>
          </p:cNvPr>
          <p:cNvSpPr>
            <a:spLocks noGrp="1"/>
          </p:cNvSpPr>
          <p:nvPr/>
        </p:nvSpPr>
        <p:spPr>
          <a:xfrm>
            <a:off x="3314700" y="3581400"/>
            <a:ext cx="3714750" cy="180975"/>
          </a:xfrm>
          <a:prstGeom prst="rect">
            <a:avLst/>
          </a:prstGeom>
          <a:solidFill>
            <a:srgbClr val="ECE9E1"/>
          </a:solidFill>
          <a:ln w="0">
            <a:noFill/>
            <a:prstDash val="solid"/>
          </a:ln>
        </p:spPr>
        <p:txBody>
          <a:bodyPr/>
          <a:lstStyle/>
          <a:p>
            <a:endParaRPr lang="en-US"/>
          </a:p>
        </p:txBody>
      </p:sp>
      <p:sp>
        <p:nvSpPr>
          <p:cNvPr id="23" name="Rectangle 22">
            <a:extLst>
              <a:ext uri="{FF2B5EF4-FFF2-40B4-BE49-F238E27FC236}">
                <a16:creationId xmlns:a16="http://schemas.microsoft.com/office/drawing/2014/main" id="{C9E20D3E-041F-493D-8D39-5DE38F5E1EBF}"/>
              </a:ext>
            </a:extLst>
          </p:cNvPr>
          <p:cNvSpPr>
            <a:spLocks noGrp="1"/>
          </p:cNvSpPr>
          <p:nvPr/>
        </p:nvSpPr>
        <p:spPr>
          <a:xfrm>
            <a:off x="3314700" y="3581400"/>
            <a:ext cx="1857375" cy="180975"/>
          </a:xfrm>
          <a:prstGeom prst="rect">
            <a:avLst/>
          </a:prstGeom>
          <a:solidFill>
            <a:srgbClr val="111111"/>
          </a:solidFill>
          <a:ln w="0">
            <a:noFill/>
            <a:prstDash val="solid"/>
          </a:ln>
        </p:spPr>
        <p:txBody>
          <a:bodyPr/>
          <a:lstStyle/>
          <a:p>
            <a:endParaRPr lang="en-US"/>
          </a:p>
        </p:txBody>
      </p:sp>
      <p:sp>
        <p:nvSpPr>
          <p:cNvPr id="24" name="Rectangle 23">
            <a:extLst>
              <a:ext uri="{FF2B5EF4-FFF2-40B4-BE49-F238E27FC236}">
                <a16:creationId xmlns:a16="http://schemas.microsoft.com/office/drawing/2014/main" id="{FCFD24CE-9F71-47C8-9B0F-45AF3A99F104}"/>
              </a:ext>
            </a:extLst>
          </p:cNvPr>
          <p:cNvSpPr>
            <a:spLocks noGrp="1"/>
          </p:cNvSpPr>
          <p:nvPr/>
        </p:nvSpPr>
        <p:spPr>
          <a:xfrm>
            <a:off x="7124700" y="3514725"/>
            <a:ext cx="514350" cy="266700"/>
          </a:xfrm>
          <a:prstGeom prst="rect">
            <a:avLst/>
          </a:prstGeom>
          <a:noFill/>
          <a:ln w="0">
            <a:noFill/>
            <a:prstDash val="solid"/>
          </a:ln>
        </p:spPr>
        <p:txBody>
          <a:bodyPr wrap="square" lIns="0" tIns="0" rIns="0" bIns="0" anchor="t">
            <a:normAutofit/>
          </a:bodyPr>
          <a:lstStyle/>
          <a:p>
            <a:pPr algn="r">
              <a:buNone/>
              <a:defRPr sz="1275" b="1" i="0">
                <a:solidFill>
                  <a:srgbClr val="111111"/>
                </a:solidFill>
                <a:latin typeface="Consolas"/>
                <a:ea typeface="Consolas"/>
                <a:cs typeface="Consolas"/>
              </a:defRPr>
            </a:pPr>
            <a:r>
              <a:rPr sz="1275" b="1" i="0">
                <a:solidFill>
                  <a:srgbClr val="111111"/>
                </a:solidFill>
                <a:latin typeface="Consolas"/>
                <a:ea typeface="Consolas"/>
                <a:cs typeface="Consolas"/>
              </a:rPr>
              <a:t>10%</a:t>
            </a:r>
          </a:p>
        </p:txBody>
      </p:sp>
      <p:sp>
        <p:nvSpPr>
          <p:cNvPr id="25" name="Rectangle 24">
            <a:extLst>
              <a:ext uri="{FF2B5EF4-FFF2-40B4-BE49-F238E27FC236}">
                <a16:creationId xmlns:a16="http://schemas.microsoft.com/office/drawing/2014/main" id="{6481FCB3-3166-4906-8E7B-0FB192E072FF}"/>
              </a:ext>
            </a:extLst>
          </p:cNvPr>
          <p:cNvSpPr>
            <a:spLocks noGrp="1"/>
          </p:cNvSpPr>
          <p:nvPr/>
        </p:nvSpPr>
        <p:spPr>
          <a:xfrm>
            <a:off x="647700" y="4000500"/>
            <a:ext cx="2619375" cy="266700"/>
          </a:xfrm>
          <a:prstGeom prst="rect">
            <a:avLst/>
          </a:prstGeom>
          <a:noFill/>
          <a:ln w="0">
            <a:noFill/>
            <a:prstDash val="solid"/>
          </a:ln>
        </p:spPr>
        <p:txBody>
          <a:bodyPr wrap="square" lIns="0" tIns="0" rIns="0" bIns="0" anchor="t">
            <a:normAutofit/>
          </a:bodyPr>
          <a:lstStyle/>
          <a:p>
            <a:pPr algn="l">
              <a:buNone/>
              <a:defRPr sz="1350" b="0" i="0">
                <a:solidFill>
                  <a:srgbClr val="111111"/>
                </a:solidFill>
                <a:latin typeface="Arial"/>
                <a:ea typeface="Arial"/>
                <a:cs typeface="Arial"/>
              </a:defRPr>
            </a:pPr>
            <a:r>
              <a:rPr sz="1350" b="0" i="0">
                <a:solidFill>
                  <a:srgbClr val="111111"/>
                </a:solidFill>
                <a:latin typeface="Arial"/>
                <a:ea typeface="Arial"/>
                <a:cs typeface="Arial"/>
              </a:rPr>
              <a:t>Security &amp; compliance</a:t>
            </a:r>
          </a:p>
        </p:txBody>
      </p:sp>
      <p:sp>
        <p:nvSpPr>
          <p:cNvPr id="26" name="Rectangle 25">
            <a:extLst>
              <a:ext uri="{FF2B5EF4-FFF2-40B4-BE49-F238E27FC236}">
                <a16:creationId xmlns:a16="http://schemas.microsoft.com/office/drawing/2014/main" id="{79E61724-D6CF-4B42-A29F-4A48196F33F8}"/>
              </a:ext>
            </a:extLst>
          </p:cNvPr>
          <p:cNvSpPr>
            <a:spLocks noGrp="1"/>
          </p:cNvSpPr>
          <p:nvPr/>
        </p:nvSpPr>
        <p:spPr>
          <a:xfrm>
            <a:off x="3314700" y="4048125"/>
            <a:ext cx="3714750" cy="180975"/>
          </a:xfrm>
          <a:prstGeom prst="rect">
            <a:avLst/>
          </a:prstGeom>
          <a:solidFill>
            <a:srgbClr val="ECE9E1"/>
          </a:solidFill>
          <a:ln w="0">
            <a:noFill/>
            <a:prstDash val="solid"/>
          </a:ln>
        </p:spPr>
        <p:txBody>
          <a:bodyPr/>
          <a:lstStyle/>
          <a:p>
            <a:endParaRPr lang="en-US"/>
          </a:p>
        </p:txBody>
      </p:sp>
      <p:sp>
        <p:nvSpPr>
          <p:cNvPr id="27" name="Rectangle 26">
            <a:extLst>
              <a:ext uri="{FF2B5EF4-FFF2-40B4-BE49-F238E27FC236}">
                <a16:creationId xmlns:a16="http://schemas.microsoft.com/office/drawing/2014/main" id="{7F3B2A7A-B51B-40C3-AF6B-F4D019A1EAF4}"/>
              </a:ext>
            </a:extLst>
          </p:cNvPr>
          <p:cNvSpPr>
            <a:spLocks noGrp="1"/>
          </p:cNvSpPr>
          <p:nvPr/>
        </p:nvSpPr>
        <p:spPr>
          <a:xfrm>
            <a:off x="3314700" y="4048125"/>
            <a:ext cx="1857375" cy="180975"/>
          </a:xfrm>
          <a:prstGeom prst="rect">
            <a:avLst/>
          </a:prstGeom>
          <a:solidFill>
            <a:srgbClr val="111111"/>
          </a:solidFill>
          <a:ln w="0">
            <a:noFill/>
            <a:prstDash val="solid"/>
          </a:ln>
        </p:spPr>
        <p:txBody>
          <a:bodyPr/>
          <a:lstStyle/>
          <a:p>
            <a:endParaRPr lang="en-US"/>
          </a:p>
        </p:txBody>
      </p:sp>
      <p:sp>
        <p:nvSpPr>
          <p:cNvPr id="28" name="Rectangle 27">
            <a:extLst>
              <a:ext uri="{FF2B5EF4-FFF2-40B4-BE49-F238E27FC236}">
                <a16:creationId xmlns:a16="http://schemas.microsoft.com/office/drawing/2014/main" id="{B6BE2717-1B56-4954-8C1E-9C9B6BB613E3}"/>
              </a:ext>
            </a:extLst>
          </p:cNvPr>
          <p:cNvSpPr>
            <a:spLocks noGrp="1"/>
          </p:cNvSpPr>
          <p:nvPr/>
        </p:nvSpPr>
        <p:spPr>
          <a:xfrm>
            <a:off x="7124700" y="3981450"/>
            <a:ext cx="514350" cy="266700"/>
          </a:xfrm>
          <a:prstGeom prst="rect">
            <a:avLst/>
          </a:prstGeom>
          <a:noFill/>
          <a:ln w="0">
            <a:noFill/>
            <a:prstDash val="solid"/>
          </a:ln>
        </p:spPr>
        <p:txBody>
          <a:bodyPr wrap="square" lIns="0" tIns="0" rIns="0" bIns="0" anchor="t">
            <a:normAutofit/>
          </a:bodyPr>
          <a:lstStyle/>
          <a:p>
            <a:pPr algn="r">
              <a:buNone/>
              <a:defRPr sz="1275" b="1" i="0">
                <a:solidFill>
                  <a:srgbClr val="111111"/>
                </a:solidFill>
                <a:latin typeface="Consolas"/>
                <a:ea typeface="Consolas"/>
                <a:cs typeface="Consolas"/>
              </a:defRPr>
            </a:pPr>
            <a:r>
              <a:rPr sz="1275" b="1" i="0">
                <a:solidFill>
                  <a:srgbClr val="111111"/>
                </a:solidFill>
                <a:latin typeface="Consolas"/>
                <a:ea typeface="Consolas"/>
                <a:cs typeface="Consolas"/>
              </a:rPr>
              <a:t>10%</a:t>
            </a:r>
          </a:p>
        </p:txBody>
      </p:sp>
      <p:sp>
        <p:nvSpPr>
          <p:cNvPr id="29" name="Rectangle 28">
            <a:extLst>
              <a:ext uri="{FF2B5EF4-FFF2-40B4-BE49-F238E27FC236}">
                <a16:creationId xmlns:a16="http://schemas.microsoft.com/office/drawing/2014/main" id="{E741B9A1-04B6-422E-A877-BF9E15F46601}"/>
              </a:ext>
            </a:extLst>
          </p:cNvPr>
          <p:cNvSpPr>
            <a:spLocks noGrp="1"/>
          </p:cNvSpPr>
          <p:nvPr/>
        </p:nvSpPr>
        <p:spPr>
          <a:xfrm>
            <a:off x="647700" y="4467225"/>
            <a:ext cx="2619375" cy="266700"/>
          </a:xfrm>
          <a:prstGeom prst="rect">
            <a:avLst/>
          </a:prstGeom>
          <a:noFill/>
          <a:ln w="0">
            <a:noFill/>
            <a:prstDash val="solid"/>
          </a:ln>
        </p:spPr>
        <p:txBody>
          <a:bodyPr wrap="square" lIns="0" tIns="0" rIns="0" bIns="0" anchor="t">
            <a:normAutofit/>
          </a:bodyPr>
          <a:lstStyle/>
          <a:p>
            <a:pPr algn="l">
              <a:buNone/>
              <a:defRPr sz="1350" b="0" i="0">
                <a:solidFill>
                  <a:srgbClr val="111111"/>
                </a:solidFill>
                <a:latin typeface="Arial"/>
                <a:ea typeface="Arial"/>
                <a:cs typeface="Arial"/>
              </a:defRPr>
            </a:pPr>
            <a:r>
              <a:rPr sz="1350" b="0" i="0">
                <a:solidFill>
                  <a:srgbClr val="111111"/>
                </a:solidFill>
                <a:latin typeface="Arial"/>
                <a:ea typeface="Arial"/>
                <a:cs typeface="Arial"/>
              </a:rPr>
              <a:t>Observability</a:t>
            </a:r>
          </a:p>
        </p:txBody>
      </p:sp>
      <p:sp>
        <p:nvSpPr>
          <p:cNvPr id="30" name="Rectangle 29">
            <a:extLst>
              <a:ext uri="{FF2B5EF4-FFF2-40B4-BE49-F238E27FC236}">
                <a16:creationId xmlns:a16="http://schemas.microsoft.com/office/drawing/2014/main" id="{5AA87F98-1E45-46FF-8685-98A66ED96D21}"/>
              </a:ext>
            </a:extLst>
          </p:cNvPr>
          <p:cNvSpPr>
            <a:spLocks noGrp="1"/>
          </p:cNvSpPr>
          <p:nvPr/>
        </p:nvSpPr>
        <p:spPr>
          <a:xfrm>
            <a:off x="3314700" y="4514850"/>
            <a:ext cx="3714750" cy="180975"/>
          </a:xfrm>
          <a:prstGeom prst="rect">
            <a:avLst/>
          </a:prstGeom>
          <a:solidFill>
            <a:srgbClr val="ECE9E1"/>
          </a:solidFill>
          <a:ln w="0">
            <a:noFill/>
            <a:prstDash val="solid"/>
          </a:ln>
        </p:spPr>
        <p:txBody>
          <a:bodyPr/>
          <a:lstStyle/>
          <a:p>
            <a:endParaRPr lang="en-US"/>
          </a:p>
        </p:txBody>
      </p:sp>
      <p:sp>
        <p:nvSpPr>
          <p:cNvPr id="31" name="Rectangle 30">
            <a:extLst>
              <a:ext uri="{FF2B5EF4-FFF2-40B4-BE49-F238E27FC236}">
                <a16:creationId xmlns:a16="http://schemas.microsoft.com/office/drawing/2014/main" id="{2F518AB7-6BB2-4E8F-9F16-6227EF805E35}"/>
              </a:ext>
            </a:extLst>
          </p:cNvPr>
          <p:cNvSpPr>
            <a:spLocks noGrp="1"/>
          </p:cNvSpPr>
          <p:nvPr/>
        </p:nvSpPr>
        <p:spPr>
          <a:xfrm>
            <a:off x="3314700" y="4514850"/>
            <a:ext cx="1857375" cy="180975"/>
          </a:xfrm>
          <a:prstGeom prst="rect">
            <a:avLst/>
          </a:prstGeom>
          <a:solidFill>
            <a:srgbClr val="111111"/>
          </a:solidFill>
          <a:ln w="0">
            <a:noFill/>
            <a:prstDash val="solid"/>
          </a:ln>
        </p:spPr>
        <p:txBody>
          <a:bodyPr/>
          <a:lstStyle/>
          <a:p>
            <a:endParaRPr lang="en-US"/>
          </a:p>
        </p:txBody>
      </p:sp>
      <p:sp>
        <p:nvSpPr>
          <p:cNvPr id="32" name="Rectangle 31">
            <a:extLst>
              <a:ext uri="{FF2B5EF4-FFF2-40B4-BE49-F238E27FC236}">
                <a16:creationId xmlns:a16="http://schemas.microsoft.com/office/drawing/2014/main" id="{8180A293-5A45-4409-B554-35508E04EC54}"/>
              </a:ext>
            </a:extLst>
          </p:cNvPr>
          <p:cNvSpPr>
            <a:spLocks noGrp="1"/>
          </p:cNvSpPr>
          <p:nvPr/>
        </p:nvSpPr>
        <p:spPr>
          <a:xfrm>
            <a:off x="7124700" y="4448175"/>
            <a:ext cx="514350" cy="266700"/>
          </a:xfrm>
          <a:prstGeom prst="rect">
            <a:avLst/>
          </a:prstGeom>
          <a:noFill/>
          <a:ln w="0">
            <a:noFill/>
            <a:prstDash val="solid"/>
          </a:ln>
        </p:spPr>
        <p:txBody>
          <a:bodyPr wrap="square" lIns="0" tIns="0" rIns="0" bIns="0" anchor="t">
            <a:normAutofit/>
          </a:bodyPr>
          <a:lstStyle/>
          <a:p>
            <a:pPr algn="r">
              <a:buNone/>
              <a:defRPr sz="1275" b="1" i="0">
                <a:solidFill>
                  <a:srgbClr val="111111"/>
                </a:solidFill>
                <a:latin typeface="Consolas"/>
                <a:ea typeface="Consolas"/>
                <a:cs typeface="Consolas"/>
              </a:defRPr>
            </a:pPr>
            <a:r>
              <a:rPr sz="1275" b="1" i="0">
                <a:solidFill>
                  <a:srgbClr val="111111"/>
                </a:solidFill>
                <a:latin typeface="Consolas"/>
                <a:ea typeface="Consolas"/>
                <a:cs typeface="Consolas"/>
              </a:rPr>
              <a:t>10%</a:t>
            </a:r>
          </a:p>
        </p:txBody>
      </p:sp>
      <p:sp>
        <p:nvSpPr>
          <p:cNvPr id="33" name="Rectangle 32">
            <a:extLst>
              <a:ext uri="{FF2B5EF4-FFF2-40B4-BE49-F238E27FC236}">
                <a16:creationId xmlns:a16="http://schemas.microsoft.com/office/drawing/2014/main" id="{F79F0558-0D15-40BD-AB57-CB39FE0BBCD5}"/>
              </a:ext>
            </a:extLst>
          </p:cNvPr>
          <p:cNvSpPr>
            <a:spLocks noGrp="1"/>
          </p:cNvSpPr>
          <p:nvPr/>
        </p:nvSpPr>
        <p:spPr>
          <a:xfrm>
            <a:off x="647700" y="4933950"/>
            <a:ext cx="2619375" cy="266700"/>
          </a:xfrm>
          <a:prstGeom prst="rect">
            <a:avLst/>
          </a:prstGeom>
          <a:noFill/>
          <a:ln w="0">
            <a:noFill/>
            <a:prstDash val="solid"/>
          </a:ln>
        </p:spPr>
        <p:txBody>
          <a:bodyPr wrap="square" lIns="0" tIns="0" rIns="0" bIns="0" anchor="t">
            <a:normAutofit/>
          </a:bodyPr>
          <a:lstStyle/>
          <a:p>
            <a:pPr algn="l">
              <a:buNone/>
              <a:defRPr sz="1350" b="0" i="0">
                <a:solidFill>
                  <a:srgbClr val="111111"/>
                </a:solidFill>
                <a:latin typeface="Arial"/>
                <a:ea typeface="Arial"/>
                <a:cs typeface="Arial"/>
              </a:defRPr>
            </a:pPr>
            <a:r>
              <a:rPr sz="1350" b="0" i="0">
                <a:solidFill>
                  <a:srgbClr val="111111"/>
                </a:solidFill>
                <a:latin typeface="Arial"/>
                <a:ea typeface="Arial"/>
                <a:cs typeface="Arial"/>
              </a:rPr>
              <a:t>AI gateway readiness</a:t>
            </a:r>
          </a:p>
        </p:txBody>
      </p:sp>
      <p:sp>
        <p:nvSpPr>
          <p:cNvPr id="34" name="Rectangle 33">
            <a:extLst>
              <a:ext uri="{FF2B5EF4-FFF2-40B4-BE49-F238E27FC236}">
                <a16:creationId xmlns:a16="http://schemas.microsoft.com/office/drawing/2014/main" id="{8B7D53B6-D275-42A8-B5D3-65CE843B58B0}"/>
              </a:ext>
            </a:extLst>
          </p:cNvPr>
          <p:cNvSpPr>
            <a:spLocks noGrp="1"/>
          </p:cNvSpPr>
          <p:nvPr/>
        </p:nvSpPr>
        <p:spPr>
          <a:xfrm>
            <a:off x="3314700" y="4981575"/>
            <a:ext cx="3714750" cy="180975"/>
          </a:xfrm>
          <a:prstGeom prst="rect">
            <a:avLst/>
          </a:prstGeom>
          <a:solidFill>
            <a:srgbClr val="ECE9E1"/>
          </a:solidFill>
          <a:ln w="0">
            <a:noFill/>
            <a:prstDash val="solid"/>
          </a:ln>
        </p:spPr>
        <p:txBody>
          <a:bodyPr/>
          <a:lstStyle/>
          <a:p>
            <a:endParaRPr lang="en-US"/>
          </a:p>
        </p:txBody>
      </p:sp>
      <p:sp>
        <p:nvSpPr>
          <p:cNvPr id="35" name="Rectangle 34">
            <a:extLst>
              <a:ext uri="{FF2B5EF4-FFF2-40B4-BE49-F238E27FC236}">
                <a16:creationId xmlns:a16="http://schemas.microsoft.com/office/drawing/2014/main" id="{97604918-DF6A-40CB-B8EE-890B52876956}"/>
              </a:ext>
            </a:extLst>
          </p:cNvPr>
          <p:cNvSpPr>
            <a:spLocks noGrp="1"/>
          </p:cNvSpPr>
          <p:nvPr/>
        </p:nvSpPr>
        <p:spPr>
          <a:xfrm>
            <a:off x="3314700" y="4981575"/>
            <a:ext cx="1857375" cy="180975"/>
          </a:xfrm>
          <a:prstGeom prst="rect">
            <a:avLst/>
          </a:prstGeom>
          <a:solidFill>
            <a:srgbClr val="111111"/>
          </a:solidFill>
          <a:ln w="0">
            <a:noFill/>
            <a:prstDash val="solid"/>
          </a:ln>
        </p:spPr>
        <p:txBody>
          <a:bodyPr/>
          <a:lstStyle/>
          <a:p>
            <a:endParaRPr lang="en-US"/>
          </a:p>
        </p:txBody>
      </p:sp>
      <p:sp>
        <p:nvSpPr>
          <p:cNvPr id="36" name="Rectangle 35">
            <a:extLst>
              <a:ext uri="{FF2B5EF4-FFF2-40B4-BE49-F238E27FC236}">
                <a16:creationId xmlns:a16="http://schemas.microsoft.com/office/drawing/2014/main" id="{297F347A-759D-4348-BCC5-91B67374E21D}"/>
              </a:ext>
            </a:extLst>
          </p:cNvPr>
          <p:cNvSpPr>
            <a:spLocks noGrp="1"/>
          </p:cNvSpPr>
          <p:nvPr/>
        </p:nvSpPr>
        <p:spPr>
          <a:xfrm>
            <a:off x="7124700" y="4914900"/>
            <a:ext cx="514350" cy="266700"/>
          </a:xfrm>
          <a:prstGeom prst="rect">
            <a:avLst/>
          </a:prstGeom>
          <a:noFill/>
          <a:ln w="0">
            <a:noFill/>
            <a:prstDash val="solid"/>
          </a:ln>
        </p:spPr>
        <p:txBody>
          <a:bodyPr wrap="square" lIns="0" tIns="0" rIns="0" bIns="0" anchor="t">
            <a:normAutofit/>
          </a:bodyPr>
          <a:lstStyle/>
          <a:p>
            <a:pPr algn="r">
              <a:buNone/>
              <a:defRPr sz="1275" b="1" i="0">
                <a:solidFill>
                  <a:srgbClr val="111111"/>
                </a:solidFill>
                <a:latin typeface="Consolas"/>
                <a:ea typeface="Consolas"/>
                <a:cs typeface="Consolas"/>
              </a:defRPr>
            </a:pPr>
            <a:r>
              <a:rPr sz="1275" b="1" i="0">
                <a:solidFill>
                  <a:srgbClr val="111111"/>
                </a:solidFill>
                <a:latin typeface="Consolas"/>
                <a:ea typeface="Consolas"/>
                <a:cs typeface="Consolas"/>
              </a:rPr>
              <a:t>10%</a:t>
            </a:r>
          </a:p>
        </p:txBody>
      </p:sp>
      <p:sp>
        <p:nvSpPr>
          <p:cNvPr id="37" name="Rectangle 36">
            <a:extLst>
              <a:ext uri="{FF2B5EF4-FFF2-40B4-BE49-F238E27FC236}">
                <a16:creationId xmlns:a16="http://schemas.microsoft.com/office/drawing/2014/main" id="{B0DB533F-F7BF-408B-AA8A-FE32319968BF}"/>
              </a:ext>
            </a:extLst>
          </p:cNvPr>
          <p:cNvSpPr>
            <a:spLocks noGrp="1"/>
          </p:cNvSpPr>
          <p:nvPr/>
        </p:nvSpPr>
        <p:spPr>
          <a:xfrm>
            <a:off x="647700" y="5400675"/>
            <a:ext cx="2619375" cy="266700"/>
          </a:xfrm>
          <a:prstGeom prst="rect">
            <a:avLst/>
          </a:prstGeom>
          <a:noFill/>
          <a:ln w="0">
            <a:noFill/>
            <a:prstDash val="solid"/>
          </a:ln>
        </p:spPr>
        <p:txBody>
          <a:bodyPr wrap="square" lIns="0" tIns="0" rIns="0" bIns="0" anchor="t">
            <a:normAutofit/>
          </a:bodyPr>
          <a:lstStyle/>
          <a:p>
            <a:pPr algn="l">
              <a:buNone/>
              <a:defRPr sz="1350" b="0" i="0">
                <a:solidFill>
                  <a:srgbClr val="111111"/>
                </a:solidFill>
                <a:latin typeface="Arial"/>
                <a:ea typeface="Arial"/>
                <a:cs typeface="Arial"/>
              </a:defRPr>
            </a:pPr>
            <a:r>
              <a:rPr sz="1350" b="0" i="0">
                <a:solidFill>
                  <a:srgbClr val="111111"/>
                </a:solidFill>
                <a:latin typeface="Arial"/>
                <a:ea typeface="Arial"/>
                <a:cs typeface="Arial"/>
              </a:rPr>
              <a:t>Cost efficiency</a:t>
            </a:r>
          </a:p>
        </p:txBody>
      </p:sp>
      <p:sp>
        <p:nvSpPr>
          <p:cNvPr id="38" name="Rectangle 37">
            <a:extLst>
              <a:ext uri="{FF2B5EF4-FFF2-40B4-BE49-F238E27FC236}">
                <a16:creationId xmlns:a16="http://schemas.microsoft.com/office/drawing/2014/main" id="{CF9ABC88-D340-4650-9E73-75A68B89933E}"/>
              </a:ext>
            </a:extLst>
          </p:cNvPr>
          <p:cNvSpPr>
            <a:spLocks noGrp="1"/>
          </p:cNvSpPr>
          <p:nvPr/>
        </p:nvSpPr>
        <p:spPr>
          <a:xfrm>
            <a:off x="3314700" y="5448300"/>
            <a:ext cx="3714750" cy="180975"/>
          </a:xfrm>
          <a:prstGeom prst="rect">
            <a:avLst/>
          </a:prstGeom>
          <a:solidFill>
            <a:srgbClr val="ECE9E1"/>
          </a:solidFill>
          <a:ln w="0">
            <a:noFill/>
            <a:prstDash val="solid"/>
          </a:ln>
        </p:spPr>
        <p:txBody>
          <a:bodyPr/>
          <a:lstStyle/>
          <a:p>
            <a:endParaRPr lang="en-US"/>
          </a:p>
        </p:txBody>
      </p:sp>
      <p:sp>
        <p:nvSpPr>
          <p:cNvPr id="39" name="Rectangle 38">
            <a:extLst>
              <a:ext uri="{FF2B5EF4-FFF2-40B4-BE49-F238E27FC236}">
                <a16:creationId xmlns:a16="http://schemas.microsoft.com/office/drawing/2014/main" id="{80A98BA8-3755-40C9-9706-6C530AF24706}"/>
              </a:ext>
            </a:extLst>
          </p:cNvPr>
          <p:cNvSpPr>
            <a:spLocks noGrp="1"/>
          </p:cNvSpPr>
          <p:nvPr/>
        </p:nvSpPr>
        <p:spPr>
          <a:xfrm>
            <a:off x="3314700" y="5448300"/>
            <a:ext cx="1857375" cy="180975"/>
          </a:xfrm>
          <a:prstGeom prst="rect">
            <a:avLst/>
          </a:prstGeom>
          <a:solidFill>
            <a:srgbClr val="111111"/>
          </a:solidFill>
          <a:ln w="0">
            <a:noFill/>
            <a:prstDash val="solid"/>
          </a:ln>
        </p:spPr>
        <p:txBody>
          <a:bodyPr/>
          <a:lstStyle/>
          <a:p>
            <a:endParaRPr lang="en-US"/>
          </a:p>
        </p:txBody>
      </p:sp>
      <p:sp>
        <p:nvSpPr>
          <p:cNvPr id="40" name="Rectangle 39">
            <a:extLst>
              <a:ext uri="{FF2B5EF4-FFF2-40B4-BE49-F238E27FC236}">
                <a16:creationId xmlns:a16="http://schemas.microsoft.com/office/drawing/2014/main" id="{9296AAE2-A164-4FF8-BB54-149F42A65FCE}"/>
              </a:ext>
            </a:extLst>
          </p:cNvPr>
          <p:cNvSpPr>
            <a:spLocks noGrp="1"/>
          </p:cNvSpPr>
          <p:nvPr/>
        </p:nvSpPr>
        <p:spPr>
          <a:xfrm>
            <a:off x="7124700" y="5381625"/>
            <a:ext cx="514350" cy="266700"/>
          </a:xfrm>
          <a:prstGeom prst="rect">
            <a:avLst/>
          </a:prstGeom>
          <a:noFill/>
          <a:ln w="0">
            <a:noFill/>
            <a:prstDash val="solid"/>
          </a:ln>
        </p:spPr>
        <p:txBody>
          <a:bodyPr wrap="square" lIns="0" tIns="0" rIns="0" bIns="0" anchor="t">
            <a:normAutofit/>
          </a:bodyPr>
          <a:lstStyle/>
          <a:p>
            <a:pPr algn="r">
              <a:buNone/>
              <a:defRPr sz="1275" b="1" i="0">
                <a:solidFill>
                  <a:srgbClr val="111111"/>
                </a:solidFill>
                <a:latin typeface="Consolas"/>
                <a:ea typeface="Consolas"/>
                <a:cs typeface="Consolas"/>
              </a:defRPr>
            </a:pPr>
            <a:r>
              <a:rPr sz="1275" b="1" i="0">
                <a:solidFill>
                  <a:srgbClr val="111111"/>
                </a:solidFill>
                <a:latin typeface="Consolas"/>
                <a:ea typeface="Consolas"/>
                <a:cs typeface="Consolas"/>
              </a:rPr>
              <a:t>10%</a:t>
            </a:r>
          </a:p>
        </p:txBody>
      </p:sp>
      <p:sp>
        <p:nvSpPr>
          <p:cNvPr id="41" name="Rectangle 40">
            <a:extLst>
              <a:ext uri="{FF2B5EF4-FFF2-40B4-BE49-F238E27FC236}">
                <a16:creationId xmlns:a16="http://schemas.microsoft.com/office/drawing/2014/main" id="{65178325-164B-4F75-B7C8-C8DF63589D0B}"/>
              </a:ext>
            </a:extLst>
          </p:cNvPr>
          <p:cNvSpPr>
            <a:spLocks noGrp="1"/>
          </p:cNvSpPr>
          <p:nvPr/>
        </p:nvSpPr>
        <p:spPr>
          <a:xfrm>
            <a:off x="7981950" y="2143125"/>
            <a:ext cx="3333750" cy="2990850"/>
          </a:xfrm>
          <a:prstGeom prst="rect">
            <a:avLst/>
          </a:prstGeom>
          <a:solidFill>
            <a:srgbClr val="FFFFFF"/>
          </a:solidFill>
          <a:ln w="9525">
            <a:solidFill>
              <a:srgbClr val="8A8B86"/>
            </a:solidFill>
            <a:prstDash val="solid"/>
          </a:ln>
        </p:spPr>
        <p:txBody>
          <a:bodyPr/>
          <a:lstStyle/>
          <a:p>
            <a:endParaRPr lang="en-US"/>
          </a:p>
        </p:txBody>
      </p:sp>
      <p:sp>
        <p:nvSpPr>
          <p:cNvPr id="42" name="Rectangle 41">
            <a:extLst>
              <a:ext uri="{FF2B5EF4-FFF2-40B4-BE49-F238E27FC236}">
                <a16:creationId xmlns:a16="http://schemas.microsoft.com/office/drawing/2014/main" id="{A68BA586-9BCD-4FAD-B1F3-FE6F20DA92BE}"/>
              </a:ext>
            </a:extLst>
          </p:cNvPr>
          <p:cNvSpPr>
            <a:spLocks noGrp="1"/>
          </p:cNvSpPr>
          <p:nvPr/>
        </p:nvSpPr>
        <p:spPr>
          <a:xfrm>
            <a:off x="7981950" y="2143125"/>
            <a:ext cx="66675" cy="2990850"/>
          </a:xfrm>
          <a:prstGeom prst="rect">
            <a:avLst/>
          </a:prstGeom>
          <a:solidFill>
            <a:srgbClr val="A96300"/>
          </a:solidFill>
          <a:ln w="0">
            <a:noFill/>
            <a:prstDash val="solid"/>
          </a:ln>
        </p:spPr>
        <p:txBody>
          <a:bodyPr/>
          <a:lstStyle/>
          <a:p>
            <a:endParaRPr lang="en-US"/>
          </a:p>
        </p:txBody>
      </p:sp>
      <p:sp>
        <p:nvSpPr>
          <p:cNvPr id="43" name="Rectangle 42">
            <a:extLst>
              <a:ext uri="{FF2B5EF4-FFF2-40B4-BE49-F238E27FC236}">
                <a16:creationId xmlns:a16="http://schemas.microsoft.com/office/drawing/2014/main" id="{DE1C88DE-9A02-4123-91BF-49E1E52819DF}"/>
              </a:ext>
            </a:extLst>
          </p:cNvPr>
          <p:cNvSpPr>
            <a:spLocks noGrp="1"/>
          </p:cNvSpPr>
          <p:nvPr/>
        </p:nvSpPr>
        <p:spPr>
          <a:xfrm>
            <a:off x="8191500" y="2314575"/>
            <a:ext cx="2914650" cy="228600"/>
          </a:xfrm>
          <a:prstGeom prst="rect">
            <a:avLst/>
          </a:prstGeom>
          <a:noFill/>
          <a:ln w="0">
            <a:noFill/>
            <a:prstDash val="solid"/>
          </a:ln>
        </p:spPr>
        <p:txBody>
          <a:bodyPr wrap="square" lIns="0" tIns="0" rIns="0" bIns="0" anchor="t">
            <a:normAutofit/>
          </a:bodyPr>
          <a:lstStyle/>
          <a:p>
            <a:pPr algn="l">
              <a:buNone/>
              <a:defRPr sz="1050" b="1" i="0">
                <a:solidFill>
                  <a:srgbClr val="A96300"/>
                </a:solidFill>
                <a:latin typeface="Consolas"/>
                <a:ea typeface="Consolas"/>
                <a:cs typeface="Consolas"/>
              </a:defRPr>
            </a:pPr>
            <a:r>
              <a:rPr sz="1050" b="1" i="0">
                <a:solidFill>
                  <a:srgbClr val="A96300"/>
                </a:solidFill>
                <a:latin typeface="Consolas"/>
                <a:ea typeface="Consolas"/>
                <a:cs typeface="Consolas"/>
              </a:rPr>
              <a:t>PROVISIONAL SCENARIO</a:t>
            </a:r>
          </a:p>
        </p:txBody>
      </p:sp>
      <p:sp>
        <p:nvSpPr>
          <p:cNvPr id="44" name="Rectangle 43">
            <a:extLst>
              <a:ext uri="{FF2B5EF4-FFF2-40B4-BE49-F238E27FC236}">
                <a16:creationId xmlns:a16="http://schemas.microsoft.com/office/drawing/2014/main" id="{E10912D9-388E-464B-9B3E-F4184BCCAB00}"/>
              </a:ext>
            </a:extLst>
          </p:cNvPr>
          <p:cNvSpPr>
            <a:spLocks noGrp="1"/>
          </p:cNvSpPr>
          <p:nvPr/>
        </p:nvSpPr>
        <p:spPr>
          <a:xfrm>
            <a:off x="8191500" y="2619375"/>
            <a:ext cx="2914650" cy="685800"/>
          </a:xfrm>
          <a:prstGeom prst="rect">
            <a:avLst/>
          </a:prstGeom>
          <a:noFill/>
          <a:ln w="0">
            <a:noFill/>
            <a:prstDash val="solid"/>
          </a:ln>
        </p:spPr>
        <p:txBody>
          <a:bodyPr wrap="square" lIns="0" tIns="0" rIns="0" bIns="0" anchor="t">
            <a:normAutofit/>
          </a:bodyPr>
          <a:lstStyle/>
          <a:p>
            <a:pPr algn="l">
              <a:buNone/>
              <a:defRPr sz="2175" b="0" i="0">
                <a:solidFill>
                  <a:srgbClr val="111111"/>
                </a:solidFill>
                <a:latin typeface="Georgia"/>
                <a:ea typeface="Georgia"/>
                <a:cs typeface="Georgia"/>
              </a:defRPr>
            </a:pPr>
            <a:r>
              <a:rPr sz="2175" b="0" i="0">
                <a:solidFill>
                  <a:srgbClr val="111111"/>
                </a:solidFill>
                <a:latin typeface="Georgia"/>
                <a:ea typeface="Georgia"/>
                <a:cs typeface="Georgia"/>
              </a:rPr>
              <a:t>Six dimensions carry 40%</a:t>
            </a:r>
          </a:p>
        </p:txBody>
      </p:sp>
      <p:sp>
        <p:nvSpPr>
          <p:cNvPr id="45" name="Rectangle 44">
            <a:extLst>
              <a:ext uri="{FF2B5EF4-FFF2-40B4-BE49-F238E27FC236}">
                <a16:creationId xmlns:a16="http://schemas.microsoft.com/office/drawing/2014/main" id="{32075F24-E6A8-4CF9-895F-EAB751A11278}"/>
              </a:ext>
            </a:extLst>
          </p:cNvPr>
          <p:cNvSpPr>
            <a:spLocks noGrp="1"/>
          </p:cNvSpPr>
          <p:nvPr/>
        </p:nvSpPr>
        <p:spPr>
          <a:xfrm>
            <a:off x="8191500" y="3324225"/>
            <a:ext cx="2914650" cy="1638300"/>
          </a:xfrm>
          <a:prstGeom prst="rect">
            <a:avLst/>
          </a:prstGeom>
          <a:noFill/>
          <a:ln w="0">
            <a:noFill/>
            <a:prstDash val="solid"/>
          </a:ln>
        </p:spPr>
        <p:txBody>
          <a:bodyPr wrap="square" lIns="19050" tIns="9525" rIns="19050" bIns="9525" anchor="t">
            <a:normAutofit/>
          </a:bodyPr>
          <a:lstStyle/>
          <a:p>
            <a:pPr algn="l">
              <a:lnSpc>
                <a:spcPct val="100000"/>
              </a:lnSpc>
              <a:buNone/>
              <a:defRPr sz="1425" b="0" i="0">
                <a:solidFill>
                  <a:srgbClr val="686A66"/>
                </a:solidFill>
                <a:latin typeface="Arial"/>
                <a:ea typeface="Arial"/>
                <a:cs typeface="Arial"/>
              </a:defRPr>
            </a:pPr>
            <a:r>
              <a:rPr sz="1425" b="0" i="0">
                <a:solidFill>
                  <a:srgbClr val="686A66"/>
                </a:solidFill>
                <a:latin typeface="Arial"/>
                <a:ea typeface="Arial"/>
                <a:cs typeface="Arial"/>
              </a:rPr>
              <a:t>• Multicloud operating fit — 8%</a:t>
            </a:r>
          </a:p>
          <a:p>
            <a:pPr algn="l">
              <a:lnSpc>
                <a:spcPct val="100000"/>
              </a:lnSpc>
              <a:buNone/>
              <a:defRPr sz="1425" b="0" i="0">
                <a:solidFill>
                  <a:srgbClr val="686A66"/>
                </a:solidFill>
                <a:latin typeface="Arial"/>
                <a:ea typeface="Arial"/>
                <a:cs typeface="Arial"/>
              </a:defRPr>
            </a:pPr>
            <a:r>
              <a:rPr sz="1425" b="0" i="0">
                <a:solidFill>
                  <a:srgbClr val="686A66"/>
                </a:solidFill>
                <a:latin typeface="Arial"/>
                <a:ea typeface="Arial"/>
                <a:cs typeface="Arial"/>
              </a:rPr>
              <a:t>• Scale / recovery — 8%</a:t>
            </a:r>
          </a:p>
          <a:p>
            <a:pPr algn="l">
              <a:lnSpc>
                <a:spcPct val="100000"/>
              </a:lnSpc>
              <a:buNone/>
              <a:defRPr sz="1425" b="0" i="0">
                <a:solidFill>
                  <a:srgbClr val="686A66"/>
                </a:solidFill>
                <a:latin typeface="Arial"/>
                <a:ea typeface="Arial"/>
                <a:cs typeface="Arial"/>
              </a:defRPr>
            </a:pPr>
            <a:r>
              <a:rPr sz="1425" b="0" i="0">
                <a:solidFill>
                  <a:srgbClr val="686A66"/>
                </a:solidFill>
                <a:latin typeface="Arial"/>
                <a:ea typeface="Arial"/>
                <a:cs typeface="Arial"/>
              </a:rPr>
              <a:t>• Enterprise IAM / trace — 8%</a:t>
            </a:r>
          </a:p>
          <a:p>
            <a:pPr algn="l">
              <a:lnSpc>
                <a:spcPct val="100000"/>
              </a:lnSpc>
              <a:buNone/>
              <a:defRPr sz="1425" b="0" i="0">
                <a:solidFill>
                  <a:srgbClr val="686A66"/>
                </a:solidFill>
                <a:latin typeface="Arial"/>
                <a:ea typeface="Arial"/>
                <a:cs typeface="Arial"/>
              </a:defRPr>
            </a:pPr>
            <a:r>
              <a:rPr sz="1425" b="0" i="0">
                <a:solidFill>
                  <a:srgbClr val="686A66"/>
                </a:solidFill>
                <a:latin typeface="Arial"/>
                <a:ea typeface="Arial"/>
                <a:cs typeface="Arial"/>
              </a:rPr>
              <a:t>• Reversibility / lock-in — 6%</a:t>
            </a:r>
          </a:p>
          <a:p>
            <a:pPr algn="l">
              <a:lnSpc>
                <a:spcPct val="100000"/>
              </a:lnSpc>
              <a:buNone/>
              <a:defRPr sz="1425" b="0" i="0">
                <a:solidFill>
                  <a:srgbClr val="686A66"/>
                </a:solidFill>
                <a:latin typeface="Arial"/>
                <a:ea typeface="Arial"/>
                <a:cs typeface="Arial"/>
              </a:defRPr>
            </a:pPr>
            <a:r>
              <a:rPr sz="1425" b="0" i="0">
                <a:solidFill>
                  <a:srgbClr val="686A66"/>
                </a:solidFill>
                <a:latin typeface="Arial"/>
                <a:ea typeface="Arial"/>
                <a:cs typeface="Arial"/>
              </a:rPr>
              <a:t>• Fully allocated TCO — 6%</a:t>
            </a:r>
          </a:p>
          <a:p>
            <a:pPr algn="l">
              <a:lnSpc>
                <a:spcPct val="100000"/>
              </a:lnSpc>
              <a:buNone/>
              <a:defRPr sz="1425" b="0" i="0">
                <a:solidFill>
                  <a:srgbClr val="686A66"/>
                </a:solidFill>
                <a:latin typeface="Arial"/>
                <a:ea typeface="Arial"/>
                <a:cs typeface="Arial"/>
              </a:defRPr>
            </a:pPr>
            <a:r>
              <a:rPr sz="1425" b="0" i="0">
                <a:solidFill>
                  <a:srgbClr val="686A66"/>
                </a:solidFill>
                <a:latin typeface="Arial"/>
                <a:ea typeface="Arial"/>
                <a:cs typeface="Arial"/>
              </a:rPr>
              <a:t>• Control-plane duty — 4%</a:t>
            </a:r>
          </a:p>
        </p:txBody>
      </p:sp>
      <p:sp>
        <p:nvSpPr>
          <p:cNvPr id="46" name="Rectangle 45">
            <a:extLst>
              <a:ext uri="{FF2B5EF4-FFF2-40B4-BE49-F238E27FC236}">
                <a16:creationId xmlns:a16="http://schemas.microsoft.com/office/drawing/2014/main" id="{DB5287D0-BF74-47C1-83C1-3EA4ABAA5F3A}"/>
              </a:ext>
            </a:extLst>
          </p:cNvPr>
          <p:cNvSpPr>
            <a:spLocks noGrp="1"/>
          </p:cNvSpPr>
          <p:nvPr/>
        </p:nvSpPr>
        <p:spPr>
          <a:xfrm>
            <a:off x="8001000" y="5381625"/>
            <a:ext cx="1047750" cy="209550"/>
          </a:xfrm>
          <a:prstGeom prst="rect">
            <a:avLst/>
          </a:prstGeom>
          <a:noFill/>
          <a:ln w="0">
            <a:noFill/>
            <a:prstDash val="solid"/>
          </a:ln>
        </p:spPr>
        <p:txBody>
          <a:bodyPr wrap="square" lIns="0" tIns="0" rIns="0" bIns="0" anchor="t">
            <a:normAutofit/>
          </a:bodyPr>
          <a:lstStyle/>
          <a:p>
            <a:pPr algn="l">
              <a:buNone/>
              <a:defRPr sz="1050" b="1" i="0">
                <a:solidFill>
                  <a:srgbClr val="5537D6"/>
                </a:solidFill>
                <a:latin typeface="Consolas"/>
                <a:ea typeface="Consolas"/>
                <a:cs typeface="Consolas"/>
              </a:defRPr>
            </a:pPr>
            <a:r>
              <a:rPr sz="1050" b="1" i="0">
                <a:solidFill>
                  <a:srgbClr val="5537D6"/>
                </a:solidFill>
                <a:latin typeface="Consolas"/>
                <a:ea typeface="Consolas"/>
                <a:cs typeface="Consolas"/>
              </a:rPr>
              <a:t>Evidence rule</a:t>
            </a:r>
          </a:p>
        </p:txBody>
      </p:sp>
      <p:sp>
        <p:nvSpPr>
          <p:cNvPr id="47" name="Rectangle 46">
            <a:extLst>
              <a:ext uri="{FF2B5EF4-FFF2-40B4-BE49-F238E27FC236}">
                <a16:creationId xmlns:a16="http://schemas.microsoft.com/office/drawing/2014/main" id="{80CAC1D4-4AA1-4E0D-AF61-56088665CF07}"/>
              </a:ext>
            </a:extLst>
          </p:cNvPr>
          <p:cNvSpPr>
            <a:spLocks noGrp="1"/>
          </p:cNvSpPr>
          <p:nvPr/>
        </p:nvSpPr>
        <p:spPr>
          <a:xfrm>
            <a:off x="8001000" y="5619750"/>
            <a:ext cx="3295650" cy="552450"/>
          </a:xfrm>
          <a:prstGeom prst="rect">
            <a:avLst/>
          </a:prstGeom>
          <a:noFill/>
          <a:ln w="0">
            <a:noFill/>
            <a:prstDash val="solid"/>
          </a:ln>
        </p:spPr>
        <p:txBody>
          <a:bodyPr wrap="square" lIns="0" tIns="0" rIns="0" bIns="0" anchor="t">
            <a:normAutofit fontScale="86193" lnSpcReduction="20000"/>
          </a:bodyPr>
          <a:lstStyle/>
          <a:p>
            <a:pPr algn="l">
              <a:buNone/>
              <a:defRPr sz="1575" b="0" i="0">
                <a:solidFill>
                  <a:srgbClr val="111111"/>
                </a:solidFill>
                <a:latin typeface="Georgia"/>
                <a:ea typeface="Georgia"/>
                <a:cs typeface="Georgia"/>
              </a:defRPr>
            </a:pPr>
            <a:r>
              <a:rPr sz="1575" b="0" i="0">
                <a:solidFill>
                  <a:srgbClr val="111111"/>
                </a:solidFill>
                <a:latin typeface="Georgia"/>
                <a:ea typeface="Georgia"/>
                <a:cs typeface="Georgia"/>
              </a:rPr>
              <a:t>Traceable / Harness is an unscored gate; every GRS rating remains Unknown [0,10].</a:t>
            </a:r>
          </a:p>
        </p:txBody>
      </p:sp>
    </p:spTree>
    <p:extLst>
      <p:ext uri="{BB962C8B-B14F-4D97-AF65-F5344CB8AC3E}">
        <p14:creationId xmlns:p14="http://schemas.microsoft.com/office/powerpoint/2010/main" val="1624682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21CD2DE5-0A26-4ED5-863B-09746AE383A9}"/>
              </a:ext>
            </a:extLst>
          </p:cNvPr>
          <p:cNvSpPr>
            <a:spLocks noGrp="1"/>
          </p:cNvSpPr>
          <p:nvPr/>
        </p:nvSpPr>
        <p:spPr>
          <a:xfrm>
            <a:off x="0" y="0"/>
            <a:ext cx="12192000" cy="266700"/>
          </a:xfrm>
          <a:prstGeom prst="rect">
            <a:avLst/>
          </a:prstGeom>
          <a:solidFill>
            <a:srgbClr val="FFC72C"/>
          </a:solidFill>
          <a:ln w="0">
            <a:noFill/>
            <a:prstDash val="solid"/>
          </a:ln>
        </p:spPr>
        <p:txBody>
          <a:bodyPr/>
          <a:lstStyle/>
          <a:p>
            <a:endParaRPr lang="en-US"/>
          </a:p>
        </p:txBody>
      </p:sp>
      <p:sp>
        <p:nvSpPr>
          <p:cNvPr id="2" name="Rectangle 1">
            <a:extLst>
              <a:ext uri="{FF2B5EF4-FFF2-40B4-BE49-F238E27FC236}">
                <a16:creationId xmlns:a16="http://schemas.microsoft.com/office/drawing/2014/main" id="{D47FC128-9626-4B67-8B2E-D99112C9111A}"/>
              </a:ext>
            </a:extLst>
          </p:cNvPr>
          <p:cNvSpPr>
            <a:spLocks noGrp="1"/>
          </p:cNvSpPr>
          <p:nvPr/>
        </p:nvSpPr>
        <p:spPr>
          <a:xfrm>
            <a:off x="10668000" y="0"/>
            <a:ext cx="1524000" cy="266700"/>
          </a:xfrm>
          <a:prstGeom prst="rect">
            <a:avLst/>
          </a:prstGeom>
          <a:solidFill>
            <a:srgbClr val="5537D6"/>
          </a:solidFill>
          <a:ln w="0">
            <a:noFill/>
            <a:prstDash val="solid"/>
          </a:ln>
        </p:spPr>
        <p:txBody>
          <a:bodyPr/>
          <a:lstStyle/>
          <a:p>
            <a:endParaRPr lang="en-US"/>
          </a:p>
        </p:txBody>
      </p:sp>
      <p:sp>
        <p:nvSpPr>
          <p:cNvPr id="3" name="Rectangle 2">
            <a:extLst>
              <a:ext uri="{FF2B5EF4-FFF2-40B4-BE49-F238E27FC236}">
                <a16:creationId xmlns:a16="http://schemas.microsoft.com/office/drawing/2014/main" id="{475541F8-CADB-4BE1-B2F8-116DD93B4DB1}"/>
              </a:ext>
            </a:extLst>
          </p:cNvPr>
          <p:cNvSpPr>
            <a:spLocks noGrp="1"/>
          </p:cNvSpPr>
          <p:nvPr/>
        </p:nvSpPr>
        <p:spPr>
          <a:xfrm>
            <a:off x="609600" y="38100"/>
            <a:ext cx="3429000" cy="190500"/>
          </a:xfrm>
          <a:prstGeom prst="rect">
            <a:avLst/>
          </a:prstGeom>
          <a:noFill/>
          <a:ln w="0">
            <a:noFill/>
            <a:prstDash val="solid"/>
          </a:ln>
        </p:spPr>
        <p:txBody>
          <a:bodyPr wrap="square" lIns="0" tIns="0" rIns="0" bIns="0" anchor="t">
            <a:normAutofit/>
          </a:bodyPr>
          <a:lstStyle/>
          <a:p>
            <a:pPr algn="l">
              <a:buNone/>
              <a:defRPr sz="975" b="1" i="0">
                <a:solidFill>
                  <a:srgbClr val="111111"/>
                </a:solidFill>
                <a:latin typeface="Consolas"/>
                <a:ea typeface="Consolas"/>
                <a:cs typeface="Consolas"/>
              </a:defRPr>
            </a:pPr>
            <a:r>
              <a:rPr sz="975" b="1" i="0">
                <a:solidFill>
                  <a:srgbClr val="111111"/>
                </a:solidFill>
                <a:latin typeface="Consolas"/>
                <a:ea typeface="Consolas"/>
                <a:cs typeface="Consolas"/>
              </a:rPr>
              <a:t>04 / OPTIONS</a:t>
            </a:r>
          </a:p>
        </p:txBody>
      </p:sp>
      <p:sp>
        <p:nvSpPr>
          <p:cNvPr id="4" name="Rectangle 3">
            <a:extLst>
              <a:ext uri="{FF2B5EF4-FFF2-40B4-BE49-F238E27FC236}">
                <a16:creationId xmlns:a16="http://schemas.microsoft.com/office/drawing/2014/main" id="{FA04DA56-2A98-454C-920D-010FB01E2C8B}"/>
              </a:ext>
            </a:extLst>
          </p:cNvPr>
          <p:cNvSpPr>
            <a:spLocks noGrp="1"/>
          </p:cNvSpPr>
          <p:nvPr/>
        </p:nvSpPr>
        <p:spPr>
          <a:xfrm>
            <a:off x="609600" y="428625"/>
            <a:ext cx="10572750" cy="1028700"/>
          </a:xfrm>
          <a:prstGeom prst="rect">
            <a:avLst/>
          </a:prstGeom>
          <a:noFill/>
          <a:ln w="0">
            <a:noFill/>
            <a:prstDash val="solid"/>
          </a:ln>
        </p:spPr>
        <p:txBody>
          <a:bodyPr wrap="square" lIns="0" tIns="0" rIns="0" bIns="0" anchor="t">
            <a:noAutofit/>
          </a:bodyPr>
          <a:lstStyle/>
          <a:p>
            <a:pPr algn="l">
              <a:buNone/>
              <a:defRPr sz="3300" b="1" i="0">
                <a:solidFill>
                  <a:srgbClr val="111111"/>
                </a:solidFill>
                <a:latin typeface="Arial"/>
                <a:ea typeface="Arial"/>
                <a:cs typeface="Arial"/>
              </a:defRPr>
            </a:pPr>
            <a:r>
              <a:rPr sz="3300" b="1" i="0">
                <a:solidFill>
                  <a:srgbClr val="111111"/>
                </a:solidFill>
                <a:latin typeface="Arial"/>
                <a:ea typeface="Arial"/>
                <a:cs typeface="Arial"/>
              </a:rPr>
              <a:t>Each contender optimizes a different operating model</a:t>
            </a:r>
          </a:p>
        </p:txBody>
      </p:sp>
      <p:sp>
        <p:nvSpPr>
          <p:cNvPr id="5" name="Rectangle 4">
            <a:extLst>
              <a:ext uri="{FF2B5EF4-FFF2-40B4-BE49-F238E27FC236}">
                <a16:creationId xmlns:a16="http://schemas.microsoft.com/office/drawing/2014/main" id="{48BF8589-9FD7-4AC0-A33E-544B193C084F}"/>
              </a:ext>
            </a:extLst>
          </p:cNvPr>
          <p:cNvSpPr>
            <a:spLocks noGrp="1"/>
          </p:cNvSpPr>
          <p:nvPr/>
        </p:nvSpPr>
        <p:spPr>
          <a:xfrm>
            <a:off x="628650" y="1514475"/>
            <a:ext cx="10382250" cy="323850"/>
          </a:xfrm>
          <a:prstGeom prst="rect">
            <a:avLst/>
          </a:prstGeom>
          <a:noFill/>
          <a:ln w="0">
            <a:noFill/>
            <a:prstDash val="solid"/>
          </a:ln>
        </p:spPr>
        <p:txBody>
          <a:bodyPr wrap="square" lIns="0" tIns="0" rIns="0" bIns="0" anchor="t">
            <a:noAutofit/>
          </a:bodyPr>
          <a:lstStyle/>
          <a:p>
            <a:pPr algn="l">
              <a:buNone/>
              <a:defRPr sz="1575" b="0" i="0">
                <a:solidFill>
                  <a:srgbClr val="686A66"/>
                </a:solidFill>
                <a:latin typeface="Arial"/>
                <a:ea typeface="Arial"/>
                <a:cs typeface="Arial"/>
              </a:defRPr>
            </a:pPr>
            <a:r>
              <a:rPr sz="1575" b="0" i="0">
                <a:solidFill>
                  <a:srgbClr val="686A66"/>
                </a:solidFill>
                <a:latin typeface="Arial"/>
                <a:ea typeface="Arial"/>
                <a:cs typeface="Arial"/>
              </a:rPr>
              <a:t>Compare fit conditions and control boundaries—not adjectives or feature counts.</a:t>
            </a:r>
          </a:p>
        </p:txBody>
      </p:sp>
      <p:sp>
        <p:nvSpPr>
          <p:cNvPr id="6" name="Rectangle 5">
            <a:extLst>
              <a:ext uri="{FF2B5EF4-FFF2-40B4-BE49-F238E27FC236}">
                <a16:creationId xmlns:a16="http://schemas.microsoft.com/office/drawing/2014/main" id="{FAB275A7-EAB3-4A9B-BEDC-18D8412DFC89}"/>
              </a:ext>
            </a:extLst>
          </p:cNvPr>
          <p:cNvSpPr>
            <a:spLocks noGrp="1"/>
          </p:cNvSpPr>
          <p:nvPr/>
        </p:nvSpPr>
        <p:spPr>
          <a:xfrm>
            <a:off x="609600" y="1905000"/>
            <a:ext cx="10972800" cy="9525"/>
          </a:xfrm>
          <a:prstGeom prst="rect">
            <a:avLst/>
          </a:prstGeom>
          <a:solidFill>
            <a:srgbClr val="8A8B86"/>
          </a:solidFill>
          <a:ln w="0">
            <a:noFill/>
            <a:prstDash val="solid"/>
          </a:ln>
        </p:spPr>
        <p:txBody>
          <a:bodyPr/>
          <a:lstStyle/>
          <a:p>
            <a:endParaRPr lang="en-US"/>
          </a:p>
        </p:txBody>
      </p:sp>
      <p:sp>
        <p:nvSpPr>
          <p:cNvPr id="7" name="Rectangle 6">
            <a:extLst>
              <a:ext uri="{FF2B5EF4-FFF2-40B4-BE49-F238E27FC236}">
                <a16:creationId xmlns:a16="http://schemas.microsoft.com/office/drawing/2014/main" id="{EA3512C4-FF9C-41AF-B23F-6B7131131D35}"/>
              </a:ext>
            </a:extLst>
          </p:cNvPr>
          <p:cNvSpPr>
            <a:spLocks noGrp="1"/>
          </p:cNvSpPr>
          <p:nvPr/>
        </p:nvSpPr>
        <p:spPr>
          <a:xfrm>
            <a:off x="609600" y="6524625"/>
            <a:ext cx="8858250" cy="180975"/>
          </a:xfrm>
          <a:prstGeom prst="rect">
            <a:avLst/>
          </a:prstGeom>
          <a:noFill/>
          <a:ln w="0">
            <a:noFill/>
            <a:prstDash val="solid"/>
          </a:ln>
        </p:spPr>
        <p:txBody>
          <a:bodyPr wrap="square" lIns="0" tIns="0" rIns="0" bIns="0" anchor="ctr">
            <a:normAutofit/>
          </a:bodyPr>
          <a:lstStyle/>
          <a:p>
            <a:pPr>
              <a:buNone/>
              <a:defRPr sz="825">
                <a:solidFill>
                  <a:srgbClr val="666762"/>
                </a:solidFill>
              </a:defRPr>
            </a:pPr>
            <a:r>
              <a:rPr sz="825" b="1">
                <a:solidFill>
                  <a:srgbClr val="666762"/>
                </a:solidFill>
              </a:rPr>
              <a:t>REFERENCES  </a:t>
            </a:r>
            <a:r>
              <a:rPr sz="825" u="sng">
                <a:solidFill>
                  <a:srgbClr val="666762"/>
                </a:solidFill>
                <a:hlinkClick r:id="rId3"/>
              </a:rPr>
              <a:t>Repo reference</a:t>
            </a:r>
            <a:r>
              <a:rPr sz="825">
                <a:solidFill>
                  <a:srgbClr val="666762"/>
                </a:solidFill>
              </a:rPr>
              <a:t>  ·  </a:t>
            </a:r>
            <a:r>
              <a:rPr sz="825" u="sng">
                <a:solidFill>
                  <a:srgbClr val="666762"/>
                </a:solidFill>
                <a:hlinkClick r:id="rId4"/>
              </a:rPr>
              <a:t>Official docs</a:t>
            </a:r>
          </a:p>
        </p:txBody>
      </p:sp>
      <p:sp>
        <p:nvSpPr>
          <p:cNvPr id="8" name="Rectangle 7">
            <a:extLst>
              <a:ext uri="{FF2B5EF4-FFF2-40B4-BE49-F238E27FC236}">
                <a16:creationId xmlns:a16="http://schemas.microsoft.com/office/drawing/2014/main" id="{45C77CB4-E86B-4DC5-BD9F-D5BA77743608}"/>
              </a:ext>
            </a:extLst>
          </p:cNvPr>
          <p:cNvSpPr>
            <a:spLocks noGrp="1"/>
          </p:cNvSpPr>
          <p:nvPr/>
        </p:nvSpPr>
        <p:spPr>
          <a:xfrm>
            <a:off x="10287000" y="6486525"/>
            <a:ext cx="1295400" cy="209550"/>
          </a:xfrm>
          <a:prstGeom prst="rect">
            <a:avLst/>
          </a:prstGeom>
          <a:noFill/>
          <a:ln w="0">
            <a:noFill/>
            <a:prstDash val="solid"/>
          </a:ln>
        </p:spPr>
        <p:txBody>
          <a:bodyPr wrap="square" lIns="0" tIns="0" rIns="0" bIns="0" anchor="t">
            <a:normAutofit/>
          </a:bodyPr>
          <a:lstStyle/>
          <a:p>
            <a:pPr algn="r">
              <a:buNone/>
              <a:defRPr sz="975" b="1" i="0">
                <a:solidFill>
                  <a:srgbClr val="686A66"/>
                </a:solidFill>
                <a:latin typeface="Consolas"/>
                <a:ea typeface="Consolas"/>
                <a:cs typeface="Consolas"/>
              </a:defRPr>
            </a:pPr>
            <a:r>
              <a:rPr sz="975" b="1" i="0">
                <a:solidFill>
                  <a:srgbClr val="686A66"/>
                </a:solidFill>
                <a:latin typeface="Consolas"/>
                <a:ea typeface="Consolas"/>
                <a:cs typeface="Consolas"/>
              </a:rPr>
              <a:t>04 / 25</a:t>
            </a:r>
          </a:p>
        </p:txBody>
      </p:sp>
      <p:sp>
        <p:nvSpPr>
          <p:cNvPr id="9" name="Rectangle 8">
            <a:extLst>
              <a:ext uri="{FF2B5EF4-FFF2-40B4-BE49-F238E27FC236}">
                <a16:creationId xmlns:a16="http://schemas.microsoft.com/office/drawing/2014/main" id="{A50E7440-AFC6-4F98-A635-B7F6D6659CDD}"/>
              </a:ext>
            </a:extLst>
          </p:cNvPr>
          <p:cNvSpPr>
            <a:spLocks noGrp="1"/>
          </p:cNvSpPr>
          <p:nvPr/>
        </p:nvSpPr>
        <p:spPr>
          <a:xfrm>
            <a:off x="609600" y="2181225"/>
            <a:ext cx="2571750" cy="3714750"/>
          </a:xfrm>
          <a:prstGeom prst="rect">
            <a:avLst/>
          </a:prstGeom>
          <a:solidFill>
            <a:srgbClr val="111111"/>
          </a:solidFill>
          <a:ln w="9525">
            <a:solidFill>
              <a:srgbClr val="111111"/>
            </a:solidFill>
            <a:prstDash val="solid"/>
          </a:ln>
        </p:spPr>
        <p:txBody>
          <a:bodyPr/>
          <a:lstStyle/>
          <a:p>
            <a:endParaRPr lang="en-US"/>
          </a:p>
        </p:txBody>
      </p:sp>
      <p:sp>
        <p:nvSpPr>
          <p:cNvPr id="10" name="Rectangle 9">
            <a:extLst>
              <a:ext uri="{FF2B5EF4-FFF2-40B4-BE49-F238E27FC236}">
                <a16:creationId xmlns:a16="http://schemas.microsoft.com/office/drawing/2014/main" id="{6FC5A4DC-9BA7-4E55-8FDD-2F7A210617E6}"/>
              </a:ext>
            </a:extLst>
          </p:cNvPr>
          <p:cNvSpPr>
            <a:spLocks noGrp="1"/>
          </p:cNvSpPr>
          <p:nvPr/>
        </p:nvSpPr>
        <p:spPr>
          <a:xfrm>
            <a:off x="800100" y="2381250"/>
            <a:ext cx="2190750" cy="342900"/>
          </a:xfrm>
          <a:prstGeom prst="rect">
            <a:avLst/>
          </a:prstGeom>
          <a:noFill/>
          <a:ln w="0">
            <a:noFill/>
            <a:prstDash val="solid"/>
          </a:ln>
        </p:spPr>
        <p:txBody>
          <a:bodyPr wrap="square" lIns="0" tIns="0" rIns="0" bIns="0" anchor="t">
            <a:normAutofit/>
          </a:bodyPr>
          <a:lstStyle/>
          <a:p>
            <a:pPr algn="l">
              <a:buNone/>
              <a:defRPr sz="1350" b="1" i="0">
                <a:solidFill>
                  <a:srgbClr val="FFFFFF"/>
                </a:solidFill>
                <a:latin typeface="Consolas"/>
                <a:ea typeface="Consolas"/>
                <a:cs typeface="Consolas"/>
              </a:defRPr>
            </a:pPr>
            <a:r>
              <a:rPr sz="1350" b="1" i="0">
                <a:solidFill>
                  <a:srgbClr val="FFFFFF"/>
                </a:solidFill>
                <a:latin typeface="Consolas"/>
                <a:ea typeface="Consolas"/>
                <a:cs typeface="Consolas"/>
              </a:rPr>
              <a:t>KONG</a:t>
            </a:r>
          </a:p>
        </p:txBody>
      </p:sp>
      <p:sp>
        <p:nvSpPr>
          <p:cNvPr id="11" name="Rectangle 10">
            <a:extLst>
              <a:ext uri="{FF2B5EF4-FFF2-40B4-BE49-F238E27FC236}">
                <a16:creationId xmlns:a16="http://schemas.microsoft.com/office/drawing/2014/main" id="{EED6B60F-8313-4098-A320-A165DB9EBF1B}"/>
              </a:ext>
            </a:extLst>
          </p:cNvPr>
          <p:cNvSpPr>
            <a:spLocks noGrp="1"/>
          </p:cNvSpPr>
          <p:nvPr/>
        </p:nvSpPr>
        <p:spPr>
          <a:xfrm>
            <a:off x="800100" y="2952750"/>
            <a:ext cx="2190750" cy="190500"/>
          </a:xfrm>
          <a:prstGeom prst="rect">
            <a:avLst/>
          </a:prstGeom>
          <a:noFill/>
          <a:ln w="0">
            <a:noFill/>
            <a:prstDash val="solid"/>
          </a:ln>
        </p:spPr>
        <p:txBody>
          <a:bodyPr wrap="square" lIns="0" tIns="0" rIns="0" bIns="0" anchor="t">
            <a:normAutofit/>
          </a:bodyPr>
          <a:lstStyle/>
          <a:p>
            <a:pPr algn="l">
              <a:buNone/>
              <a:defRPr sz="975" b="1" i="0">
                <a:solidFill>
                  <a:srgbClr val="FFC72C"/>
                </a:solidFill>
                <a:latin typeface="Consolas"/>
                <a:ea typeface="Consolas"/>
                <a:cs typeface="Consolas"/>
              </a:defRPr>
            </a:pPr>
            <a:r>
              <a:rPr sz="975" b="1" i="0">
                <a:solidFill>
                  <a:srgbClr val="FFC72C"/>
                </a:solidFill>
                <a:latin typeface="Consolas"/>
                <a:ea typeface="Consolas"/>
                <a:cs typeface="Consolas"/>
              </a:rPr>
              <a:t>STRONGEST WHEN</a:t>
            </a:r>
          </a:p>
        </p:txBody>
      </p:sp>
      <p:sp>
        <p:nvSpPr>
          <p:cNvPr id="12" name="Rectangle 11">
            <a:extLst>
              <a:ext uri="{FF2B5EF4-FFF2-40B4-BE49-F238E27FC236}">
                <a16:creationId xmlns:a16="http://schemas.microsoft.com/office/drawing/2014/main" id="{0D390FB8-361C-42E7-9E6C-EC3EC9FD4B33}"/>
              </a:ext>
            </a:extLst>
          </p:cNvPr>
          <p:cNvSpPr>
            <a:spLocks noGrp="1"/>
          </p:cNvSpPr>
          <p:nvPr/>
        </p:nvSpPr>
        <p:spPr>
          <a:xfrm>
            <a:off x="800100" y="3238500"/>
            <a:ext cx="2190750" cy="1047750"/>
          </a:xfrm>
          <a:prstGeom prst="rect">
            <a:avLst/>
          </a:prstGeom>
          <a:noFill/>
          <a:ln w="0">
            <a:noFill/>
            <a:prstDash val="solid"/>
          </a:ln>
        </p:spPr>
        <p:txBody>
          <a:bodyPr wrap="square" lIns="0" tIns="0" rIns="0" bIns="0" anchor="t">
            <a:normAutofit/>
          </a:bodyPr>
          <a:lstStyle/>
          <a:p>
            <a:pPr algn="l">
              <a:buNone/>
              <a:defRPr sz="1800" b="0" i="0">
                <a:solidFill>
                  <a:srgbClr val="FFFFFF"/>
                </a:solidFill>
                <a:latin typeface="Georgia"/>
                <a:ea typeface="Georgia"/>
                <a:cs typeface="Georgia"/>
              </a:defRPr>
            </a:pPr>
            <a:r>
              <a:rPr sz="1800" b="0" i="0">
                <a:solidFill>
                  <a:srgbClr val="FFFFFF"/>
                </a:solidFill>
                <a:latin typeface="Georgia"/>
                <a:ea typeface="Georgia"/>
                <a:cs typeface="Georgia"/>
              </a:rPr>
              <a:t>Kubernetes / GitOps / platform engineering</a:t>
            </a:r>
          </a:p>
        </p:txBody>
      </p:sp>
      <p:sp>
        <p:nvSpPr>
          <p:cNvPr id="13" name="Rectangle 12">
            <a:extLst>
              <a:ext uri="{FF2B5EF4-FFF2-40B4-BE49-F238E27FC236}">
                <a16:creationId xmlns:a16="http://schemas.microsoft.com/office/drawing/2014/main" id="{200038F2-6CF0-4ECD-86EC-21081A5FDA2E}"/>
              </a:ext>
            </a:extLst>
          </p:cNvPr>
          <p:cNvSpPr>
            <a:spLocks noGrp="1"/>
          </p:cNvSpPr>
          <p:nvPr/>
        </p:nvSpPr>
        <p:spPr>
          <a:xfrm>
            <a:off x="800100" y="4457700"/>
            <a:ext cx="2190750" cy="9525"/>
          </a:xfrm>
          <a:prstGeom prst="rect">
            <a:avLst/>
          </a:prstGeom>
          <a:solidFill>
            <a:srgbClr val="8A8B86"/>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6E9B57C8-EC2F-4004-9379-FCBB46DD03FA}"/>
              </a:ext>
            </a:extLst>
          </p:cNvPr>
          <p:cNvSpPr>
            <a:spLocks noGrp="1"/>
          </p:cNvSpPr>
          <p:nvPr/>
        </p:nvSpPr>
        <p:spPr>
          <a:xfrm>
            <a:off x="800100" y="4648200"/>
            <a:ext cx="2190750" cy="190500"/>
          </a:xfrm>
          <a:prstGeom prst="rect">
            <a:avLst/>
          </a:prstGeom>
          <a:noFill/>
          <a:ln w="0">
            <a:noFill/>
            <a:prstDash val="solid"/>
          </a:ln>
        </p:spPr>
        <p:txBody>
          <a:bodyPr wrap="square" lIns="0" tIns="0" rIns="0" bIns="0" anchor="t">
            <a:normAutofit/>
          </a:bodyPr>
          <a:lstStyle/>
          <a:p>
            <a:pPr algn="l">
              <a:buNone/>
              <a:defRPr sz="975" b="1" i="0">
                <a:solidFill>
                  <a:srgbClr val="FFC72C"/>
                </a:solidFill>
                <a:latin typeface="Consolas"/>
                <a:ea typeface="Consolas"/>
                <a:cs typeface="Consolas"/>
              </a:defRPr>
            </a:pPr>
            <a:r>
              <a:rPr sz="975" b="1" i="0">
                <a:solidFill>
                  <a:srgbClr val="FFC72C"/>
                </a:solidFill>
                <a:latin typeface="Consolas"/>
                <a:ea typeface="Consolas"/>
                <a:cs typeface="Consolas"/>
              </a:rPr>
              <a:t>CONCERN TO TEST</a:t>
            </a:r>
          </a:p>
        </p:txBody>
      </p:sp>
      <p:sp>
        <p:nvSpPr>
          <p:cNvPr id="15" name="Rectangle 14">
            <a:extLst>
              <a:ext uri="{FF2B5EF4-FFF2-40B4-BE49-F238E27FC236}">
                <a16:creationId xmlns:a16="http://schemas.microsoft.com/office/drawing/2014/main" id="{C4C3186A-FF4F-4701-A352-E6AF7D05C93E}"/>
              </a:ext>
            </a:extLst>
          </p:cNvPr>
          <p:cNvSpPr>
            <a:spLocks noGrp="1"/>
          </p:cNvSpPr>
          <p:nvPr/>
        </p:nvSpPr>
        <p:spPr>
          <a:xfrm>
            <a:off x="800100" y="4933950"/>
            <a:ext cx="2190750" cy="742950"/>
          </a:xfrm>
          <a:prstGeom prst="rect">
            <a:avLst/>
          </a:prstGeom>
          <a:noFill/>
          <a:ln w="0">
            <a:noFill/>
            <a:prstDash val="solid"/>
          </a:ln>
        </p:spPr>
        <p:txBody>
          <a:bodyPr wrap="square" lIns="0" tIns="0" rIns="0" bIns="0" anchor="t">
            <a:normAutofit/>
          </a:bodyPr>
          <a:lstStyle/>
          <a:p>
            <a:pPr algn="l">
              <a:buNone/>
              <a:defRPr sz="1275" b="0" i="0">
                <a:solidFill>
                  <a:srgbClr val="F4F0E7"/>
                </a:solidFill>
                <a:latin typeface="Arial"/>
                <a:ea typeface="Arial"/>
                <a:cs typeface="Arial"/>
              </a:defRPr>
            </a:pPr>
            <a:r>
              <a:rPr sz="1275" b="0" i="0">
                <a:solidFill>
                  <a:srgbClr val="F4F0E7"/>
                </a:solidFill>
                <a:latin typeface="Arial"/>
                <a:ea typeface="Arial"/>
                <a:cs typeface="Arial"/>
              </a:rPr>
              <a:t>Fund CP, PostgreSQL, PKI, upgrades, restore and 24×7 duty</a:t>
            </a:r>
          </a:p>
        </p:txBody>
      </p:sp>
      <p:sp>
        <p:nvSpPr>
          <p:cNvPr id="16" name="Rectangle 15">
            <a:extLst>
              <a:ext uri="{FF2B5EF4-FFF2-40B4-BE49-F238E27FC236}">
                <a16:creationId xmlns:a16="http://schemas.microsoft.com/office/drawing/2014/main" id="{21938BA3-1730-43D9-9225-0E0097B1F5D3}"/>
              </a:ext>
            </a:extLst>
          </p:cNvPr>
          <p:cNvSpPr>
            <a:spLocks noGrp="1"/>
          </p:cNvSpPr>
          <p:nvPr/>
        </p:nvSpPr>
        <p:spPr>
          <a:xfrm>
            <a:off x="3390900" y="2181225"/>
            <a:ext cx="2571750" cy="3714750"/>
          </a:xfrm>
          <a:prstGeom prst="rect">
            <a:avLst/>
          </a:prstGeom>
          <a:solidFill>
            <a:srgbClr val="FFFFFF"/>
          </a:solidFill>
          <a:ln w="9525">
            <a:solidFill>
              <a:srgbClr val="8A8B86"/>
            </a:solidFill>
            <a:prstDash val="solid"/>
          </a:ln>
        </p:spPr>
        <p:txBody>
          <a:bodyPr/>
          <a:lstStyle/>
          <a:p>
            <a:endParaRPr lang="en-US"/>
          </a:p>
        </p:txBody>
      </p:sp>
      <p:sp>
        <p:nvSpPr>
          <p:cNvPr id="17" name="Rectangle 16">
            <a:extLst>
              <a:ext uri="{FF2B5EF4-FFF2-40B4-BE49-F238E27FC236}">
                <a16:creationId xmlns:a16="http://schemas.microsoft.com/office/drawing/2014/main" id="{C13444FA-0F4F-4932-AE7F-032907E3DCD7}"/>
              </a:ext>
            </a:extLst>
          </p:cNvPr>
          <p:cNvSpPr>
            <a:spLocks noGrp="1"/>
          </p:cNvSpPr>
          <p:nvPr/>
        </p:nvSpPr>
        <p:spPr>
          <a:xfrm>
            <a:off x="3581400" y="2381250"/>
            <a:ext cx="2190750" cy="342900"/>
          </a:xfrm>
          <a:prstGeom prst="rect">
            <a:avLst/>
          </a:prstGeom>
          <a:noFill/>
          <a:ln w="0">
            <a:noFill/>
            <a:prstDash val="solid"/>
          </a:ln>
        </p:spPr>
        <p:txBody>
          <a:bodyPr wrap="square" lIns="0" tIns="0" rIns="0" bIns="0" anchor="t">
            <a:normAutofit/>
          </a:bodyPr>
          <a:lstStyle/>
          <a:p>
            <a:pPr algn="l">
              <a:buNone/>
              <a:defRPr sz="1350" b="1" i="0">
                <a:solidFill>
                  <a:srgbClr val="5537D6"/>
                </a:solidFill>
                <a:latin typeface="Consolas"/>
                <a:ea typeface="Consolas"/>
                <a:cs typeface="Consolas"/>
              </a:defRPr>
            </a:pPr>
            <a:r>
              <a:rPr sz="1350" b="1" i="0">
                <a:solidFill>
                  <a:srgbClr val="5537D6"/>
                </a:solidFill>
                <a:latin typeface="Consolas"/>
                <a:ea typeface="Consolas"/>
                <a:cs typeface="Consolas"/>
              </a:rPr>
              <a:t>APIGEE</a:t>
            </a:r>
          </a:p>
        </p:txBody>
      </p:sp>
      <p:sp>
        <p:nvSpPr>
          <p:cNvPr id="18" name="Rectangle 17">
            <a:extLst>
              <a:ext uri="{FF2B5EF4-FFF2-40B4-BE49-F238E27FC236}">
                <a16:creationId xmlns:a16="http://schemas.microsoft.com/office/drawing/2014/main" id="{38F17D3E-A6FA-410F-BD9F-1CD21D2E2953}"/>
              </a:ext>
            </a:extLst>
          </p:cNvPr>
          <p:cNvSpPr>
            <a:spLocks noGrp="1"/>
          </p:cNvSpPr>
          <p:nvPr/>
        </p:nvSpPr>
        <p:spPr>
          <a:xfrm>
            <a:off x="3581400" y="2952750"/>
            <a:ext cx="2190750" cy="190500"/>
          </a:xfrm>
          <a:prstGeom prst="rect">
            <a:avLst/>
          </a:prstGeom>
          <a:noFill/>
          <a:ln w="0">
            <a:noFill/>
            <a:prstDash val="solid"/>
          </a:ln>
        </p:spPr>
        <p:txBody>
          <a:bodyPr wrap="square" lIns="0" tIns="0" rIns="0" bIns="0" anchor="t">
            <a:normAutofit/>
          </a:bodyPr>
          <a:lstStyle/>
          <a:p>
            <a:pPr algn="l">
              <a:buNone/>
              <a:defRPr sz="975" b="1" i="0">
                <a:solidFill>
                  <a:srgbClr val="686A66"/>
                </a:solidFill>
                <a:latin typeface="Consolas"/>
                <a:ea typeface="Consolas"/>
                <a:cs typeface="Consolas"/>
              </a:defRPr>
            </a:pPr>
            <a:r>
              <a:rPr sz="975" b="1" i="0">
                <a:solidFill>
                  <a:srgbClr val="686A66"/>
                </a:solidFill>
                <a:latin typeface="Consolas"/>
                <a:ea typeface="Consolas"/>
                <a:cs typeface="Consolas"/>
              </a:rPr>
              <a:t>STRONGEST WHEN</a:t>
            </a:r>
          </a:p>
        </p:txBody>
      </p:sp>
      <p:sp>
        <p:nvSpPr>
          <p:cNvPr id="19" name="Rectangle 18">
            <a:extLst>
              <a:ext uri="{FF2B5EF4-FFF2-40B4-BE49-F238E27FC236}">
                <a16:creationId xmlns:a16="http://schemas.microsoft.com/office/drawing/2014/main" id="{EE76BD0B-8CB9-4CC5-8ADB-B9CEDB2BFA54}"/>
              </a:ext>
            </a:extLst>
          </p:cNvPr>
          <p:cNvSpPr>
            <a:spLocks noGrp="1"/>
          </p:cNvSpPr>
          <p:nvPr/>
        </p:nvSpPr>
        <p:spPr>
          <a:xfrm>
            <a:off x="3581400" y="3238500"/>
            <a:ext cx="2190750" cy="1047750"/>
          </a:xfrm>
          <a:prstGeom prst="rect">
            <a:avLst/>
          </a:prstGeom>
          <a:noFill/>
          <a:ln w="0">
            <a:noFill/>
            <a:prstDash val="solid"/>
          </a:ln>
        </p:spPr>
        <p:txBody>
          <a:bodyPr wrap="square" lIns="0" tIns="0" rIns="0" bIns="0" anchor="t">
            <a:normAutofit/>
          </a:bodyPr>
          <a:lstStyle/>
          <a:p>
            <a:pPr algn="l">
              <a:buNone/>
              <a:defRPr sz="1800" b="0" i="0">
                <a:solidFill>
                  <a:srgbClr val="111111"/>
                </a:solidFill>
                <a:latin typeface="Georgia"/>
                <a:ea typeface="Georgia"/>
                <a:cs typeface="Georgia"/>
              </a:defRPr>
            </a:pPr>
            <a:r>
              <a:rPr sz="1800" b="0" i="0">
                <a:solidFill>
                  <a:srgbClr val="111111"/>
                </a:solidFill>
                <a:latin typeface="Georgia"/>
                <a:ea typeface="Georgia"/>
                <a:cs typeface="Georgia"/>
              </a:rPr>
              <a:t>External API products, governance and monetization</a:t>
            </a:r>
          </a:p>
        </p:txBody>
      </p:sp>
      <p:sp>
        <p:nvSpPr>
          <p:cNvPr id="20" name="Rectangle 19">
            <a:extLst>
              <a:ext uri="{FF2B5EF4-FFF2-40B4-BE49-F238E27FC236}">
                <a16:creationId xmlns:a16="http://schemas.microsoft.com/office/drawing/2014/main" id="{C2CDED48-7E66-4FCA-B522-CD6AF9340FBF}"/>
              </a:ext>
            </a:extLst>
          </p:cNvPr>
          <p:cNvSpPr>
            <a:spLocks noGrp="1"/>
          </p:cNvSpPr>
          <p:nvPr/>
        </p:nvSpPr>
        <p:spPr>
          <a:xfrm>
            <a:off x="3581400" y="4457700"/>
            <a:ext cx="2190750" cy="9525"/>
          </a:xfrm>
          <a:prstGeom prst="rect">
            <a:avLst/>
          </a:prstGeom>
          <a:solidFill>
            <a:srgbClr val="D9D6CD"/>
          </a:solidFill>
          <a:ln w="0">
            <a:noFill/>
            <a:prstDash val="solid"/>
          </a:ln>
        </p:spPr>
        <p:txBody>
          <a:bodyPr/>
          <a:lstStyle/>
          <a:p>
            <a:endParaRPr lang="en-US"/>
          </a:p>
        </p:txBody>
      </p:sp>
      <p:sp>
        <p:nvSpPr>
          <p:cNvPr id="21" name="Rectangle 20">
            <a:extLst>
              <a:ext uri="{FF2B5EF4-FFF2-40B4-BE49-F238E27FC236}">
                <a16:creationId xmlns:a16="http://schemas.microsoft.com/office/drawing/2014/main" id="{C54A1D8C-2765-43C5-908F-1FF00436635F}"/>
              </a:ext>
            </a:extLst>
          </p:cNvPr>
          <p:cNvSpPr>
            <a:spLocks noGrp="1"/>
          </p:cNvSpPr>
          <p:nvPr/>
        </p:nvSpPr>
        <p:spPr>
          <a:xfrm>
            <a:off x="3581400" y="4648200"/>
            <a:ext cx="2190750" cy="190500"/>
          </a:xfrm>
          <a:prstGeom prst="rect">
            <a:avLst/>
          </a:prstGeom>
          <a:noFill/>
          <a:ln w="0">
            <a:noFill/>
            <a:prstDash val="solid"/>
          </a:ln>
        </p:spPr>
        <p:txBody>
          <a:bodyPr wrap="square" lIns="0" tIns="0" rIns="0" bIns="0" anchor="t">
            <a:normAutofit/>
          </a:bodyPr>
          <a:lstStyle/>
          <a:p>
            <a:pPr algn="l">
              <a:buNone/>
              <a:defRPr sz="975" b="1" i="0">
                <a:solidFill>
                  <a:srgbClr val="686A66"/>
                </a:solidFill>
                <a:latin typeface="Consolas"/>
                <a:ea typeface="Consolas"/>
                <a:cs typeface="Consolas"/>
              </a:defRPr>
            </a:pPr>
            <a:r>
              <a:rPr sz="975" b="1" i="0">
                <a:solidFill>
                  <a:srgbClr val="686A66"/>
                </a:solidFill>
                <a:latin typeface="Consolas"/>
                <a:ea typeface="Consolas"/>
                <a:cs typeface="Consolas"/>
              </a:rPr>
              <a:t>CONCERN TO TEST</a:t>
            </a:r>
          </a:p>
        </p:txBody>
      </p:sp>
      <p:sp>
        <p:nvSpPr>
          <p:cNvPr id="22" name="Rectangle 21">
            <a:extLst>
              <a:ext uri="{FF2B5EF4-FFF2-40B4-BE49-F238E27FC236}">
                <a16:creationId xmlns:a16="http://schemas.microsoft.com/office/drawing/2014/main" id="{FAF5C526-6602-481C-9717-3633DB22D855}"/>
              </a:ext>
            </a:extLst>
          </p:cNvPr>
          <p:cNvSpPr>
            <a:spLocks noGrp="1"/>
          </p:cNvSpPr>
          <p:nvPr/>
        </p:nvSpPr>
        <p:spPr>
          <a:xfrm>
            <a:off x="3581400" y="4933950"/>
            <a:ext cx="2190750" cy="742950"/>
          </a:xfrm>
          <a:prstGeom prst="rect">
            <a:avLst/>
          </a:prstGeom>
          <a:noFill/>
          <a:ln w="0">
            <a:noFill/>
            <a:prstDash val="solid"/>
          </a:ln>
        </p:spPr>
        <p:txBody>
          <a:bodyPr wrap="square" lIns="0" tIns="0" rIns="0" bIns="0" anchor="t">
            <a:normAutofit/>
          </a:bodyPr>
          <a:lstStyle/>
          <a:p>
            <a:pPr algn="l">
              <a:buNone/>
              <a:defRPr sz="1275" b="0" i="0">
                <a:solidFill>
                  <a:srgbClr val="686A66"/>
                </a:solidFill>
                <a:latin typeface="Arial"/>
                <a:ea typeface="Arial"/>
                <a:cs typeface="Arial"/>
              </a:defRPr>
            </a:pPr>
            <a:r>
              <a:rPr sz="1275" b="0" i="0">
                <a:solidFill>
                  <a:srgbClr val="686A66"/>
                </a:solidFill>
                <a:latin typeface="Arial"/>
                <a:ea typeface="Arial"/>
                <a:cs typeface="Arial"/>
              </a:rPr>
              <a:t>Validate Google-managed control-plane custody, runtime operations and economics</a:t>
            </a:r>
          </a:p>
        </p:txBody>
      </p:sp>
      <p:sp>
        <p:nvSpPr>
          <p:cNvPr id="23" name="Rectangle 22">
            <a:extLst>
              <a:ext uri="{FF2B5EF4-FFF2-40B4-BE49-F238E27FC236}">
                <a16:creationId xmlns:a16="http://schemas.microsoft.com/office/drawing/2014/main" id="{FC3F9F7E-69A7-46F6-ADF8-57C5B28F6797}"/>
              </a:ext>
            </a:extLst>
          </p:cNvPr>
          <p:cNvSpPr>
            <a:spLocks noGrp="1"/>
          </p:cNvSpPr>
          <p:nvPr/>
        </p:nvSpPr>
        <p:spPr>
          <a:xfrm>
            <a:off x="6172200" y="2181225"/>
            <a:ext cx="2571750" cy="3714750"/>
          </a:xfrm>
          <a:prstGeom prst="rect">
            <a:avLst/>
          </a:prstGeom>
          <a:solidFill>
            <a:srgbClr val="FFFFFF"/>
          </a:solidFill>
          <a:ln w="9525">
            <a:solidFill>
              <a:srgbClr val="8A8B86"/>
            </a:solidFill>
            <a:prstDash val="solid"/>
          </a:ln>
        </p:spPr>
        <p:txBody>
          <a:bodyPr/>
          <a:lstStyle/>
          <a:p>
            <a:endParaRPr lang="en-US"/>
          </a:p>
        </p:txBody>
      </p:sp>
      <p:sp>
        <p:nvSpPr>
          <p:cNvPr id="24" name="Rectangle 23">
            <a:extLst>
              <a:ext uri="{FF2B5EF4-FFF2-40B4-BE49-F238E27FC236}">
                <a16:creationId xmlns:a16="http://schemas.microsoft.com/office/drawing/2014/main" id="{E168A83B-0754-41BE-9A82-B7BAA4CB5DF9}"/>
              </a:ext>
            </a:extLst>
          </p:cNvPr>
          <p:cNvSpPr>
            <a:spLocks noGrp="1"/>
          </p:cNvSpPr>
          <p:nvPr/>
        </p:nvSpPr>
        <p:spPr>
          <a:xfrm>
            <a:off x="6362700" y="2381250"/>
            <a:ext cx="2190750" cy="342900"/>
          </a:xfrm>
          <a:prstGeom prst="rect">
            <a:avLst/>
          </a:prstGeom>
          <a:noFill/>
          <a:ln w="0">
            <a:noFill/>
            <a:prstDash val="solid"/>
          </a:ln>
        </p:spPr>
        <p:txBody>
          <a:bodyPr wrap="square" lIns="0" tIns="0" rIns="0" bIns="0" anchor="t">
            <a:normAutofit/>
          </a:bodyPr>
          <a:lstStyle/>
          <a:p>
            <a:pPr algn="l">
              <a:buNone/>
              <a:defRPr sz="1350" b="1" i="0">
                <a:solidFill>
                  <a:srgbClr val="5537D6"/>
                </a:solidFill>
                <a:latin typeface="Consolas"/>
                <a:ea typeface="Consolas"/>
                <a:cs typeface="Consolas"/>
              </a:defRPr>
            </a:pPr>
            <a:r>
              <a:rPr sz="1350" b="1" i="0">
                <a:solidFill>
                  <a:srgbClr val="5537D6"/>
                </a:solidFill>
                <a:latin typeface="Consolas"/>
                <a:ea typeface="Consolas"/>
                <a:cs typeface="Consolas"/>
              </a:rPr>
              <a:t>MULESOFT</a:t>
            </a:r>
          </a:p>
        </p:txBody>
      </p:sp>
      <p:sp>
        <p:nvSpPr>
          <p:cNvPr id="25" name="Rectangle 24">
            <a:extLst>
              <a:ext uri="{FF2B5EF4-FFF2-40B4-BE49-F238E27FC236}">
                <a16:creationId xmlns:a16="http://schemas.microsoft.com/office/drawing/2014/main" id="{11E97EE4-6F5E-4A50-B3E5-E34B57C7F5FE}"/>
              </a:ext>
            </a:extLst>
          </p:cNvPr>
          <p:cNvSpPr>
            <a:spLocks noGrp="1"/>
          </p:cNvSpPr>
          <p:nvPr/>
        </p:nvSpPr>
        <p:spPr>
          <a:xfrm>
            <a:off x="6362700" y="2952750"/>
            <a:ext cx="2190750" cy="190500"/>
          </a:xfrm>
          <a:prstGeom prst="rect">
            <a:avLst/>
          </a:prstGeom>
          <a:noFill/>
          <a:ln w="0">
            <a:noFill/>
            <a:prstDash val="solid"/>
          </a:ln>
        </p:spPr>
        <p:txBody>
          <a:bodyPr wrap="square" lIns="0" tIns="0" rIns="0" bIns="0" anchor="t">
            <a:normAutofit/>
          </a:bodyPr>
          <a:lstStyle/>
          <a:p>
            <a:pPr algn="l">
              <a:buNone/>
              <a:defRPr sz="975" b="1" i="0">
                <a:solidFill>
                  <a:srgbClr val="686A66"/>
                </a:solidFill>
                <a:latin typeface="Consolas"/>
                <a:ea typeface="Consolas"/>
                <a:cs typeface="Consolas"/>
              </a:defRPr>
            </a:pPr>
            <a:r>
              <a:rPr sz="975" b="1" i="0">
                <a:solidFill>
                  <a:srgbClr val="686A66"/>
                </a:solidFill>
                <a:latin typeface="Consolas"/>
                <a:ea typeface="Consolas"/>
                <a:cs typeface="Consolas"/>
              </a:rPr>
              <a:t>STRONGEST WHEN</a:t>
            </a:r>
          </a:p>
        </p:txBody>
      </p:sp>
      <p:sp>
        <p:nvSpPr>
          <p:cNvPr id="26" name="Rectangle 25">
            <a:extLst>
              <a:ext uri="{FF2B5EF4-FFF2-40B4-BE49-F238E27FC236}">
                <a16:creationId xmlns:a16="http://schemas.microsoft.com/office/drawing/2014/main" id="{59911A79-78D0-4E19-A4B6-150501A365AB}"/>
              </a:ext>
            </a:extLst>
          </p:cNvPr>
          <p:cNvSpPr>
            <a:spLocks noGrp="1"/>
          </p:cNvSpPr>
          <p:nvPr/>
        </p:nvSpPr>
        <p:spPr>
          <a:xfrm>
            <a:off x="6362700" y="3238500"/>
            <a:ext cx="2190750" cy="1047750"/>
          </a:xfrm>
          <a:prstGeom prst="rect">
            <a:avLst/>
          </a:prstGeom>
          <a:noFill/>
          <a:ln w="0">
            <a:noFill/>
            <a:prstDash val="solid"/>
          </a:ln>
        </p:spPr>
        <p:txBody>
          <a:bodyPr wrap="square" lIns="0" tIns="0" rIns="0" bIns="0" anchor="t">
            <a:normAutofit/>
          </a:bodyPr>
          <a:lstStyle/>
          <a:p>
            <a:pPr algn="l">
              <a:buNone/>
              <a:defRPr sz="1800" b="0" i="0">
                <a:solidFill>
                  <a:srgbClr val="111111"/>
                </a:solidFill>
                <a:latin typeface="Georgia"/>
                <a:ea typeface="Georgia"/>
                <a:cs typeface="Georgia"/>
              </a:defRPr>
            </a:pPr>
            <a:r>
              <a:rPr sz="1800" b="0" i="0">
                <a:solidFill>
                  <a:srgbClr val="111111"/>
                </a:solidFill>
                <a:latin typeface="Georgia"/>
                <a:ea typeface="Georgia"/>
                <a:cs typeface="Georgia"/>
              </a:rPr>
              <a:t>Anypoint remains a strategic integration platform</a:t>
            </a:r>
          </a:p>
        </p:txBody>
      </p:sp>
      <p:sp>
        <p:nvSpPr>
          <p:cNvPr id="27" name="Rectangle 26">
            <a:extLst>
              <a:ext uri="{FF2B5EF4-FFF2-40B4-BE49-F238E27FC236}">
                <a16:creationId xmlns:a16="http://schemas.microsoft.com/office/drawing/2014/main" id="{3523FA9A-CF7D-4865-ACC7-A894451B8AA0}"/>
              </a:ext>
            </a:extLst>
          </p:cNvPr>
          <p:cNvSpPr>
            <a:spLocks noGrp="1"/>
          </p:cNvSpPr>
          <p:nvPr/>
        </p:nvSpPr>
        <p:spPr>
          <a:xfrm>
            <a:off x="6362700" y="4457700"/>
            <a:ext cx="2190750" cy="9525"/>
          </a:xfrm>
          <a:prstGeom prst="rect">
            <a:avLst/>
          </a:prstGeom>
          <a:solidFill>
            <a:srgbClr val="D9D6CD"/>
          </a:solidFill>
          <a:ln w="0">
            <a:noFill/>
            <a:prstDash val="solid"/>
          </a:ln>
        </p:spPr>
        <p:txBody>
          <a:bodyPr/>
          <a:lstStyle/>
          <a:p>
            <a:endParaRPr lang="en-US"/>
          </a:p>
        </p:txBody>
      </p:sp>
      <p:sp>
        <p:nvSpPr>
          <p:cNvPr id="28" name="Rectangle 27">
            <a:extLst>
              <a:ext uri="{FF2B5EF4-FFF2-40B4-BE49-F238E27FC236}">
                <a16:creationId xmlns:a16="http://schemas.microsoft.com/office/drawing/2014/main" id="{062D75D6-1982-4974-B436-39F118AEB721}"/>
              </a:ext>
            </a:extLst>
          </p:cNvPr>
          <p:cNvSpPr>
            <a:spLocks noGrp="1"/>
          </p:cNvSpPr>
          <p:nvPr/>
        </p:nvSpPr>
        <p:spPr>
          <a:xfrm>
            <a:off x="6362700" y="4648200"/>
            <a:ext cx="2190750" cy="190500"/>
          </a:xfrm>
          <a:prstGeom prst="rect">
            <a:avLst/>
          </a:prstGeom>
          <a:noFill/>
          <a:ln w="0">
            <a:noFill/>
            <a:prstDash val="solid"/>
          </a:ln>
        </p:spPr>
        <p:txBody>
          <a:bodyPr wrap="square" lIns="0" tIns="0" rIns="0" bIns="0" anchor="t">
            <a:normAutofit/>
          </a:bodyPr>
          <a:lstStyle/>
          <a:p>
            <a:pPr algn="l">
              <a:buNone/>
              <a:defRPr sz="975" b="1" i="0">
                <a:solidFill>
                  <a:srgbClr val="686A66"/>
                </a:solidFill>
                <a:latin typeface="Consolas"/>
                <a:ea typeface="Consolas"/>
                <a:cs typeface="Consolas"/>
              </a:defRPr>
            </a:pPr>
            <a:r>
              <a:rPr sz="975" b="1" i="0">
                <a:solidFill>
                  <a:srgbClr val="686A66"/>
                </a:solidFill>
                <a:latin typeface="Consolas"/>
                <a:ea typeface="Consolas"/>
                <a:cs typeface="Consolas"/>
              </a:rPr>
              <a:t>CONCERN TO TEST</a:t>
            </a:r>
          </a:p>
        </p:txBody>
      </p:sp>
      <p:sp>
        <p:nvSpPr>
          <p:cNvPr id="29" name="Rectangle 28">
            <a:extLst>
              <a:ext uri="{FF2B5EF4-FFF2-40B4-BE49-F238E27FC236}">
                <a16:creationId xmlns:a16="http://schemas.microsoft.com/office/drawing/2014/main" id="{E5061942-B642-4841-9CAE-36964F41A7C4}"/>
              </a:ext>
            </a:extLst>
          </p:cNvPr>
          <p:cNvSpPr>
            <a:spLocks noGrp="1"/>
          </p:cNvSpPr>
          <p:nvPr/>
        </p:nvSpPr>
        <p:spPr>
          <a:xfrm>
            <a:off x="6362700" y="4933950"/>
            <a:ext cx="2190750" cy="742950"/>
          </a:xfrm>
          <a:prstGeom prst="rect">
            <a:avLst/>
          </a:prstGeom>
          <a:noFill/>
          <a:ln w="0">
            <a:noFill/>
            <a:prstDash val="solid"/>
          </a:ln>
        </p:spPr>
        <p:txBody>
          <a:bodyPr wrap="square" lIns="0" tIns="0" rIns="0" bIns="0" anchor="t">
            <a:normAutofit/>
          </a:bodyPr>
          <a:lstStyle/>
          <a:p>
            <a:pPr algn="l">
              <a:buNone/>
              <a:defRPr sz="1275" b="0" i="0">
                <a:solidFill>
                  <a:srgbClr val="686A66"/>
                </a:solidFill>
                <a:latin typeface="Arial"/>
                <a:ea typeface="Arial"/>
                <a:cs typeface="Arial"/>
              </a:defRPr>
            </a:pPr>
            <a:r>
              <a:rPr sz="1275" b="0" i="0">
                <a:solidFill>
                  <a:srgbClr val="686A66"/>
                </a:solidFill>
                <a:latin typeface="Arial"/>
                <a:ea typeface="Arial"/>
                <a:cs typeface="Arial"/>
              </a:rPr>
              <a:t>Validate Kubernetes-native operating fit, commercial model and exit boundary</a:t>
            </a:r>
          </a:p>
        </p:txBody>
      </p:sp>
      <p:sp>
        <p:nvSpPr>
          <p:cNvPr id="30" name="Rectangle 29">
            <a:extLst>
              <a:ext uri="{FF2B5EF4-FFF2-40B4-BE49-F238E27FC236}">
                <a16:creationId xmlns:a16="http://schemas.microsoft.com/office/drawing/2014/main" id="{E955FA2E-650F-4C41-92CD-8795BF949387}"/>
              </a:ext>
            </a:extLst>
          </p:cNvPr>
          <p:cNvSpPr>
            <a:spLocks noGrp="1"/>
          </p:cNvSpPr>
          <p:nvPr/>
        </p:nvSpPr>
        <p:spPr>
          <a:xfrm>
            <a:off x="8953500" y="2181225"/>
            <a:ext cx="2571750" cy="3714750"/>
          </a:xfrm>
          <a:prstGeom prst="rect">
            <a:avLst/>
          </a:prstGeom>
          <a:solidFill>
            <a:srgbClr val="FFFFFF"/>
          </a:solidFill>
          <a:ln w="9525">
            <a:solidFill>
              <a:srgbClr val="8A8B86"/>
            </a:solidFill>
            <a:prstDash val="solid"/>
          </a:ln>
        </p:spPr>
        <p:txBody>
          <a:bodyPr/>
          <a:lstStyle/>
          <a:p>
            <a:endParaRPr lang="en-US"/>
          </a:p>
        </p:txBody>
      </p:sp>
      <p:sp>
        <p:nvSpPr>
          <p:cNvPr id="31" name="Rectangle 30">
            <a:extLst>
              <a:ext uri="{FF2B5EF4-FFF2-40B4-BE49-F238E27FC236}">
                <a16:creationId xmlns:a16="http://schemas.microsoft.com/office/drawing/2014/main" id="{8B457C6E-8518-4C75-8858-710D7BC50FDC}"/>
              </a:ext>
            </a:extLst>
          </p:cNvPr>
          <p:cNvSpPr>
            <a:spLocks noGrp="1"/>
          </p:cNvSpPr>
          <p:nvPr/>
        </p:nvSpPr>
        <p:spPr>
          <a:xfrm>
            <a:off x="9144000" y="2381250"/>
            <a:ext cx="2190750" cy="342900"/>
          </a:xfrm>
          <a:prstGeom prst="rect">
            <a:avLst/>
          </a:prstGeom>
          <a:noFill/>
          <a:ln w="0">
            <a:noFill/>
            <a:prstDash val="solid"/>
          </a:ln>
        </p:spPr>
        <p:txBody>
          <a:bodyPr wrap="square" lIns="0" tIns="0" rIns="0" bIns="0" anchor="t">
            <a:normAutofit/>
          </a:bodyPr>
          <a:lstStyle/>
          <a:p>
            <a:pPr algn="l">
              <a:buNone/>
              <a:defRPr sz="1350" b="1" i="0">
                <a:solidFill>
                  <a:srgbClr val="5537D6"/>
                </a:solidFill>
                <a:latin typeface="Consolas"/>
                <a:ea typeface="Consolas"/>
                <a:cs typeface="Consolas"/>
              </a:defRPr>
            </a:pPr>
            <a:r>
              <a:rPr sz="1350" b="1" i="0">
                <a:solidFill>
                  <a:srgbClr val="5537D6"/>
                </a:solidFill>
                <a:latin typeface="Consolas"/>
                <a:ea typeface="Consolas"/>
                <a:cs typeface="Consolas"/>
              </a:rPr>
              <a:t>APIM</a:t>
            </a:r>
          </a:p>
        </p:txBody>
      </p:sp>
      <p:sp>
        <p:nvSpPr>
          <p:cNvPr id="32" name="Rectangle 31">
            <a:extLst>
              <a:ext uri="{FF2B5EF4-FFF2-40B4-BE49-F238E27FC236}">
                <a16:creationId xmlns:a16="http://schemas.microsoft.com/office/drawing/2014/main" id="{B2F8431C-AA3B-4D0F-A85D-5E8104F2F12E}"/>
              </a:ext>
            </a:extLst>
          </p:cNvPr>
          <p:cNvSpPr>
            <a:spLocks noGrp="1"/>
          </p:cNvSpPr>
          <p:nvPr/>
        </p:nvSpPr>
        <p:spPr>
          <a:xfrm>
            <a:off x="9144000" y="2952750"/>
            <a:ext cx="2190750" cy="190500"/>
          </a:xfrm>
          <a:prstGeom prst="rect">
            <a:avLst/>
          </a:prstGeom>
          <a:noFill/>
          <a:ln w="0">
            <a:noFill/>
            <a:prstDash val="solid"/>
          </a:ln>
        </p:spPr>
        <p:txBody>
          <a:bodyPr wrap="square" lIns="0" tIns="0" rIns="0" bIns="0" anchor="t">
            <a:normAutofit/>
          </a:bodyPr>
          <a:lstStyle/>
          <a:p>
            <a:pPr algn="l">
              <a:buNone/>
              <a:defRPr sz="975" b="1" i="0">
                <a:solidFill>
                  <a:srgbClr val="686A66"/>
                </a:solidFill>
                <a:latin typeface="Consolas"/>
                <a:ea typeface="Consolas"/>
                <a:cs typeface="Consolas"/>
              </a:defRPr>
            </a:pPr>
            <a:r>
              <a:rPr sz="975" b="1" i="0">
                <a:solidFill>
                  <a:srgbClr val="686A66"/>
                </a:solidFill>
                <a:latin typeface="Consolas"/>
                <a:ea typeface="Consolas"/>
                <a:cs typeface="Consolas"/>
              </a:rPr>
              <a:t>STRONGEST WHEN</a:t>
            </a:r>
          </a:p>
        </p:txBody>
      </p:sp>
      <p:sp>
        <p:nvSpPr>
          <p:cNvPr id="33" name="Rectangle 32">
            <a:extLst>
              <a:ext uri="{FF2B5EF4-FFF2-40B4-BE49-F238E27FC236}">
                <a16:creationId xmlns:a16="http://schemas.microsoft.com/office/drawing/2014/main" id="{8D10DE02-CBB9-42DB-A48A-7C19C69B2C90}"/>
              </a:ext>
            </a:extLst>
          </p:cNvPr>
          <p:cNvSpPr>
            <a:spLocks noGrp="1"/>
          </p:cNvSpPr>
          <p:nvPr/>
        </p:nvSpPr>
        <p:spPr>
          <a:xfrm>
            <a:off x="9144000" y="3238500"/>
            <a:ext cx="2190750" cy="1047750"/>
          </a:xfrm>
          <a:prstGeom prst="rect">
            <a:avLst/>
          </a:prstGeom>
          <a:noFill/>
          <a:ln w="0">
            <a:noFill/>
            <a:prstDash val="solid"/>
          </a:ln>
        </p:spPr>
        <p:txBody>
          <a:bodyPr wrap="square" lIns="0" tIns="0" rIns="0" bIns="0" anchor="t">
            <a:normAutofit/>
          </a:bodyPr>
          <a:lstStyle/>
          <a:p>
            <a:pPr algn="l">
              <a:buNone/>
              <a:defRPr sz="1800" b="0" i="0">
                <a:solidFill>
                  <a:srgbClr val="111111"/>
                </a:solidFill>
                <a:latin typeface="Georgia"/>
                <a:ea typeface="Georgia"/>
                <a:cs typeface="Georgia"/>
              </a:defRPr>
            </a:pPr>
            <a:r>
              <a:rPr sz="1800" b="0" i="0">
                <a:solidFill>
                  <a:srgbClr val="111111"/>
                </a:solidFill>
                <a:latin typeface="Georgia"/>
                <a:ea typeface="Georgia"/>
                <a:cs typeface="Georgia"/>
              </a:rPr>
              <a:t>Azure consolidation dominates neutrality</a:t>
            </a:r>
          </a:p>
        </p:txBody>
      </p:sp>
      <p:sp>
        <p:nvSpPr>
          <p:cNvPr id="34" name="Rectangle 33">
            <a:extLst>
              <a:ext uri="{FF2B5EF4-FFF2-40B4-BE49-F238E27FC236}">
                <a16:creationId xmlns:a16="http://schemas.microsoft.com/office/drawing/2014/main" id="{06FC38F8-F7FD-43AB-8834-17D2AA14A757}"/>
              </a:ext>
            </a:extLst>
          </p:cNvPr>
          <p:cNvSpPr>
            <a:spLocks noGrp="1"/>
          </p:cNvSpPr>
          <p:nvPr/>
        </p:nvSpPr>
        <p:spPr>
          <a:xfrm>
            <a:off x="9144000" y="4457700"/>
            <a:ext cx="2190750" cy="9525"/>
          </a:xfrm>
          <a:prstGeom prst="rect">
            <a:avLst/>
          </a:prstGeom>
          <a:solidFill>
            <a:srgbClr val="D9D6CD"/>
          </a:solidFill>
          <a:ln w="0">
            <a:noFill/>
            <a:prstDash val="solid"/>
          </a:ln>
        </p:spPr>
        <p:txBody>
          <a:bodyPr/>
          <a:lstStyle/>
          <a:p>
            <a:endParaRPr lang="en-US"/>
          </a:p>
        </p:txBody>
      </p:sp>
      <p:sp>
        <p:nvSpPr>
          <p:cNvPr id="35" name="Rectangle 34">
            <a:extLst>
              <a:ext uri="{FF2B5EF4-FFF2-40B4-BE49-F238E27FC236}">
                <a16:creationId xmlns:a16="http://schemas.microsoft.com/office/drawing/2014/main" id="{6E252B2C-B697-4464-9643-D0A4163DCC7D}"/>
              </a:ext>
            </a:extLst>
          </p:cNvPr>
          <p:cNvSpPr>
            <a:spLocks noGrp="1"/>
          </p:cNvSpPr>
          <p:nvPr/>
        </p:nvSpPr>
        <p:spPr>
          <a:xfrm>
            <a:off x="9144000" y="4648200"/>
            <a:ext cx="2190750" cy="190500"/>
          </a:xfrm>
          <a:prstGeom prst="rect">
            <a:avLst/>
          </a:prstGeom>
          <a:noFill/>
          <a:ln w="0">
            <a:noFill/>
            <a:prstDash val="solid"/>
          </a:ln>
        </p:spPr>
        <p:txBody>
          <a:bodyPr wrap="square" lIns="0" tIns="0" rIns="0" bIns="0" anchor="t">
            <a:normAutofit/>
          </a:bodyPr>
          <a:lstStyle/>
          <a:p>
            <a:pPr algn="l">
              <a:buNone/>
              <a:defRPr sz="975" b="1" i="0">
                <a:solidFill>
                  <a:srgbClr val="686A66"/>
                </a:solidFill>
                <a:latin typeface="Consolas"/>
                <a:ea typeface="Consolas"/>
                <a:cs typeface="Consolas"/>
              </a:defRPr>
            </a:pPr>
            <a:r>
              <a:rPr sz="975" b="1" i="0">
                <a:solidFill>
                  <a:srgbClr val="686A66"/>
                </a:solidFill>
                <a:latin typeface="Consolas"/>
                <a:ea typeface="Consolas"/>
                <a:cs typeface="Consolas"/>
              </a:rPr>
              <a:t>CONCERN TO TEST</a:t>
            </a:r>
          </a:p>
        </p:txBody>
      </p:sp>
      <p:sp>
        <p:nvSpPr>
          <p:cNvPr id="36" name="Rectangle 35">
            <a:extLst>
              <a:ext uri="{FF2B5EF4-FFF2-40B4-BE49-F238E27FC236}">
                <a16:creationId xmlns:a16="http://schemas.microsoft.com/office/drawing/2014/main" id="{F6B18A1A-C27B-436F-A2EA-7724A19E4EFF}"/>
              </a:ext>
            </a:extLst>
          </p:cNvPr>
          <p:cNvSpPr>
            <a:spLocks noGrp="1"/>
          </p:cNvSpPr>
          <p:nvPr/>
        </p:nvSpPr>
        <p:spPr>
          <a:xfrm>
            <a:off x="9144000" y="4933950"/>
            <a:ext cx="2190750" cy="742950"/>
          </a:xfrm>
          <a:prstGeom prst="rect">
            <a:avLst/>
          </a:prstGeom>
          <a:noFill/>
          <a:ln w="0">
            <a:noFill/>
            <a:prstDash val="solid"/>
          </a:ln>
        </p:spPr>
        <p:txBody>
          <a:bodyPr wrap="square" lIns="0" tIns="0" rIns="0" bIns="0" anchor="t">
            <a:normAutofit/>
          </a:bodyPr>
          <a:lstStyle/>
          <a:p>
            <a:pPr algn="l">
              <a:buNone/>
              <a:defRPr sz="1275" b="0" i="0">
                <a:solidFill>
                  <a:srgbClr val="686A66"/>
                </a:solidFill>
                <a:latin typeface="Arial"/>
                <a:ea typeface="Arial"/>
                <a:cs typeface="Arial"/>
              </a:defRPr>
            </a:pPr>
            <a:r>
              <a:rPr sz="1275" b="0" i="0">
                <a:solidFill>
                  <a:srgbClr val="686A66"/>
                </a:solidFill>
                <a:latin typeface="Arial"/>
                <a:ea typeface="Arial"/>
                <a:cs typeface="Arial"/>
              </a:rPr>
              <a:t>Keep as counterfactual; exclusion is a scope choice, not a capability verdict</a:t>
            </a:r>
          </a:p>
        </p:txBody>
      </p:sp>
    </p:spTree>
    <p:extLst>
      <p:ext uri="{BB962C8B-B14F-4D97-AF65-F5344CB8AC3E}">
        <p14:creationId xmlns:p14="http://schemas.microsoft.com/office/powerpoint/2010/main" val="1698375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73B6E8E1-726D-4109-AC7B-2718B7930B58}"/>
              </a:ext>
            </a:extLst>
          </p:cNvPr>
          <p:cNvSpPr>
            <a:spLocks noGrp="1"/>
          </p:cNvSpPr>
          <p:nvPr/>
        </p:nvSpPr>
        <p:spPr>
          <a:xfrm>
            <a:off x="0" y="0"/>
            <a:ext cx="12192000" cy="266700"/>
          </a:xfrm>
          <a:prstGeom prst="rect">
            <a:avLst/>
          </a:prstGeom>
          <a:solidFill>
            <a:srgbClr val="FFC72C"/>
          </a:solidFill>
          <a:ln w="0">
            <a:noFill/>
            <a:prstDash val="solid"/>
          </a:ln>
        </p:spPr>
        <p:txBody>
          <a:bodyPr/>
          <a:lstStyle/>
          <a:p>
            <a:endParaRPr lang="en-US"/>
          </a:p>
        </p:txBody>
      </p:sp>
      <p:sp>
        <p:nvSpPr>
          <p:cNvPr id="2" name="Rectangle 1">
            <a:extLst>
              <a:ext uri="{FF2B5EF4-FFF2-40B4-BE49-F238E27FC236}">
                <a16:creationId xmlns:a16="http://schemas.microsoft.com/office/drawing/2014/main" id="{638E54C4-EEE8-407A-BBD6-AA9866F44A35}"/>
              </a:ext>
            </a:extLst>
          </p:cNvPr>
          <p:cNvSpPr>
            <a:spLocks noGrp="1"/>
          </p:cNvSpPr>
          <p:nvPr/>
        </p:nvSpPr>
        <p:spPr>
          <a:xfrm>
            <a:off x="10668000" y="0"/>
            <a:ext cx="1524000" cy="266700"/>
          </a:xfrm>
          <a:prstGeom prst="rect">
            <a:avLst/>
          </a:prstGeom>
          <a:solidFill>
            <a:srgbClr val="5537D6"/>
          </a:solidFill>
          <a:ln w="0">
            <a:noFill/>
            <a:prstDash val="solid"/>
          </a:ln>
        </p:spPr>
        <p:txBody>
          <a:bodyPr/>
          <a:lstStyle/>
          <a:p>
            <a:endParaRPr lang="en-US"/>
          </a:p>
        </p:txBody>
      </p:sp>
      <p:sp>
        <p:nvSpPr>
          <p:cNvPr id="3" name="Rectangle 2">
            <a:extLst>
              <a:ext uri="{FF2B5EF4-FFF2-40B4-BE49-F238E27FC236}">
                <a16:creationId xmlns:a16="http://schemas.microsoft.com/office/drawing/2014/main" id="{10870200-A794-43D3-826E-EE5E570A33A6}"/>
              </a:ext>
            </a:extLst>
          </p:cNvPr>
          <p:cNvSpPr>
            <a:spLocks noGrp="1"/>
          </p:cNvSpPr>
          <p:nvPr/>
        </p:nvSpPr>
        <p:spPr>
          <a:xfrm>
            <a:off x="609600" y="38100"/>
            <a:ext cx="3429000" cy="190500"/>
          </a:xfrm>
          <a:prstGeom prst="rect">
            <a:avLst/>
          </a:prstGeom>
          <a:noFill/>
          <a:ln w="0">
            <a:noFill/>
            <a:prstDash val="solid"/>
          </a:ln>
        </p:spPr>
        <p:txBody>
          <a:bodyPr wrap="square" lIns="0" tIns="0" rIns="0" bIns="0" anchor="t">
            <a:normAutofit/>
          </a:bodyPr>
          <a:lstStyle/>
          <a:p>
            <a:pPr algn="l">
              <a:buNone/>
              <a:defRPr sz="975" b="1" i="0">
                <a:solidFill>
                  <a:srgbClr val="111111"/>
                </a:solidFill>
                <a:latin typeface="Consolas"/>
                <a:ea typeface="Consolas"/>
                <a:cs typeface="Consolas"/>
              </a:defRPr>
            </a:pPr>
            <a:r>
              <a:rPr sz="975" b="1" i="0">
                <a:solidFill>
                  <a:srgbClr val="111111"/>
                </a:solidFill>
                <a:latin typeface="Consolas"/>
                <a:ea typeface="Consolas"/>
                <a:cs typeface="Consolas"/>
              </a:rPr>
              <a:t>05 / OPTIONS</a:t>
            </a:r>
          </a:p>
        </p:txBody>
      </p:sp>
      <p:sp>
        <p:nvSpPr>
          <p:cNvPr id="4" name="Rectangle 3">
            <a:extLst>
              <a:ext uri="{FF2B5EF4-FFF2-40B4-BE49-F238E27FC236}">
                <a16:creationId xmlns:a16="http://schemas.microsoft.com/office/drawing/2014/main" id="{94970D30-DFC0-4BCD-B46E-DDB6185A0FE3}"/>
              </a:ext>
            </a:extLst>
          </p:cNvPr>
          <p:cNvSpPr>
            <a:spLocks noGrp="1"/>
          </p:cNvSpPr>
          <p:nvPr/>
        </p:nvSpPr>
        <p:spPr>
          <a:xfrm>
            <a:off x="609600" y="428625"/>
            <a:ext cx="10572750" cy="1028700"/>
          </a:xfrm>
          <a:prstGeom prst="rect">
            <a:avLst/>
          </a:prstGeom>
          <a:noFill/>
          <a:ln w="0">
            <a:noFill/>
            <a:prstDash val="solid"/>
          </a:ln>
        </p:spPr>
        <p:txBody>
          <a:bodyPr wrap="square" lIns="0" tIns="0" rIns="0" bIns="0" anchor="t">
            <a:noAutofit/>
          </a:bodyPr>
          <a:lstStyle/>
          <a:p>
            <a:pPr algn="l">
              <a:buNone/>
              <a:defRPr sz="3300" b="1" i="0">
                <a:solidFill>
                  <a:srgbClr val="111111"/>
                </a:solidFill>
                <a:latin typeface="Arial"/>
                <a:ea typeface="Arial"/>
                <a:cs typeface="Arial"/>
              </a:defRPr>
            </a:pPr>
            <a:r>
              <a:rPr sz="3300" b="1" i="0">
                <a:solidFill>
                  <a:srgbClr val="111111"/>
                </a:solidFill>
                <a:latin typeface="Arial"/>
                <a:ea typeface="Arial"/>
                <a:cs typeface="Arial"/>
              </a:rPr>
              <a:t>Preserve the historical score; expose the uncertainty</a:t>
            </a:r>
          </a:p>
        </p:txBody>
      </p:sp>
      <p:sp>
        <p:nvSpPr>
          <p:cNvPr id="5" name="Rectangle 4">
            <a:extLst>
              <a:ext uri="{FF2B5EF4-FFF2-40B4-BE49-F238E27FC236}">
                <a16:creationId xmlns:a16="http://schemas.microsoft.com/office/drawing/2014/main" id="{181BD1AA-5FEA-4CE5-9907-022C741A2404}"/>
              </a:ext>
            </a:extLst>
          </p:cNvPr>
          <p:cNvSpPr>
            <a:spLocks noGrp="1"/>
          </p:cNvSpPr>
          <p:nvPr/>
        </p:nvSpPr>
        <p:spPr>
          <a:xfrm>
            <a:off x="628650" y="1514475"/>
            <a:ext cx="10382250" cy="323850"/>
          </a:xfrm>
          <a:prstGeom prst="rect">
            <a:avLst/>
          </a:prstGeom>
          <a:noFill/>
          <a:ln w="0">
            <a:noFill/>
            <a:prstDash val="solid"/>
          </a:ln>
        </p:spPr>
        <p:txBody>
          <a:bodyPr wrap="square" lIns="0" tIns="0" rIns="0" bIns="0" anchor="t">
            <a:noAutofit/>
          </a:bodyPr>
          <a:lstStyle/>
          <a:p>
            <a:pPr algn="l">
              <a:buNone/>
              <a:defRPr sz="1575" b="0" i="0">
                <a:solidFill>
                  <a:srgbClr val="686A66"/>
                </a:solidFill>
                <a:latin typeface="Arial"/>
                <a:ea typeface="Arial"/>
                <a:cs typeface="Arial"/>
              </a:defRPr>
            </a:pPr>
            <a:r>
              <a:rPr sz="1575" b="0" i="0">
                <a:solidFill>
                  <a:srgbClr val="686A66"/>
                </a:solidFill>
                <a:latin typeface="Arial"/>
                <a:ea typeface="Arial"/>
                <a:cs typeface="Arial"/>
              </a:rPr>
              <a:t>Historical 93 / 85.5 / 77; under the 60/40 scenario every option can still rank first.</a:t>
            </a:r>
          </a:p>
        </p:txBody>
      </p:sp>
      <p:sp>
        <p:nvSpPr>
          <p:cNvPr id="6" name="Rectangle 5">
            <a:extLst>
              <a:ext uri="{FF2B5EF4-FFF2-40B4-BE49-F238E27FC236}">
                <a16:creationId xmlns:a16="http://schemas.microsoft.com/office/drawing/2014/main" id="{F4365574-DBC6-4924-BFDB-A8C49F625B4D}"/>
              </a:ext>
            </a:extLst>
          </p:cNvPr>
          <p:cNvSpPr>
            <a:spLocks noGrp="1"/>
          </p:cNvSpPr>
          <p:nvPr/>
        </p:nvSpPr>
        <p:spPr>
          <a:xfrm>
            <a:off x="609600" y="1905000"/>
            <a:ext cx="10972800" cy="9525"/>
          </a:xfrm>
          <a:prstGeom prst="rect">
            <a:avLst/>
          </a:prstGeom>
          <a:solidFill>
            <a:srgbClr val="8A8B86"/>
          </a:solidFill>
          <a:ln w="0">
            <a:noFill/>
            <a:prstDash val="solid"/>
          </a:ln>
        </p:spPr>
        <p:txBody>
          <a:bodyPr/>
          <a:lstStyle/>
          <a:p>
            <a:endParaRPr lang="en-US"/>
          </a:p>
        </p:txBody>
      </p:sp>
      <p:sp>
        <p:nvSpPr>
          <p:cNvPr id="7" name="Rectangle 6">
            <a:extLst>
              <a:ext uri="{FF2B5EF4-FFF2-40B4-BE49-F238E27FC236}">
                <a16:creationId xmlns:a16="http://schemas.microsoft.com/office/drawing/2014/main" id="{3D3D8221-D075-4251-B1D4-050A21F78560}"/>
              </a:ext>
            </a:extLst>
          </p:cNvPr>
          <p:cNvSpPr>
            <a:spLocks noGrp="1"/>
          </p:cNvSpPr>
          <p:nvPr/>
        </p:nvSpPr>
        <p:spPr>
          <a:xfrm>
            <a:off x="609600" y="6524625"/>
            <a:ext cx="8858250" cy="180975"/>
          </a:xfrm>
          <a:prstGeom prst="rect">
            <a:avLst/>
          </a:prstGeom>
          <a:noFill/>
          <a:ln w="0">
            <a:noFill/>
            <a:prstDash val="solid"/>
          </a:ln>
        </p:spPr>
        <p:txBody>
          <a:bodyPr wrap="square" lIns="0" tIns="0" rIns="0" bIns="0" anchor="ctr">
            <a:normAutofit/>
          </a:bodyPr>
          <a:lstStyle/>
          <a:p>
            <a:pPr>
              <a:buNone/>
              <a:defRPr sz="825">
                <a:solidFill>
                  <a:srgbClr val="666762"/>
                </a:solidFill>
              </a:defRPr>
            </a:pPr>
            <a:r>
              <a:rPr sz="825" b="1">
                <a:solidFill>
                  <a:srgbClr val="666762"/>
                </a:solidFill>
              </a:rPr>
              <a:t>REFERENCES  </a:t>
            </a:r>
            <a:r>
              <a:rPr sz="825" u="sng">
                <a:solidFill>
                  <a:srgbClr val="666762"/>
                </a:solidFill>
                <a:hlinkClick r:id="rId3"/>
              </a:rPr>
              <a:t>Repo reference</a:t>
            </a:r>
            <a:r>
              <a:rPr sz="825">
                <a:solidFill>
                  <a:srgbClr val="666762"/>
                </a:solidFill>
              </a:rPr>
              <a:t>  ·  </a:t>
            </a:r>
            <a:r>
              <a:rPr sz="825" u="sng">
                <a:solidFill>
                  <a:srgbClr val="666762"/>
                </a:solidFill>
                <a:hlinkClick r:id="rId4"/>
              </a:rPr>
              <a:t>Official docs</a:t>
            </a:r>
          </a:p>
        </p:txBody>
      </p:sp>
      <p:sp>
        <p:nvSpPr>
          <p:cNvPr id="8" name="Rectangle 7">
            <a:extLst>
              <a:ext uri="{FF2B5EF4-FFF2-40B4-BE49-F238E27FC236}">
                <a16:creationId xmlns:a16="http://schemas.microsoft.com/office/drawing/2014/main" id="{E142CEE8-740E-41C1-98E8-7D7A1D2FF44A}"/>
              </a:ext>
            </a:extLst>
          </p:cNvPr>
          <p:cNvSpPr>
            <a:spLocks noGrp="1"/>
          </p:cNvSpPr>
          <p:nvPr/>
        </p:nvSpPr>
        <p:spPr>
          <a:xfrm>
            <a:off x="10287000" y="6486525"/>
            <a:ext cx="1295400" cy="209550"/>
          </a:xfrm>
          <a:prstGeom prst="rect">
            <a:avLst/>
          </a:prstGeom>
          <a:noFill/>
          <a:ln w="0">
            <a:noFill/>
            <a:prstDash val="solid"/>
          </a:ln>
        </p:spPr>
        <p:txBody>
          <a:bodyPr wrap="square" lIns="0" tIns="0" rIns="0" bIns="0" anchor="t">
            <a:normAutofit/>
          </a:bodyPr>
          <a:lstStyle/>
          <a:p>
            <a:pPr algn="r">
              <a:buNone/>
              <a:defRPr sz="975" b="1" i="0">
                <a:solidFill>
                  <a:srgbClr val="686A66"/>
                </a:solidFill>
                <a:latin typeface="Consolas"/>
                <a:ea typeface="Consolas"/>
                <a:cs typeface="Consolas"/>
              </a:defRPr>
            </a:pPr>
            <a:r>
              <a:rPr sz="975" b="1" i="0">
                <a:solidFill>
                  <a:srgbClr val="686A66"/>
                </a:solidFill>
                <a:latin typeface="Consolas"/>
                <a:ea typeface="Consolas"/>
                <a:cs typeface="Consolas"/>
              </a:rPr>
              <a:t>05 / 25</a:t>
            </a:r>
          </a:p>
        </p:txBody>
      </p:sp>
      <p:sp>
        <p:nvSpPr>
          <p:cNvPr id="9" name="Rectangle 8">
            <a:extLst>
              <a:ext uri="{FF2B5EF4-FFF2-40B4-BE49-F238E27FC236}">
                <a16:creationId xmlns:a16="http://schemas.microsoft.com/office/drawing/2014/main" id="{69BAD91C-9C83-4F6F-BD35-6344F9645FBB}"/>
              </a:ext>
            </a:extLst>
          </p:cNvPr>
          <p:cNvSpPr>
            <a:spLocks noGrp="1"/>
          </p:cNvSpPr>
          <p:nvPr/>
        </p:nvSpPr>
        <p:spPr>
          <a:xfrm>
            <a:off x="685800" y="2466975"/>
            <a:ext cx="1619250" cy="323850"/>
          </a:xfrm>
          <a:prstGeom prst="rect">
            <a:avLst/>
          </a:prstGeom>
          <a:noFill/>
          <a:ln w="0">
            <a:noFill/>
            <a:prstDash val="solid"/>
          </a:ln>
        </p:spPr>
        <p:txBody>
          <a:bodyPr wrap="square" lIns="0" tIns="0" rIns="0" bIns="0" anchor="t">
            <a:normAutofit/>
          </a:bodyPr>
          <a:lstStyle/>
          <a:p>
            <a:pPr algn="l">
              <a:buNone/>
              <a:defRPr sz="1875" b="0" i="0">
                <a:solidFill>
                  <a:srgbClr val="111111"/>
                </a:solidFill>
                <a:latin typeface="Georgia"/>
                <a:ea typeface="Georgia"/>
                <a:cs typeface="Georgia"/>
              </a:defRPr>
            </a:pPr>
            <a:r>
              <a:rPr sz="1875" b="0" i="0">
                <a:solidFill>
                  <a:srgbClr val="111111"/>
                </a:solidFill>
                <a:latin typeface="Georgia"/>
                <a:ea typeface="Georgia"/>
                <a:cs typeface="Georgia"/>
              </a:rPr>
              <a:t>Kong</a:t>
            </a:r>
          </a:p>
        </p:txBody>
      </p:sp>
      <p:sp>
        <p:nvSpPr>
          <p:cNvPr id="10" name="Rectangle 9">
            <a:extLst>
              <a:ext uri="{FF2B5EF4-FFF2-40B4-BE49-F238E27FC236}">
                <a16:creationId xmlns:a16="http://schemas.microsoft.com/office/drawing/2014/main" id="{319920B8-1C17-434F-A591-E1CD29536F20}"/>
              </a:ext>
            </a:extLst>
          </p:cNvPr>
          <p:cNvSpPr>
            <a:spLocks noGrp="1"/>
          </p:cNvSpPr>
          <p:nvPr/>
        </p:nvSpPr>
        <p:spPr>
          <a:xfrm>
            <a:off x="2266950" y="2524125"/>
            <a:ext cx="6191250" cy="276225"/>
          </a:xfrm>
          <a:prstGeom prst="rect">
            <a:avLst/>
          </a:prstGeom>
          <a:solidFill>
            <a:srgbClr val="ECE9E1"/>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52098EC1-3A48-4E50-8D2E-878CC67DD359}"/>
              </a:ext>
            </a:extLst>
          </p:cNvPr>
          <p:cNvSpPr>
            <a:spLocks noGrp="1"/>
          </p:cNvSpPr>
          <p:nvPr/>
        </p:nvSpPr>
        <p:spPr>
          <a:xfrm>
            <a:off x="2266950" y="2524125"/>
            <a:ext cx="5757863" cy="276225"/>
          </a:xfrm>
          <a:prstGeom prst="rect">
            <a:avLst/>
          </a:prstGeom>
          <a:solidFill>
            <a:srgbClr val="FFC72C"/>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EF601B09-5D06-4C95-8D2E-59BD786F0396}"/>
              </a:ext>
            </a:extLst>
          </p:cNvPr>
          <p:cNvSpPr>
            <a:spLocks noGrp="1"/>
          </p:cNvSpPr>
          <p:nvPr/>
        </p:nvSpPr>
        <p:spPr>
          <a:xfrm>
            <a:off x="8629650" y="2419350"/>
            <a:ext cx="857250" cy="457200"/>
          </a:xfrm>
          <a:prstGeom prst="rect">
            <a:avLst/>
          </a:prstGeom>
          <a:noFill/>
          <a:ln w="0">
            <a:noFill/>
            <a:prstDash val="solid"/>
          </a:ln>
        </p:spPr>
        <p:txBody>
          <a:bodyPr wrap="square" lIns="0" tIns="0" rIns="0" bIns="0" anchor="t">
            <a:normAutofit/>
          </a:bodyPr>
          <a:lstStyle/>
          <a:p>
            <a:pPr algn="r">
              <a:buNone/>
              <a:defRPr sz="2400" b="1" i="0">
                <a:solidFill>
                  <a:srgbClr val="FFC72C"/>
                </a:solidFill>
                <a:latin typeface="Consolas"/>
                <a:ea typeface="Consolas"/>
                <a:cs typeface="Consolas"/>
              </a:defRPr>
            </a:pPr>
            <a:r>
              <a:rPr sz="2400" b="1" i="0">
                <a:solidFill>
                  <a:srgbClr val="FFC72C"/>
                </a:solidFill>
                <a:latin typeface="Consolas"/>
                <a:ea typeface="Consolas"/>
                <a:cs typeface="Consolas"/>
              </a:rPr>
              <a:t>93</a:t>
            </a:r>
          </a:p>
        </p:txBody>
      </p:sp>
      <p:sp>
        <p:nvSpPr>
          <p:cNvPr id="13" name="Rectangle 12">
            <a:extLst>
              <a:ext uri="{FF2B5EF4-FFF2-40B4-BE49-F238E27FC236}">
                <a16:creationId xmlns:a16="http://schemas.microsoft.com/office/drawing/2014/main" id="{C012F067-A385-41DA-A223-53435F134E4E}"/>
              </a:ext>
            </a:extLst>
          </p:cNvPr>
          <p:cNvSpPr>
            <a:spLocks noGrp="1"/>
          </p:cNvSpPr>
          <p:nvPr/>
        </p:nvSpPr>
        <p:spPr>
          <a:xfrm>
            <a:off x="685800" y="3467100"/>
            <a:ext cx="1619250" cy="323850"/>
          </a:xfrm>
          <a:prstGeom prst="rect">
            <a:avLst/>
          </a:prstGeom>
          <a:noFill/>
          <a:ln w="0">
            <a:noFill/>
            <a:prstDash val="solid"/>
          </a:ln>
        </p:spPr>
        <p:txBody>
          <a:bodyPr wrap="square" lIns="0" tIns="0" rIns="0" bIns="0" anchor="t">
            <a:normAutofit/>
          </a:bodyPr>
          <a:lstStyle/>
          <a:p>
            <a:pPr algn="l">
              <a:buNone/>
              <a:defRPr sz="1875" b="0" i="0">
                <a:solidFill>
                  <a:srgbClr val="111111"/>
                </a:solidFill>
                <a:latin typeface="Georgia"/>
                <a:ea typeface="Georgia"/>
                <a:cs typeface="Georgia"/>
              </a:defRPr>
            </a:pPr>
            <a:r>
              <a:rPr sz="1875" b="0" i="0">
                <a:solidFill>
                  <a:srgbClr val="111111"/>
                </a:solidFill>
                <a:latin typeface="Georgia"/>
                <a:ea typeface="Georgia"/>
                <a:cs typeface="Georgia"/>
              </a:rPr>
              <a:t>Apigee</a:t>
            </a:r>
          </a:p>
        </p:txBody>
      </p:sp>
      <p:sp>
        <p:nvSpPr>
          <p:cNvPr id="14" name="Rectangle 13">
            <a:extLst>
              <a:ext uri="{FF2B5EF4-FFF2-40B4-BE49-F238E27FC236}">
                <a16:creationId xmlns:a16="http://schemas.microsoft.com/office/drawing/2014/main" id="{FD6EED57-9867-4BBD-AA2A-7DF9E4696B09}"/>
              </a:ext>
            </a:extLst>
          </p:cNvPr>
          <p:cNvSpPr>
            <a:spLocks noGrp="1"/>
          </p:cNvSpPr>
          <p:nvPr/>
        </p:nvSpPr>
        <p:spPr>
          <a:xfrm>
            <a:off x="2266950" y="3524250"/>
            <a:ext cx="6191250" cy="276225"/>
          </a:xfrm>
          <a:prstGeom prst="rect">
            <a:avLst/>
          </a:prstGeom>
          <a:solidFill>
            <a:srgbClr val="ECE9E1"/>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CDA2620D-85B5-405D-BEB7-1A1436598784}"/>
              </a:ext>
            </a:extLst>
          </p:cNvPr>
          <p:cNvSpPr>
            <a:spLocks noGrp="1"/>
          </p:cNvSpPr>
          <p:nvPr/>
        </p:nvSpPr>
        <p:spPr>
          <a:xfrm>
            <a:off x="2266950" y="3524250"/>
            <a:ext cx="5293519" cy="276225"/>
          </a:xfrm>
          <a:prstGeom prst="rect">
            <a:avLst/>
          </a:prstGeom>
          <a:solidFill>
            <a:srgbClr val="111111"/>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52DF9875-E2A0-4403-93AD-0C39EA38CFF6}"/>
              </a:ext>
            </a:extLst>
          </p:cNvPr>
          <p:cNvSpPr>
            <a:spLocks noGrp="1"/>
          </p:cNvSpPr>
          <p:nvPr/>
        </p:nvSpPr>
        <p:spPr>
          <a:xfrm>
            <a:off x="8629650" y="3419475"/>
            <a:ext cx="857250" cy="457200"/>
          </a:xfrm>
          <a:prstGeom prst="rect">
            <a:avLst/>
          </a:prstGeom>
          <a:noFill/>
          <a:ln w="0">
            <a:noFill/>
            <a:prstDash val="solid"/>
          </a:ln>
        </p:spPr>
        <p:txBody>
          <a:bodyPr wrap="square" lIns="0" tIns="0" rIns="0" bIns="0" anchor="t">
            <a:normAutofit/>
          </a:bodyPr>
          <a:lstStyle/>
          <a:p>
            <a:pPr algn="r">
              <a:buNone/>
              <a:defRPr sz="2400" b="1" i="0">
                <a:solidFill>
                  <a:srgbClr val="111111"/>
                </a:solidFill>
                <a:latin typeface="Consolas"/>
                <a:ea typeface="Consolas"/>
                <a:cs typeface="Consolas"/>
              </a:defRPr>
            </a:pPr>
            <a:r>
              <a:rPr sz="2400" b="1" i="0">
                <a:solidFill>
                  <a:srgbClr val="111111"/>
                </a:solidFill>
                <a:latin typeface="Consolas"/>
                <a:ea typeface="Consolas"/>
                <a:cs typeface="Consolas"/>
              </a:rPr>
              <a:t>85.5</a:t>
            </a:r>
          </a:p>
        </p:txBody>
      </p:sp>
      <p:sp>
        <p:nvSpPr>
          <p:cNvPr id="17" name="Rectangle 16">
            <a:extLst>
              <a:ext uri="{FF2B5EF4-FFF2-40B4-BE49-F238E27FC236}">
                <a16:creationId xmlns:a16="http://schemas.microsoft.com/office/drawing/2014/main" id="{AF819648-71D0-49FF-94A6-C6255A01FCF2}"/>
              </a:ext>
            </a:extLst>
          </p:cNvPr>
          <p:cNvSpPr>
            <a:spLocks noGrp="1"/>
          </p:cNvSpPr>
          <p:nvPr/>
        </p:nvSpPr>
        <p:spPr>
          <a:xfrm>
            <a:off x="685800" y="4467225"/>
            <a:ext cx="1619250" cy="323850"/>
          </a:xfrm>
          <a:prstGeom prst="rect">
            <a:avLst/>
          </a:prstGeom>
          <a:noFill/>
          <a:ln w="0">
            <a:noFill/>
            <a:prstDash val="solid"/>
          </a:ln>
        </p:spPr>
        <p:txBody>
          <a:bodyPr wrap="square" lIns="0" tIns="0" rIns="0" bIns="0" anchor="t">
            <a:normAutofit/>
          </a:bodyPr>
          <a:lstStyle/>
          <a:p>
            <a:pPr algn="l">
              <a:buNone/>
              <a:defRPr sz="1875" b="0" i="0">
                <a:solidFill>
                  <a:srgbClr val="111111"/>
                </a:solidFill>
                <a:latin typeface="Georgia"/>
                <a:ea typeface="Georgia"/>
                <a:cs typeface="Georgia"/>
              </a:defRPr>
            </a:pPr>
            <a:r>
              <a:rPr sz="1875" b="0" i="0">
                <a:solidFill>
                  <a:srgbClr val="111111"/>
                </a:solidFill>
                <a:latin typeface="Georgia"/>
                <a:ea typeface="Georgia"/>
                <a:cs typeface="Georgia"/>
              </a:rPr>
              <a:t>MuleSoft</a:t>
            </a:r>
          </a:p>
        </p:txBody>
      </p:sp>
      <p:sp>
        <p:nvSpPr>
          <p:cNvPr id="18" name="Rectangle 17">
            <a:extLst>
              <a:ext uri="{FF2B5EF4-FFF2-40B4-BE49-F238E27FC236}">
                <a16:creationId xmlns:a16="http://schemas.microsoft.com/office/drawing/2014/main" id="{87C02D5A-0937-4D0F-B745-AAEDAC2DA6F0}"/>
              </a:ext>
            </a:extLst>
          </p:cNvPr>
          <p:cNvSpPr>
            <a:spLocks noGrp="1"/>
          </p:cNvSpPr>
          <p:nvPr/>
        </p:nvSpPr>
        <p:spPr>
          <a:xfrm>
            <a:off x="2266950" y="4524375"/>
            <a:ext cx="6191250" cy="276225"/>
          </a:xfrm>
          <a:prstGeom prst="rect">
            <a:avLst/>
          </a:prstGeom>
          <a:solidFill>
            <a:srgbClr val="ECE9E1"/>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E33E95F9-768B-4AEA-AF39-DF47D648C3F0}"/>
              </a:ext>
            </a:extLst>
          </p:cNvPr>
          <p:cNvSpPr>
            <a:spLocks noGrp="1"/>
          </p:cNvSpPr>
          <p:nvPr/>
        </p:nvSpPr>
        <p:spPr>
          <a:xfrm>
            <a:off x="2266950" y="4524375"/>
            <a:ext cx="4767263" cy="276225"/>
          </a:xfrm>
          <a:prstGeom prst="rect">
            <a:avLst/>
          </a:prstGeom>
          <a:solidFill>
            <a:srgbClr val="8A8B86"/>
          </a:solidFill>
          <a:ln w="0">
            <a:noFill/>
            <a:prstDash val="solid"/>
          </a:ln>
        </p:spPr>
        <p:txBody>
          <a:bodyPr/>
          <a:lstStyle/>
          <a:p>
            <a:endParaRPr lang="en-US"/>
          </a:p>
        </p:txBody>
      </p:sp>
      <p:sp>
        <p:nvSpPr>
          <p:cNvPr id="20" name="Rectangle 19">
            <a:extLst>
              <a:ext uri="{FF2B5EF4-FFF2-40B4-BE49-F238E27FC236}">
                <a16:creationId xmlns:a16="http://schemas.microsoft.com/office/drawing/2014/main" id="{9C54387A-EEB1-4CF9-9B09-76A746C8866D}"/>
              </a:ext>
            </a:extLst>
          </p:cNvPr>
          <p:cNvSpPr>
            <a:spLocks noGrp="1"/>
          </p:cNvSpPr>
          <p:nvPr/>
        </p:nvSpPr>
        <p:spPr>
          <a:xfrm>
            <a:off x="8629650" y="4419600"/>
            <a:ext cx="857250" cy="457200"/>
          </a:xfrm>
          <a:prstGeom prst="rect">
            <a:avLst/>
          </a:prstGeom>
          <a:noFill/>
          <a:ln w="0">
            <a:noFill/>
            <a:prstDash val="solid"/>
          </a:ln>
        </p:spPr>
        <p:txBody>
          <a:bodyPr wrap="square" lIns="0" tIns="0" rIns="0" bIns="0" anchor="t">
            <a:normAutofit/>
          </a:bodyPr>
          <a:lstStyle/>
          <a:p>
            <a:pPr algn="r">
              <a:buNone/>
              <a:defRPr sz="2400" b="1" i="0">
                <a:solidFill>
                  <a:srgbClr val="8A8B86"/>
                </a:solidFill>
                <a:latin typeface="Consolas"/>
                <a:ea typeface="Consolas"/>
                <a:cs typeface="Consolas"/>
              </a:defRPr>
            </a:pPr>
            <a:r>
              <a:rPr sz="2400" b="1" i="0">
                <a:solidFill>
                  <a:srgbClr val="8A8B86"/>
                </a:solidFill>
                <a:latin typeface="Consolas"/>
                <a:ea typeface="Consolas"/>
                <a:cs typeface="Consolas"/>
              </a:rPr>
              <a:t>77</a:t>
            </a:r>
          </a:p>
        </p:txBody>
      </p:sp>
      <p:sp>
        <p:nvSpPr>
          <p:cNvPr id="21" name="Rectangle 20">
            <a:extLst>
              <a:ext uri="{FF2B5EF4-FFF2-40B4-BE49-F238E27FC236}">
                <a16:creationId xmlns:a16="http://schemas.microsoft.com/office/drawing/2014/main" id="{A3F5F95E-E20F-4529-BA93-A73E3386A4E8}"/>
              </a:ext>
            </a:extLst>
          </p:cNvPr>
          <p:cNvSpPr>
            <a:spLocks noGrp="1"/>
          </p:cNvSpPr>
          <p:nvPr/>
        </p:nvSpPr>
        <p:spPr>
          <a:xfrm>
            <a:off x="9525000" y="2286000"/>
            <a:ext cx="1257300" cy="209550"/>
          </a:xfrm>
          <a:prstGeom prst="rect">
            <a:avLst/>
          </a:prstGeom>
          <a:noFill/>
          <a:ln w="0">
            <a:noFill/>
            <a:prstDash val="solid"/>
          </a:ln>
        </p:spPr>
        <p:txBody>
          <a:bodyPr wrap="square" lIns="19050" tIns="9525" rIns="19050" bIns="9525" anchor="ctr">
            <a:normAutofit/>
          </a:bodyPr>
          <a:lstStyle/>
          <a:p>
            <a:pPr algn="ctr">
              <a:lnSpc>
                <a:spcPct val="100000"/>
              </a:lnSpc>
              <a:buNone/>
              <a:defRPr sz="1050" b="1" i="0">
                <a:solidFill>
                  <a:srgbClr val="686A66"/>
                </a:solidFill>
                <a:latin typeface="Arial"/>
                <a:ea typeface="Arial"/>
                <a:cs typeface="Arial"/>
              </a:defRPr>
            </a:pPr>
            <a:r>
              <a:rPr sz="1050" b="1" i="0">
                <a:solidFill>
                  <a:srgbClr val="686A66"/>
                </a:solidFill>
                <a:latin typeface="Arial"/>
                <a:ea typeface="Arial"/>
                <a:cs typeface="Arial"/>
              </a:rPr>
              <a:t>Range</a:t>
            </a:r>
          </a:p>
        </p:txBody>
      </p:sp>
      <p:sp>
        <p:nvSpPr>
          <p:cNvPr id="22" name="Rectangle 21">
            <a:extLst>
              <a:ext uri="{FF2B5EF4-FFF2-40B4-BE49-F238E27FC236}">
                <a16:creationId xmlns:a16="http://schemas.microsoft.com/office/drawing/2014/main" id="{C9D148AD-B0EB-4101-B2E4-8962285509AE}"/>
              </a:ext>
            </a:extLst>
          </p:cNvPr>
          <p:cNvSpPr>
            <a:spLocks noGrp="1"/>
          </p:cNvSpPr>
          <p:nvPr/>
        </p:nvSpPr>
        <p:spPr>
          <a:xfrm>
            <a:off x="9525000" y="2609850"/>
            <a:ext cx="1257300" cy="1752600"/>
          </a:xfrm>
          <a:prstGeom prst="rect">
            <a:avLst/>
          </a:prstGeom>
          <a:noFill/>
          <a:ln w="0">
            <a:noFill/>
            <a:prstDash val="solid"/>
          </a:ln>
        </p:spPr>
        <p:txBody>
          <a:bodyPr wrap="square" lIns="19050" tIns="9525" rIns="19050" bIns="9525" anchor="ctr">
            <a:normAutofit/>
          </a:bodyPr>
          <a:lstStyle/>
          <a:p>
            <a:pPr algn="l">
              <a:buNone/>
              <a:defRPr sz="2025" b="0" i="0">
                <a:solidFill>
                  <a:srgbClr val="8A8B86"/>
                </a:solidFill>
                <a:latin typeface="Consolas"/>
                <a:ea typeface="Consolas"/>
                <a:cs typeface="Consolas"/>
              </a:defRPr>
            </a:pPr>
            <a:endParaRPr/>
          </a:p>
        </p:txBody>
      </p:sp>
      <p:sp>
        <p:nvSpPr>
          <p:cNvPr id="23" name="Rectangle 22">
            <a:extLst>
              <a:ext uri="{FF2B5EF4-FFF2-40B4-BE49-F238E27FC236}">
                <a16:creationId xmlns:a16="http://schemas.microsoft.com/office/drawing/2014/main" id="{E65A7922-47DA-4DE7-8D6D-2CCAD7253E25}"/>
              </a:ext>
            </a:extLst>
          </p:cNvPr>
          <p:cNvSpPr>
            <a:spLocks noGrp="1"/>
          </p:cNvSpPr>
          <p:nvPr/>
        </p:nvSpPr>
        <p:spPr>
          <a:xfrm>
            <a:off x="10801350" y="2286000"/>
            <a:ext cx="723900" cy="209550"/>
          </a:xfrm>
          <a:prstGeom prst="rect">
            <a:avLst/>
          </a:prstGeom>
          <a:noFill/>
          <a:ln w="0">
            <a:noFill/>
            <a:prstDash val="solid"/>
          </a:ln>
        </p:spPr>
        <p:txBody>
          <a:bodyPr wrap="square" lIns="19050" tIns="9525" rIns="19050" bIns="9525" anchor="ctr">
            <a:normAutofit/>
          </a:bodyPr>
          <a:lstStyle/>
          <a:p>
            <a:pPr algn="r">
              <a:lnSpc>
                <a:spcPct val="100000"/>
              </a:lnSpc>
              <a:buNone/>
              <a:defRPr sz="1050" b="1" i="0">
                <a:solidFill>
                  <a:srgbClr val="5537D6"/>
                </a:solidFill>
                <a:latin typeface="Arial"/>
                <a:ea typeface="Arial"/>
                <a:cs typeface="Arial"/>
              </a:defRPr>
            </a:pPr>
            <a:r>
              <a:rPr sz="1050" b="1" i="0">
                <a:solidFill>
                  <a:srgbClr val="5537D6"/>
                </a:solidFill>
                <a:latin typeface="Arial"/>
                <a:ea typeface="Arial"/>
                <a:cs typeface="Arial"/>
              </a:rPr>
              <a:t>Midpoint*</a:t>
            </a:r>
          </a:p>
        </p:txBody>
      </p:sp>
      <p:sp>
        <p:nvSpPr>
          <p:cNvPr id="24" name="Rectangle 23">
            <a:extLst>
              <a:ext uri="{FF2B5EF4-FFF2-40B4-BE49-F238E27FC236}">
                <a16:creationId xmlns:a16="http://schemas.microsoft.com/office/drawing/2014/main" id="{E23E8704-F307-4161-B225-F82479DE3E7C}"/>
              </a:ext>
            </a:extLst>
          </p:cNvPr>
          <p:cNvSpPr>
            <a:spLocks noGrp="1"/>
          </p:cNvSpPr>
          <p:nvPr/>
        </p:nvSpPr>
        <p:spPr>
          <a:xfrm>
            <a:off x="10820400" y="2609850"/>
            <a:ext cx="685800" cy="1752600"/>
          </a:xfrm>
          <a:prstGeom prst="rect">
            <a:avLst/>
          </a:prstGeom>
          <a:noFill/>
          <a:ln w="0">
            <a:noFill/>
            <a:prstDash val="solid"/>
          </a:ln>
        </p:spPr>
        <p:txBody>
          <a:bodyPr wrap="square" lIns="19050" tIns="9525" rIns="19050" bIns="9525" anchor="ctr">
            <a:normAutofit/>
          </a:bodyPr>
          <a:lstStyle/>
          <a:p>
            <a:pPr algn="r">
              <a:buNone/>
              <a:defRPr sz="2025" b="0" i="0">
                <a:solidFill>
                  <a:srgbClr val="5537D6"/>
                </a:solidFill>
                <a:latin typeface="Consolas"/>
                <a:ea typeface="Consolas"/>
                <a:cs typeface="Consolas"/>
              </a:defRPr>
            </a:pPr>
            <a:endParaRPr/>
          </a:p>
        </p:txBody>
      </p:sp>
      <p:sp>
        <p:nvSpPr>
          <p:cNvPr id="25" name="Rectangle 24">
            <a:extLst>
              <a:ext uri="{FF2B5EF4-FFF2-40B4-BE49-F238E27FC236}">
                <a16:creationId xmlns:a16="http://schemas.microsoft.com/office/drawing/2014/main" id="{865FB550-5B98-4854-9FD4-914A9ECB9566}"/>
              </a:ext>
            </a:extLst>
          </p:cNvPr>
          <p:cNvSpPr>
            <a:spLocks noGrp="1"/>
          </p:cNvSpPr>
          <p:nvPr/>
        </p:nvSpPr>
        <p:spPr>
          <a:xfrm>
            <a:off x="685800" y="5391150"/>
            <a:ext cx="10801350" cy="9525"/>
          </a:xfrm>
          <a:prstGeom prst="rect">
            <a:avLst/>
          </a:prstGeom>
          <a:solidFill>
            <a:srgbClr val="8A8B86"/>
          </a:solidFill>
          <a:ln w="0">
            <a:noFill/>
            <a:prstDash val="solid"/>
          </a:ln>
        </p:spPr>
        <p:txBody>
          <a:bodyPr/>
          <a:lstStyle/>
          <a:p>
            <a:endParaRPr lang="en-US"/>
          </a:p>
        </p:txBody>
      </p:sp>
      <p:sp>
        <p:nvSpPr>
          <p:cNvPr id="26" name="Rectangle 25">
            <a:extLst>
              <a:ext uri="{FF2B5EF4-FFF2-40B4-BE49-F238E27FC236}">
                <a16:creationId xmlns:a16="http://schemas.microsoft.com/office/drawing/2014/main" id="{17B5D57E-D4C0-4C20-9908-9790BAE0E40F}"/>
              </a:ext>
            </a:extLst>
          </p:cNvPr>
          <p:cNvSpPr>
            <a:spLocks noGrp="1"/>
          </p:cNvSpPr>
          <p:nvPr/>
        </p:nvSpPr>
        <p:spPr>
          <a:xfrm>
            <a:off x="685800" y="5619750"/>
            <a:ext cx="3905250" cy="342900"/>
          </a:xfrm>
          <a:prstGeom prst="rect">
            <a:avLst/>
          </a:prstGeom>
          <a:noFill/>
          <a:ln w="0">
            <a:noFill/>
            <a:prstDash val="solid"/>
          </a:ln>
        </p:spPr>
        <p:txBody>
          <a:bodyPr wrap="square" lIns="0" tIns="0" rIns="0" bIns="0" anchor="t">
            <a:normAutofit fontScale="82306" lnSpcReduction="10000"/>
          </a:bodyPr>
          <a:lstStyle/>
          <a:p>
            <a:pPr algn="l">
              <a:buNone/>
              <a:defRPr sz="1875" b="0" i="0">
                <a:solidFill>
                  <a:srgbClr val="111111"/>
                </a:solidFill>
                <a:latin typeface="Georgia"/>
                <a:ea typeface="Georgia"/>
                <a:cs typeface="Georgia"/>
              </a:defRPr>
            </a:pPr>
            <a:r>
              <a:rPr sz="1875" b="0" i="0">
                <a:solidFill>
                  <a:srgbClr val="111111"/>
                </a:solidFill>
                <a:latin typeface="Georgia"/>
                <a:ea typeface="Georgia"/>
                <a:cs typeface="Georgia"/>
              </a:rPr>
              <a:t>PROVISIONAL — NOT A DECISION SCORE</a:t>
            </a:r>
          </a:p>
        </p:txBody>
      </p:sp>
      <p:sp>
        <p:nvSpPr>
          <p:cNvPr id="27" name="Rectangle 26">
            <a:extLst>
              <a:ext uri="{FF2B5EF4-FFF2-40B4-BE49-F238E27FC236}">
                <a16:creationId xmlns:a16="http://schemas.microsoft.com/office/drawing/2014/main" id="{D82D660B-AC6B-4F1F-987F-E8918FCAB6DB}"/>
              </a:ext>
            </a:extLst>
          </p:cNvPr>
          <p:cNvSpPr>
            <a:spLocks noGrp="1"/>
          </p:cNvSpPr>
          <p:nvPr/>
        </p:nvSpPr>
        <p:spPr>
          <a:xfrm>
            <a:off x="4800600" y="5648325"/>
            <a:ext cx="6629400" cy="419100"/>
          </a:xfrm>
          <a:prstGeom prst="rect">
            <a:avLst/>
          </a:prstGeom>
          <a:noFill/>
          <a:ln w="0">
            <a:noFill/>
            <a:prstDash val="solid"/>
          </a:ln>
        </p:spPr>
        <p:txBody>
          <a:bodyPr wrap="square" lIns="0" tIns="0" rIns="0" bIns="0" anchor="t">
            <a:normAutofit/>
          </a:bodyPr>
          <a:lstStyle/>
          <a:p>
            <a:pPr algn="r">
              <a:buNone/>
              <a:defRPr sz="1275" b="0" i="0">
                <a:solidFill>
                  <a:srgbClr val="686A66"/>
                </a:solidFill>
                <a:latin typeface="Arial"/>
                <a:ea typeface="Arial"/>
                <a:cs typeface="Arial"/>
              </a:defRPr>
            </a:pPr>
            <a:r>
              <a:rPr sz="1275" b="0" i="0">
                <a:solidFill>
                  <a:srgbClr val="686A66"/>
                </a:solidFill>
                <a:latin typeface="Arial"/>
                <a:ea typeface="Arial"/>
                <a:cs typeface="Arial"/>
              </a:rPr>
              <a:t>Ranges overlap · Apigee reverses Kong with +1.125 average GRS · 0% common evidence · HOLD</a:t>
            </a:r>
          </a:p>
        </p:txBody>
      </p:sp>
      <p:sp>
        <p:nvSpPr>
          <p:cNvPr id="29" name="scenario-range-0">
            <a:extLst>
              <a:ext uri="{FF2B5EF4-FFF2-40B4-BE49-F238E27FC236}">
                <a16:creationId xmlns:a16="http://schemas.microsoft.com/office/drawing/2014/main" id="{88D2EC14-8E8C-4751-9FA8-F5207BD2FAE6}"/>
              </a:ext>
            </a:extLst>
          </p:cNvPr>
          <p:cNvSpPr>
            <a:spLocks noGrp="1"/>
          </p:cNvSpPr>
          <p:nvPr/>
        </p:nvSpPr>
        <p:spPr>
          <a:xfrm>
            <a:off x="9525000" y="2419350"/>
            <a:ext cx="1257300" cy="457200"/>
          </a:xfrm>
          <a:prstGeom prst="rect">
            <a:avLst/>
          </a:prstGeom>
          <a:noFill/>
          <a:ln w="0">
            <a:solidFill>
              <a:srgbClr val="FFFCF5"/>
            </a:solidFill>
            <a:prstDash val="solid"/>
          </a:ln>
        </p:spPr>
        <p:txBody>
          <a:bodyPr lIns="0" tIns="0" rIns="0" bIns="0" anchor="ctr">
            <a:normAutofit/>
          </a:bodyPr>
          <a:lstStyle/>
          <a:p>
            <a:pPr algn="ctr">
              <a:buNone/>
              <a:defRPr sz="1350">
                <a:solidFill>
                  <a:srgbClr val="93948F"/>
                </a:solidFill>
                <a:latin typeface="Arial"/>
                <a:ea typeface="Arial"/>
                <a:cs typeface="Arial"/>
              </a:defRPr>
            </a:pPr>
            <a:r>
              <a:rPr sz="1350">
                <a:solidFill>
                  <a:srgbClr val="93948F"/>
                </a:solidFill>
                <a:latin typeface="Arial"/>
                <a:ea typeface="Arial"/>
                <a:cs typeface="Arial"/>
              </a:rPr>
              <a:t>55.8–95.8</a:t>
            </a:r>
          </a:p>
        </p:txBody>
      </p:sp>
      <p:sp>
        <p:nvSpPr>
          <p:cNvPr id="30" name="scenario-midpoint-0">
            <a:extLst>
              <a:ext uri="{FF2B5EF4-FFF2-40B4-BE49-F238E27FC236}">
                <a16:creationId xmlns:a16="http://schemas.microsoft.com/office/drawing/2014/main" id="{BE6CB745-921F-409F-98AE-B27050184E55}"/>
              </a:ext>
            </a:extLst>
          </p:cNvPr>
          <p:cNvSpPr>
            <a:spLocks noGrp="1"/>
          </p:cNvSpPr>
          <p:nvPr/>
        </p:nvSpPr>
        <p:spPr>
          <a:xfrm>
            <a:off x="10820400" y="2419350"/>
            <a:ext cx="685800" cy="457200"/>
          </a:xfrm>
          <a:prstGeom prst="rect">
            <a:avLst/>
          </a:prstGeom>
          <a:noFill/>
          <a:ln w="0">
            <a:solidFill>
              <a:srgbClr val="FFFCF5"/>
            </a:solidFill>
            <a:prstDash val="solid"/>
          </a:ln>
        </p:spPr>
        <p:txBody>
          <a:bodyPr lIns="0" tIns="0" rIns="0" bIns="0" anchor="ctr">
            <a:normAutofit/>
          </a:bodyPr>
          <a:lstStyle/>
          <a:p>
            <a:pPr algn="r">
              <a:buNone/>
              <a:defRPr sz="1800">
                <a:solidFill>
                  <a:srgbClr val="5537D6"/>
                </a:solidFill>
                <a:latin typeface="Arial"/>
                <a:ea typeface="Arial"/>
                <a:cs typeface="Arial"/>
              </a:defRPr>
            </a:pPr>
            <a:r>
              <a:rPr sz="1800">
                <a:solidFill>
                  <a:srgbClr val="5537D6"/>
                </a:solidFill>
                <a:latin typeface="Arial"/>
                <a:ea typeface="Arial"/>
                <a:cs typeface="Arial"/>
              </a:rPr>
              <a:t>75.8</a:t>
            </a:r>
          </a:p>
        </p:txBody>
      </p:sp>
      <p:sp>
        <p:nvSpPr>
          <p:cNvPr id="31" name="scenario-range-1">
            <a:extLst>
              <a:ext uri="{FF2B5EF4-FFF2-40B4-BE49-F238E27FC236}">
                <a16:creationId xmlns:a16="http://schemas.microsoft.com/office/drawing/2014/main" id="{0BAD96F1-9E88-4126-BBF2-BA8B12883B75}"/>
              </a:ext>
            </a:extLst>
          </p:cNvPr>
          <p:cNvSpPr>
            <a:spLocks noGrp="1"/>
          </p:cNvSpPr>
          <p:nvPr/>
        </p:nvSpPr>
        <p:spPr>
          <a:xfrm>
            <a:off x="9525000" y="3419475"/>
            <a:ext cx="1257300" cy="457200"/>
          </a:xfrm>
          <a:prstGeom prst="rect">
            <a:avLst/>
          </a:prstGeom>
          <a:noFill/>
          <a:ln w="0">
            <a:solidFill>
              <a:srgbClr val="FFFCF5"/>
            </a:solidFill>
            <a:prstDash val="solid"/>
          </a:ln>
        </p:spPr>
        <p:txBody>
          <a:bodyPr lIns="0" tIns="0" rIns="0" bIns="0" anchor="ctr">
            <a:normAutofit/>
          </a:bodyPr>
          <a:lstStyle/>
          <a:p>
            <a:pPr algn="ctr">
              <a:buNone/>
              <a:defRPr sz="1350">
                <a:solidFill>
                  <a:srgbClr val="93948F"/>
                </a:solidFill>
                <a:latin typeface="Arial"/>
                <a:ea typeface="Arial"/>
                <a:cs typeface="Arial"/>
              </a:defRPr>
            </a:pPr>
            <a:r>
              <a:rPr sz="1350">
                <a:solidFill>
                  <a:srgbClr val="93948F"/>
                </a:solidFill>
                <a:latin typeface="Arial"/>
                <a:ea typeface="Arial"/>
                <a:cs typeface="Arial"/>
              </a:rPr>
              <a:t>51.3–91.3</a:t>
            </a:r>
          </a:p>
        </p:txBody>
      </p:sp>
      <p:sp>
        <p:nvSpPr>
          <p:cNvPr id="32" name="scenario-midpoint-1">
            <a:extLst>
              <a:ext uri="{FF2B5EF4-FFF2-40B4-BE49-F238E27FC236}">
                <a16:creationId xmlns:a16="http://schemas.microsoft.com/office/drawing/2014/main" id="{DA786984-F74E-4414-AA0D-E5438B7E034F}"/>
              </a:ext>
            </a:extLst>
          </p:cNvPr>
          <p:cNvSpPr>
            <a:spLocks noGrp="1"/>
          </p:cNvSpPr>
          <p:nvPr/>
        </p:nvSpPr>
        <p:spPr>
          <a:xfrm>
            <a:off x="10820400" y="3419475"/>
            <a:ext cx="685800" cy="457200"/>
          </a:xfrm>
          <a:prstGeom prst="rect">
            <a:avLst/>
          </a:prstGeom>
          <a:noFill/>
          <a:ln w="0">
            <a:solidFill>
              <a:srgbClr val="FFFCF5"/>
            </a:solidFill>
            <a:prstDash val="solid"/>
          </a:ln>
        </p:spPr>
        <p:txBody>
          <a:bodyPr lIns="0" tIns="0" rIns="0" bIns="0" anchor="ctr">
            <a:normAutofit/>
          </a:bodyPr>
          <a:lstStyle/>
          <a:p>
            <a:pPr algn="r">
              <a:buNone/>
              <a:defRPr sz="1800">
                <a:solidFill>
                  <a:srgbClr val="5537D6"/>
                </a:solidFill>
                <a:latin typeface="Arial"/>
                <a:ea typeface="Arial"/>
                <a:cs typeface="Arial"/>
              </a:defRPr>
            </a:pPr>
            <a:r>
              <a:rPr sz="1800">
                <a:solidFill>
                  <a:srgbClr val="5537D6"/>
                </a:solidFill>
                <a:latin typeface="Arial"/>
                <a:ea typeface="Arial"/>
                <a:cs typeface="Arial"/>
              </a:rPr>
              <a:t>71.3</a:t>
            </a:r>
          </a:p>
        </p:txBody>
      </p:sp>
      <p:sp>
        <p:nvSpPr>
          <p:cNvPr id="33" name="scenario-range-2">
            <a:extLst>
              <a:ext uri="{FF2B5EF4-FFF2-40B4-BE49-F238E27FC236}">
                <a16:creationId xmlns:a16="http://schemas.microsoft.com/office/drawing/2014/main" id="{C5F24B97-5C1F-4542-9381-71A1F0B14D5A}"/>
              </a:ext>
            </a:extLst>
          </p:cNvPr>
          <p:cNvSpPr>
            <a:spLocks noGrp="1"/>
          </p:cNvSpPr>
          <p:nvPr/>
        </p:nvSpPr>
        <p:spPr>
          <a:xfrm>
            <a:off x="9525000" y="4419600"/>
            <a:ext cx="1257300" cy="457200"/>
          </a:xfrm>
          <a:prstGeom prst="rect">
            <a:avLst/>
          </a:prstGeom>
          <a:noFill/>
          <a:ln w="0">
            <a:solidFill>
              <a:srgbClr val="FFFCF5"/>
            </a:solidFill>
            <a:prstDash val="solid"/>
          </a:ln>
        </p:spPr>
        <p:txBody>
          <a:bodyPr lIns="0" tIns="0" rIns="0" bIns="0" anchor="ctr">
            <a:normAutofit/>
          </a:bodyPr>
          <a:lstStyle/>
          <a:p>
            <a:pPr algn="ctr">
              <a:buNone/>
              <a:defRPr sz="1350">
                <a:solidFill>
                  <a:srgbClr val="93948F"/>
                </a:solidFill>
                <a:latin typeface="Arial"/>
                <a:ea typeface="Arial"/>
                <a:cs typeface="Arial"/>
              </a:defRPr>
            </a:pPr>
            <a:r>
              <a:rPr sz="1350">
                <a:solidFill>
                  <a:srgbClr val="93948F"/>
                </a:solidFill>
                <a:latin typeface="Arial"/>
                <a:ea typeface="Arial"/>
                <a:cs typeface="Arial"/>
              </a:rPr>
              <a:t>46.2–86.2</a:t>
            </a:r>
          </a:p>
        </p:txBody>
      </p:sp>
      <p:sp>
        <p:nvSpPr>
          <p:cNvPr id="34" name="scenario-midpoint-2">
            <a:extLst>
              <a:ext uri="{FF2B5EF4-FFF2-40B4-BE49-F238E27FC236}">
                <a16:creationId xmlns:a16="http://schemas.microsoft.com/office/drawing/2014/main" id="{9136AE07-EE64-42D0-8DD3-8EAFC2A6A9C5}"/>
              </a:ext>
            </a:extLst>
          </p:cNvPr>
          <p:cNvSpPr>
            <a:spLocks noGrp="1"/>
          </p:cNvSpPr>
          <p:nvPr/>
        </p:nvSpPr>
        <p:spPr>
          <a:xfrm>
            <a:off x="10820400" y="4419600"/>
            <a:ext cx="685800" cy="457200"/>
          </a:xfrm>
          <a:prstGeom prst="rect">
            <a:avLst/>
          </a:prstGeom>
          <a:noFill/>
          <a:ln w="0">
            <a:solidFill>
              <a:srgbClr val="FFFCF5"/>
            </a:solidFill>
            <a:prstDash val="solid"/>
          </a:ln>
        </p:spPr>
        <p:txBody>
          <a:bodyPr lIns="0" tIns="0" rIns="0" bIns="0" anchor="ctr">
            <a:normAutofit/>
          </a:bodyPr>
          <a:lstStyle/>
          <a:p>
            <a:pPr algn="r">
              <a:buNone/>
              <a:defRPr sz="1800">
                <a:solidFill>
                  <a:srgbClr val="5537D6"/>
                </a:solidFill>
                <a:latin typeface="Arial"/>
                <a:ea typeface="Arial"/>
                <a:cs typeface="Arial"/>
              </a:defRPr>
            </a:pPr>
            <a:r>
              <a:rPr sz="1800">
                <a:solidFill>
                  <a:srgbClr val="5537D6"/>
                </a:solidFill>
                <a:latin typeface="Arial"/>
                <a:ea typeface="Arial"/>
                <a:cs typeface="Arial"/>
              </a:rPr>
              <a:t>66.2</a:t>
            </a:r>
          </a:p>
        </p:txBody>
      </p:sp>
    </p:spTree>
    <p:extLst>
      <p:ext uri="{BB962C8B-B14F-4D97-AF65-F5344CB8AC3E}">
        <p14:creationId xmlns:p14="http://schemas.microsoft.com/office/powerpoint/2010/main" val="3636334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6D6B6392-9D1F-4E83-ADE4-91E7CDCFD8C6}"/>
              </a:ext>
            </a:extLst>
          </p:cNvPr>
          <p:cNvSpPr>
            <a:spLocks noGrp="1"/>
          </p:cNvSpPr>
          <p:nvPr/>
        </p:nvSpPr>
        <p:spPr>
          <a:xfrm>
            <a:off x="0" y="0"/>
            <a:ext cx="12192000" cy="266700"/>
          </a:xfrm>
          <a:prstGeom prst="rect">
            <a:avLst/>
          </a:prstGeom>
          <a:solidFill>
            <a:srgbClr val="FFC72C"/>
          </a:solidFill>
          <a:ln w="0">
            <a:noFill/>
            <a:prstDash val="solid"/>
          </a:ln>
        </p:spPr>
        <p:txBody>
          <a:bodyPr/>
          <a:lstStyle/>
          <a:p>
            <a:endParaRPr lang="en-US"/>
          </a:p>
        </p:txBody>
      </p:sp>
      <p:sp>
        <p:nvSpPr>
          <p:cNvPr id="2" name="Rectangle 1">
            <a:extLst>
              <a:ext uri="{FF2B5EF4-FFF2-40B4-BE49-F238E27FC236}">
                <a16:creationId xmlns:a16="http://schemas.microsoft.com/office/drawing/2014/main" id="{55A480CE-5E65-40DC-806E-85A1595D2AA7}"/>
              </a:ext>
            </a:extLst>
          </p:cNvPr>
          <p:cNvSpPr>
            <a:spLocks noGrp="1"/>
          </p:cNvSpPr>
          <p:nvPr/>
        </p:nvSpPr>
        <p:spPr>
          <a:xfrm>
            <a:off x="10668000" y="0"/>
            <a:ext cx="1524000" cy="266700"/>
          </a:xfrm>
          <a:prstGeom prst="rect">
            <a:avLst/>
          </a:prstGeom>
          <a:solidFill>
            <a:srgbClr val="5537D6"/>
          </a:solidFill>
          <a:ln w="0">
            <a:noFill/>
            <a:prstDash val="solid"/>
          </a:ln>
        </p:spPr>
        <p:txBody>
          <a:bodyPr/>
          <a:lstStyle/>
          <a:p>
            <a:endParaRPr lang="en-US"/>
          </a:p>
        </p:txBody>
      </p:sp>
      <p:sp>
        <p:nvSpPr>
          <p:cNvPr id="3" name="Rectangle 2">
            <a:extLst>
              <a:ext uri="{FF2B5EF4-FFF2-40B4-BE49-F238E27FC236}">
                <a16:creationId xmlns:a16="http://schemas.microsoft.com/office/drawing/2014/main" id="{B6687843-835C-4444-AC53-55EF6A197A1F}"/>
              </a:ext>
            </a:extLst>
          </p:cNvPr>
          <p:cNvSpPr>
            <a:spLocks noGrp="1"/>
          </p:cNvSpPr>
          <p:nvPr/>
        </p:nvSpPr>
        <p:spPr>
          <a:xfrm>
            <a:off x="609600" y="38100"/>
            <a:ext cx="3429000" cy="190500"/>
          </a:xfrm>
          <a:prstGeom prst="rect">
            <a:avLst/>
          </a:prstGeom>
          <a:noFill/>
          <a:ln w="0">
            <a:noFill/>
            <a:prstDash val="solid"/>
          </a:ln>
        </p:spPr>
        <p:txBody>
          <a:bodyPr wrap="square" lIns="0" tIns="0" rIns="0" bIns="0" anchor="t">
            <a:normAutofit/>
          </a:bodyPr>
          <a:lstStyle/>
          <a:p>
            <a:pPr algn="l">
              <a:buNone/>
              <a:defRPr sz="975" b="1" i="0">
                <a:solidFill>
                  <a:srgbClr val="111111"/>
                </a:solidFill>
                <a:latin typeface="Consolas"/>
                <a:ea typeface="Consolas"/>
                <a:cs typeface="Consolas"/>
              </a:defRPr>
            </a:pPr>
            <a:r>
              <a:rPr sz="975" b="1" i="0">
                <a:solidFill>
                  <a:srgbClr val="111111"/>
                </a:solidFill>
                <a:latin typeface="Consolas"/>
                <a:ea typeface="Consolas"/>
                <a:cs typeface="Consolas"/>
              </a:rPr>
              <a:t>06 / DECISION</a:t>
            </a:r>
          </a:p>
        </p:txBody>
      </p:sp>
      <p:sp>
        <p:nvSpPr>
          <p:cNvPr id="4" name="Rectangle 3">
            <a:extLst>
              <a:ext uri="{FF2B5EF4-FFF2-40B4-BE49-F238E27FC236}">
                <a16:creationId xmlns:a16="http://schemas.microsoft.com/office/drawing/2014/main" id="{98B3C968-0070-417C-8DBC-E58B4349444C}"/>
              </a:ext>
            </a:extLst>
          </p:cNvPr>
          <p:cNvSpPr>
            <a:spLocks noGrp="1"/>
          </p:cNvSpPr>
          <p:nvPr/>
        </p:nvSpPr>
        <p:spPr>
          <a:xfrm>
            <a:off x="609600" y="428625"/>
            <a:ext cx="10572750" cy="1028700"/>
          </a:xfrm>
          <a:prstGeom prst="rect">
            <a:avLst/>
          </a:prstGeom>
          <a:noFill/>
          <a:ln w="0">
            <a:noFill/>
            <a:prstDash val="solid"/>
          </a:ln>
        </p:spPr>
        <p:txBody>
          <a:bodyPr wrap="square" lIns="0" tIns="0" rIns="0" bIns="0" anchor="t">
            <a:noAutofit/>
          </a:bodyPr>
          <a:lstStyle/>
          <a:p>
            <a:pPr algn="l">
              <a:buNone/>
              <a:defRPr sz="3300" b="1" i="0">
                <a:solidFill>
                  <a:srgbClr val="111111"/>
                </a:solidFill>
                <a:latin typeface="Arial"/>
                <a:ea typeface="Arial"/>
                <a:cs typeface="Arial"/>
              </a:defRPr>
            </a:pPr>
            <a:r>
              <a:rPr sz="3300" b="1" i="0">
                <a:solidFill>
                  <a:srgbClr val="111111"/>
                </a:solidFill>
                <a:latin typeface="Arial"/>
                <a:ea typeface="Arial"/>
                <a:cs typeface="Arial"/>
              </a:rPr>
              <a:t>Proceed with a bounded, reversible Kong foundation</a:t>
            </a:r>
          </a:p>
        </p:txBody>
      </p:sp>
      <p:sp>
        <p:nvSpPr>
          <p:cNvPr id="5" name="Rectangle 4">
            <a:extLst>
              <a:ext uri="{FF2B5EF4-FFF2-40B4-BE49-F238E27FC236}">
                <a16:creationId xmlns:a16="http://schemas.microsoft.com/office/drawing/2014/main" id="{C9D40B18-DA3A-46E9-B12E-E225774E3B79}"/>
              </a:ext>
            </a:extLst>
          </p:cNvPr>
          <p:cNvSpPr>
            <a:spLocks noGrp="1"/>
          </p:cNvSpPr>
          <p:nvPr/>
        </p:nvSpPr>
        <p:spPr>
          <a:xfrm>
            <a:off x="628650" y="1514475"/>
            <a:ext cx="10382250" cy="323850"/>
          </a:xfrm>
          <a:prstGeom prst="rect">
            <a:avLst/>
          </a:prstGeom>
          <a:noFill/>
          <a:ln w="0">
            <a:noFill/>
            <a:prstDash val="solid"/>
          </a:ln>
        </p:spPr>
        <p:txBody>
          <a:bodyPr wrap="square" lIns="0" tIns="0" rIns="0" bIns="0" anchor="t">
            <a:noAutofit/>
          </a:bodyPr>
          <a:lstStyle/>
          <a:p>
            <a:pPr algn="l">
              <a:buNone/>
              <a:defRPr sz="1575" b="0" i="0">
                <a:solidFill>
                  <a:srgbClr val="686A66"/>
                </a:solidFill>
                <a:latin typeface="Arial"/>
                <a:ea typeface="Arial"/>
                <a:cs typeface="Arial"/>
              </a:defRPr>
            </a:pPr>
            <a:r>
              <a:rPr sz="1575" b="0" i="0">
                <a:solidFill>
                  <a:srgbClr val="686A66"/>
                </a:solidFill>
                <a:latin typeface="Arial"/>
                <a:ea typeface="Arial"/>
                <a:cs typeface="Arial"/>
              </a:rPr>
              <a:t>Stakeholder-selected direction; production fit and critical scale remain evidence-conditional.</a:t>
            </a:r>
          </a:p>
        </p:txBody>
      </p:sp>
      <p:sp>
        <p:nvSpPr>
          <p:cNvPr id="6" name="Rectangle 5">
            <a:extLst>
              <a:ext uri="{FF2B5EF4-FFF2-40B4-BE49-F238E27FC236}">
                <a16:creationId xmlns:a16="http://schemas.microsoft.com/office/drawing/2014/main" id="{EEFA958D-F4C1-46C9-9198-71BDBC1772BE}"/>
              </a:ext>
            </a:extLst>
          </p:cNvPr>
          <p:cNvSpPr>
            <a:spLocks noGrp="1"/>
          </p:cNvSpPr>
          <p:nvPr/>
        </p:nvSpPr>
        <p:spPr>
          <a:xfrm>
            <a:off x="609600" y="1905000"/>
            <a:ext cx="10972800" cy="9525"/>
          </a:xfrm>
          <a:prstGeom prst="rect">
            <a:avLst/>
          </a:prstGeom>
          <a:solidFill>
            <a:srgbClr val="8A8B86"/>
          </a:solidFill>
          <a:ln w="0">
            <a:noFill/>
            <a:prstDash val="solid"/>
          </a:ln>
        </p:spPr>
        <p:txBody>
          <a:bodyPr/>
          <a:lstStyle/>
          <a:p>
            <a:endParaRPr lang="en-US"/>
          </a:p>
        </p:txBody>
      </p:sp>
      <p:sp>
        <p:nvSpPr>
          <p:cNvPr id="7" name="Rectangle 6">
            <a:extLst>
              <a:ext uri="{FF2B5EF4-FFF2-40B4-BE49-F238E27FC236}">
                <a16:creationId xmlns:a16="http://schemas.microsoft.com/office/drawing/2014/main" id="{3BE7271C-4B1E-405C-8A4C-35279D1C9A7A}"/>
              </a:ext>
            </a:extLst>
          </p:cNvPr>
          <p:cNvSpPr>
            <a:spLocks noGrp="1"/>
          </p:cNvSpPr>
          <p:nvPr/>
        </p:nvSpPr>
        <p:spPr>
          <a:xfrm>
            <a:off x="609600" y="6524625"/>
            <a:ext cx="8858250" cy="180975"/>
          </a:xfrm>
          <a:prstGeom prst="rect">
            <a:avLst/>
          </a:prstGeom>
          <a:noFill/>
          <a:ln w="0">
            <a:noFill/>
            <a:prstDash val="solid"/>
          </a:ln>
        </p:spPr>
        <p:txBody>
          <a:bodyPr wrap="square" lIns="0" tIns="0" rIns="0" bIns="0" anchor="ctr">
            <a:normAutofit/>
          </a:bodyPr>
          <a:lstStyle/>
          <a:p>
            <a:pPr>
              <a:buNone/>
              <a:defRPr sz="825">
                <a:solidFill>
                  <a:srgbClr val="666762"/>
                </a:solidFill>
              </a:defRPr>
            </a:pPr>
            <a:r>
              <a:rPr sz="825" b="1">
                <a:solidFill>
                  <a:srgbClr val="666762"/>
                </a:solidFill>
              </a:rPr>
              <a:t>REFERENCES  </a:t>
            </a:r>
            <a:r>
              <a:rPr sz="825" u="sng">
                <a:solidFill>
                  <a:srgbClr val="666762"/>
                </a:solidFill>
                <a:hlinkClick r:id="rId3"/>
              </a:rPr>
              <a:t>Repo reference</a:t>
            </a:r>
            <a:r>
              <a:rPr sz="825">
                <a:solidFill>
                  <a:srgbClr val="666762"/>
                </a:solidFill>
              </a:rPr>
              <a:t>  ·  </a:t>
            </a:r>
            <a:r>
              <a:rPr sz="825" u="sng">
                <a:solidFill>
                  <a:srgbClr val="666762"/>
                </a:solidFill>
                <a:hlinkClick r:id="rId4"/>
              </a:rPr>
              <a:t>Official docs</a:t>
            </a:r>
          </a:p>
        </p:txBody>
      </p:sp>
      <p:sp>
        <p:nvSpPr>
          <p:cNvPr id="8" name="Rectangle 7">
            <a:extLst>
              <a:ext uri="{FF2B5EF4-FFF2-40B4-BE49-F238E27FC236}">
                <a16:creationId xmlns:a16="http://schemas.microsoft.com/office/drawing/2014/main" id="{E021E270-3784-479F-8501-7B67691A4CF6}"/>
              </a:ext>
            </a:extLst>
          </p:cNvPr>
          <p:cNvSpPr>
            <a:spLocks noGrp="1"/>
          </p:cNvSpPr>
          <p:nvPr/>
        </p:nvSpPr>
        <p:spPr>
          <a:xfrm>
            <a:off x="10287000" y="6486525"/>
            <a:ext cx="1295400" cy="209550"/>
          </a:xfrm>
          <a:prstGeom prst="rect">
            <a:avLst/>
          </a:prstGeom>
          <a:noFill/>
          <a:ln w="0">
            <a:noFill/>
            <a:prstDash val="solid"/>
          </a:ln>
        </p:spPr>
        <p:txBody>
          <a:bodyPr wrap="square" lIns="0" tIns="0" rIns="0" bIns="0" anchor="t">
            <a:normAutofit/>
          </a:bodyPr>
          <a:lstStyle/>
          <a:p>
            <a:pPr algn="r">
              <a:buNone/>
              <a:defRPr sz="975" b="1" i="0">
                <a:solidFill>
                  <a:srgbClr val="686A66"/>
                </a:solidFill>
                <a:latin typeface="Consolas"/>
                <a:ea typeface="Consolas"/>
                <a:cs typeface="Consolas"/>
              </a:defRPr>
            </a:pPr>
            <a:r>
              <a:rPr sz="975" b="1" i="0">
                <a:solidFill>
                  <a:srgbClr val="686A66"/>
                </a:solidFill>
                <a:latin typeface="Consolas"/>
                <a:ea typeface="Consolas"/>
                <a:cs typeface="Consolas"/>
              </a:rPr>
              <a:t>06 / 25</a:t>
            </a:r>
          </a:p>
        </p:txBody>
      </p:sp>
      <p:sp>
        <p:nvSpPr>
          <p:cNvPr id="9" name="Rectangle 8">
            <a:extLst>
              <a:ext uri="{FF2B5EF4-FFF2-40B4-BE49-F238E27FC236}">
                <a16:creationId xmlns:a16="http://schemas.microsoft.com/office/drawing/2014/main" id="{32E98DC8-F738-433D-9BD4-E0D53A8DB6D7}"/>
              </a:ext>
            </a:extLst>
          </p:cNvPr>
          <p:cNvSpPr>
            <a:spLocks noGrp="1"/>
          </p:cNvSpPr>
          <p:nvPr/>
        </p:nvSpPr>
        <p:spPr>
          <a:xfrm>
            <a:off x="628650" y="2247900"/>
            <a:ext cx="5219700" cy="3200400"/>
          </a:xfrm>
          <a:prstGeom prst="rect">
            <a:avLst/>
          </a:prstGeom>
          <a:solidFill>
            <a:srgbClr val="FFFFFF"/>
          </a:solidFill>
          <a:ln w="9525">
            <a:solidFill>
              <a:srgbClr val="8A8B86"/>
            </a:solidFill>
            <a:prstDash val="solid"/>
          </a:ln>
        </p:spPr>
        <p:txBody>
          <a:bodyPr/>
          <a:lstStyle/>
          <a:p>
            <a:endParaRPr lang="en-US"/>
          </a:p>
        </p:txBody>
      </p:sp>
      <p:sp>
        <p:nvSpPr>
          <p:cNvPr id="10" name="Rectangle 9">
            <a:extLst>
              <a:ext uri="{FF2B5EF4-FFF2-40B4-BE49-F238E27FC236}">
                <a16:creationId xmlns:a16="http://schemas.microsoft.com/office/drawing/2014/main" id="{9834B0A6-983C-4780-80A9-EFD0D0822254}"/>
              </a:ext>
            </a:extLst>
          </p:cNvPr>
          <p:cNvSpPr>
            <a:spLocks noGrp="1"/>
          </p:cNvSpPr>
          <p:nvPr/>
        </p:nvSpPr>
        <p:spPr>
          <a:xfrm>
            <a:off x="628650" y="2247900"/>
            <a:ext cx="66675" cy="3200400"/>
          </a:xfrm>
          <a:prstGeom prst="rect">
            <a:avLst/>
          </a:prstGeom>
          <a:solidFill>
            <a:srgbClr val="197457"/>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2E1C5455-EB9B-403D-A787-EF3790DB1FE1}"/>
              </a:ext>
            </a:extLst>
          </p:cNvPr>
          <p:cNvSpPr>
            <a:spLocks noGrp="1"/>
          </p:cNvSpPr>
          <p:nvPr/>
        </p:nvSpPr>
        <p:spPr>
          <a:xfrm>
            <a:off x="838200" y="2419350"/>
            <a:ext cx="4800600" cy="228600"/>
          </a:xfrm>
          <a:prstGeom prst="rect">
            <a:avLst/>
          </a:prstGeom>
          <a:noFill/>
          <a:ln w="0">
            <a:noFill/>
            <a:prstDash val="solid"/>
          </a:ln>
        </p:spPr>
        <p:txBody>
          <a:bodyPr wrap="square" lIns="0" tIns="0" rIns="0" bIns="0" anchor="t">
            <a:normAutofit/>
          </a:bodyPr>
          <a:lstStyle/>
          <a:p>
            <a:pPr algn="l">
              <a:buNone/>
              <a:defRPr sz="1050" b="1" i="0">
                <a:solidFill>
                  <a:srgbClr val="197457"/>
                </a:solidFill>
                <a:latin typeface="Consolas"/>
                <a:ea typeface="Consolas"/>
                <a:cs typeface="Consolas"/>
              </a:defRPr>
            </a:pPr>
            <a:r>
              <a:rPr sz="1050" b="1" i="0">
                <a:solidFill>
                  <a:srgbClr val="197457"/>
                </a:solidFill>
                <a:latin typeface="Consolas"/>
                <a:ea typeface="Consolas"/>
                <a:cs typeface="Consolas"/>
              </a:rPr>
              <a:t>AUTHORIZE NOW</a:t>
            </a:r>
          </a:p>
        </p:txBody>
      </p:sp>
      <p:sp>
        <p:nvSpPr>
          <p:cNvPr id="12" name="Rectangle 11">
            <a:extLst>
              <a:ext uri="{FF2B5EF4-FFF2-40B4-BE49-F238E27FC236}">
                <a16:creationId xmlns:a16="http://schemas.microsoft.com/office/drawing/2014/main" id="{F1197408-D712-4183-8312-87B9D8904CE5}"/>
              </a:ext>
            </a:extLst>
          </p:cNvPr>
          <p:cNvSpPr>
            <a:spLocks noGrp="1"/>
          </p:cNvSpPr>
          <p:nvPr/>
        </p:nvSpPr>
        <p:spPr>
          <a:xfrm>
            <a:off x="838200" y="2724150"/>
            <a:ext cx="4800600" cy="685800"/>
          </a:xfrm>
          <a:prstGeom prst="rect">
            <a:avLst/>
          </a:prstGeom>
          <a:noFill/>
          <a:ln w="0">
            <a:noFill/>
            <a:prstDash val="solid"/>
          </a:ln>
        </p:spPr>
        <p:txBody>
          <a:bodyPr wrap="square" lIns="0" tIns="0" rIns="0" bIns="0" anchor="t">
            <a:normAutofit/>
          </a:bodyPr>
          <a:lstStyle/>
          <a:p>
            <a:pPr algn="l">
              <a:buNone/>
              <a:defRPr sz="2550" b="0" i="0">
                <a:solidFill>
                  <a:srgbClr val="111111"/>
                </a:solidFill>
                <a:latin typeface="Georgia"/>
                <a:ea typeface="Georgia"/>
                <a:cs typeface="Georgia"/>
              </a:defRPr>
            </a:pPr>
            <a:r>
              <a:rPr sz="2550" b="0" i="0">
                <a:solidFill>
                  <a:srgbClr val="111111"/>
                </a:solidFill>
                <a:latin typeface="Georgia"/>
                <a:ea typeface="Georgia"/>
                <a:cs typeface="Georgia"/>
              </a:rPr>
              <a:t>Foundation + proof</a:t>
            </a:r>
          </a:p>
        </p:txBody>
      </p:sp>
      <p:sp>
        <p:nvSpPr>
          <p:cNvPr id="13" name="Rectangle 12">
            <a:extLst>
              <a:ext uri="{FF2B5EF4-FFF2-40B4-BE49-F238E27FC236}">
                <a16:creationId xmlns:a16="http://schemas.microsoft.com/office/drawing/2014/main" id="{6131C532-4FDD-418F-8ECD-3B37C9BA6CDF}"/>
              </a:ext>
            </a:extLst>
          </p:cNvPr>
          <p:cNvSpPr>
            <a:spLocks noGrp="1"/>
          </p:cNvSpPr>
          <p:nvPr/>
        </p:nvSpPr>
        <p:spPr>
          <a:xfrm>
            <a:off x="838200" y="3429000"/>
            <a:ext cx="4800600" cy="1847850"/>
          </a:xfrm>
          <a:prstGeom prst="rect">
            <a:avLst/>
          </a:prstGeom>
          <a:noFill/>
          <a:ln w="0">
            <a:noFill/>
            <a:prstDash val="solid"/>
          </a:ln>
        </p:spPr>
        <p:txBody>
          <a:bodyPr wrap="square" lIns="0" tIns="0" rIns="0" bIns="0" anchor="t">
            <a:normAutofit/>
          </a:bodyPr>
          <a:lstStyle/>
          <a:p>
            <a:pPr algn="l">
              <a:buNone/>
              <a:defRPr sz="1575" b="0" i="0">
                <a:solidFill>
                  <a:srgbClr val="686A66"/>
                </a:solidFill>
                <a:latin typeface="Arial"/>
                <a:ea typeface="Arial"/>
                <a:cs typeface="Arial"/>
              </a:defRPr>
            </a:pPr>
            <a:r>
              <a:rPr sz="1575" b="0" i="0">
                <a:solidFill>
                  <a:srgbClr val="686A66"/>
                </a:solidFill>
                <a:latin typeface="Arial"/>
                <a:ea typeface="Arial"/>
                <a:cs typeface="Arial"/>
              </a:rPr>
              <a:t>• Fix the operating boundary and owners</a:t>
            </a:r>
          </a:p>
          <a:p>
            <a:pPr algn="l">
              <a:buNone/>
              <a:defRPr sz="1575" b="0" i="0">
                <a:solidFill>
                  <a:srgbClr val="686A66"/>
                </a:solidFill>
                <a:latin typeface="Arial"/>
                <a:ea typeface="Arial"/>
                <a:cs typeface="Arial"/>
              </a:defRPr>
            </a:pPr>
            <a:r>
              <a:rPr sz="1575" b="0" i="0">
                <a:solidFill>
                  <a:srgbClr val="686A66"/>
                </a:solidFill>
                <a:latin typeface="Arial"/>
                <a:ea typeface="Arial"/>
                <a:cs typeface="Arial"/>
              </a:rPr>
              <a:t>• Build one reversible self-managed-hybrid foundation</a:t>
            </a:r>
          </a:p>
          <a:p>
            <a:pPr algn="l">
              <a:buNone/>
              <a:defRPr sz="1575" b="0" i="0">
                <a:solidFill>
                  <a:srgbClr val="686A66"/>
                </a:solidFill>
                <a:latin typeface="Arial"/>
                <a:ea typeface="Arial"/>
                <a:cs typeface="Arial"/>
              </a:defRPr>
            </a:pPr>
            <a:r>
              <a:rPr sz="1575" b="0" i="0">
                <a:solidFill>
                  <a:srgbClr val="686A66"/>
                </a:solidFill>
                <a:latin typeface="Arial"/>
                <a:ea typeface="Arial"/>
                <a:cs typeface="Arial"/>
              </a:rPr>
              <a:t>• Run representative E2/E3/E4 evidence</a:t>
            </a:r>
          </a:p>
          <a:p>
            <a:pPr algn="l">
              <a:buNone/>
              <a:defRPr sz="1575" b="0" i="0">
                <a:solidFill>
                  <a:srgbClr val="686A66"/>
                </a:solidFill>
                <a:latin typeface="Arial"/>
                <a:ea typeface="Arial"/>
                <a:cs typeface="Arial"/>
              </a:defRPr>
            </a:pPr>
            <a:r>
              <a:rPr sz="1575" b="0" i="0">
                <a:solidFill>
                  <a:srgbClr val="686A66"/>
                </a:solidFill>
                <a:latin typeface="Arial"/>
                <a:ea typeface="Arial"/>
                <a:cs typeface="Arial"/>
              </a:rPr>
              <a:t>• Benchmark Konnect custody and preserve non-Kong exit</a:t>
            </a:r>
          </a:p>
        </p:txBody>
      </p:sp>
      <p:sp>
        <p:nvSpPr>
          <p:cNvPr id="14" name="Rectangle 13">
            <a:extLst>
              <a:ext uri="{FF2B5EF4-FFF2-40B4-BE49-F238E27FC236}">
                <a16:creationId xmlns:a16="http://schemas.microsoft.com/office/drawing/2014/main" id="{A5DF6EF7-8996-4EA1-BE74-C0FF9D38732A}"/>
              </a:ext>
            </a:extLst>
          </p:cNvPr>
          <p:cNvSpPr>
            <a:spLocks noGrp="1"/>
          </p:cNvSpPr>
          <p:nvPr/>
        </p:nvSpPr>
        <p:spPr>
          <a:xfrm>
            <a:off x="6343650" y="2247900"/>
            <a:ext cx="5219700" cy="3200400"/>
          </a:xfrm>
          <a:prstGeom prst="rect">
            <a:avLst/>
          </a:prstGeom>
          <a:solidFill>
            <a:srgbClr val="FFFFFF"/>
          </a:solidFill>
          <a:ln w="9525">
            <a:solidFill>
              <a:srgbClr val="8A8B86"/>
            </a:solidFill>
            <a:prstDash val="solid"/>
          </a:ln>
        </p:spPr>
        <p:txBody>
          <a:bodyPr/>
          <a:lstStyle/>
          <a:p>
            <a:endParaRPr lang="en-US"/>
          </a:p>
        </p:txBody>
      </p:sp>
      <p:sp>
        <p:nvSpPr>
          <p:cNvPr id="15" name="Rectangle 14">
            <a:extLst>
              <a:ext uri="{FF2B5EF4-FFF2-40B4-BE49-F238E27FC236}">
                <a16:creationId xmlns:a16="http://schemas.microsoft.com/office/drawing/2014/main" id="{1295AA61-48E1-4A8B-8AB7-DEF2D27D7EF3}"/>
              </a:ext>
            </a:extLst>
          </p:cNvPr>
          <p:cNvSpPr>
            <a:spLocks noGrp="1"/>
          </p:cNvSpPr>
          <p:nvPr/>
        </p:nvSpPr>
        <p:spPr>
          <a:xfrm>
            <a:off x="6343650" y="2247900"/>
            <a:ext cx="66675" cy="3200400"/>
          </a:xfrm>
          <a:prstGeom prst="rect">
            <a:avLst/>
          </a:prstGeom>
          <a:solidFill>
            <a:srgbClr val="C73C2C"/>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3EADC07A-E192-469D-AEE6-8FD27F69292C}"/>
              </a:ext>
            </a:extLst>
          </p:cNvPr>
          <p:cNvSpPr>
            <a:spLocks noGrp="1"/>
          </p:cNvSpPr>
          <p:nvPr/>
        </p:nvSpPr>
        <p:spPr>
          <a:xfrm>
            <a:off x="6553200" y="2419350"/>
            <a:ext cx="4800600" cy="228600"/>
          </a:xfrm>
          <a:prstGeom prst="rect">
            <a:avLst/>
          </a:prstGeom>
          <a:noFill/>
          <a:ln w="0">
            <a:noFill/>
            <a:prstDash val="solid"/>
          </a:ln>
        </p:spPr>
        <p:txBody>
          <a:bodyPr wrap="square" lIns="0" tIns="0" rIns="0" bIns="0" anchor="t">
            <a:normAutofit/>
          </a:bodyPr>
          <a:lstStyle/>
          <a:p>
            <a:pPr algn="l">
              <a:buNone/>
              <a:defRPr sz="1050" b="1" i="0">
                <a:solidFill>
                  <a:srgbClr val="C73C2C"/>
                </a:solidFill>
                <a:latin typeface="Consolas"/>
                <a:ea typeface="Consolas"/>
                <a:cs typeface="Consolas"/>
              </a:defRPr>
            </a:pPr>
            <a:r>
              <a:rPr sz="1050" b="1" i="0">
                <a:solidFill>
                  <a:srgbClr val="C73C2C"/>
                </a:solidFill>
                <a:latin typeface="Consolas"/>
                <a:ea typeface="Consolas"/>
                <a:cs typeface="Consolas"/>
              </a:rPr>
              <a:t>NOT AUTHORIZED</a:t>
            </a:r>
          </a:p>
        </p:txBody>
      </p:sp>
      <p:sp>
        <p:nvSpPr>
          <p:cNvPr id="17" name="Rectangle 16">
            <a:extLst>
              <a:ext uri="{FF2B5EF4-FFF2-40B4-BE49-F238E27FC236}">
                <a16:creationId xmlns:a16="http://schemas.microsoft.com/office/drawing/2014/main" id="{56569B0A-A9A1-448F-BBB1-50C72EC4170F}"/>
              </a:ext>
            </a:extLst>
          </p:cNvPr>
          <p:cNvSpPr>
            <a:spLocks noGrp="1"/>
          </p:cNvSpPr>
          <p:nvPr/>
        </p:nvSpPr>
        <p:spPr>
          <a:xfrm>
            <a:off x="6553200" y="2724150"/>
            <a:ext cx="4800600" cy="685800"/>
          </a:xfrm>
          <a:prstGeom prst="rect">
            <a:avLst/>
          </a:prstGeom>
          <a:noFill/>
          <a:ln w="0">
            <a:noFill/>
            <a:prstDash val="solid"/>
          </a:ln>
        </p:spPr>
        <p:txBody>
          <a:bodyPr wrap="square" lIns="0" tIns="0" rIns="0" bIns="0" anchor="t">
            <a:normAutofit/>
          </a:bodyPr>
          <a:lstStyle/>
          <a:p>
            <a:pPr algn="l">
              <a:buNone/>
              <a:defRPr sz="2550" b="0" i="0">
                <a:solidFill>
                  <a:srgbClr val="111111"/>
                </a:solidFill>
                <a:latin typeface="Georgia"/>
                <a:ea typeface="Georgia"/>
                <a:cs typeface="Georgia"/>
              </a:defRPr>
            </a:pPr>
            <a:r>
              <a:rPr sz="2550" b="0" i="0">
                <a:solidFill>
                  <a:srgbClr val="111111"/>
                </a:solidFill>
                <a:latin typeface="Georgia"/>
                <a:ea typeface="Georgia"/>
                <a:cs typeface="Georgia"/>
              </a:rPr>
              <a:t>Critical production scale</a:t>
            </a:r>
          </a:p>
        </p:txBody>
      </p:sp>
      <p:sp>
        <p:nvSpPr>
          <p:cNvPr id="18" name="Rectangle 17">
            <a:extLst>
              <a:ext uri="{FF2B5EF4-FFF2-40B4-BE49-F238E27FC236}">
                <a16:creationId xmlns:a16="http://schemas.microsoft.com/office/drawing/2014/main" id="{42C1AC83-567A-49F8-B66D-10F0278F06C5}"/>
              </a:ext>
            </a:extLst>
          </p:cNvPr>
          <p:cNvSpPr>
            <a:spLocks noGrp="1"/>
          </p:cNvSpPr>
          <p:nvPr/>
        </p:nvSpPr>
        <p:spPr>
          <a:xfrm>
            <a:off x="6553200" y="3429000"/>
            <a:ext cx="4800600" cy="1847850"/>
          </a:xfrm>
          <a:prstGeom prst="rect">
            <a:avLst/>
          </a:prstGeom>
          <a:noFill/>
          <a:ln w="0">
            <a:noFill/>
            <a:prstDash val="solid"/>
          </a:ln>
        </p:spPr>
        <p:txBody>
          <a:bodyPr wrap="square" lIns="0" tIns="0" rIns="0" bIns="0" anchor="t">
            <a:normAutofit/>
          </a:bodyPr>
          <a:lstStyle/>
          <a:p>
            <a:pPr algn="l">
              <a:buNone/>
              <a:defRPr sz="1575" b="0" i="0">
                <a:solidFill>
                  <a:srgbClr val="686A66"/>
                </a:solidFill>
                <a:latin typeface="Arial"/>
                <a:ea typeface="Arial"/>
                <a:cs typeface="Arial"/>
              </a:defRPr>
            </a:pPr>
            <a:r>
              <a:rPr sz="1575" b="0" i="0">
                <a:solidFill>
                  <a:srgbClr val="686A66"/>
                </a:solidFill>
                <a:latin typeface="Arial"/>
                <a:ea typeface="Arial"/>
                <a:cs typeface="Arial"/>
              </a:rPr>
              <a:t>• No claim of proven production fit</a:t>
            </a:r>
          </a:p>
          <a:p>
            <a:pPr algn="l">
              <a:buNone/>
              <a:defRPr sz="1575" b="0" i="0">
                <a:solidFill>
                  <a:srgbClr val="686A66"/>
                </a:solidFill>
                <a:latin typeface="Arial"/>
                <a:ea typeface="Arial"/>
                <a:cs typeface="Arial"/>
              </a:defRPr>
            </a:pPr>
            <a:r>
              <a:rPr sz="1575" b="0" i="0">
                <a:solidFill>
                  <a:srgbClr val="686A66"/>
                </a:solidFill>
                <a:latin typeface="Arial"/>
                <a:ea typeface="Arial"/>
                <a:cs typeface="Arial"/>
              </a:rPr>
              <a:t>• No irreversible migration factory</a:t>
            </a:r>
          </a:p>
          <a:p>
            <a:pPr algn="l">
              <a:buNone/>
              <a:defRPr sz="1575" b="0" i="0">
                <a:solidFill>
                  <a:srgbClr val="686A66"/>
                </a:solidFill>
                <a:latin typeface="Arial"/>
                <a:ea typeface="Arial"/>
                <a:cs typeface="Arial"/>
              </a:defRPr>
            </a:pPr>
            <a:r>
              <a:rPr sz="1575" b="0" i="0">
                <a:solidFill>
                  <a:srgbClr val="686A66"/>
                </a:solidFill>
                <a:latin typeface="Arial"/>
                <a:ea typeface="Arial"/>
                <a:cs typeface="Arial"/>
              </a:rPr>
              <a:t>• No permanent exclusion of counterfactuals</a:t>
            </a:r>
          </a:p>
          <a:p>
            <a:pPr algn="l">
              <a:buNone/>
              <a:defRPr sz="1575" b="0" i="0">
                <a:solidFill>
                  <a:srgbClr val="686A66"/>
                </a:solidFill>
                <a:latin typeface="Arial"/>
                <a:ea typeface="Arial"/>
                <a:cs typeface="Arial"/>
              </a:defRPr>
            </a:pPr>
            <a:r>
              <a:rPr sz="1575" b="0" i="0">
                <a:solidFill>
                  <a:srgbClr val="686A66"/>
                </a:solidFill>
                <a:latin typeface="Arial"/>
                <a:ea typeface="Arial"/>
                <a:cs typeface="Arial"/>
              </a:rPr>
              <a:t>• No economics conclusion without labor, HA/DR, support and migration cost</a:t>
            </a:r>
          </a:p>
        </p:txBody>
      </p:sp>
      <p:sp>
        <p:nvSpPr>
          <p:cNvPr id="19" name="Rectangle 18">
            <a:extLst>
              <a:ext uri="{FF2B5EF4-FFF2-40B4-BE49-F238E27FC236}">
                <a16:creationId xmlns:a16="http://schemas.microsoft.com/office/drawing/2014/main" id="{95CE2B76-B7D5-4039-BDF6-4B21F1915C00}"/>
              </a:ext>
            </a:extLst>
          </p:cNvPr>
          <p:cNvSpPr>
            <a:spLocks noGrp="1"/>
          </p:cNvSpPr>
          <p:nvPr/>
        </p:nvSpPr>
        <p:spPr>
          <a:xfrm>
            <a:off x="1143000" y="5734050"/>
            <a:ext cx="9906000" cy="457200"/>
          </a:xfrm>
          <a:prstGeom prst="rect">
            <a:avLst/>
          </a:prstGeom>
          <a:noFill/>
          <a:ln w="0">
            <a:noFill/>
            <a:prstDash val="solid"/>
          </a:ln>
        </p:spPr>
        <p:txBody>
          <a:bodyPr wrap="square" lIns="0" tIns="0" rIns="0" bIns="0" anchor="t">
            <a:normAutofit fontScale="88765" lnSpcReduction="10000"/>
          </a:bodyPr>
          <a:lstStyle/>
          <a:p>
            <a:pPr algn="ctr">
              <a:buNone/>
              <a:defRPr sz="1800" b="0" i="0">
                <a:solidFill>
                  <a:srgbClr val="111111"/>
                </a:solidFill>
                <a:latin typeface="Georgia"/>
                <a:ea typeface="Georgia"/>
                <a:cs typeface="Georgia"/>
              </a:defRPr>
            </a:pPr>
            <a:r>
              <a:rPr sz="1800" b="0" i="0">
                <a:solidFill>
                  <a:srgbClr val="111111"/>
                </a:solidFill>
                <a:latin typeface="Georgia"/>
                <a:ea typeface="Georgia"/>
                <a:cs typeface="Georgia"/>
              </a:rPr>
              <a:t>Decision changes when evidence invalidates the target boundary, operating duty, migration path or economics.</a:t>
            </a:r>
          </a:p>
        </p:txBody>
      </p:sp>
    </p:spTree>
    <p:extLst>
      <p:ext uri="{BB962C8B-B14F-4D97-AF65-F5344CB8AC3E}">
        <p14:creationId xmlns:p14="http://schemas.microsoft.com/office/powerpoint/2010/main" val="19451704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20C4E848-D8B9-4EC7-8C73-A3C178613967}"/>
              </a:ext>
            </a:extLst>
          </p:cNvPr>
          <p:cNvSpPr>
            <a:spLocks noGrp="1"/>
          </p:cNvSpPr>
          <p:nvPr/>
        </p:nvSpPr>
        <p:spPr>
          <a:xfrm>
            <a:off x="0" y="0"/>
            <a:ext cx="12192000" cy="266700"/>
          </a:xfrm>
          <a:prstGeom prst="rect">
            <a:avLst/>
          </a:prstGeom>
          <a:solidFill>
            <a:srgbClr val="FFC72C"/>
          </a:solidFill>
          <a:ln w="0">
            <a:noFill/>
            <a:prstDash val="solid"/>
          </a:ln>
        </p:spPr>
        <p:txBody>
          <a:bodyPr/>
          <a:lstStyle/>
          <a:p>
            <a:endParaRPr lang="en-US"/>
          </a:p>
        </p:txBody>
      </p:sp>
      <p:sp>
        <p:nvSpPr>
          <p:cNvPr id="2" name="Rectangle 1">
            <a:extLst>
              <a:ext uri="{FF2B5EF4-FFF2-40B4-BE49-F238E27FC236}">
                <a16:creationId xmlns:a16="http://schemas.microsoft.com/office/drawing/2014/main" id="{71F91064-CD72-439F-985C-54EB4565DE01}"/>
              </a:ext>
            </a:extLst>
          </p:cNvPr>
          <p:cNvSpPr>
            <a:spLocks noGrp="1"/>
          </p:cNvSpPr>
          <p:nvPr/>
        </p:nvSpPr>
        <p:spPr>
          <a:xfrm>
            <a:off x="10668000" y="0"/>
            <a:ext cx="1524000" cy="266700"/>
          </a:xfrm>
          <a:prstGeom prst="rect">
            <a:avLst/>
          </a:prstGeom>
          <a:solidFill>
            <a:srgbClr val="5537D6"/>
          </a:solidFill>
          <a:ln w="0">
            <a:noFill/>
            <a:prstDash val="solid"/>
          </a:ln>
        </p:spPr>
        <p:txBody>
          <a:bodyPr/>
          <a:lstStyle/>
          <a:p>
            <a:endParaRPr lang="en-US"/>
          </a:p>
        </p:txBody>
      </p:sp>
      <p:sp>
        <p:nvSpPr>
          <p:cNvPr id="3" name="Rectangle 2">
            <a:extLst>
              <a:ext uri="{FF2B5EF4-FFF2-40B4-BE49-F238E27FC236}">
                <a16:creationId xmlns:a16="http://schemas.microsoft.com/office/drawing/2014/main" id="{63AE6F89-3F18-4B50-B604-FD1906CA25E5}"/>
              </a:ext>
            </a:extLst>
          </p:cNvPr>
          <p:cNvSpPr>
            <a:spLocks noGrp="1"/>
          </p:cNvSpPr>
          <p:nvPr/>
        </p:nvSpPr>
        <p:spPr>
          <a:xfrm>
            <a:off x="609600" y="38100"/>
            <a:ext cx="3429000" cy="190500"/>
          </a:xfrm>
          <a:prstGeom prst="rect">
            <a:avLst/>
          </a:prstGeom>
          <a:noFill/>
          <a:ln w="0">
            <a:noFill/>
            <a:prstDash val="solid"/>
          </a:ln>
        </p:spPr>
        <p:txBody>
          <a:bodyPr wrap="square" lIns="0" tIns="0" rIns="0" bIns="0" anchor="t">
            <a:normAutofit/>
          </a:bodyPr>
          <a:lstStyle/>
          <a:p>
            <a:pPr algn="l">
              <a:buNone/>
              <a:defRPr sz="975" b="1" i="0">
                <a:solidFill>
                  <a:srgbClr val="111111"/>
                </a:solidFill>
                <a:latin typeface="Consolas"/>
                <a:ea typeface="Consolas"/>
                <a:cs typeface="Consolas"/>
              </a:defRPr>
            </a:pPr>
            <a:r>
              <a:rPr sz="975" b="1" i="0">
                <a:solidFill>
                  <a:srgbClr val="111111"/>
                </a:solidFill>
                <a:latin typeface="Consolas"/>
                <a:ea typeface="Consolas"/>
                <a:cs typeface="Consolas"/>
              </a:rPr>
              <a:t>07 / ARCHITECTURE</a:t>
            </a:r>
          </a:p>
        </p:txBody>
      </p:sp>
      <p:sp>
        <p:nvSpPr>
          <p:cNvPr id="4" name="Rectangle 3">
            <a:extLst>
              <a:ext uri="{FF2B5EF4-FFF2-40B4-BE49-F238E27FC236}">
                <a16:creationId xmlns:a16="http://schemas.microsoft.com/office/drawing/2014/main" id="{3E305ABE-3042-4C40-B1D4-8E26420520EB}"/>
              </a:ext>
            </a:extLst>
          </p:cNvPr>
          <p:cNvSpPr>
            <a:spLocks noGrp="1"/>
          </p:cNvSpPr>
          <p:nvPr/>
        </p:nvSpPr>
        <p:spPr>
          <a:xfrm>
            <a:off x="609600" y="428625"/>
            <a:ext cx="10572750" cy="1028700"/>
          </a:xfrm>
          <a:prstGeom prst="rect">
            <a:avLst/>
          </a:prstGeom>
          <a:noFill/>
          <a:ln w="0">
            <a:noFill/>
            <a:prstDash val="solid"/>
          </a:ln>
        </p:spPr>
        <p:txBody>
          <a:bodyPr wrap="square" lIns="0" tIns="0" rIns="0" bIns="0" anchor="t">
            <a:noAutofit/>
          </a:bodyPr>
          <a:lstStyle/>
          <a:p>
            <a:pPr algn="l">
              <a:buNone/>
              <a:defRPr sz="3300" b="1" i="0">
                <a:solidFill>
                  <a:srgbClr val="111111"/>
                </a:solidFill>
                <a:latin typeface="Arial"/>
                <a:ea typeface="Arial"/>
                <a:cs typeface="Arial"/>
              </a:defRPr>
            </a:pPr>
            <a:r>
              <a:rPr sz="3300" b="1" i="0">
                <a:solidFill>
                  <a:srgbClr val="111111"/>
                </a:solidFill>
                <a:latin typeface="Arial"/>
                <a:ea typeface="Arial"/>
                <a:cs typeface="Arial"/>
              </a:rPr>
              <a:t>Choose the operating boundary before the topology</a:t>
            </a:r>
          </a:p>
        </p:txBody>
      </p:sp>
      <p:sp>
        <p:nvSpPr>
          <p:cNvPr id="5" name="Rectangle 4">
            <a:extLst>
              <a:ext uri="{FF2B5EF4-FFF2-40B4-BE49-F238E27FC236}">
                <a16:creationId xmlns:a16="http://schemas.microsoft.com/office/drawing/2014/main" id="{34545340-3F30-464A-AAB7-31FFB659F0FD}"/>
              </a:ext>
            </a:extLst>
          </p:cNvPr>
          <p:cNvSpPr>
            <a:spLocks noGrp="1"/>
          </p:cNvSpPr>
          <p:nvPr/>
        </p:nvSpPr>
        <p:spPr>
          <a:xfrm>
            <a:off x="628650" y="1514475"/>
            <a:ext cx="10382250" cy="323850"/>
          </a:xfrm>
          <a:prstGeom prst="rect">
            <a:avLst/>
          </a:prstGeom>
          <a:noFill/>
          <a:ln w="0">
            <a:noFill/>
            <a:prstDash val="solid"/>
          </a:ln>
        </p:spPr>
        <p:txBody>
          <a:bodyPr wrap="square" lIns="0" tIns="0" rIns="0" bIns="0" anchor="t">
            <a:noAutofit/>
          </a:bodyPr>
          <a:lstStyle/>
          <a:p>
            <a:pPr algn="l">
              <a:buNone/>
              <a:defRPr sz="1575" b="0" i="0">
                <a:solidFill>
                  <a:srgbClr val="686A66"/>
                </a:solidFill>
                <a:latin typeface="Arial"/>
                <a:ea typeface="Arial"/>
                <a:cs typeface="Arial"/>
              </a:defRPr>
            </a:pPr>
            <a:r>
              <a:rPr sz="1575" b="0" i="0">
                <a:solidFill>
                  <a:srgbClr val="686A66"/>
                </a:solidFill>
                <a:latin typeface="Arial"/>
                <a:ea typeface="Arial"/>
                <a:cs typeface="Arial"/>
              </a:rPr>
              <a:t>Separate the leading target, same-vendor custody benchmark and true platform exit.</a:t>
            </a:r>
          </a:p>
        </p:txBody>
      </p:sp>
      <p:sp>
        <p:nvSpPr>
          <p:cNvPr id="6" name="Rectangle 5">
            <a:extLst>
              <a:ext uri="{FF2B5EF4-FFF2-40B4-BE49-F238E27FC236}">
                <a16:creationId xmlns:a16="http://schemas.microsoft.com/office/drawing/2014/main" id="{4342E69D-1601-41DD-9612-39F0400925B9}"/>
              </a:ext>
            </a:extLst>
          </p:cNvPr>
          <p:cNvSpPr>
            <a:spLocks noGrp="1"/>
          </p:cNvSpPr>
          <p:nvPr/>
        </p:nvSpPr>
        <p:spPr>
          <a:xfrm>
            <a:off x="609600" y="1905000"/>
            <a:ext cx="10972800" cy="9525"/>
          </a:xfrm>
          <a:prstGeom prst="rect">
            <a:avLst/>
          </a:prstGeom>
          <a:solidFill>
            <a:srgbClr val="8A8B86"/>
          </a:solidFill>
          <a:ln w="0">
            <a:noFill/>
            <a:prstDash val="solid"/>
          </a:ln>
        </p:spPr>
        <p:txBody>
          <a:bodyPr/>
          <a:lstStyle/>
          <a:p>
            <a:endParaRPr lang="en-US"/>
          </a:p>
        </p:txBody>
      </p:sp>
      <p:sp>
        <p:nvSpPr>
          <p:cNvPr id="7" name="Rectangle 6">
            <a:extLst>
              <a:ext uri="{FF2B5EF4-FFF2-40B4-BE49-F238E27FC236}">
                <a16:creationId xmlns:a16="http://schemas.microsoft.com/office/drawing/2014/main" id="{9D9B2974-7D78-4423-A407-BBF615A3CC9B}"/>
              </a:ext>
            </a:extLst>
          </p:cNvPr>
          <p:cNvSpPr>
            <a:spLocks noGrp="1"/>
          </p:cNvSpPr>
          <p:nvPr/>
        </p:nvSpPr>
        <p:spPr>
          <a:xfrm>
            <a:off x="609600" y="6524625"/>
            <a:ext cx="8858250" cy="180975"/>
          </a:xfrm>
          <a:prstGeom prst="rect">
            <a:avLst/>
          </a:prstGeom>
          <a:noFill/>
          <a:ln w="0">
            <a:noFill/>
            <a:prstDash val="solid"/>
          </a:ln>
        </p:spPr>
        <p:txBody>
          <a:bodyPr wrap="square" lIns="0" tIns="0" rIns="0" bIns="0" anchor="ctr">
            <a:normAutofit/>
          </a:bodyPr>
          <a:lstStyle/>
          <a:p>
            <a:pPr>
              <a:buNone/>
              <a:defRPr sz="825">
                <a:solidFill>
                  <a:srgbClr val="666762"/>
                </a:solidFill>
              </a:defRPr>
            </a:pPr>
            <a:r>
              <a:rPr sz="825" b="1">
                <a:solidFill>
                  <a:srgbClr val="666762"/>
                </a:solidFill>
              </a:rPr>
              <a:t>REFERENCES  </a:t>
            </a:r>
            <a:r>
              <a:rPr sz="825" u="sng">
                <a:solidFill>
                  <a:srgbClr val="666762"/>
                </a:solidFill>
                <a:hlinkClick r:id="rId3"/>
              </a:rPr>
              <a:t>Repo reference</a:t>
            </a:r>
            <a:r>
              <a:rPr sz="825">
                <a:solidFill>
                  <a:srgbClr val="666762"/>
                </a:solidFill>
              </a:rPr>
              <a:t>  ·  </a:t>
            </a:r>
            <a:r>
              <a:rPr sz="825" u="sng">
                <a:solidFill>
                  <a:srgbClr val="666762"/>
                </a:solidFill>
                <a:hlinkClick r:id="rId4"/>
              </a:rPr>
              <a:t>Official docs</a:t>
            </a:r>
          </a:p>
        </p:txBody>
      </p:sp>
      <p:sp>
        <p:nvSpPr>
          <p:cNvPr id="8" name="Rectangle 7">
            <a:extLst>
              <a:ext uri="{FF2B5EF4-FFF2-40B4-BE49-F238E27FC236}">
                <a16:creationId xmlns:a16="http://schemas.microsoft.com/office/drawing/2014/main" id="{51F854D5-D8A2-4A92-9079-C8F68A9A1287}"/>
              </a:ext>
            </a:extLst>
          </p:cNvPr>
          <p:cNvSpPr>
            <a:spLocks noGrp="1"/>
          </p:cNvSpPr>
          <p:nvPr/>
        </p:nvSpPr>
        <p:spPr>
          <a:xfrm>
            <a:off x="10287000" y="6486525"/>
            <a:ext cx="1295400" cy="209550"/>
          </a:xfrm>
          <a:prstGeom prst="rect">
            <a:avLst/>
          </a:prstGeom>
          <a:noFill/>
          <a:ln w="0">
            <a:noFill/>
            <a:prstDash val="solid"/>
          </a:ln>
        </p:spPr>
        <p:txBody>
          <a:bodyPr wrap="square" lIns="0" tIns="0" rIns="0" bIns="0" anchor="t">
            <a:normAutofit/>
          </a:bodyPr>
          <a:lstStyle/>
          <a:p>
            <a:pPr algn="r">
              <a:buNone/>
              <a:defRPr sz="975" b="1" i="0">
                <a:solidFill>
                  <a:srgbClr val="686A66"/>
                </a:solidFill>
                <a:latin typeface="Consolas"/>
                <a:ea typeface="Consolas"/>
                <a:cs typeface="Consolas"/>
              </a:defRPr>
            </a:pPr>
            <a:r>
              <a:rPr sz="975" b="1" i="0">
                <a:solidFill>
                  <a:srgbClr val="686A66"/>
                </a:solidFill>
                <a:latin typeface="Consolas"/>
                <a:ea typeface="Consolas"/>
                <a:cs typeface="Consolas"/>
              </a:rPr>
              <a:t>07 / 25</a:t>
            </a:r>
          </a:p>
        </p:txBody>
      </p:sp>
      <p:sp>
        <p:nvSpPr>
          <p:cNvPr id="9" name="Rectangle 8">
            <a:extLst>
              <a:ext uri="{FF2B5EF4-FFF2-40B4-BE49-F238E27FC236}">
                <a16:creationId xmlns:a16="http://schemas.microsoft.com/office/drawing/2014/main" id="{B6B3A171-B8BC-414A-B5BD-65069ABD803D}"/>
              </a:ext>
            </a:extLst>
          </p:cNvPr>
          <p:cNvSpPr>
            <a:spLocks noGrp="1"/>
          </p:cNvSpPr>
          <p:nvPr/>
        </p:nvSpPr>
        <p:spPr>
          <a:xfrm>
            <a:off x="685800" y="2381250"/>
            <a:ext cx="3181350" cy="2857500"/>
          </a:xfrm>
          <a:prstGeom prst="rect">
            <a:avLst/>
          </a:prstGeom>
          <a:solidFill>
            <a:srgbClr val="FFFFFF"/>
          </a:solidFill>
          <a:ln w="9525">
            <a:solidFill>
              <a:srgbClr val="8A8B86"/>
            </a:solidFill>
            <a:prstDash val="solid"/>
          </a:ln>
        </p:spPr>
        <p:txBody>
          <a:bodyPr/>
          <a:lstStyle/>
          <a:p>
            <a:endParaRPr lang="en-US"/>
          </a:p>
        </p:txBody>
      </p:sp>
      <p:sp>
        <p:nvSpPr>
          <p:cNvPr id="10" name="Rectangle 9">
            <a:extLst>
              <a:ext uri="{FF2B5EF4-FFF2-40B4-BE49-F238E27FC236}">
                <a16:creationId xmlns:a16="http://schemas.microsoft.com/office/drawing/2014/main" id="{514BE00F-D110-42A2-8D47-FD1E2893F995}"/>
              </a:ext>
            </a:extLst>
          </p:cNvPr>
          <p:cNvSpPr>
            <a:spLocks noGrp="1"/>
          </p:cNvSpPr>
          <p:nvPr/>
        </p:nvSpPr>
        <p:spPr>
          <a:xfrm>
            <a:off x="685800" y="2381250"/>
            <a:ext cx="66675" cy="2857500"/>
          </a:xfrm>
          <a:prstGeom prst="rect">
            <a:avLst/>
          </a:prstGeom>
          <a:solidFill>
            <a:srgbClr val="FFC72C"/>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11A7A3E3-0DC7-4EDE-AA64-C22D51D92AEF}"/>
              </a:ext>
            </a:extLst>
          </p:cNvPr>
          <p:cNvSpPr>
            <a:spLocks noGrp="1"/>
          </p:cNvSpPr>
          <p:nvPr/>
        </p:nvSpPr>
        <p:spPr>
          <a:xfrm>
            <a:off x="895350" y="2552700"/>
            <a:ext cx="2762250" cy="228600"/>
          </a:xfrm>
          <a:prstGeom prst="rect">
            <a:avLst/>
          </a:prstGeom>
          <a:noFill/>
          <a:ln w="0">
            <a:noFill/>
            <a:prstDash val="solid"/>
          </a:ln>
        </p:spPr>
        <p:txBody>
          <a:bodyPr wrap="square" lIns="0" tIns="0" rIns="0" bIns="0" anchor="t">
            <a:normAutofit/>
          </a:bodyPr>
          <a:lstStyle/>
          <a:p>
            <a:pPr algn="l">
              <a:buNone/>
              <a:defRPr sz="1050" b="1" i="0">
                <a:solidFill>
                  <a:srgbClr val="111111"/>
                </a:solidFill>
                <a:latin typeface="Consolas"/>
                <a:ea typeface="Consolas"/>
                <a:cs typeface="Consolas"/>
              </a:defRPr>
            </a:pPr>
            <a:r>
              <a:rPr sz="1050" b="1" i="0">
                <a:solidFill>
                  <a:srgbClr val="111111"/>
                </a:solidFill>
                <a:latin typeface="Consolas"/>
                <a:ea typeface="Consolas"/>
                <a:cs typeface="Consolas"/>
              </a:rPr>
              <a:t>LEADING TARGET</a:t>
            </a:r>
          </a:p>
        </p:txBody>
      </p:sp>
      <p:sp>
        <p:nvSpPr>
          <p:cNvPr id="12" name="Rectangle 11">
            <a:extLst>
              <a:ext uri="{FF2B5EF4-FFF2-40B4-BE49-F238E27FC236}">
                <a16:creationId xmlns:a16="http://schemas.microsoft.com/office/drawing/2014/main" id="{0B84BAD4-F073-43C1-B890-8DC82D84F3C2}"/>
              </a:ext>
            </a:extLst>
          </p:cNvPr>
          <p:cNvSpPr>
            <a:spLocks noGrp="1"/>
          </p:cNvSpPr>
          <p:nvPr/>
        </p:nvSpPr>
        <p:spPr>
          <a:xfrm>
            <a:off x="895350" y="2857500"/>
            <a:ext cx="2762250" cy="685800"/>
          </a:xfrm>
          <a:prstGeom prst="rect">
            <a:avLst/>
          </a:prstGeom>
          <a:noFill/>
          <a:ln w="0">
            <a:noFill/>
            <a:prstDash val="solid"/>
          </a:ln>
        </p:spPr>
        <p:txBody>
          <a:bodyPr wrap="square" lIns="0" tIns="0" rIns="0" bIns="0" anchor="t">
            <a:normAutofit/>
          </a:bodyPr>
          <a:lstStyle/>
          <a:p>
            <a:pPr algn="l">
              <a:buNone/>
              <a:defRPr sz="2175" b="0" i="0">
                <a:solidFill>
                  <a:srgbClr val="111111"/>
                </a:solidFill>
                <a:latin typeface="Georgia"/>
                <a:ea typeface="Georgia"/>
                <a:cs typeface="Georgia"/>
              </a:defRPr>
            </a:pPr>
            <a:r>
              <a:rPr sz="2175" b="0" i="0">
                <a:solidFill>
                  <a:srgbClr val="111111"/>
                </a:solidFill>
                <a:latin typeface="Georgia"/>
                <a:ea typeface="Georgia"/>
                <a:cs typeface="Georgia"/>
              </a:rPr>
              <a:t>Self-managed hybrid</a:t>
            </a:r>
          </a:p>
        </p:txBody>
      </p:sp>
      <p:sp>
        <p:nvSpPr>
          <p:cNvPr id="13" name="Rectangle 12">
            <a:extLst>
              <a:ext uri="{FF2B5EF4-FFF2-40B4-BE49-F238E27FC236}">
                <a16:creationId xmlns:a16="http://schemas.microsoft.com/office/drawing/2014/main" id="{68B9CAF1-0AEA-4E84-B041-483ADA66EC1C}"/>
              </a:ext>
            </a:extLst>
          </p:cNvPr>
          <p:cNvSpPr>
            <a:spLocks noGrp="1"/>
          </p:cNvSpPr>
          <p:nvPr/>
        </p:nvSpPr>
        <p:spPr>
          <a:xfrm>
            <a:off x="895350" y="3562350"/>
            <a:ext cx="2762250" cy="1504950"/>
          </a:xfrm>
          <a:prstGeom prst="rect">
            <a:avLst/>
          </a:prstGeom>
          <a:noFill/>
          <a:ln w="0">
            <a:noFill/>
            <a:prstDash val="solid"/>
          </a:ln>
        </p:spPr>
        <p:txBody>
          <a:bodyPr wrap="square" lIns="0" tIns="0" rIns="0" bIns="0" anchor="t">
            <a:normAutofit/>
          </a:bodyPr>
          <a:lstStyle/>
          <a:p>
            <a:pPr algn="l">
              <a:buNone/>
              <a:defRPr sz="1425" b="0" i="0">
                <a:solidFill>
                  <a:srgbClr val="686A66"/>
                </a:solidFill>
                <a:latin typeface="Arial"/>
                <a:ea typeface="Arial"/>
                <a:cs typeface="Arial"/>
              </a:defRPr>
            </a:pPr>
            <a:r>
              <a:rPr sz="1425" b="0" i="0">
                <a:solidFill>
                  <a:srgbClr val="686A66"/>
                </a:solidFill>
                <a:latin typeface="Arial"/>
                <a:ea typeface="Arial"/>
                <a:cs typeface="Arial"/>
              </a:rPr>
              <a:t>Enterprise operates CP, PostgreSQL, PKI, backups, upgrades and admission policy.</a:t>
            </a:r>
          </a:p>
        </p:txBody>
      </p:sp>
      <p:sp>
        <p:nvSpPr>
          <p:cNvPr id="14" name="Rectangle 13">
            <a:extLst>
              <a:ext uri="{FF2B5EF4-FFF2-40B4-BE49-F238E27FC236}">
                <a16:creationId xmlns:a16="http://schemas.microsoft.com/office/drawing/2014/main" id="{F434688B-2200-48F9-B4D3-6D9196133A3A}"/>
              </a:ext>
            </a:extLst>
          </p:cNvPr>
          <p:cNvSpPr>
            <a:spLocks noGrp="1"/>
          </p:cNvSpPr>
          <p:nvPr/>
        </p:nvSpPr>
        <p:spPr>
          <a:xfrm>
            <a:off x="4286250" y="2381250"/>
            <a:ext cx="3181350" cy="2857500"/>
          </a:xfrm>
          <a:prstGeom prst="rect">
            <a:avLst/>
          </a:prstGeom>
          <a:solidFill>
            <a:srgbClr val="FFFFFF"/>
          </a:solidFill>
          <a:ln w="9525">
            <a:solidFill>
              <a:srgbClr val="8A8B86"/>
            </a:solidFill>
            <a:prstDash val="solid"/>
          </a:ln>
        </p:spPr>
        <p:txBody>
          <a:bodyPr/>
          <a:lstStyle/>
          <a:p>
            <a:endParaRPr lang="en-US"/>
          </a:p>
        </p:txBody>
      </p:sp>
      <p:sp>
        <p:nvSpPr>
          <p:cNvPr id="15" name="Rectangle 14">
            <a:extLst>
              <a:ext uri="{FF2B5EF4-FFF2-40B4-BE49-F238E27FC236}">
                <a16:creationId xmlns:a16="http://schemas.microsoft.com/office/drawing/2014/main" id="{8977E993-8CB4-4CBA-946C-AF7FD21D5E83}"/>
              </a:ext>
            </a:extLst>
          </p:cNvPr>
          <p:cNvSpPr>
            <a:spLocks noGrp="1"/>
          </p:cNvSpPr>
          <p:nvPr/>
        </p:nvSpPr>
        <p:spPr>
          <a:xfrm>
            <a:off x="4286250" y="2381250"/>
            <a:ext cx="66675" cy="2857500"/>
          </a:xfrm>
          <a:prstGeom prst="rect">
            <a:avLst/>
          </a:prstGeom>
          <a:solidFill>
            <a:srgbClr val="111111"/>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BE6720A6-96AC-41A5-B967-3633BB944F66}"/>
              </a:ext>
            </a:extLst>
          </p:cNvPr>
          <p:cNvSpPr>
            <a:spLocks noGrp="1"/>
          </p:cNvSpPr>
          <p:nvPr/>
        </p:nvSpPr>
        <p:spPr>
          <a:xfrm>
            <a:off x="4495800" y="2552700"/>
            <a:ext cx="2762250" cy="228600"/>
          </a:xfrm>
          <a:prstGeom prst="rect">
            <a:avLst/>
          </a:prstGeom>
          <a:noFill/>
          <a:ln w="0">
            <a:noFill/>
            <a:prstDash val="solid"/>
          </a:ln>
        </p:spPr>
        <p:txBody>
          <a:bodyPr wrap="square" lIns="0" tIns="0" rIns="0" bIns="0" anchor="t">
            <a:normAutofit/>
          </a:bodyPr>
          <a:lstStyle/>
          <a:p>
            <a:pPr algn="l">
              <a:buNone/>
              <a:defRPr sz="1050" b="1" i="0">
                <a:solidFill>
                  <a:srgbClr val="111111"/>
                </a:solidFill>
                <a:latin typeface="Consolas"/>
                <a:ea typeface="Consolas"/>
                <a:cs typeface="Consolas"/>
              </a:defRPr>
            </a:pPr>
            <a:r>
              <a:rPr sz="1050" b="1" i="0">
                <a:solidFill>
                  <a:srgbClr val="111111"/>
                </a:solidFill>
                <a:latin typeface="Consolas"/>
                <a:ea typeface="Consolas"/>
                <a:cs typeface="Consolas"/>
              </a:rPr>
              <a:t>CUSTODY BENCHMARK</a:t>
            </a:r>
          </a:p>
        </p:txBody>
      </p:sp>
      <p:sp>
        <p:nvSpPr>
          <p:cNvPr id="17" name="Rectangle 16">
            <a:extLst>
              <a:ext uri="{FF2B5EF4-FFF2-40B4-BE49-F238E27FC236}">
                <a16:creationId xmlns:a16="http://schemas.microsoft.com/office/drawing/2014/main" id="{14AFB2E0-AF26-4A9D-ADE9-14EDFA6C6514}"/>
              </a:ext>
            </a:extLst>
          </p:cNvPr>
          <p:cNvSpPr>
            <a:spLocks noGrp="1"/>
          </p:cNvSpPr>
          <p:nvPr/>
        </p:nvSpPr>
        <p:spPr>
          <a:xfrm>
            <a:off x="4495800" y="2857500"/>
            <a:ext cx="2762250" cy="685800"/>
          </a:xfrm>
          <a:prstGeom prst="rect">
            <a:avLst/>
          </a:prstGeom>
          <a:noFill/>
          <a:ln w="0">
            <a:noFill/>
            <a:prstDash val="solid"/>
          </a:ln>
        </p:spPr>
        <p:txBody>
          <a:bodyPr wrap="square" lIns="0" tIns="0" rIns="0" bIns="0" anchor="t">
            <a:normAutofit/>
          </a:bodyPr>
          <a:lstStyle/>
          <a:p>
            <a:pPr algn="l">
              <a:buNone/>
              <a:defRPr sz="2175" b="0" i="0">
                <a:solidFill>
                  <a:srgbClr val="111111"/>
                </a:solidFill>
                <a:latin typeface="Georgia"/>
                <a:ea typeface="Georgia"/>
                <a:cs typeface="Georgia"/>
              </a:defRPr>
            </a:pPr>
            <a:r>
              <a:rPr sz="2175" b="0" i="0">
                <a:solidFill>
                  <a:srgbClr val="111111"/>
                </a:solidFill>
                <a:latin typeface="Georgia"/>
                <a:ea typeface="Georgia"/>
                <a:cs typeface="Georgia"/>
              </a:rPr>
              <a:t>Konnect control plane</a:t>
            </a:r>
          </a:p>
        </p:txBody>
      </p:sp>
      <p:sp>
        <p:nvSpPr>
          <p:cNvPr id="18" name="Rectangle 17">
            <a:extLst>
              <a:ext uri="{FF2B5EF4-FFF2-40B4-BE49-F238E27FC236}">
                <a16:creationId xmlns:a16="http://schemas.microsoft.com/office/drawing/2014/main" id="{B7169288-6BB9-4AD0-9397-71A71F1061B0}"/>
              </a:ext>
            </a:extLst>
          </p:cNvPr>
          <p:cNvSpPr>
            <a:spLocks noGrp="1"/>
          </p:cNvSpPr>
          <p:nvPr/>
        </p:nvSpPr>
        <p:spPr>
          <a:xfrm>
            <a:off x="4495800" y="3562350"/>
            <a:ext cx="2762250" cy="1504950"/>
          </a:xfrm>
          <a:prstGeom prst="rect">
            <a:avLst/>
          </a:prstGeom>
          <a:noFill/>
          <a:ln w="0">
            <a:noFill/>
            <a:prstDash val="solid"/>
          </a:ln>
        </p:spPr>
        <p:txBody>
          <a:bodyPr wrap="square" lIns="0" tIns="0" rIns="0" bIns="0" anchor="t">
            <a:normAutofit/>
          </a:bodyPr>
          <a:lstStyle/>
          <a:p>
            <a:pPr algn="l">
              <a:buNone/>
              <a:defRPr sz="1425" b="0" i="0">
                <a:solidFill>
                  <a:srgbClr val="686A66"/>
                </a:solidFill>
                <a:latin typeface="Arial"/>
                <a:ea typeface="Arial"/>
                <a:cs typeface="Arial"/>
              </a:defRPr>
            </a:pPr>
            <a:r>
              <a:rPr sz="1425" b="0" i="0">
                <a:solidFill>
                  <a:srgbClr val="686A66"/>
                </a:solidFill>
                <a:latin typeface="Arial"/>
                <a:ea typeface="Arial"/>
                <a:cs typeface="Arial"/>
              </a:rPr>
              <a:t>Same-vendor switch test: compare custody, migration effort, parity and route-back.</a:t>
            </a:r>
          </a:p>
        </p:txBody>
      </p:sp>
      <p:sp>
        <p:nvSpPr>
          <p:cNvPr id="19" name="Rectangle 18">
            <a:extLst>
              <a:ext uri="{FF2B5EF4-FFF2-40B4-BE49-F238E27FC236}">
                <a16:creationId xmlns:a16="http://schemas.microsoft.com/office/drawing/2014/main" id="{2A654DD9-F2A1-4803-A02C-5A7CE1644D39}"/>
              </a:ext>
            </a:extLst>
          </p:cNvPr>
          <p:cNvSpPr>
            <a:spLocks noGrp="1"/>
          </p:cNvSpPr>
          <p:nvPr/>
        </p:nvSpPr>
        <p:spPr>
          <a:xfrm>
            <a:off x="7886700" y="2381250"/>
            <a:ext cx="3181350" cy="2857500"/>
          </a:xfrm>
          <a:prstGeom prst="rect">
            <a:avLst/>
          </a:prstGeom>
          <a:solidFill>
            <a:srgbClr val="FFFFFF"/>
          </a:solidFill>
          <a:ln w="9525">
            <a:solidFill>
              <a:srgbClr val="8A8B86"/>
            </a:solidFill>
            <a:prstDash val="solid"/>
          </a:ln>
        </p:spPr>
        <p:txBody>
          <a:bodyPr/>
          <a:lstStyle/>
          <a:p>
            <a:endParaRPr lang="en-US"/>
          </a:p>
        </p:txBody>
      </p:sp>
      <p:sp>
        <p:nvSpPr>
          <p:cNvPr id="20" name="Rectangle 19">
            <a:extLst>
              <a:ext uri="{FF2B5EF4-FFF2-40B4-BE49-F238E27FC236}">
                <a16:creationId xmlns:a16="http://schemas.microsoft.com/office/drawing/2014/main" id="{C261AEAC-CD16-4AFF-BB4D-2DAE6D5A898E}"/>
              </a:ext>
            </a:extLst>
          </p:cNvPr>
          <p:cNvSpPr>
            <a:spLocks noGrp="1"/>
          </p:cNvSpPr>
          <p:nvPr/>
        </p:nvSpPr>
        <p:spPr>
          <a:xfrm>
            <a:off x="7886700" y="2381250"/>
            <a:ext cx="66675" cy="2857500"/>
          </a:xfrm>
          <a:prstGeom prst="rect">
            <a:avLst/>
          </a:prstGeom>
          <a:solidFill>
            <a:srgbClr val="111111"/>
          </a:solidFill>
          <a:ln w="0">
            <a:noFill/>
            <a:prstDash val="solid"/>
          </a:ln>
        </p:spPr>
        <p:txBody>
          <a:bodyPr/>
          <a:lstStyle/>
          <a:p>
            <a:endParaRPr lang="en-US"/>
          </a:p>
        </p:txBody>
      </p:sp>
      <p:sp>
        <p:nvSpPr>
          <p:cNvPr id="21" name="Rectangle 20">
            <a:extLst>
              <a:ext uri="{FF2B5EF4-FFF2-40B4-BE49-F238E27FC236}">
                <a16:creationId xmlns:a16="http://schemas.microsoft.com/office/drawing/2014/main" id="{E6CE7D2B-DC95-4347-BEA5-2E1EB78F10F3}"/>
              </a:ext>
            </a:extLst>
          </p:cNvPr>
          <p:cNvSpPr>
            <a:spLocks noGrp="1"/>
          </p:cNvSpPr>
          <p:nvPr/>
        </p:nvSpPr>
        <p:spPr>
          <a:xfrm>
            <a:off x="8096250" y="2552700"/>
            <a:ext cx="2762250" cy="228600"/>
          </a:xfrm>
          <a:prstGeom prst="rect">
            <a:avLst/>
          </a:prstGeom>
          <a:noFill/>
          <a:ln w="0">
            <a:noFill/>
            <a:prstDash val="solid"/>
          </a:ln>
        </p:spPr>
        <p:txBody>
          <a:bodyPr wrap="square" lIns="0" tIns="0" rIns="0" bIns="0" anchor="t">
            <a:normAutofit/>
          </a:bodyPr>
          <a:lstStyle/>
          <a:p>
            <a:pPr algn="l">
              <a:buNone/>
              <a:defRPr sz="1050" b="1" i="0">
                <a:solidFill>
                  <a:srgbClr val="111111"/>
                </a:solidFill>
                <a:latin typeface="Consolas"/>
                <a:ea typeface="Consolas"/>
                <a:cs typeface="Consolas"/>
              </a:defRPr>
            </a:pPr>
            <a:r>
              <a:rPr sz="1050" b="1" i="0">
                <a:solidFill>
                  <a:srgbClr val="111111"/>
                </a:solidFill>
                <a:latin typeface="Consolas"/>
                <a:ea typeface="Consolas"/>
                <a:cs typeface="Consolas"/>
              </a:rPr>
              <a:t>PLATFORM EXIT</a:t>
            </a:r>
          </a:p>
        </p:txBody>
      </p:sp>
      <p:sp>
        <p:nvSpPr>
          <p:cNvPr id="22" name="Rectangle 21">
            <a:extLst>
              <a:ext uri="{FF2B5EF4-FFF2-40B4-BE49-F238E27FC236}">
                <a16:creationId xmlns:a16="http://schemas.microsoft.com/office/drawing/2014/main" id="{FED26DF4-4403-4F93-A759-567BE33519CD}"/>
              </a:ext>
            </a:extLst>
          </p:cNvPr>
          <p:cNvSpPr>
            <a:spLocks noGrp="1"/>
          </p:cNvSpPr>
          <p:nvPr/>
        </p:nvSpPr>
        <p:spPr>
          <a:xfrm>
            <a:off x="8096250" y="2857500"/>
            <a:ext cx="2762250" cy="685800"/>
          </a:xfrm>
          <a:prstGeom prst="rect">
            <a:avLst/>
          </a:prstGeom>
          <a:noFill/>
          <a:ln w="0">
            <a:noFill/>
            <a:prstDash val="solid"/>
          </a:ln>
        </p:spPr>
        <p:txBody>
          <a:bodyPr wrap="square" lIns="0" tIns="0" rIns="0" bIns="0" anchor="t">
            <a:normAutofit/>
          </a:bodyPr>
          <a:lstStyle/>
          <a:p>
            <a:pPr algn="l">
              <a:buNone/>
              <a:defRPr sz="2175" b="0" i="0">
                <a:solidFill>
                  <a:srgbClr val="111111"/>
                </a:solidFill>
                <a:latin typeface="Georgia"/>
                <a:ea typeface="Georgia"/>
                <a:cs typeface="Georgia"/>
              </a:defRPr>
            </a:pPr>
            <a:r>
              <a:rPr sz="2175" b="0" i="0">
                <a:solidFill>
                  <a:srgbClr val="111111"/>
                </a:solidFill>
                <a:latin typeface="Georgia"/>
                <a:ea typeface="Georgia"/>
                <a:cs typeface="Georgia"/>
              </a:rPr>
              <a:t>Non-Kong target</a:t>
            </a:r>
          </a:p>
        </p:txBody>
      </p:sp>
      <p:sp>
        <p:nvSpPr>
          <p:cNvPr id="23" name="Rectangle 22">
            <a:extLst>
              <a:ext uri="{FF2B5EF4-FFF2-40B4-BE49-F238E27FC236}">
                <a16:creationId xmlns:a16="http://schemas.microsoft.com/office/drawing/2014/main" id="{87EB9AE9-D3E2-4B7A-860D-BF00C672B026}"/>
              </a:ext>
            </a:extLst>
          </p:cNvPr>
          <p:cNvSpPr>
            <a:spLocks noGrp="1"/>
          </p:cNvSpPr>
          <p:nvPr/>
        </p:nvSpPr>
        <p:spPr>
          <a:xfrm>
            <a:off x="8096250" y="3562350"/>
            <a:ext cx="2762250" cy="1504950"/>
          </a:xfrm>
          <a:prstGeom prst="rect">
            <a:avLst/>
          </a:prstGeom>
          <a:noFill/>
          <a:ln w="0">
            <a:noFill/>
            <a:prstDash val="solid"/>
          </a:ln>
        </p:spPr>
        <p:txBody>
          <a:bodyPr wrap="square" lIns="0" tIns="0" rIns="0" bIns="0" anchor="t">
            <a:normAutofit/>
          </a:bodyPr>
          <a:lstStyle/>
          <a:p>
            <a:pPr algn="l">
              <a:buNone/>
              <a:defRPr sz="1425" b="0" i="0">
                <a:solidFill>
                  <a:srgbClr val="686A66"/>
                </a:solidFill>
                <a:latin typeface="Arial"/>
                <a:ea typeface="Arial"/>
                <a:cs typeface="Arial"/>
              </a:defRPr>
            </a:pPr>
            <a:r>
              <a:rPr sz="1425" b="0" i="0">
                <a:solidFill>
                  <a:srgbClr val="686A66"/>
                </a:solidFill>
                <a:latin typeface="Arial"/>
                <a:ea typeface="Arial"/>
                <a:cs typeface="Arial"/>
              </a:rPr>
              <a:t>Independent exit obligation: configuration, identity, traffic, evidence and rollback remain portable.</a:t>
            </a:r>
          </a:p>
        </p:txBody>
      </p:sp>
      <p:sp>
        <p:nvSpPr>
          <p:cNvPr id="24" name="Rectangle 23">
            <a:extLst>
              <a:ext uri="{FF2B5EF4-FFF2-40B4-BE49-F238E27FC236}">
                <a16:creationId xmlns:a16="http://schemas.microsoft.com/office/drawing/2014/main" id="{B891EFB6-CCE4-4075-B6F3-A8BF9BF8B564}"/>
              </a:ext>
            </a:extLst>
          </p:cNvPr>
          <p:cNvSpPr>
            <a:spLocks noGrp="1"/>
          </p:cNvSpPr>
          <p:nvPr/>
        </p:nvSpPr>
        <p:spPr>
          <a:xfrm>
            <a:off x="685800" y="5581650"/>
            <a:ext cx="10382250" cy="457200"/>
          </a:xfrm>
          <a:prstGeom prst="rect">
            <a:avLst/>
          </a:prstGeom>
          <a:solidFill>
            <a:srgbClr val="F4F0E7"/>
          </a:solidFill>
          <a:ln w="9525">
            <a:solidFill>
              <a:srgbClr val="8A8B86"/>
            </a:solidFill>
            <a:prstDash val="solid"/>
          </a:ln>
        </p:spPr>
        <p:txBody>
          <a:bodyPr/>
          <a:lstStyle/>
          <a:p>
            <a:endParaRPr lang="en-US"/>
          </a:p>
        </p:txBody>
      </p:sp>
      <p:sp>
        <p:nvSpPr>
          <p:cNvPr id="25" name="Rectangle 24">
            <a:extLst>
              <a:ext uri="{FF2B5EF4-FFF2-40B4-BE49-F238E27FC236}">
                <a16:creationId xmlns:a16="http://schemas.microsoft.com/office/drawing/2014/main" id="{708D28DB-0505-4194-B2E9-C62817804785}"/>
              </a:ext>
            </a:extLst>
          </p:cNvPr>
          <p:cNvSpPr>
            <a:spLocks noGrp="1"/>
          </p:cNvSpPr>
          <p:nvPr/>
        </p:nvSpPr>
        <p:spPr>
          <a:xfrm>
            <a:off x="876300" y="5676900"/>
            <a:ext cx="10001250" cy="285750"/>
          </a:xfrm>
          <a:prstGeom prst="rect">
            <a:avLst/>
          </a:prstGeom>
          <a:noFill/>
          <a:ln w="0">
            <a:noFill/>
            <a:prstDash val="solid"/>
          </a:ln>
        </p:spPr>
        <p:txBody>
          <a:bodyPr wrap="square" lIns="0" tIns="0" rIns="0" bIns="0" anchor="t">
            <a:normAutofit fontScale="87966"/>
          </a:bodyPr>
          <a:lstStyle/>
          <a:p>
            <a:pPr algn="ctr">
              <a:buNone/>
              <a:defRPr sz="1425" b="1" i="0">
                <a:solidFill>
                  <a:srgbClr val="111111"/>
                </a:solidFill>
                <a:latin typeface="Arial"/>
                <a:ea typeface="Arial"/>
                <a:cs typeface="Arial"/>
              </a:defRPr>
            </a:pPr>
            <a:r>
              <a:rPr sz="1425" b="1" i="0">
                <a:solidFill>
                  <a:srgbClr val="111111"/>
                </a:solidFill>
                <a:latin typeface="Arial"/>
                <a:ea typeface="Arial"/>
                <a:cs typeface="Arial"/>
              </a:rPr>
              <a:t>The benchmark is not a parallel production build; it is a pre-committed way to change custody or exit when evidence fails.</a:t>
            </a:r>
          </a:p>
        </p:txBody>
      </p:sp>
    </p:spTree>
    <p:extLst>
      <p:ext uri="{BB962C8B-B14F-4D97-AF65-F5344CB8AC3E}">
        <p14:creationId xmlns:p14="http://schemas.microsoft.com/office/powerpoint/2010/main" val="12846431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49156876-75D2-4A73-953C-3E6545D754A8}"/>
              </a:ext>
            </a:extLst>
          </p:cNvPr>
          <p:cNvSpPr>
            <a:spLocks noGrp="1"/>
          </p:cNvSpPr>
          <p:nvPr/>
        </p:nvSpPr>
        <p:spPr>
          <a:xfrm>
            <a:off x="0" y="0"/>
            <a:ext cx="12192000" cy="266700"/>
          </a:xfrm>
          <a:prstGeom prst="rect">
            <a:avLst/>
          </a:prstGeom>
          <a:solidFill>
            <a:srgbClr val="FFC72C"/>
          </a:solidFill>
          <a:ln w="0">
            <a:noFill/>
            <a:prstDash val="solid"/>
          </a:ln>
        </p:spPr>
        <p:txBody>
          <a:bodyPr/>
          <a:lstStyle/>
          <a:p>
            <a:endParaRPr lang="en-US"/>
          </a:p>
        </p:txBody>
      </p:sp>
      <p:sp>
        <p:nvSpPr>
          <p:cNvPr id="2" name="Rectangle 1">
            <a:extLst>
              <a:ext uri="{FF2B5EF4-FFF2-40B4-BE49-F238E27FC236}">
                <a16:creationId xmlns:a16="http://schemas.microsoft.com/office/drawing/2014/main" id="{130D55D5-0D61-4B1C-9F24-FC7BFCD4D13E}"/>
              </a:ext>
            </a:extLst>
          </p:cNvPr>
          <p:cNvSpPr>
            <a:spLocks noGrp="1"/>
          </p:cNvSpPr>
          <p:nvPr/>
        </p:nvSpPr>
        <p:spPr>
          <a:xfrm>
            <a:off x="10668000" y="0"/>
            <a:ext cx="1524000" cy="266700"/>
          </a:xfrm>
          <a:prstGeom prst="rect">
            <a:avLst/>
          </a:prstGeom>
          <a:solidFill>
            <a:srgbClr val="5537D6"/>
          </a:solidFill>
          <a:ln w="0">
            <a:noFill/>
            <a:prstDash val="solid"/>
          </a:ln>
        </p:spPr>
        <p:txBody>
          <a:bodyPr/>
          <a:lstStyle/>
          <a:p>
            <a:endParaRPr lang="en-US"/>
          </a:p>
        </p:txBody>
      </p:sp>
      <p:sp>
        <p:nvSpPr>
          <p:cNvPr id="3" name="Rectangle 2">
            <a:extLst>
              <a:ext uri="{FF2B5EF4-FFF2-40B4-BE49-F238E27FC236}">
                <a16:creationId xmlns:a16="http://schemas.microsoft.com/office/drawing/2014/main" id="{01F00C3B-4A20-4A2B-9E0F-AEB12E494FCF}"/>
              </a:ext>
            </a:extLst>
          </p:cNvPr>
          <p:cNvSpPr>
            <a:spLocks noGrp="1"/>
          </p:cNvSpPr>
          <p:nvPr/>
        </p:nvSpPr>
        <p:spPr>
          <a:xfrm>
            <a:off x="609600" y="38100"/>
            <a:ext cx="3429000" cy="190500"/>
          </a:xfrm>
          <a:prstGeom prst="rect">
            <a:avLst/>
          </a:prstGeom>
          <a:noFill/>
          <a:ln w="0">
            <a:noFill/>
            <a:prstDash val="solid"/>
          </a:ln>
        </p:spPr>
        <p:txBody>
          <a:bodyPr wrap="square" lIns="0" tIns="0" rIns="0" bIns="0" anchor="t">
            <a:normAutofit/>
          </a:bodyPr>
          <a:lstStyle/>
          <a:p>
            <a:pPr algn="l">
              <a:buNone/>
              <a:defRPr sz="975" b="1" i="0">
                <a:solidFill>
                  <a:srgbClr val="111111"/>
                </a:solidFill>
                <a:latin typeface="Consolas"/>
                <a:ea typeface="Consolas"/>
                <a:cs typeface="Consolas"/>
              </a:defRPr>
            </a:pPr>
            <a:r>
              <a:rPr sz="975" b="1" i="0">
                <a:solidFill>
                  <a:srgbClr val="111111"/>
                </a:solidFill>
                <a:latin typeface="Consolas"/>
                <a:ea typeface="Consolas"/>
                <a:cs typeface="Consolas"/>
              </a:rPr>
              <a:t>08 / ARCHITECTURE</a:t>
            </a:r>
          </a:p>
        </p:txBody>
      </p:sp>
      <p:sp>
        <p:nvSpPr>
          <p:cNvPr id="4" name="Rectangle 3">
            <a:extLst>
              <a:ext uri="{FF2B5EF4-FFF2-40B4-BE49-F238E27FC236}">
                <a16:creationId xmlns:a16="http://schemas.microsoft.com/office/drawing/2014/main" id="{841A9365-8AFA-4C59-BE17-3FA20F06C553}"/>
              </a:ext>
            </a:extLst>
          </p:cNvPr>
          <p:cNvSpPr>
            <a:spLocks noGrp="1"/>
          </p:cNvSpPr>
          <p:nvPr/>
        </p:nvSpPr>
        <p:spPr>
          <a:xfrm>
            <a:off x="609600" y="428625"/>
            <a:ext cx="10572750" cy="1028700"/>
          </a:xfrm>
          <a:prstGeom prst="rect">
            <a:avLst/>
          </a:prstGeom>
          <a:noFill/>
          <a:ln w="0">
            <a:noFill/>
            <a:prstDash val="solid"/>
          </a:ln>
        </p:spPr>
        <p:txBody>
          <a:bodyPr wrap="square" lIns="0" tIns="0" rIns="0" bIns="0" anchor="t">
            <a:noAutofit/>
          </a:bodyPr>
          <a:lstStyle/>
          <a:p>
            <a:pPr algn="l">
              <a:buNone/>
              <a:defRPr sz="3225" b="1" i="0">
                <a:solidFill>
                  <a:srgbClr val="111111"/>
                </a:solidFill>
                <a:latin typeface="Arial"/>
                <a:ea typeface="Arial"/>
                <a:cs typeface="Arial"/>
              </a:defRPr>
            </a:pPr>
            <a:r>
              <a:rPr sz="3225" b="1" i="0">
                <a:solidFill>
                  <a:srgbClr val="111111"/>
                </a:solidFill>
                <a:latin typeface="Arial"/>
                <a:ea typeface="Arial"/>
                <a:cs typeface="Arial"/>
              </a:rPr>
              <a:t>Control-plane custody transfers operating accountability</a:t>
            </a:r>
          </a:p>
        </p:txBody>
      </p:sp>
      <p:sp>
        <p:nvSpPr>
          <p:cNvPr id="5" name="Rectangle 4">
            <a:extLst>
              <a:ext uri="{FF2B5EF4-FFF2-40B4-BE49-F238E27FC236}">
                <a16:creationId xmlns:a16="http://schemas.microsoft.com/office/drawing/2014/main" id="{74B56F5A-34D2-4571-9C53-2711C9E68083}"/>
              </a:ext>
            </a:extLst>
          </p:cNvPr>
          <p:cNvSpPr>
            <a:spLocks noGrp="1"/>
          </p:cNvSpPr>
          <p:nvPr/>
        </p:nvSpPr>
        <p:spPr>
          <a:xfrm>
            <a:off x="628650" y="1514475"/>
            <a:ext cx="10382250" cy="323850"/>
          </a:xfrm>
          <a:prstGeom prst="rect">
            <a:avLst/>
          </a:prstGeom>
          <a:noFill/>
          <a:ln w="0">
            <a:noFill/>
            <a:prstDash val="solid"/>
          </a:ln>
        </p:spPr>
        <p:txBody>
          <a:bodyPr wrap="square" lIns="0" tIns="0" rIns="0" bIns="0" anchor="t">
            <a:noAutofit/>
          </a:bodyPr>
          <a:lstStyle/>
          <a:p>
            <a:pPr algn="l">
              <a:buNone/>
              <a:defRPr sz="1575" b="0" i="0">
                <a:solidFill>
                  <a:srgbClr val="686A66"/>
                </a:solidFill>
                <a:latin typeface="Arial"/>
                <a:ea typeface="Arial"/>
                <a:cs typeface="Arial"/>
              </a:defRPr>
            </a:pPr>
            <a:r>
              <a:rPr sz="1575" b="0" i="0">
                <a:solidFill>
                  <a:srgbClr val="686A66"/>
                </a:solidFill>
                <a:latin typeface="Arial"/>
                <a:ea typeface="Arial"/>
                <a:cs typeface="Arial"/>
              </a:rPr>
              <a:t>Control advantage must be weighed against permanent CP, database, trust, plugin, support and on-call duty.</a:t>
            </a:r>
          </a:p>
        </p:txBody>
      </p:sp>
      <p:sp>
        <p:nvSpPr>
          <p:cNvPr id="6" name="Rectangle 5">
            <a:extLst>
              <a:ext uri="{FF2B5EF4-FFF2-40B4-BE49-F238E27FC236}">
                <a16:creationId xmlns:a16="http://schemas.microsoft.com/office/drawing/2014/main" id="{2E10ED4A-A1F2-4B33-88B9-CB8C1AC94164}"/>
              </a:ext>
            </a:extLst>
          </p:cNvPr>
          <p:cNvSpPr>
            <a:spLocks noGrp="1"/>
          </p:cNvSpPr>
          <p:nvPr/>
        </p:nvSpPr>
        <p:spPr>
          <a:xfrm>
            <a:off x="609600" y="1905000"/>
            <a:ext cx="10972800" cy="9525"/>
          </a:xfrm>
          <a:prstGeom prst="rect">
            <a:avLst/>
          </a:prstGeom>
          <a:solidFill>
            <a:srgbClr val="8A8B86"/>
          </a:solidFill>
          <a:ln w="0">
            <a:noFill/>
            <a:prstDash val="solid"/>
          </a:ln>
        </p:spPr>
        <p:txBody>
          <a:bodyPr/>
          <a:lstStyle/>
          <a:p>
            <a:endParaRPr lang="en-US"/>
          </a:p>
        </p:txBody>
      </p:sp>
      <p:sp>
        <p:nvSpPr>
          <p:cNvPr id="7" name="Rectangle 6">
            <a:extLst>
              <a:ext uri="{FF2B5EF4-FFF2-40B4-BE49-F238E27FC236}">
                <a16:creationId xmlns:a16="http://schemas.microsoft.com/office/drawing/2014/main" id="{7FF7FC03-DD71-4116-9D5A-993CD7FE8942}"/>
              </a:ext>
            </a:extLst>
          </p:cNvPr>
          <p:cNvSpPr>
            <a:spLocks noGrp="1"/>
          </p:cNvSpPr>
          <p:nvPr/>
        </p:nvSpPr>
        <p:spPr>
          <a:xfrm>
            <a:off x="609600" y="6524625"/>
            <a:ext cx="8858250" cy="180975"/>
          </a:xfrm>
          <a:prstGeom prst="rect">
            <a:avLst/>
          </a:prstGeom>
          <a:noFill/>
          <a:ln w="0">
            <a:noFill/>
            <a:prstDash val="solid"/>
          </a:ln>
        </p:spPr>
        <p:txBody>
          <a:bodyPr wrap="square" lIns="0" tIns="0" rIns="0" bIns="0" anchor="ctr">
            <a:normAutofit/>
          </a:bodyPr>
          <a:lstStyle/>
          <a:p>
            <a:pPr>
              <a:buNone/>
              <a:defRPr sz="825">
                <a:solidFill>
                  <a:srgbClr val="666762"/>
                </a:solidFill>
              </a:defRPr>
            </a:pPr>
            <a:r>
              <a:rPr sz="825" b="1">
                <a:solidFill>
                  <a:srgbClr val="666762"/>
                </a:solidFill>
              </a:rPr>
              <a:t>REFERENCES  </a:t>
            </a:r>
            <a:r>
              <a:rPr sz="825" u="sng">
                <a:solidFill>
                  <a:srgbClr val="666762"/>
                </a:solidFill>
                <a:hlinkClick r:id="rId3"/>
              </a:rPr>
              <a:t>Repo reference</a:t>
            </a:r>
            <a:r>
              <a:rPr sz="825">
                <a:solidFill>
                  <a:srgbClr val="666762"/>
                </a:solidFill>
              </a:rPr>
              <a:t>  ·  </a:t>
            </a:r>
            <a:r>
              <a:rPr sz="825" u="sng">
                <a:solidFill>
                  <a:srgbClr val="666762"/>
                </a:solidFill>
                <a:hlinkClick r:id="rId4"/>
              </a:rPr>
              <a:t>Official docs</a:t>
            </a:r>
          </a:p>
        </p:txBody>
      </p:sp>
      <p:sp>
        <p:nvSpPr>
          <p:cNvPr id="8" name="Rectangle 7">
            <a:extLst>
              <a:ext uri="{FF2B5EF4-FFF2-40B4-BE49-F238E27FC236}">
                <a16:creationId xmlns:a16="http://schemas.microsoft.com/office/drawing/2014/main" id="{9179D6E3-F736-48EC-9DAE-CB5E14FC5C42}"/>
              </a:ext>
            </a:extLst>
          </p:cNvPr>
          <p:cNvSpPr>
            <a:spLocks noGrp="1"/>
          </p:cNvSpPr>
          <p:nvPr/>
        </p:nvSpPr>
        <p:spPr>
          <a:xfrm>
            <a:off x="10287000" y="6486525"/>
            <a:ext cx="1295400" cy="209550"/>
          </a:xfrm>
          <a:prstGeom prst="rect">
            <a:avLst/>
          </a:prstGeom>
          <a:noFill/>
          <a:ln w="0">
            <a:noFill/>
            <a:prstDash val="solid"/>
          </a:ln>
        </p:spPr>
        <p:txBody>
          <a:bodyPr wrap="square" lIns="0" tIns="0" rIns="0" bIns="0" anchor="t">
            <a:normAutofit/>
          </a:bodyPr>
          <a:lstStyle/>
          <a:p>
            <a:pPr algn="r">
              <a:buNone/>
              <a:defRPr sz="975" b="1" i="0">
                <a:solidFill>
                  <a:srgbClr val="686A66"/>
                </a:solidFill>
                <a:latin typeface="Consolas"/>
                <a:ea typeface="Consolas"/>
                <a:cs typeface="Consolas"/>
              </a:defRPr>
            </a:pPr>
            <a:r>
              <a:rPr sz="975" b="1" i="0">
                <a:solidFill>
                  <a:srgbClr val="686A66"/>
                </a:solidFill>
                <a:latin typeface="Consolas"/>
                <a:ea typeface="Consolas"/>
                <a:cs typeface="Consolas"/>
              </a:rPr>
              <a:t>08 / 25</a:t>
            </a:r>
          </a:p>
        </p:txBody>
      </p:sp>
      <p:sp>
        <p:nvSpPr>
          <p:cNvPr id="9" name="Rectangle 8">
            <a:extLst>
              <a:ext uri="{FF2B5EF4-FFF2-40B4-BE49-F238E27FC236}">
                <a16:creationId xmlns:a16="http://schemas.microsoft.com/office/drawing/2014/main" id="{E4C6145F-0FD0-4DE4-94E7-70F2685704D6}"/>
              </a:ext>
            </a:extLst>
          </p:cNvPr>
          <p:cNvSpPr>
            <a:spLocks noGrp="1"/>
          </p:cNvSpPr>
          <p:nvPr/>
        </p:nvSpPr>
        <p:spPr>
          <a:xfrm>
            <a:off x="685800" y="2219325"/>
            <a:ext cx="2476500" cy="266700"/>
          </a:xfrm>
          <a:prstGeom prst="rect">
            <a:avLst/>
          </a:prstGeom>
          <a:noFill/>
          <a:ln w="0">
            <a:noFill/>
            <a:prstDash val="solid"/>
          </a:ln>
        </p:spPr>
        <p:txBody>
          <a:bodyPr wrap="square" lIns="0" tIns="0" rIns="0" bIns="0" anchor="t">
            <a:normAutofit/>
          </a:bodyPr>
          <a:lstStyle/>
          <a:p>
            <a:pPr algn="l">
              <a:buNone/>
              <a:defRPr sz="1200" b="1" i="0">
                <a:solidFill>
                  <a:srgbClr val="197457"/>
                </a:solidFill>
                <a:latin typeface="Consolas"/>
                <a:ea typeface="Consolas"/>
                <a:cs typeface="Consolas"/>
              </a:defRPr>
            </a:pPr>
            <a:r>
              <a:rPr sz="1200" b="1" i="0">
                <a:solidFill>
                  <a:srgbClr val="197457"/>
                </a:solidFill>
                <a:latin typeface="Consolas"/>
                <a:ea typeface="Consolas"/>
                <a:cs typeface="Consolas"/>
              </a:rPr>
              <a:t>WHY IT FITS</a:t>
            </a:r>
          </a:p>
        </p:txBody>
      </p:sp>
      <p:sp>
        <p:nvSpPr>
          <p:cNvPr id="10" name="Oval 9">
            <a:extLst>
              <a:ext uri="{FF2B5EF4-FFF2-40B4-BE49-F238E27FC236}">
                <a16:creationId xmlns:a16="http://schemas.microsoft.com/office/drawing/2014/main" id="{16B53C52-16CD-48D9-824E-C418CA1A098C}"/>
              </a:ext>
            </a:extLst>
          </p:cNvPr>
          <p:cNvSpPr>
            <a:spLocks noGrp="1"/>
          </p:cNvSpPr>
          <p:nvPr/>
        </p:nvSpPr>
        <p:spPr>
          <a:xfrm>
            <a:off x="723900" y="2752725"/>
            <a:ext cx="95250" cy="95250"/>
          </a:xfrm>
          <a:prstGeom prst="ellipse">
            <a:avLst/>
          </a:prstGeom>
          <a:solidFill>
            <a:srgbClr val="197457"/>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3AF91AFF-46BE-4850-891E-0B033DA99EF2}"/>
              </a:ext>
            </a:extLst>
          </p:cNvPr>
          <p:cNvSpPr>
            <a:spLocks noGrp="1"/>
          </p:cNvSpPr>
          <p:nvPr/>
        </p:nvSpPr>
        <p:spPr>
          <a:xfrm>
            <a:off x="952500" y="2667000"/>
            <a:ext cx="4629150" cy="666750"/>
          </a:xfrm>
          <a:prstGeom prst="rect">
            <a:avLst/>
          </a:prstGeom>
          <a:noFill/>
          <a:ln w="0">
            <a:noFill/>
            <a:prstDash val="solid"/>
          </a:ln>
        </p:spPr>
        <p:txBody>
          <a:bodyPr wrap="square" lIns="0" tIns="0" rIns="0" bIns="0" anchor="t">
            <a:normAutofit/>
          </a:bodyPr>
          <a:lstStyle/>
          <a:p>
            <a:pPr algn="l">
              <a:buNone/>
              <a:defRPr sz="1575" b="0" i="0">
                <a:solidFill>
                  <a:srgbClr val="111111"/>
                </a:solidFill>
                <a:latin typeface="Arial"/>
                <a:ea typeface="Arial"/>
                <a:cs typeface="Arial"/>
              </a:defRPr>
            </a:pPr>
            <a:r>
              <a:rPr sz="1575" b="0" i="0">
                <a:solidFill>
                  <a:srgbClr val="111111"/>
                </a:solidFill>
                <a:latin typeface="Arial"/>
                <a:ea typeface="Arial"/>
                <a:cs typeface="Arial"/>
              </a:rPr>
              <a:t>Configuration authority remains inside the enterprise boundary</a:t>
            </a:r>
          </a:p>
        </p:txBody>
      </p:sp>
      <p:sp>
        <p:nvSpPr>
          <p:cNvPr id="12" name="Oval 11">
            <a:extLst>
              <a:ext uri="{FF2B5EF4-FFF2-40B4-BE49-F238E27FC236}">
                <a16:creationId xmlns:a16="http://schemas.microsoft.com/office/drawing/2014/main" id="{C899E149-702E-4EA5-BE77-9102AD4F8CBC}"/>
              </a:ext>
            </a:extLst>
          </p:cNvPr>
          <p:cNvSpPr>
            <a:spLocks noGrp="1"/>
          </p:cNvSpPr>
          <p:nvPr/>
        </p:nvSpPr>
        <p:spPr>
          <a:xfrm>
            <a:off x="723900" y="3438525"/>
            <a:ext cx="95250" cy="95250"/>
          </a:xfrm>
          <a:prstGeom prst="ellipse">
            <a:avLst/>
          </a:prstGeom>
          <a:solidFill>
            <a:srgbClr val="197457"/>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759A2730-D870-4DAF-B3AA-1D75FF5613F6}"/>
              </a:ext>
            </a:extLst>
          </p:cNvPr>
          <p:cNvSpPr>
            <a:spLocks noGrp="1"/>
          </p:cNvSpPr>
          <p:nvPr/>
        </p:nvSpPr>
        <p:spPr>
          <a:xfrm>
            <a:off x="952500" y="3352800"/>
            <a:ext cx="4629150" cy="666750"/>
          </a:xfrm>
          <a:prstGeom prst="rect">
            <a:avLst/>
          </a:prstGeom>
          <a:noFill/>
          <a:ln w="0">
            <a:noFill/>
            <a:prstDash val="solid"/>
          </a:ln>
        </p:spPr>
        <p:txBody>
          <a:bodyPr wrap="square" lIns="0" tIns="0" rIns="0" bIns="0" anchor="t">
            <a:normAutofit/>
          </a:bodyPr>
          <a:lstStyle/>
          <a:p>
            <a:pPr algn="l">
              <a:buNone/>
              <a:defRPr sz="1575" b="0" i="0">
                <a:solidFill>
                  <a:srgbClr val="111111"/>
                </a:solidFill>
                <a:latin typeface="Arial"/>
                <a:ea typeface="Arial"/>
                <a:cs typeface="Arial"/>
              </a:defRPr>
            </a:pPr>
            <a:r>
              <a:rPr sz="1575" b="0" i="0">
                <a:solidFill>
                  <a:srgbClr val="111111"/>
                </a:solidFill>
                <a:latin typeface="Arial"/>
                <a:ea typeface="Arial"/>
                <a:cs typeface="Arial"/>
              </a:rPr>
              <a:t>Data planes stay close to workloads</a:t>
            </a:r>
          </a:p>
        </p:txBody>
      </p:sp>
      <p:sp>
        <p:nvSpPr>
          <p:cNvPr id="14" name="Oval 13">
            <a:extLst>
              <a:ext uri="{FF2B5EF4-FFF2-40B4-BE49-F238E27FC236}">
                <a16:creationId xmlns:a16="http://schemas.microsoft.com/office/drawing/2014/main" id="{8D89CE81-DABD-49D8-ADA5-C8E613687172}"/>
              </a:ext>
            </a:extLst>
          </p:cNvPr>
          <p:cNvSpPr>
            <a:spLocks noGrp="1"/>
          </p:cNvSpPr>
          <p:nvPr/>
        </p:nvSpPr>
        <p:spPr>
          <a:xfrm>
            <a:off x="723900" y="4124325"/>
            <a:ext cx="95250" cy="95250"/>
          </a:xfrm>
          <a:prstGeom prst="ellipse">
            <a:avLst/>
          </a:prstGeom>
          <a:solidFill>
            <a:srgbClr val="197457"/>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E4601527-130F-4BF4-AC88-4F685E49C2DE}"/>
              </a:ext>
            </a:extLst>
          </p:cNvPr>
          <p:cNvSpPr>
            <a:spLocks noGrp="1"/>
          </p:cNvSpPr>
          <p:nvPr/>
        </p:nvSpPr>
        <p:spPr>
          <a:xfrm>
            <a:off x="952500" y="4038600"/>
            <a:ext cx="4629150" cy="666750"/>
          </a:xfrm>
          <a:prstGeom prst="rect">
            <a:avLst/>
          </a:prstGeom>
          <a:noFill/>
          <a:ln w="0">
            <a:noFill/>
            <a:prstDash val="solid"/>
          </a:ln>
        </p:spPr>
        <p:txBody>
          <a:bodyPr wrap="square" lIns="0" tIns="0" rIns="0" bIns="0" anchor="t">
            <a:normAutofit/>
          </a:bodyPr>
          <a:lstStyle/>
          <a:p>
            <a:pPr algn="l">
              <a:buNone/>
              <a:defRPr sz="1575" b="0" i="0">
                <a:solidFill>
                  <a:srgbClr val="111111"/>
                </a:solidFill>
                <a:latin typeface="Arial"/>
                <a:ea typeface="Arial"/>
                <a:cs typeface="Arial"/>
              </a:defRPr>
            </a:pPr>
            <a:r>
              <a:rPr sz="1575" b="0" i="0">
                <a:solidFill>
                  <a:srgbClr val="111111"/>
                </a:solidFill>
                <a:latin typeface="Arial"/>
                <a:ea typeface="Arial"/>
                <a:cs typeface="Arial"/>
              </a:rPr>
              <a:t>Accepted config continues proxying through control-plane loss</a:t>
            </a:r>
          </a:p>
        </p:txBody>
      </p:sp>
      <p:sp>
        <p:nvSpPr>
          <p:cNvPr id="16" name="Oval 15">
            <a:extLst>
              <a:ext uri="{FF2B5EF4-FFF2-40B4-BE49-F238E27FC236}">
                <a16:creationId xmlns:a16="http://schemas.microsoft.com/office/drawing/2014/main" id="{79905140-388E-449B-BFFE-D3AF94CEC1C2}"/>
              </a:ext>
            </a:extLst>
          </p:cNvPr>
          <p:cNvSpPr>
            <a:spLocks noGrp="1"/>
          </p:cNvSpPr>
          <p:nvPr/>
        </p:nvSpPr>
        <p:spPr>
          <a:xfrm>
            <a:off x="723900" y="4810125"/>
            <a:ext cx="95250" cy="95250"/>
          </a:xfrm>
          <a:prstGeom prst="ellipse">
            <a:avLst/>
          </a:prstGeom>
          <a:solidFill>
            <a:srgbClr val="197457"/>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ADE52F10-2A9D-4FFD-81E0-9FB446E09F4C}"/>
              </a:ext>
            </a:extLst>
          </p:cNvPr>
          <p:cNvSpPr>
            <a:spLocks noGrp="1"/>
          </p:cNvSpPr>
          <p:nvPr/>
        </p:nvSpPr>
        <p:spPr>
          <a:xfrm>
            <a:off x="952500" y="4724400"/>
            <a:ext cx="4629150" cy="666750"/>
          </a:xfrm>
          <a:prstGeom prst="rect">
            <a:avLst/>
          </a:prstGeom>
          <a:noFill/>
          <a:ln w="0">
            <a:noFill/>
            <a:prstDash val="solid"/>
          </a:ln>
        </p:spPr>
        <p:txBody>
          <a:bodyPr wrap="square" lIns="0" tIns="0" rIns="0" bIns="0" anchor="t">
            <a:normAutofit/>
          </a:bodyPr>
          <a:lstStyle/>
          <a:p>
            <a:pPr algn="l">
              <a:buNone/>
              <a:defRPr sz="1575" b="0" i="0">
                <a:solidFill>
                  <a:srgbClr val="111111"/>
                </a:solidFill>
                <a:latin typeface="Arial"/>
                <a:ea typeface="Arial"/>
                <a:cs typeface="Arial"/>
              </a:defRPr>
            </a:pPr>
            <a:r>
              <a:rPr sz="1575" b="0" i="0">
                <a:solidFill>
                  <a:srgbClr val="111111"/>
                </a:solidFill>
                <a:latin typeface="Arial"/>
                <a:ea typeface="Arial"/>
                <a:cs typeface="Arial"/>
              </a:rPr>
              <a:t>Open telemetry and plugin ecosystem fit the platform model</a:t>
            </a:r>
          </a:p>
        </p:txBody>
      </p:sp>
      <p:sp>
        <p:nvSpPr>
          <p:cNvPr id="18" name="Rectangle 17">
            <a:extLst>
              <a:ext uri="{FF2B5EF4-FFF2-40B4-BE49-F238E27FC236}">
                <a16:creationId xmlns:a16="http://schemas.microsoft.com/office/drawing/2014/main" id="{FCF8398C-72F3-43A1-A571-9C2B7C44DC23}"/>
              </a:ext>
            </a:extLst>
          </p:cNvPr>
          <p:cNvSpPr>
            <a:spLocks noGrp="1"/>
          </p:cNvSpPr>
          <p:nvPr/>
        </p:nvSpPr>
        <p:spPr>
          <a:xfrm>
            <a:off x="6019800" y="2143125"/>
            <a:ext cx="19050" cy="3771900"/>
          </a:xfrm>
          <a:prstGeom prst="rect">
            <a:avLst/>
          </a:prstGeom>
          <a:solidFill>
            <a:srgbClr val="8A8B86"/>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9456E6A0-2B0A-41F8-8750-FA64E7129D2F}"/>
              </a:ext>
            </a:extLst>
          </p:cNvPr>
          <p:cNvSpPr>
            <a:spLocks noGrp="1"/>
          </p:cNvSpPr>
          <p:nvPr/>
        </p:nvSpPr>
        <p:spPr>
          <a:xfrm>
            <a:off x="6457950" y="2219325"/>
            <a:ext cx="2857500" cy="266700"/>
          </a:xfrm>
          <a:prstGeom prst="rect">
            <a:avLst/>
          </a:prstGeom>
          <a:noFill/>
          <a:ln w="0">
            <a:noFill/>
            <a:prstDash val="solid"/>
          </a:ln>
        </p:spPr>
        <p:txBody>
          <a:bodyPr wrap="square" lIns="0" tIns="0" rIns="0" bIns="0" anchor="t">
            <a:normAutofit/>
          </a:bodyPr>
          <a:lstStyle/>
          <a:p>
            <a:pPr algn="l">
              <a:buNone/>
              <a:defRPr sz="1200" b="1" i="0">
                <a:solidFill>
                  <a:srgbClr val="C73C2C"/>
                </a:solidFill>
                <a:latin typeface="Consolas"/>
                <a:ea typeface="Consolas"/>
                <a:cs typeface="Consolas"/>
              </a:defRPr>
            </a:pPr>
            <a:r>
              <a:rPr sz="1200" b="1" i="0">
                <a:solidFill>
                  <a:srgbClr val="C73C2C"/>
                </a:solidFill>
                <a:latin typeface="Consolas"/>
                <a:ea typeface="Consolas"/>
                <a:cs typeface="Consolas"/>
              </a:rPr>
              <a:t>OPERATING ACCOUNTABILITY</a:t>
            </a:r>
          </a:p>
        </p:txBody>
      </p:sp>
      <p:sp>
        <p:nvSpPr>
          <p:cNvPr id="20" name="Oval 19">
            <a:extLst>
              <a:ext uri="{FF2B5EF4-FFF2-40B4-BE49-F238E27FC236}">
                <a16:creationId xmlns:a16="http://schemas.microsoft.com/office/drawing/2014/main" id="{84125748-15A5-4A9C-AD4A-0E37B6247B49}"/>
              </a:ext>
            </a:extLst>
          </p:cNvPr>
          <p:cNvSpPr>
            <a:spLocks noGrp="1"/>
          </p:cNvSpPr>
          <p:nvPr/>
        </p:nvSpPr>
        <p:spPr>
          <a:xfrm>
            <a:off x="6496050" y="2752725"/>
            <a:ext cx="95250" cy="95250"/>
          </a:xfrm>
          <a:prstGeom prst="ellipse">
            <a:avLst/>
          </a:prstGeom>
          <a:solidFill>
            <a:srgbClr val="C73C2C"/>
          </a:solidFill>
          <a:ln w="0">
            <a:noFill/>
            <a:prstDash val="solid"/>
          </a:ln>
        </p:spPr>
        <p:txBody>
          <a:bodyPr/>
          <a:lstStyle/>
          <a:p>
            <a:endParaRPr lang="en-US"/>
          </a:p>
        </p:txBody>
      </p:sp>
      <p:sp>
        <p:nvSpPr>
          <p:cNvPr id="21" name="Rectangle 20">
            <a:extLst>
              <a:ext uri="{FF2B5EF4-FFF2-40B4-BE49-F238E27FC236}">
                <a16:creationId xmlns:a16="http://schemas.microsoft.com/office/drawing/2014/main" id="{EDD3A123-2B9E-4528-AC7E-ED347AB8369E}"/>
              </a:ext>
            </a:extLst>
          </p:cNvPr>
          <p:cNvSpPr>
            <a:spLocks noGrp="1"/>
          </p:cNvSpPr>
          <p:nvPr/>
        </p:nvSpPr>
        <p:spPr>
          <a:xfrm>
            <a:off x="6724650" y="2667000"/>
            <a:ext cx="4533900" cy="666750"/>
          </a:xfrm>
          <a:prstGeom prst="rect">
            <a:avLst/>
          </a:prstGeom>
          <a:noFill/>
          <a:ln w="0">
            <a:noFill/>
            <a:prstDash val="solid"/>
          </a:ln>
        </p:spPr>
        <p:txBody>
          <a:bodyPr wrap="square" lIns="0" tIns="0" rIns="0" bIns="0" anchor="t">
            <a:normAutofit/>
          </a:bodyPr>
          <a:lstStyle/>
          <a:p>
            <a:pPr algn="l">
              <a:buNone/>
              <a:defRPr sz="1575" b="0" i="0">
                <a:solidFill>
                  <a:srgbClr val="111111"/>
                </a:solidFill>
                <a:latin typeface="Arial"/>
                <a:ea typeface="Arial"/>
                <a:cs typeface="Arial"/>
              </a:defRPr>
            </a:pPr>
            <a:r>
              <a:rPr sz="1575" b="0" i="0">
                <a:solidFill>
                  <a:srgbClr val="111111"/>
                </a:solidFill>
                <a:latin typeface="Arial"/>
                <a:ea typeface="Arial"/>
                <a:cs typeface="Arial"/>
              </a:rPr>
              <a:t>Scalability, regional robustness and recovery</a:t>
            </a:r>
          </a:p>
        </p:txBody>
      </p:sp>
      <p:sp>
        <p:nvSpPr>
          <p:cNvPr id="22" name="Oval 21">
            <a:extLst>
              <a:ext uri="{FF2B5EF4-FFF2-40B4-BE49-F238E27FC236}">
                <a16:creationId xmlns:a16="http://schemas.microsoft.com/office/drawing/2014/main" id="{D7B11C20-4376-45DA-B368-3522360FD1C1}"/>
              </a:ext>
            </a:extLst>
          </p:cNvPr>
          <p:cNvSpPr>
            <a:spLocks noGrp="1"/>
          </p:cNvSpPr>
          <p:nvPr/>
        </p:nvSpPr>
        <p:spPr>
          <a:xfrm>
            <a:off x="6496050" y="3438525"/>
            <a:ext cx="95250" cy="95250"/>
          </a:xfrm>
          <a:prstGeom prst="ellipse">
            <a:avLst/>
          </a:prstGeom>
          <a:solidFill>
            <a:srgbClr val="C73C2C"/>
          </a:solidFill>
          <a:ln w="0">
            <a:noFill/>
            <a:prstDash val="solid"/>
          </a:ln>
        </p:spPr>
        <p:txBody>
          <a:bodyPr/>
          <a:lstStyle/>
          <a:p>
            <a:endParaRPr lang="en-US"/>
          </a:p>
        </p:txBody>
      </p:sp>
      <p:sp>
        <p:nvSpPr>
          <p:cNvPr id="23" name="Rectangle 22">
            <a:extLst>
              <a:ext uri="{FF2B5EF4-FFF2-40B4-BE49-F238E27FC236}">
                <a16:creationId xmlns:a16="http://schemas.microsoft.com/office/drawing/2014/main" id="{15249425-28CD-4353-AC9A-29D98112DB10}"/>
              </a:ext>
            </a:extLst>
          </p:cNvPr>
          <p:cNvSpPr>
            <a:spLocks noGrp="1"/>
          </p:cNvSpPr>
          <p:nvPr/>
        </p:nvSpPr>
        <p:spPr>
          <a:xfrm>
            <a:off x="6724650" y="3352800"/>
            <a:ext cx="4533900" cy="666750"/>
          </a:xfrm>
          <a:prstGeom prst="rect">
            <a:avLst/>
          </a:prstGeom>
          <a:noFill/>
          <a:ln w="0">
            <a:noFill/>
            <a:prstDash val="solid"/>
          </a:ln>
        </p:spPr>
        <p:txBody>
          <a:bodyPr wrap="square" lIns="0" tIns="0" rIns="0" bIns="0" anchor="t">
            <a:normAutofit/>
          </a:bodyPr>
          <a:lstStyle/>
          <a:p>
            <a:pPr algn="l">
              <a:buNone/>
              <a:defRPr sz="1575" b="0" i="0">
                <a:solidFill>
                  <a:srgbClr val="111111"/>
                </a:solidFill>
                <a:latin typeface="Arial"/>
                <a:ea typeface="Arial"/>
                <a:cs typeface="Arial"/>
              </a:defRPr>
            </a:pPr>
            <a:r>
              <a:rPr sz="1575" b="0" i="0">
                <a:solidFill>
                  <a:srgbClr val="111111"/>
                </a:solidFill>
                <a:latin typeface="Arial"/>
                <a:ea typeface="Arial"/>
                <a:cs typeface="Arial"/>
              </a:rPr>
              <a:t>Security, IAM, PKI and access lifecycle</a:t>
            </a:r>
          </a:p>
        </p:txBody>
      </p:sp>
      <p:sp>
        <p:nvSpPr>
          <p:cNvPr id="24" name="Oval 23">
            <a:extLst>
              <a:ext uri="{FF2B5EF4-FFF2-40B4-BE49-F238E27FC236}">
                <a16:creationId xmlns:a16="http://schemas.microsoft.com/office/drawing/2014/main" id="{E8D699E6-1942-41D7-B9DB-133395F260A5}"/>
              </a:ext>
            </a:extLst>
          </p:cNvPr>
          <p:cNvSpPr>
            <a:spLocks noGrp="1"/>
          </p:cNvSpPr>
          <p:nvPr/>
        </p:nvSpPr>
        <p:spPr>
          <a:xfrm>
            <a:off x="6496050" y="4124325"/>
            <a:ext cx="95250" cy="95250"/>
          </a:xfrm>
          <a:prstGeom prst="ellipse">
            <a:avLst/>
          </a:prstGeom>
          <a:solidFill>
            <a:srgbClr val="C73C2C"/>
          </a:solidFill>
          <a:ln w="0">
            <a:noFill/>
            <a:prstDash val="solid"/>
          </a:ln>
        </p:spPr>
        <p:txBody>
          <a:bodyPr/>
          <a:lstStyle/>
          <a:p>
            <a:endParaRPr lang="en-US"/>
          </a:p>
        </p:txBody>
      </p:sp>
      <p:sp>
        <p:nvSpPr>
          <p:cNvPr id="25" name="Rectangle 24">
            <a:extLst>
              <a:ext uri="{FF2B5EF4-FFF2-40B4-BE49-F238E27FC236}">
                <a16:creationId xmlns:a16="http://schemas.microsoft.com/office/drawing/2014/main" id="{BB4B5E08-6F23-4A72-A6F2-BB53935F0405}"/>
              </a:ext>
            </a:extLst>
          </p:cNvPr>
          <p:cNvSpPr>
            <a:spLocks noGrp="1"/>
          </p:cNvSpPr>
          <p:nvPr/>
        </p:nvSpPr>
        <p:spPr>
          <a:xfrm>
            <a:off x="6724650" y="4038600"/>
            <a:ext cx="4533900" cy="666750"/>
          </a:xfrm>
          <a:prstGeom prst="rect">
            <a:avLst/>
          </a:prstGeom>
          <a:noFill/>
          <a:ln w="0">
            <a:noFill/>
            <a:prstDash val="solid"/>
          </a:ln>
        </p:spPr>
        <p:txBody>
          <a:bodyPr wrap="square" lIns="0" tIns="0" rIns="0" bIns="0" anchor="t">
            <a:normAutofit/>
          </a:bodyPr>
          <a:lstStyle/>
          <a:p>
            <a:pPr algn="l">
              <a:buNone/>
              <a:defRPr sz="1575" b="0" i="0">
                <a:solidFill>
                  <a:srgbClr val="111111"/>
                </a:solidFill>
                <a:latin typeface="Arial"/>
                <a:ea typeface="Arial"/>
                <a:cs typeface="Arial"/>
              </a:defRPr>
            </a:pPr>
            <a:r>
              <a:rPr sz="1575" b="0" i="0">
                <a:solidFill>
                  <a:srgbClr val="111111"/>
                </a:solidFill>
                <a:latin typeface="Arial"/>
                <a:ea typeface="Arial"/>
                <a:cs typeface="Arial"/>
              </a:rPr>
              <a:t>Traceability, evidence custody and privacy</a:t>
            </a:r>
          </a:p>
        </p:txBody>
      </p:sp>
      <p:sp>
        <p:nvSpPr>
          <p:cNvPr id="26" name="Oval 25">
            <a:extLst>
              <a:ext uri="{FF2B5EF4-FFF2-40B4-BE49-F238E27FC236}">
                <a16:creationId xmlns:a16="http://schemas.microsoft.com/office/drawing/2014/main" id="{CA3AD698-F594-43F6-978D-DDB07350BBBF}"/>
              </a:ext>
            </a:extLst>
          </p:cNvPr>
          <p:cNvSpPr>
            <a:spLocks noGrp="1"/>
          </p:cNvSpPr>
          <p:nvPr/>
        </p:nvSpPr>
        <p:spPr>
          <a:xfrm>
            <a:off x="6496050" y="4810125"/>
            <a:ext cx="95250" cy="95250"/>
          </a:xfrm>
          <a:prstGeom prst="ellipse">
            <a:avLst/>
          </a:prstGeom>
          <a:solidFill>
            <a:srgbClr val="C73C2C"/>
          </a:solidFill>
          <a:ln w="0">
            <a:noFill/>
            <a:prstDash val="solid"/>
          </a:ln>
        </p:spPr>
        <p:txBody>
          <a:bodyPr/>
          <a:lstStyle/>
          <a:p>
            <a:endParaRPr lang="en-US"/>
          </a:p>
        </p:txBody>
      </p:sp>
      <p:sp>
        <p:nvSpPr>
          <p:cNvPr id="27" name="Rectangle 26">
            <a:extLst>
              <a:ext uri="{FF2B5EF4-FFF2-40B4-BE49-F238E27FC236}">
                <a16:creationId xmlns:a16="http://schemas.microsoft.com/office/drawing/2014/main" id="{D524FB0C-4C9E-44DA-AC14-A80480B4B71C}"/>
              </a:ext>
            </a:extLst>
          </p:cNvPr>
          <p:cNvSpPr>
            <a:spLocks noGrp="1"/>
          </p:cNvSpPr>
          <p:nvPr/>
        </p:nvSpPr>
        <p:spPr>
          <a:xfrm>
            <a:off x="6724650" y="4724400"/>
            <a:ext cx="4533900" cy="666750"/>
          </a:xfrm>
          <a:prstGeom prst="rect">
            <a:avLst/>
          </a:prstGeom>
          <a:noFill/>
          <a:ln w="0">
            <a:noFill/>
            <a:prstDash val="solid"/>
          </a:ln>
        </p:spPr>
        <p:txBody>
          <a:bodyPr wrap="square" lIns="0" tIns="0" rIns="0" bIns="0" anchor="t">
            <a:normAutofit/>
          </a:bodyPr>
          <a:lstStyle/>
          <a:p>
            <a:pPr algn="l">
              <a:buNone/>
              <a:defRPr sz="1575" b="0" i="0">
                <a:solidFill>
                  <a:srgbClr val="111111"/>
                </a:solidFill>
                <a:latin typeface="Arial"/>
                <a:ea typeface="Arial"/>
                <a:cs typeface="Arial"/>
              </a:defRPr>
            </a:pPr>
            <a:r>
              <a:rPr sz="1575" b="0" i="0">
                <a:solidFill>
                  <a:srgbClr val="111111"/>
                </a:solidFill>
                <a:latin typeface="Arial"/>
                <a:ea typeface="Arial"/>
                <a:cs typeface="Arial"/>
              </a:rPr>
              <a:t>Licensing, support and fully allocated TCO</a:t>
            </a:r>
          </a:p>
        </p:txBody>
      </p:sp>
      <p:sp>
        <p:nvSpPr>
          <p:cNvPr id="28" name="Rectangle 27">
            <a:extLst>
              <a:ext uri="{FF2B5EF4-FFF2-40B4-BE49-F238E27FC236}">
                <a16:creationId xmlns:a16="http://schemas.microsoft.com/office/drawing/2014/main" id="{0A4FC0C2-8875-4A35-8D58-1B767CB5AE89}"/>
              </a:ext>
            </a:extLst>
          </p:cNvPr>
          <p:cNvSpPr>
            <a:spLocks noGrp="1"/>
          </p:cNvSpPr>
          <p:nvPr/>
        </p:nvSpPr>
        <p:spPr>
          <a:xfrm>
            <a:off x="1714500" y="5924550"/>
            <a:ext cx="8763000" cy="342900"/>
          </a:xfrm>
          <a:prstGeom prst="rect">
            <a:avLst/>
          </a:prstGeom>
          <a:noFill/>
          <a:ln w="0">
            <a:noFill/>
            <a:prstDash val="solid"/>
          </a:ln>
        </p:spPr>
        <p:txBody>
          <a:bodyPr wrap="square" lIns="0" tIns="0" rIns="0" bIns="0" anchor="t">
            <a:normAutofit/>
          </a:bodyPr>
          <a:lstStyle/>
          <a:p>
            <a:pPr algn="ctr">
              <a:buNone/>
              <a:defRPr sz="1725" b="0" i="0">
                <a:solidFill>
                  <a:srgbClr val="111111"/>
                </a:solidFill>
                <a:latin typeface="Georgia"/>
                <a:ea typeface="Georgia"/>
                <a:cs typeface="Georgia"/>
              </a:defRPr>
            </a:pPr>
            <a:r>
              <a:rPr sz="1725" b="0" i="0">
                <a:solidFill>
                  <a:srgbClr val="111111"/>
                </a:solidFill>
                <a:latin typeface="Georgia"/>
                <a:ea typeface="Georgia"/>
                <a:cs typeface="Georgia"/>
              </a:rPr>
              <a:t>Operating responsibility exposure—not a legal-liability determination.</a:t>
            </a:r>
          </a:p>
        </p:txBody>
      </p:sp>
    </p:spTree>
    <p:extLst>
      <p:ext uri="{BB962C8B-B14F-4D97-AF65-F5344CB8AC3E}">
        <p14:creationId xmlns:p14="http://schemas.microsoft.com/office/powerpoint/2010/main" val="5542014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65481323-BA13-49E2-8FD7-E9B394A4B4AE}"/>
              </a:ext>
            </a:extLst>
          </p:cNvPr>
          <p:cNvSpPr>
            <a:spLocks noGrp="1"/>
          </p:cNvSpPr>
          <p:nvPr/>
        </p:nvSpPr>
        <p:spPr>
          <a:xfrm>
            <a:off x="0" y="0"/>
            <a:ext cx="12192000" cy="266700"/>
          </a:xfrm>
          <a:prstGeom prst="rect">
            <a:avLst/>
          </a:prstGeom>
          <a:solidFill>
            <a:srgbClr val="FFC72C"/>
          </a:solidFill>
          <a:ln w="0">
            <a:noFill/>
            <a:prstDash val="solid"/>
          </a:ln>
        </p:spPr>
        <p:txBody>
          <a:bodyPr/>
          <a:lstStyle/>
          <a:p>
            <a:endParaRPr lang="en-US"/>
          </a:p>
        </p:txBody>
      </p:sp>
      <p:sp>
        <p:nvSpPr>
          <p:cNvPr id="2" name="Rectangle 1">
            <a:extLst>
              <a:ext uri="{FF2B5EF4-FFF2-40B4-BE49-F238E27FC236}">
                <a16:creationId xmlns:a16="http://schemas.microsoft.com/office/drawing/2014/main" id="{F0B29446-0486-4C19-AA15-8531D64C5183}"/>
              </a:ext>
            </a:extLst>
          </p:cNvPr>
          <p:cNvSpPr>
            <a:spLocks noGrp="1"/>
          </p:cNvSpPr>
          <p:nvPr/>
        </p:nvSpPr>
        <p:spPr>
          <a:xfrm>
            <a:off x="10668000" y="0"/>
            <a:ext cx="1524000" cy="266700"/>
          </a:xfrm>
          <a:prstGeom prst="rect">
            <a:avLst/>
          </a:prstGeom>
          <a:solidFill>
            <a:srgbClr val="5537D6"/>
          </a:solidFill>
          <a:ln w="0">
            <a:noFill/>
            <a:prstDash val="solid"/>
          </a:ln>
        </p:spPr>
        <p:txBody>
          <a:bodyPr/>
          <a:lstStyle/>
          <a:p>
            <a:endParaRPr lang="en-US"/>
          </a:p>
        </p:txBody>
      </p:sp>
      <p:sp>
        <p:nvSpPr>
          <p:cNvPr id="3" name="Rectangle 2">
            <a:extLst>
              <a:ext uri="{FF2B5EF4-FFF2-40B4-BE49-F238E27FC236}">
                <a16:creationId xmlns:a16="http://schemas.microsoft.com/office/drawing/2014/main" id="{31AE76D9-5623-40DA-8440-BF4019F68DC6}"/>
              </a:ext>
            </a:extLst>
          </p:cNvPr>
          <p:cNvSpPr>
            <a:spLocks noGrp="1"/>
          </p:cNvSpPr>
          <p:nvPr/>
        </p:nvSpPr>
        <p:spPr>
          <a:xfrm>
            <a:off x="609600" y="38100"/>
            <a:ext cx="3429000" cy="190500"/>
          </a:xfrm>
          <a:prstGeom prst="rect">
            <a:avLst/>
          </a:prstGeom>
          <a:noFill/>
          <a:ln w="0">
            <a:noFill/>
            <a:prstDash val="solid"/>
          </a:ln>
        </p:spPr>
        <p:txBody>
          <a:bodyPr wrap="square" lIns="0" tIns="0" rIns="0" bIns="0" anchor="t">
            <a:normAutofit/>
          </a:bodyPr>
          <a:lstStyle/>
          <a:p>
            <a:pPr algn="l">
              <a:buNone/>
              <a:defRPr sz="975" b="1" i="0">
                <a:solidFill>
                  <a:srgbClr val="111111"/>
                </a:solidFill>
                <a:latin typeface="Consolas"/>
                <a:ea typeface="Consolas"/>
                <a:cs typeface="Consolas"/>
              </a:defRPr>
            </a:pPr>
            <a:r>
              <a:rPr sz="975" b="1" i="0">
                <a:solidFill>
                  <a:srgbClr val="111111"/>
                </a:solidFill>
                <a:latin typeface="Consolas"/>
                <a:ea typeface="Consolas"/>
                <a:cs typeface="Consolas"/>
              </a:rPr>
              <a:t>09 / ARCHITECTURE</a:t>
            </a:r>
          </a:p>
        </p:txBody>
      </p:sp>
      <p:sp>
        <p:nvSpPr>
          <p:cNvPr id="4" name="Rectangle 3">
            <a:extLst>
              <a:ext uri="{FF2B5EF4-FFF2-40B4-BE49-F238E27FC236}">
                <a16:creationId xmlns:a16="http://schemas.microsoft.com/office/drawing/2014/main" id="{C01D6A34-66D0-4E06-AD0C-BE0A0919C6A4}"/>
              </a:ext>
            </a:extLst>
          </p:cNvPr>
          <p:cNvSpPr>
            <a:spLocks noGrp="1"/>
          </p:cNvSpPr>
          <p:nvPr/>
        </p:nvSpPr>
        <p:spPr>
          <a:xfrm>
            <a:off x="609600" y="428625"/>
            <a:ext cx="10572750" cy="1028700"/>
          </a:xfrm>
          <a:prstGeom prst="rect">
            <a:avLst/>
          </a:prstGeom>
          <a:noFill/>
          <a:ln w="0">
            <a:noFill/>
            <a:prstDash val="solid"/>
          </a:ln>
        </p:spPr>
        <p:txBody>
          <a:bodyPr wrap="square" lIns="0" tIns="0" rIns="0" bIns="0" anchor="t">
            <a:noAutofit/>
          </a:bodyPr>
          <a:lstStyle/>
          <a:p>
            <a:pPr algn="l">
              <a:buNone/>
              <a:defRPr sz="3300" b="1" i="0">
                <a:solidFill>
                  <a:srgbClr val="111111"/>
                </a:solidFill>
                <a:latin typeface="Arial"/>
                <a:ea typeface="Arial"/>
                <a:cs typeface="Arial"/>
              </a:defRPr>
            </a:pPr>
            <a:r>
              <a:rPr sz="3300" b="1" i="0">
                <a:solidFill>
                  <a:srgbClr val="111111"/>
                </a:solidFill>
                <a:latin typeface="Arial"/>
                <a:ea typeface="Arial"/>
                <a:cs typeface="Arial"/>
              </a:rPr>
              <a:t>One control boundary; distributed request runtimes</a:t>
            </a:r>
          </a:p>
        </p:txBody>
      </p:sp>
      <p:sp>
        <p:nvSpPr>
          <p:cNvPr id="5" name="Rectangle 4">
            <a:extLst>
              <a:ext uri="{FF2B5EF4-FFF2-40B4-BE49-F238E27FC236}">
                <a16:creationId xmlns:a16="http://schemas.microsoft.com/office/drawing/2014/main" id="{66EB2E4F-ACDC-4620-936C-2ABEAFECDF1A}"/>
              </a:ext>
            </a:extLst>
          </p:cNvPr>
          <p:cNvSpPr>
            <a:spLocks noGrp="1"/>
          </p:cNvSpPr>
          <p:nvPr/>
        </p:nvSpPr>
        <p:spPr>
          <a:xfrm>
            <a:off x="628650" y="1514475"/>
            <a:ext cx="10382250" cy="323850"/>
          </a:xfrm>
          <a:prstGeom prst="rect">
            <a:avLst/>
          </a:prstGeom>
          <a:noFill/>
          <a:ln w="0">
            <a:noFill/>
            <a:prstDash val="solid"/>
          </a:ln>
        </p:spPr>
        <p:txBody>
          <a:bodyPr wrap="square" lIns="0" tIns="0" rIns="0" bIns="0" anchor="t">
            <a:noAutofit/>
          </a:bodyPr>
          <a:lstStyle/>
          <a:p>
            <a:pPr algn="l">
              <a:buNone/>
              <a:defRPr sz="1575" b="0" i="0">
                <a:solidFill>
                  <a:srgbClr val="686A66"/>
                </a:solidFill>
                <a:latin typeface="Arial"/>
                <a:ea typeface="Arial"/>
                <a:cs typeface="Arial"/>
              </a:defRPr>
            </a:pPr>
            <a:r>
              <a:rPr sz="1575" b="0" i="0">
                <a:solidFill>
                  <a:srgbClr val="686A66"/>
                </a:solidFill>
                <a:latin typeface="Arial"/>
                <a:ea typeface="Arial"/>
                <a:cs typeface="Arial"/>
              </a:rPr>
              <a:t>A simplified target view for discussion—retain the detailed model as engineering reference.</a:t>
            </a:r>
          </a:p>
        </p:txBody>
      </p:sp>
      <p:sp>
        <p:nvSpPr>
          <p:cNvPr id="6" name="Rectangle 5">
            <a:extLst>
              <a:ext uri="{FF2B5EF4-FFF2-40B4-BE49-F238E27FC236}">
                <a16:creationId xmlns:a16="http://schemas.microsoft.com/office/drawing/2014/main" id="{20C27798-3C4D-4F6F-9B1E-0EE617A589E0}"/>
              </a:ext>
            </a:extLst>
          </p:cNvPr>
          <p:cNvSpPr>
            <a:spLocks noGrp="1"/>
          </p:cNvSpPr>
          <p:nvPr/>
        </p:nvSpPr>
        <p:spPr>
          <a:xfrm>
            <a:off x="609600" y="1905000"/>
            <a:ext cx="10972800" cy="9525"/>
          </a:xfrm>
          <a:prstGeom prst="rect">
            <a:avLst/>
          </a:prstGeom>
          <a:solidFill>
            <a:srgbClr val="8A8B86"/>
          </a:solidFill>
          <a:ln w="0">
            <a:noFill/>
            <a:prstDash val="solid"/>
          </a:ln>
        </p:spPr>
        <p:txBody>
          <a:bodyPr/>
          <a:lstStyle/>
          <a:p>
            <a:endParaRPr lang="en-US"/>
          </a:p>
        </p:txBody>
      </p:sp>
      <p:sp>
        <p:nvSpPr>
          <p:cNvPr id="7" name="Rectangle 6">
            <a:extLst>
              <a:ext uri="{FF2B5EF4-FFF2-40B4-BE49-F238E27FC236}">
                <a16:creationId xmlns:a16="http://schemas.microsoft.com/office/drawing/2014/main" id="{EFC47074-9634-4271-B546-5D01174A2815}"/>
              </a:ext>
            </a:extLst>
          </p:cNvPr>
          <p:cNvSpPr>
            <a:spLocks noGrp="1"/>
          </p:cNvSpPr>
          <p:nvPr/>
        </p:nvSpPr>
        <p:spPr>
          <a:xfrm>
            <a:off x="609600" y="6524625"/>
            <a:ext cx="8858250" cy="180975"/>
          </a:xfrm>
          <a:prstGeom prst="rect">
            <a:avLst/>
          </a:prstGeom>
          <a:noFill/>
          <a:ln w="0">
            <a:noFill/>
            <a:prstDash val="solid"/>
          </a:ln>
        </p:spPr>
        <p:txBody>
          <a:bodyPr wrap="square" lIns="0" tIns="0" rIns="0" bIns="0" anchor="ctr">
            <a:normAutofit/>
          </a:bodyPr>
          <a:lstStyle/>
          <a:p>
            <a:pPr>
              <a:buNone/>
              <a:defRPr sz="825">
                <a:solidFill>
                  <a:srgbClr val="666762"/>
                </a:solidFill>
              </a:defRPr>
            </a:pPr>
            <a:r>
              <a:rPr sz="825" b="1">
                <a:solidFill>
                  <a:srgbClr val="666762"/>
                </a:solidFill>
              </a:rPr>
              <a:t>REFERENCES  </a:t>
            </a:r>
            <a:r>
              <a:rPr sz="825" u="sng">
                <a:solidFill>
                  <a:srgbClr val="666762"/>
                </a:solidFill>
                <a:hlinkClick r:id="rId3"/>
              </a:rPr>
              <a:t>Repo reference</a:t>
            </a:r>
            <a:r>
              <a:rPr sz="825">
                <a:solidFill>
                  <a:srgbClr val="666762"/>
                </a:solidFill>
              </a:rPr>
              <a:t>  ·  </a:t>
            </a:r>
            <a:r>
              <a:rPr sz="825" u="sng">
                <a:solidFill>
                  <a:srgbClr val="666762"/>
                </a:solidFill>
                <a:hlinkClick r:id="rId4"/>
              </a:rPr>
              <a:t>Official docs</a:t>
            </a:r>
          </a:p>
        </p:txBody>
      </p:sp>
      <p:sp>
        <p:nvSpPr>
          <p:cNvPr id="8" name="Rectangle 7">
            <a:extLst>
              <a:ext uri="{FF2B5EF4-FFF2-40B4-BE49-F238E27FC236}">
                <a16:creationId xmlns:a16="http://schemas.microsoft.com/office/drawing/2014/main" id="{F7CDBF7E-E5EC-46BE-BD5E-47F035B8B286}"/>
              </a:ext>
            </a:extLst>
          </p:cNvPr>
          <p:cNvSpPr>
            <a:spLocks noGrp="1"/>
          </p:cNvSpPr>
          <p:nvPr/>
        </p:nvSpPr>
        <p:spPr>
          <a:xfrm>
            <a:off x="10287000" y="6486525"/>
            <a:ext cx="1295400" cy="209550"/>
          </a:xfrm>
          <a:prstGeom prst="rect">
            <a:avLst/>
          </a:prstGeom>
          <a:noFill/>
          <a:ln w="0">
            <a:noFill/>
            <a:prstDash val="solid"/>
          </a:ln>
        </p:spPr>
        <p:txBody>
          <a:bodyPr wrap="square" lIns="0" tIns="0" rIns="0" bIns="0" anchor="t">
            <a:normAutofit/>
          </a:bodyPr>
          <a:lstStyle/>
          <a:p>
            <a:pPr algn="r">
              <a:buNone/>
              <a:defRPr sz="975" b="1" i="0">
                <a:solidFill>
                  <a:srgbClr val="686A66"/>
                </a:solidFill>
                <a:latin typeface="Consolas"/>
                <a:ea typeface="Consolas"/>
                <a:cs typeface="Consolas"/>
              </a:defRPr>
            </a:pPr>
            <a:r>
              <a:rPr sz="975" b="1" i="0">
                <a:solidFill>
                  <a:srgbClr val="686A66"/>
                </a:solidFill>
                <a:latin typeface="Consolas"/>
                <a:ea typeface="Consolas"/>
                <a:cs typeface="Consolas"/>
              </a:rPr>
              <a:t>09 / 25</a:t>
            </a:r>
          </a:p>
        </p:txBody>
      </p:sp>
      <p:sp>
        <p:nvSpPr>
          <p:cNvPr id="9" name="Rectangle 8">
            <a:extLst>
              <a:ext uri="{FF2B5EF4-FFF2-40B4-BE49-F238E27FC236}">
                <a16:creationId xmlns:a16="http://schemas.microsoft.com/office/drawing/2014/main" id="{192DB956-9DE4-42F4-ACFC-E8FD0163D76A}"/>
              </a:ext>
            </a:extLst>
          </p:cNvPr>
          <p:cNvSpPr>
            <a:spLocks noGrp="1"/>
          </p:cNvSpPr>
          <p:nvPr/>
        </p:nvSpPr>
        <p:spPr>
          <a:xfrm>
            <a:off x="704850" y="2152650"/>
            <a:ext cx="3143250" cy="209550"/>
          </a:xfrm>
          <a:prstGeom prst="rect">
            <a:avLst/>
          </a:prstGeom>
          <a:noFill/>
          <a:ln w="0">
            <a:noFill/>
            <a:prstDash val="solid"/>
          </a:ln>
        </p:spPr>
        <p:txBody>
          <a:bodyPr wrap="square" lIns="0" tIns="0" rIns="0" bIns="0" anchor="t">
            <a:normAutofit/>
          </a:bodyPr>
          <a:lstStyle/>
          <a:p>
            <a:pPr algn="l">
              <a:buNone/>
              <a:defRPr sz="1050" b="1" i="0">
                <a:solidFill>
                  <a:srgbClr val="5537D6"/>
                </a:solidFill>
                <a:latin typeface="Consolas"/>
                <a:ea typeface="Consolas"/>
                <a:cs typeface="Consolas"/>
              </a:defRPr>
            </a:pPr>
            <a:r>
              <a:rPr sz="1050" b="1" i="0">
                <a:solidFill>
                  <a:srgbClr val="5537D6"/>
                </a:solidFill>
                <a:latin typeface="Consolas"/>
                <a:ea typeface="Consolas"/>
                <a:cs typeface="Consolas"/>
              </a:rPr>
              <a:t>ENTERPRISE CONTROL ZONE</a:t>
            </a:r>
          </a:p>
        </p:txBody>
      </p:sp>
      <p:sp>
        <p:nvSpPr>
          <p:cNvPr id="10" name="Rounded Rectangle 9">
            <a:extLst>
              <a:ext uri="{FF2B5EF4-FFF2-40B4-BE49-F238E27FC236}">
                <a16:creationId xmlns:a16="http://schemas.microsoft.com/office/drawing/2014/main" id="{579B5F6F-7602-41FB-868A-467F2DB9FA36}"/>
              </a:ext>
            </a:extLst>
          </p:cNvPr>
          <p:cNvSpPr>
            <a:spLocks noGrp="1"/>
          </p:cNvSpPr>
          <p:nvPr/>
        </p:nvSpPr>
        <p:spPr>
          <a:xfrm>
            <a:off x="685800" y="2505075"/>
            <a:ext cx="2381250" cy="971550"/>
          </a:xfrm>
          <a:prstGeom prst="roundRect">
            <a:avLst>
              <a:gd name="adj" fmla="val 7843"/>
            </a:avLst>
          </a:prstGeom>
          <a:solidFill>
            <a:srgbClr val="FFFFFF"/>
          </a:solidFill>
          <a:ln w="14288">
            <a:solidFill>
              <a:srgbClr val="FFC72C"/>
            </a:solidFill>
            <a:prstDash val="solid"/>
          </a:ln>
        </p:spPr>
        <p:txBody>
          <a:bodyPr/>
          <a:lstStyle/>
          <a:p>
            <a:endParaRPr lang="en-US"/>
          </a:p>
        </p:txBody>
      </p:sp>
      <p:sp>
        <p:nvSpPr>
          <p:cNvPr id="11" name="Rectangle 10">
            <a:extLst>
              <a:ext uri="{FF2B5EF4-FFF2-40B4-BE49-F238E27FC236}">
                <a16:creationId xmlns:a16="http://schemas.microsoft.com/office/drawing/2014/main" id="{E30274D3-5AC1-49B4-86AA-618738970EE6}"/>
              </a:ext>
            </a:extLst>
          </p:cNvPr>
          <p:cNvSpPr>
            <a:spLocks noGrp="1"/>
          </p:cNvSpPr>
          <p:nvPr/>
        </p:nvSpPr>
        <p:spPr>
          <a:xfrm>
            <a:off x="838200" y="2638425"/>
            <a:ext cx="2076450" cy="400050"/>
          </a:xfrm>
          <a:prstGeom prst="rect">
            <a:avLst/>
          </a:prstGeom>
          <a:noFill/>
          <a:ln w="0">
            <a:noFill/>
            <a:prstDash val="solid"/>
          </a:ln>
        </p:spPr>
        <p:txBody>
          <a:bodyPr wrap="square" lIns="0" tIns="0" rIns="0" bIns="0" anchor="t">
            <a:normAutofit/>
          </a:bodyPr>
          <a:lstStyle/>
          <a:p>
            <a:pPr algn="ctr">
              <a:buNone/>
              <a:defRPr sz="1650" b="1" i="0">
                <a:solidFill>
                  <a:srgbClr val="111111"/>
                </a:solidFill>
                <a:latin typeface="Arial"/>
                <a:ea typeface="Arial"/>
                <a:cs typeface="Arial"/>
              </a:defRPr>
            </a:pPr>
            <a:r>
              <a:rPr sz="1650" b="1" i="0">
                <a:solidFill>
                  <a:srgbClr val="111111"/>
                </a:solidFill>
                <a:latin typeface="Arial"/>
                <a:ea typeface="Arial"/>
                <a:cs typeface="Arial"/>
              </a:rPr>
              <a:t>Kong control plane</a:t>
            </a:r>
          </a:p>
        </p:txBody>
      </p:sp>
      <p:sp>
        <p:nvSpPr>
          <p:cNvPr id="12" name="Rectangle 11">
            <a:extLst>
              <a:ext uri="{FF2B5EF4-FFF2-40B4-BE49-F238E27FC236}">
                <a16:creationId xmlns:a16="http://schemas.microsoft.com/office/drawing/2014/main" id="{5F8D2CE2-FC9F-45E1-917F-CE3005AD76E4}"/>
              </a:ext>
            </a:extLst>
          </p:cNvPr>
          <p:cNvSpPr>
            <a:spLocks noGrp="1"/>
          </p:cNvSpPr>
          <p:nvPr/>
        </p:nvSpPr>
        <p:spPr>
          <a:xfrm>
            <a:off x="819150" y="3038475"/>
            <a:ext cx="2114550" cy="342900"/>
          </a:xfrm>
          <a:prstGeom prst="rect">
            <a:avLst/>
          </a:prstGeom>
          <a:noFill/>
          <a:ln w="0">
            <a:noFill/>
            <a:prstDash val="solid"/>
          </a:ln>
        </p:spPr>
        <p:txBody>
          <a:bodyPr wrap="square" lIns="0" tIns="0" rIns="0" bIns="0" anchor="t">
            <a:normAutofit/>
          </a:bodyPr>
          <a:lstStyle/>
          <a:p>
            <a:pPr algn="ctr">
              <a:buNone/>
              <a:defRPr sz="1125" b="0" i="0">
                <a:solidFill>
                  <a:srgbClr val="686A66"/>
                </a:solidFill>
                <a:latin typeface="Arial"/>
                <a:ea typeface="Arial"/>
                <a:cs typeface="Arial"/>
              </a:defRPr>
            </a:pPr>
            <a:r>
              <a:rPr sz="1125" b="0" i="0">
                <a:solidFill>
                  <a:srgbClr val="686A66"/>
                </a:solidFill>
                <a:latin typeface="Arial"/>
                <a:ea typeface="Arial"/>
                <a:cs typeface="Arial"/>
              </a:rPr>
              <a:t>multiple CP instances · Admin/API · one governed writer</a:t>
            </a:r>
          </a:p>
        </p:txBody>
      </p:sp>
      <p:sp>
        <p:nvSpPr>
          <p:cNvPr id="13" name="Rounded Rectangle 12">
            <a:extLst>
              <a:ext uri="{FF2B5EF4-FFF2-40B4-BE49-F238E27FC236}">
                <a16:creationId xmlns:a16="http://schemas.microsoft.com/office/drawing/2014/main" id="{5AAD8108-9006-4D1D-9B06-D9BDC5F4C43D}"/>
              </a:ext>
            </a:extLst>
          </p:cNvPr>
          <p:cNvSpPr>
            <a:spLocks noGrp="1"/>
          </p:cNvSpPr>
          <p:nvPr/>
        </p:nvSpPr>
        <p:spPr>
          <a:xfrm>
            <a:off x="685800" y="3848100"/>
            <a:ext cx="2381250" cy="857250"/>
          </a:xfrm>
          <a:prstGeom prst="roundRect">
            <a:avLst>
              <a:gd name="adj" fmla="val 8889"/>
            </a:avLst>
          </a:prstGeom>
          <a:solidFill>
            <a:srgbClr val="FFFFFF"/>
          </a:solidFill>
          <a:ln w="14288">
            <a:solidFill>
              <a:srgbClr val="111111"/>
            </a:solidFill>
            <a:prstDash val="solid"/>
          </a:ln>
        </p:spPr>
        <p:txBody>
          <a:bodyPr/>
          <a:lstStyle/>
          <a:p>
            <a:endParaRPr lang="en-US"/>
          </a:p>
        </p:txBody>
      </p:sp>
      <p:sp>
        <p:nvSpPr>
          <p:cNvPr id="14" name="Rectangle 13">
            <a:extLst>
              <a:ext uri="{FF2B5EF4-FFF2-40B4-BE49-F238E27FC236}">
                <a16:creationId xmlns:a16="http://schemas.microsoft.com/office/drawing/2014/main" id="{DD108D7C-8615-4698-A65A-6DE53E6F9A00}"/>
              </a:ext>
            </a:extLst>
          </p:cNvPr>
          <p:cNvSpPr>
            <a:spLocks noGrp="1"/>
          </p:cNvSpPr>
          <p:nvPr/>
        </p:nvSpPr>
        <p:spPr>
          <a:xfrm>
            <a:off x="838200" y="3981450"/>
            <a:ext cx="2076450" cy="400050"/>
          </a:xfrm>
          <a:prstGeom prst="rect">
            <a:avLst/>
          </a:prstGeom>
          <a:noFill/>
          <a:ln w="0">
            <a:noFill/>
            <a:prstDash val="solid"/>
          </a:ln>
        </p:spPr>
        <p:txBody>
          <a:bodyPr wrap="square" lIns="0" tIns="0" rIns="0" bIns="0" anchor="t">
            <a:normAutofit/>
          </a:bodyPr>
          <a:lstStyle/>
          <a:p>
            <a:pPr algn="ctr">
              <a:buNone/>
              <a:defRPr sz="1650" b="1" i="0">
                <a:solidFill>
                  <a:srgbClr val="111111"/>
                </a:solidFill>
                <a:latin typeface="Arial"/>
                <a:ea typeface="Arial"/>
                <a:cs typeface="Arial"/>
              </a:defRPr>
            </a:pPr>
            <a:r>
              <a:rPr sz="1650" b="1" i="0">
                <a:solidFill>
                  <a:srgbClr val="111111"/>
                </a:solidFill>
                <a:latin typeface="Arial"/>
                <a:ea typeface="Arial"/>
                <a:cs typeface="Arial"/>
              </a:rPr>
              <a:t>PostgreSQL HA</a:t>
            </a:r>
          </a:p>
        </p:txBody>
      </p:sp>
      <p:sp>
        <p:nvSpPr>
          <p:cNvPr id="15" name="Rectangle 14">
            <a:extLst>
              <a:ext uri="{FF2B5EF4-FFF2-40B4-BE49-F238E27FC236}">
                <a16:creationId xmlns:a16="http://schemas.microsoft.com/office/drawing/2014/main" id="{44E8DA5A-57CE-4BBF-A042-B66056F95BDF}"/>
              </a:ext>
            </a:extLst>
          </p:cNvPr>
          <p:cNvSpPr>
            <a:spLocks noGrp="1"/>
          </p:cNvSpPr>
          <p:nvPr/>
        </p:nvSpPr>
        <p:spPr>
          <a:xfrm>
            <a:off x="819150" y="4381500"/>
            <a:ext cx="2114550" cy="228600"/>
          </a:xfrm>
          <a:prstGeom prst="rect">
            <a:avLst/>
          </a:prstGeom>
          <a:noFill/>
          <a:ln w="0">
            <a:noFill/>
            <a:prstDash val="solid"/>
          </a:ln>
        </p:spPr>
        <p:txBody>
          <a:bodyPr wrap="square" lIns="0" tIns="0" rIns="0" bIns="0" anchor="t">
            <a:normAutofit fontScale="88857"/>
          </a:bodyPr>
          <a:lstStyle/>
          <a:p>
            <a:pPr algn="ctr">
              <a:buNone/>
              <a:defRPr sz="1125" b="0" i="0">
                <a:solidFill>
                  <a:srgbClr val="686A66"/>
                </a:solidFill>
                <a:latin typeface="Arial"/>
                <a:ea typeface="Arial"/>
                <a:cs typeface="Arial"/>
              </a:defRPr>
            </a:pPr>
            <a:r>
              <a:rPr sz="1125" b="0" i="0">
                <a:solidFill>
                  <a:srgbClr val="686A66"/>
                </a:solidFill>
                <a:latin typeface="Arial"/>
                <a:ea typeface="Arial"/>
                <a:cs typeface="Arial"/>
              </a:rPr>
              <a:t>backup · restore · migration boundary</a:t>
            </a:r>
          </a:p>
        </p:txBody>
      </p:sp>
      <p:sp>
        <p:nvSpPr>
          <p:cNvPr id="16" name="Rounded Rectangle 15">
            <a:extLst>
              <a:ext uri="{FF2B5EF4-FFF2-40B4-BE49-F238E27FC236}">
                <a16:creationId xmlns:a16="http://schemas.microsoft.com/office/drawing/2014/main" id="{39F07D25-74BD-451A-B2F9-F96E4DB05621}"/>
              </a:ext>
            </a:extLst>
          </p:cNvPr>
          <p:cNvSpPr>
            <a:spLocks noGrp="1"/>
          </p:cNvSpPr>
          <p:nvPr/>
        </p:nvSpPr>
        <p:spPr>
          <a:xfrm>
            <a:off x="685800" y="5067300"/>
            <a:ext cx="2381250" cy="685800"/>
          </a:xfrm>
          <a:prstGeom prst="roundRect">
            <a:avLst>
              <a:gd name="adj" fmla="val 11111"/>
            </a:avLst>
          </a:prstGeom>
          <a:solidFill>
            <a:srgbClr val="FFFFFF"/>
          </a:solidFill>
          <a:ln w="14288">
            <a:solidFill>
              <a:srgbClr val="111111"/>
            </a:solidFill>
            <a:prstDash val="solid"/>
          </a:ln>
        </p:spPr>
        <p:txBody>
          <a:bodyPr/>
          <a:lstStyle/>
          <a:p>
            <a:endParaRPr lang="en-US"/>
          </a:p>
        </p:txBody>
      </p:sp>
      <p:sp>
        <p:nvSpPr>
          <p:cNvPr id="17" name="Rectangle 16">
            <a:extLst>
              <a:ext uri="{FF2B5EF4-FFF2-40B4-BE49-F238E27FC236}">
                <a16:creationId xmlns:a16="http://schemas.microsoft.com/office/drawing/2014/main" id="{FC90B954-017A-4867-ACA0-5FE5202C0DFF}"/>
              </a:ext>
            </a:extLst>
          </p:cNvPr>
          <p:cNvSpPr>
            <a:spLocks noGrp="1"/>
          </p:cNvSpPr>
          <p:nvPr/>
        </p:nvSpPr>
        <p:spPr>
          <a:xfrm>
            <a:off x="838200" y="5200650"/>
            <a:ext cx="2076450" cy="419100"/>
          </a:xfrm>
          <a:prstGeom prst="rect">
            <a:avLst/>
          </a:prstGeom>
          <a:noFill/>
          <a:ln w="0">
            <a:noFill/>
            <a:prstDash val="solid"/>
          </a:ln>
        </p:spPr>
        <p:txBody>
          <a:bodyPr wrap="square" lIns="0" tIns="0" rIns="0" bIns="0" anchor="ctr">
            <a:normAutofit/>
          </a:bodyPr>
          <a:lstStyle/>
          <a:p>
            <a:pPr algn="ctr">
              <a:buNone/>
              <a:defRPr sz="1500" b="1" i="0">
                <a:solidFill>
                  <a:srgbClr val="111111"/>
                </a:solidFill>
                <a:latin typeface="Arial"/>
                <a:ea typeface="Arial"/>
                <a:cs typeface="Arial"/>
              </a:defRPr>
            </a:pPr>
            <a:r>
              <a:rPr sz="1500" b="1" i="0">
                <a:solidFill>
                  <a:srgbClr val="111111"/>
                </a:solidFill>
                <a:latin typeface="Arial"/>
                <a:ea typeface="Arial"/>
                <a:cs typeface="Arial"/>
              </a:rPr>
              <a:t>GitOps + PKI + Vault</a:t>
            </a:r>
          </a:p>
        </p:txBody>
      </p:sp>
      <p:cxnSp>
        <p:nvCxnSpPr>
          <p:cNvPr id="705" name="Elbow Connector 704"/>
          <p:cNvCxnSpPr>
            <a:stCxn id="16" idx="1"/>
            <a:endCxn id="10" idx="1"/>
          </p:cNvCxnSpPr>
          <p:nvPr/>
        </p:nvCxnSpPr>
        <p:spPr>
          <a:xfrm flipV="1">
            <a:off x="457200" y="2990850"/>
            <a:ext cx="228600" cy="2419350"/>
          </a:xfrm>
          <a:prstGeom prst="bentConnector4">
            <a:avLst/>
          </a:prstGeom>
          <a:ln w="19050">
            <a:solidFill>
              <a:srgbClr val="FFC72C"/>
            </a:solidFill>
            <a:prstDash val="solid"/>
            <a:tailEnd type="triangle" w="med" len="med"/>
          </a:ln>
        </p:spPr>
      </p:cxnSp>
      <p:cxnSp>
        <p:nvCxnSpPr>
          <p:cNvPr id="706" name="Straight Arrow Connector 705"/>
          <p:cNvCxnSpPr>
            <a:stCxn id="10" idx="2"/>
            <a:endCxn id="13" idx="0"/>
          </p:cNvCxnSpPr>
          <p:nvPr/>
        </p:nvCxnSpPr>
        <p:spPr>
          <a:xfrm>
            <a:off x="1876425" y="3476625"/>
            <a:ext cx="0" cy="371475"/>
          </a:xfrm>
          <a:prstGeom prst="straightConnector1">
            <a:avLst/>
          </a:prstGeom>
          <a:ln w="19050">
            <a:solidFill>
              <a:srgbClr val="8A8B86"/>
            </a:solidFill>
            <a:prstDash val="solid"/>
            <a:tailEnd type="triangle" w="med" len="med"/>
          </a:ln>
        </p:spPr>
      </p:cxnSp>
      <p:sp>
        <p:nvSpPr>
          <p:cNvPr id="20" name="Rectangle 19">
            <a:extLst>
              <a:ext uri="{FF2B5EF4-FFF2-40B4-BE49-F238E27FC236}">
                <a16:creationId xmlns:a16="http://schemas.microsoft.com/office/drawing/2014/main" id="{E4DCC57A-18DB-4C3E-871C-98A4D1B44341}"/>
              </a:ext>
            </a:extLst>
          </p:cNvPr>
          <p:cNvSpPr>
            <a:spLocks noGrp="1"/>
          </p:cNvSpPr>
          <p:nvPr/>
        </p:nvSpPr>
        <p:spPr>
          <a:xfrm>
            <a:off x="4000500" y="2152650"/>
            <a:ext cx="4762500" cy="209550"/>
          </a:xfrm>
          <a:prstGeom prst="rect">
            <a:avLst/>
          </a:prstGeom>
          <a:noFill/>
          <a:ln w="0">
            <a:noFill/>
            <a:prstDash val="solid"/>
          </a:ln>
        </p:spPr>
        <p:txBody>
          <a:bodyPr wrap="square" lIns="0" tIns="0" rIns="0" bIns="0" anchor="t">
            <a:normAutofit/>
          </a:bodyPr>
          <a:lstStyle/>
          <a:p>
            <a:pPr algn="l">
              <a:buNone/>
              <a:defRPr sz="1050" b="1" i="0">
                <a:solidFill>
                  <a:srgbClr val="5537D6"/>
                </a:solidFill>
                <a:latin typeface="Consolas"/>
                <a:ea typeface="Consolas"/>
                <a:cs typeface="Consolas"/>
              </a:defRPr>
            </a:pPr>
            <a:r>
              <a:rPr sz="1050" b="1" i="0">
                <a:solidFill>
                  <a:srgbClr val="5537D6"/>
                </a:solidFill>
                <a:latin typeface="Consolas"/>
                <a:ea typeface="Consolas"/>
                <a:cs typeface="Consolas"/>
              </a:rPr>
              <a:t>DISTRIBUTED DATA-PLANE CELLS</a:t>
            </a:r>
          </a:p>
        </p:txBody>
      </p:sp>
      <p:sp>
        <p:nvSpPr>
          <p:cNvPr id="21" name="Rounded Rectangle 20">
            <a:extLst>
              <a:ext uri="{FF2B5EF4-FFF2-40B4-BE49-F238E27FC236}">
                <a16:creationId xmlns:a16="http://schemas.microsoft.com/office/drawing/2014/main" id="{54A3A411-F89D-4A44-A2AD-6B2A2D88C405}"/>
              </a:ext>
            </a:extLst>
          </p:cNvPr>
          <p:cNvSpPr>
            <a:spLocks noGrp="1"/>
          </p:cNvSpPr>
          <p:nvPr/>
        </p:nvSpPr>
        <p:spPr>
          <a:xfrm>
            <a:off x="4000500" y="2619375"/>
            <a:ext cx="2381250" cy="819150"/>
          </a:xfrm>
          <a:prstGeom prst="roundRect">
            <a:avLst>
              <a:gd name="adj" fmla="val 9302"/>
            </a:avLst>
          </a:prstGeom>
          <a:solidFill>
            <a:srgbClr val="FFFFFF"/>
          </a:solidFill>
          <a:ln w="14288">
            <a:solidFill>
              <a:srgbClr val="197457"/>
            </a:solidFill>
            <a:prstDash val="solid"/>
          </a:ln>
        </p:spPr>
        <p:txBody>
          <a:bodyPr/>
          <a:lstStyle/>
          <a:p>
            <a:endParaRPr lang="en-US"/>
          </a:p>
        </p:txBody>
      </p:sp>
      <p:sp>
        <p:nvSpPr>
          <p:cNvPr id="22" name="Rectangle 21">
            <a:extLst>
              <a:ext uri="{FF2B5EF4-FFF2-40B4-BE49-F238E27FC236}">
                <a16:creationId xmlns:a16="http://schemas.microsoft.com/office/drawing/2014/main" id="{CECE74C7-5D2F-45AC-B286-65879E2FA0BF}"/>
              </a:ext>
            </a:extLst>
          </p:cNvPr>
          <p:cNvSpPr>
            <a:spLocks noGrp="1"/>
          </p:cNvSpPr>
          <p:nvPr/>
        </p:nvSpPr>
        <p:spPr>
          <a:xfrm>
            <a:off x="4152900" y="2752725"/>
            <a:ext cx="2076450" cy="400050"/>
          </a:xfrm>
          <a:prstGeom prst="rect">
            <a:avLst/>
          </a:prstGeom>
          <a:noFill/>
          <a:ln w="0">
            <a:noFill/>
            <a:prstDash val="solid"/>
          </a:ln>
        </p:spPr>
        <p:txBody>
          <a:bodyPr wrap="square" lIns="0" tIns="0" rIns="0" bIns="0" anchor="t">
            <a:normAutofit/>
          </a:bodyPr>
          <a:lstStyle/>
          <a:p>
            <a:pPr algn="ctr">
              <a:buNone/>
              <a:defRPr sz="1650" b="1" i="0">
                <a:solidFill>
                  <a:srgbClr val="111111"/>
                </a:solidFill>
                <a:latin typeface="Arial"/>
                <a:ea typeface="Arial"/>
                <a:cs typeface="Arial"/>
              </a:defRPr>
            </a:pPr>
            <a:r>
              <a:rPr sz="1650" b="1" i="0">
                <a:solidFill>
                  <a:srgbClr val="111111"/>
                </a:solidFill>
                <a:latin typeface="Arial"/>
                <a:ea typeface="Arial"/>
                <a:cs typeface="Arial"/>
              </a:rPr>
              <a:t>Cloud A DP cell</a:t>
            </a:r>
          </a:p>
        </p:txBody>
      </p:sp>
      <p:sp>
        <p:nvSpPr>
          <p:cNvPr id="23" name="Rectangle 22">
            <a:extLst>
              <a:ext uri="{FF2B5EF4-FFF2-40B4-BE49-F238E27FC236}">
                <a16:creationId xmlns:a16="http://schemas.microsoft.com/office/drawing/2014/main" id="{2C0F95A3-B916-4824-B711-83965A11AAAC}"/>
              </a:ext>
            </a:extLst>
          </p:cNvPr>
          <p:cNvSpPr>
            <a:spLocks noGrp="1"/>
          </p:cNvSpPr>
          <p:nvPr/>
        </p:nvSpPr>
        <p:spPr>
          <a:xfrm>
            <a:off x="4133850" y="3152775"/>
            <a:ext cx="2114550" cy="190500"/>
          </a:xfrm>
          <a:prstGeom prst="rect">
            <a:avLst/>
          </a:prstGeom>
          <a:noFill/>
          <a:ln w="0">
            <a:noFill/>
            <a:prstDash val="solid"/>
          </a:ln>
        </p:spPr>
        <p:txBody>
          <a:bodyPr wrap="square" lIns="0" tIns="0" rIns="0" bIns="0" anchor="t">
            <a:normAutofit/>
          </a:bodyPr>
          <a:lstStyle/>
          <a:p>
            <a:pPr algn="ctr">
              <a:buNone/>
              <a:defRPr sz="1125" b="0" i="0">
                <a:solidFill>
                  <a:srgbClr val="686A66"/>
                </a:solidFill>
                <a:latin typeface="Arial"/>
                <a:ea typeface="Arial"/>
                <a:cs typeface="Arial"/>
              </a:defRPr>
            </a:pPr>
            <a:r>
              <a:rPr sz="1125" b="0" i="0">
                <a:solidFill>
                  <a:srgbClr val="686A66"/>
                </a:solidFill>
                <a:latin typeface="Arial"/>
                <a:ea typeface="Arial"/>
                <a:cs typeface="Arial"/>
              </a:rPr>
              <a:t>accepted config · local proxy</a:t>
            </a:r>
          </a:p>
        </p:txBody>
      </p:sp>
      <p:sp>
        <p:nvSpPr>
          <p:cNvPr id="24" name="Rounded Rectangle 23">
            <a:extLst>
              <a:ext uri="{FF2B5EF4-FFF2-40B4-BE49-F238E27FC236}">
                <a16:creationId xmlns:a16="http://schemas.microsoft.com/office/drawing/2014/main" id="{7E3F4147-02CF-45DD-B28F-C4FF6C47EDE8}"/>
              </a:ext>
            </a:extLst>
          </p:cNvPr>
          <p:cNvSpPr>
            <a:spLocks noGrp="1"/>
          </p:cNvSpPr>
          <p:nvPr/>
        </p:nvSpPr>
        <p:spPr>
          <a:xfrm>
            <a:off x="4000500" y="3819525"/>
            <a:ext cx="2381250" cy="819150"/>
          </a:xfrm>
          <a:prstGeom prst="roundRect">
            <a:avLst>
              <a:gd name="adj" fmla="val 9302"/>
            </a:avLst>
          </a:prstGeom>
          <a:solidFill>
            <a:srgbClr val="FFFFFF"/>
          </a:solidFill>
          <a:ln w="14288">
            <a:solidFill>
              <a:srgbClr val="197457"/>
            </a:solidFill>
            <a:prstDash val="solid"/>
          </a:ln>
        </p:spPr>
        <p:txBody>
          <a:bodyPr/>
          <a:lstStyle/>
          <a:p>
            <a:endParaRPr lang="en-US"/>
          </a:p>
        </p:txBody>
      </p:sp>
      <p:sp>
        <p:nvSpPr>
          <p:cNvPr id="25" name="Rectangle 24">
            <a:extLst>
              <a:ext uri="{FF2B5EF4-FFF2-40B4-BE49-F238E27FC236}">
                <a16:creationId xmlns:a16="http://schemas.microsoft.com/office/drawing/2014/main" id="{F391C4E6-67A7-4E87-9E89-FC8E847204C5}"/>
              </a:ext>
            </a:extLst>
          </p:cNvPr>
          <p:cNvSpPr>
            <a:spLocks noGrp="1"/>
          </p:cNvSpPr>
          <p:nvPr/>
        </p:nvSpPr>
        <p:spPr>
          <a:xfrm>
            <a:off x="4152900" y="3952875"/>
            <a:ext cx="2076450" cy="400050"/>
          </a:xfrm>
          <a:prstGeom prst="rect">
            <a:avLst/>
          </a:prstGeom>
          <a:noFill/>
          <a:ln w="0">
            <a:noFill/>
            <a:prstDash val="solid"/>
          </a:ln>
        </p:spPr>
        <p:txBody>
          <a:bodyPr wrap="square" lIns="0" tIns="0" rIns="0" bIns="0" anchor="t">
            <a:normAutofit/>
          </a:bodyPr>
          <a:lstStyle/>
          <a:p>
            <a:pPr algn="ctr">
              <a:buNone/>
              <a:defRPr sz="1650" b="1" i="0">
                <a:solidFill>
                  <a:srgbClr val="111111"/>
                </a:solidFill>
                <a:latin typeface="Arial"/>
                <a:ea typeface="Arial"/>
                <a:cs typeface="Arial"/>
              </a:defRPr>
            </a:pPr>
            <a:r>
              <a:rPr sz="1650" b="1" i="0">
                <a:solidFill>
                  <a:srgbClr val="111111"/>
                </a:solidFill>
                <a:latin typeface="Arial"/>
                <a:ea typeface="Arial"/>
                <a:cs typeface="Arial"/>
              </a:rPr>
              <a:t>Cloud B DP cell</a:t>
            </a:r>
          </a:p>
        </p:txBody>
      </p:sp>
      <p:sp>
        <p:nvSpPr>
          <p:cNvPr id="26" name="Rectangle 25">
            <a:extLst>
              <a:ext uri="{FF2B5EF4-FFF2-40B4-BE49-F238E27FC236}">
                <a16:creationId xmlns:a16="http://schemas.microsoft.com/office/drawing/2014/main" id="{CAA7293A-B65C-4721-B12B-92161E2F89BF}"/>
              </a:ext>
            </a:extLst>
          </p:cNvPr>
          <p:cNvSpPr>
            <a:spLocks noGrp="1"/>
          </p:cNvSpPr>
          <p:nvPr/>
        </p:nvSpPr>
        <p:spPr>
          <a:xfrm>
            <a:off x="4133850" y="4352925"/>
            <a:ext cx="2114550" cy="190500"/>
          </a:xfrm>
          <a:prstGeom prst="rect">
            <a:avLst/>
          </a:prstGeom>
          <a:noFill/>
          <a:ln w="0">
            <a:noFill/>
            <a:prstDash val="solid"/>
          </a:ln>
        </p:spPr>
        <p:txBody>
          <a:bodyPr wrap="square" lIns="0" tIns="0" rIns="0" bIns="0" anchor="t">
            <a:normAutofit/>
          </a:bodyPr>
          <a:lstStyle/>
          <a:p>
            <a:pPr algn="ctr">
              <a:buNone/>
              <a:defRPr sz="1125" b="0" i="0">
                <a:solidFill>
                  <a:srgbClr val="686A66"/>
                </a:solidFill>
                <a:latin typeface="Arial"/>
                <a:ea typeface="Arial"/>
                <a:cs typeface="Arial"/>
              </a:defRPr>
            </a:pPr>
            <a:r>
              <a:rPr sz="1125" b="0" i="0">
                <a:solidFill>
                  <a:srgbClr val="686A66"/>
                </a:solidFill>
                <a:latin typeface="Arial"/>
                <a:ea typeface="Arial"/>
                <a:cs typeface="Arial"/>
              </a:rPr>
              <a:t>accepted config · local proxy</a:t>
            </a:r>
          </a:p>
        </p:txBody>
      </p:sp>
      <p:sp>
        <p:nvSpPr>
          <p:cNvPr id="27" name="Rounded Rectangle 26">
            <a:extLst>
              <a:ext uri="{FF2B5EF4-FFF2-40B4-BE49-F238E27FC236}">
                <a16:creationId xmlns:a16="http://schemas.microsoft.com/office/drawing/2014/main" id="{CB093EEA-B3ED-4818-ADA2-086B4BE0BB4C}"/>
              </a:ext>
            </a:extLst>
          </p:cNvPr>
          <p:cNvSpPr>
            <a:spLocks noGrp="1"/>
          </p:cNvSpPr>
          <p:nvPr/>
        </p:nvSpPr>
        <p:spPr>
          <a:xfrm>
            <a:off x="4000500" y="5019675"/>
            <a:ext cx="2381250" cy="819150"/>
          </a:xfrm>
          <a:prstGeom prst="roundRect">
            <a:avLst>
              <a:gd name="adj" fmla="val 9302"/>
            </a:avLst>
          </a:prstGeom>
          <a:solidFill>
            <a:srgbClr val="FFFFFF"/>
          </a:solidFill>
          <a:ln w="14288">
            <a:solidFill>
              <a:srgbClr val="197457"/>
            </a:solidFill>
            <a:prstDash val="solid"/>
          </a:ln>
        </p:spPr>
        <p:txBody>
          <a:bodyPr/>
          <a:lstStyle/>
          <a:p>
            <a:endParaRPr lang="en-US"/>
          </a:p>
        </p:txBody>
      </p:sp>
      <p:sp>
        <p:nvSpPr>
          <p:cNvPr id="28" name="Rectangle 27">
            <a:extLst>
              <a:ext uri="{FF2B5EF4-FFF2-40B4-BE49-F238E27FC236}">
                <a16:creationId xmlns:a16="http://schemas.microsoft.com/office/drawing/2014/main" id="{4E1B4765-41B2-4C14-BC10-82DAB8CA8DBD}"/>
              </a:ext>
            </a:extLst>
          </p:cNvPr>
          <p:cNvSpPr>
            <a:spLocks noGrp="1"/>
          </p:cNvSpPr>
          <p:nvPr/>
        </p:nvSpPr>
        <p:spPr>
          <a:xfrm>
            <a:off x="4152900" y="5153025"/>
            <a:ext cx="2076450" cy="400050"/>
          </a:xfrm>
          <a:prstGeom prst="rect">
            <a:avLst/>
          </a:prstGeom>
          <a:noFill/>
          <a:ln w="0">
            <a:noFill/>
            <a:prstDash val="solid"/>
          </a:ln>
        </p:spPr>
        <p:txBody>
          <a:bodyPr wrap="square" lIns="0" tIns="0" rIns="0" bIns="0" anchor="t">
            <a:normAutofit/>
          </a:bodyPr>
          <a:lstStyle/>
          <a:p>
            <a:pPr algn="ctr">
              <a:buNone/>
              <a:defRPr sz="1650" b="1" i="0">
                <a:solidFill>
                  <a:srgbClr val="111111"/>
                </a:solidFill>
                <a:latin typeface="Arial"/>
                <a:ea typeface="Arial"/>
                <a:cs typeface="Arial"/>
              </a:defRPr>
            </a:pPr>
            <a:r>
              <a:rPr sz="1650" b="1" i="0">
                <a:solidFill>
                  <a:srgbClr val="111111"/>
                </a:solidFill>
                <a:latin typeface="Arial"/>
                <a:ea typeface="Arial"/>
                <a:cs typeface="Arial"/>
              </a:rPr>
              <a:t>Private / legacy DP</a:t>
            </a:r>
          </a:p>
        </p:txBody>
      </p:sp>
      <p:sp>
        <p:nvSpPr>
          <p:cNvPr id="29" name="Rectangle 28">
            <a:extLst>
              <a:ext uri="{FF2B5EF4-FFF2-40B4-BE49-F238E27FC236}">
                <a16:creationId xmlns:a16="http://schemas.microsoft.com/office/drawing/2014/main" id="{19E23119-78E1-4427-9E6B-7468306E5BDC}"/>
              </a:ext>
            </a:extLst>
          </p:cNvPr>
          <p:cNvSpPr>
            <a:spLocks noGrp="1"/>
          </p:cNvSpPr>
          <p:nvPr/>
        </p:nvSpPr>
        <p:spPr>
          <a:xfrm>
            <a:off x="4133850" y="5553075"/>
            <a:ext cx="2114550" cy="190500"/>
          </a:xfrm>
          <a:prstGeom prst="rect">
            <a:avLst/>
          </a:prstGeom>
          <a:noFill/>
          <a:ln w="0">
            <a:noFill/>
            <a:prstDash val="solid"/>
          </a:ln>
        </p:spPr>
        <p:txBody>
          <a:bodyPr wrap="square" lIns="0" tIns="0" rIns="0" bIns="0" anchor="t">
            <a:normAutofit/>
          </a:bodyPr>
          <a:lstStyle/>
          <a:p>
            <a:pPr algn="ctr">
              <a:buNone/>
              <a:defRPr sz="1125" b="0" i="0">
                <a:solidFill>
                  <a:srgbClr val="686A66"/>
                </a:solidFill>
                <a:latin typeface="Arial"/>
                <a:ea typeface="Arial"/>
                <a:cs typeface="Arial"/>
              </a:defRPr>
            </a:pPr>
            <a:r>
              <a:rPr sz="1125" b="0" i="0">
                <a:solidFill>
                  <a:srgbClr val="686A66"/>
                </a:solidFill>
                <a:latin typeface="Arial"/>
                <a:ea typeface="Arial"/>
                <a:cs typeface="Arial"/>
              </a:rPr>
              <a:t>accepted config · local proxy</a:t>
            </a:r>
          </a:p>
        </p:txBody>
      </p:sp>
      <p:cxnSp>
        <p:nvCxnSpPr>
          <p:cNvPr id="717" name="Elbow Connector 716"/>
          <p:cNvCxnSpPr>
            <a:stCxn id="10" idx="3"/>
            <a:endCxn id="21" idx="1"/>
          </p:cNvCxnSpPr>
          <p:nvPr/>
        </p:nvCxnSpPr>
        <p:spPr>
          <a:xfrm>
            <a:off x="3067050" y="2990850"/>
            <a:ext cx="933450" cy="38100"/>
          </a:xfrm>
          <a:prstGeom prst="bentConnector3">
            <a:avLst>
              <a:gd name="adj1" fmla="val 50000"/>
            </a:avLst>
          </a:prstGeom>
          <a:ln w="19050">
            <a:solidFill>
              <a:srgbClr val="FFC72C"/>
            </a:solidFill>
            <a:prstDash val="solid"/>
            <a:tailEnd type="triangle" w="med" len="med"/>
          </a:ln>
        </p:spPr>
      </p:cxnSp>
      <p:cxnSp>
        <p:nvCxnSpPr>
          <p:cNvPr id="718" name="Elbow Connector 717"/>
          <p:cNvCxnSpPr>
            <a:stCxn id="10" idx="3"/>
            <a:endCxn id="24" idx="1"/>
          </p:cNvCxnSpPr>
          <p:nvPr/>
        </p:nvCxnSpPr>
        <p:spPr>
          <a:xfrm>
            <a:off x="3067050" y="2990850"/>
            <a:ext cx="933450" cy="1238250"/>
          </a:xfrm>
          <a:prstGeom prst="bentConnector3">
            <a:avLst>
              <a:gd name="adj1" fmla="val 50000"/>
            </a:avLst>
          </a:prstGeom>
          <a:ln w="19050">
            <a:solidFill>
              <a:srgbClr val="FFC72C"/>
            </a:solidFill>
            <a:prstDash val="solid"/>
            <a:tailEnd type="triangle" w="med" len="med"/>
          </a:ln>
        </p:spPr>
      </p:cxnSp>
      <p:cxnSp>
        <p:nvCxnSpPr>
          <p:cNvPr id="719" name="Elbow Connector 718"/>
          <p:cNvCxnSpPr>
            <a:stCxn id="10" idx="3"/>
            <a:endCxn id="27" idx="1"/>
          </p:cNvCxnSpPr>
          <p:nvPr/>
        </p:nvCxnSpPr>
        <p:spPr>
          <a:xfrm>
            <a:off x="3067050" y="2990850"/>
            <a:ext cx="933450" cy="2438400"/>
          </a:xfrm>
          <a:prstGeom prst="bentConnector3">
            <a:avLst>
              <a:gd name="adj1" fmla="val 50000"/>
            </a:avLst>
          </a:prstGeom>
          <a:ln w="19050">
            <a:solidFill>
              <a:srgbClr val="FFC72C"/>
            </a:solidFill>
            <a:prstDash val="solid"/>
            <a:tailEnd type="triangle" w="med" len="med"/>
          </a:ln>
        </p:spPr>
      </p:cxnSp>
      <p:sp>
        <p:nvSpPr>
          <p:cNvPr id="33" name="Rectangle 32">
            <a:extLst>
              <a:ext uri="{FF2B5EF4-FFF2-40B4-BE49-F238E27FC236}">
                <a16:creationId xmlns:a16="http://schemas.microsoft.com/office/drawing/2014/main" id="{507B2F0B-4D47-44DC-8FCA-03239312D4D0}"/>
              </a:ext>
            </a:extLst>
          </p:cNvPr>
          <p:cNvSpPr>
            <a:spLocks noGrp="1"/>
          </p:cNvSpPr>
          <p:nvPr/>
        </p:nvSpPr>
        <p:spPr>
          <a:xfrm>
            <a:off x="7696200" y="2152650"/>
            <a:ext cx="3524250" cy="209550"/>
          </a:xfrm>
          <a:prstGeom prst="rect">
            <a:avLst/>
          </a:prstGeom>
          <a:noFill/>
          <a:ln w="0">
            <a:noFill/>
            <a:prstDash val="solid"/>
          </a:ln>
        </p:spPr>
        <p:txBody>
          <a:bodyPr wrap="square" lIns="0" tIns="0" rIns="0" bIns="0" anchor="t">
            <a:normAutofit/>
          </a:bodyPr>
          <a:lstStyle/>
          <a:p>
            <a:pPr algn="l">
              <a:buNone/>
              <a:defRPr sz="1050" b="1" i="0">
                <a:solidFill>
                  <a:srgbClr val="5537D6"/>
                </a:solidFill>
                <a:latin typeface="Consolas"/>
                <a:ea typeface="Consolas"/>
                <a:cs typeface="Consolas"/>
              </a:defRPr>
            </a:pPr>
            <a:r>
              <a:rPr sz="1050" b="1" i="0">
                <a:solidFill>
                  <a:srgbClr val="5537D6"/>
                </a:solidFill>
                <a:latin typeface="Consolas"/>
                <a:ea typeface="Consolas"/>
                <a:cs typeface="Consolas"/>
              </a:rPr>
              <a:t>LOCAL SERVICES + EVIDENCE</a:t>
            </a:r>
          </a:p>
        </p:txBody>
      </p:sp>
      <p:sp>
        <p:nvSpPr>
          <p:cNvPr id="34" name="Rounded Rectangle 33">
            <a:extLst>
              <a:ext uri="{FF2B5EF4-FFF2-40B4-BE49-F238E27FC236}">
                <a16:creationId xmlns:a16="http://schemas.microsoft.com/office/drawing/2014/main" id="{F6FFB9B2-1E92-4767-89BA-B792F8D260E5}"/>
              </a:ext>
            </a:extLst>
          </p:cNvPr>
          <p:cNvSpPr>
            <a:spLocks noGrp="1"/>
          </p:cNvSpPr>
          <p:nvPr/>
        </p:nvSpPr>
        <p:spPr>
          <a:xfrm>
            <a:off x="7696200" y="2619375"/>
            <a:ext cx="3524250" cy="819150"/>
          </a:xfrm>
          <a:prstGeom prst="roundRect">
            <a:avLst>
              <a:gd name="adj" fmla="val 9302"/>
            </a:avLst>
          </a:prstGeom>
          <a:solidFill>
            <a:srgbClr val="FFFFFF"/>
          </a:solidFill>
          <a:ln w="14288">
            <a:solidFill>
              <a:srgbClr val="8A8B86"/>
            </a:solidFill>
            <a:prstDash val="solid"/>
          </a:ln>
        </p:spPr>
        <p:txBody>
          <a:bodyPr/>
          <a:lstStyle/>
          <a:p>
            <a:endParaRPr lang="en-US"/>
          </a:p>
        </p:txBody>
      </p:sp>
      <p:sp>
        <p:nvSpPr>
          <p:cNvPr id="35" name="Rectangle 34">
            <a:extLst>
              <a:ext uri="{FF2B5EF4-FFF2-40B4-BE49-F238E27FC236}">
                <a16:creationId xmlns:a16="http://schemas.microsoft.com/office/drawing/2014/main" id="{F1365CFF-7F65-4407-88DB-9306F26B20B4}"/>
              </a:ext>
            </a:extLst>
          </p:cNvPr>
          <p:cNvSpPr>
            <a:spLocks noGrp="1"/>
          </p:cNvSpPr>
          <p:nvPr/>
        </p:nvSpPr>
        <p:spPr>
          <a:xfrm>
            <a:off x="7848600" y="2752725"/>
            <a:ext cx="3219450" cy="400050"/>
          </a:xfrm>
          <a:prstGeom prst="rect">
            <a:avLst/>
          </a:prstGeom>
          <a:noFill/>
          <a:ln w="0">
            <a:noFill/>
            <a:prstDash val="solid"/>
          </a:ln>
        </p:spPr>
        <p:txBody>
          <a:bodyPr wrap="square" lIns="0" tIns="0" rIns="0" bIns="0" anchor="t">
            <a:normAutofit/>
          </a:bodyPr>
          <a:lstStyle/>
          <a:p>
            <a:pPr algn="ctr">
              <a:buNone/>
              <a:defRPr sz="1650" b="1" i="0">
                <a:solidFill>
                  <a:srgbClr val="111111"/>
                </a:solidFill>
                <a:latin typeface="Arial"/>
                <a:ea typeface="Arial"/>
                <a:cs typeface="Arial"/>
              </a:defRPr>
            </a:pPr>
            <a:r>
              <a:rPr sz="1650" b="1" i="0">
                <a:solidFill>
                  <a:srgbClr val="111111"/>
                </a:solidFill>
                <a:latin typeface="Arial"/>
                <a:ea typeface="Arial"/>
                <a:cs typeface="Arial"/>
              </a:rPr>
              <a:t>Cloud A services</a:t>
            </a:r>
          </a:p>
        </p:txBody>
      </p:sp>
      <p:sp>
        <p:nvSpPr>
          <p:cNvPr id="36" name="Rectangle 35">
            <a:extLst>
              <a:ext uri="{FF2B5EF4-FFF2-40B4-BE49-F238E27FC236}">
                <a16:creationId xmlns:a16="http://schemas.microsoft.com/office/drawing/2014/main" id="{8EA724A2-015D-4ABA-ABF8-5D0E89596E20}"/>
              </a:ext>
            </a:extLst>
          </p:cNvPr>
          <p:cNvSpPr>
            <a:spLocks noGrp="1"/>
          </p:cNvSpPr>
          <p:nvPr/>
        </p:nvSpPr>
        <p:spPr>
          <a:xfrm>
            <a:off x="7829550" y="3152775"/>
            <a:ext cx="3257550" cy="190500"/>
          </a:xfrm>
          <a:prstGeom prst="rect">
            <a:avLst/>
          </a:prstGeom>
          <a:noFill/>
          <a:ln w="0">
            <a:noFill/>
            <a:prstDash val="solid"/>
          </a:ln>
        </p:spPr>
        <p:txBody>
          <a:bodyPr wrap="square" lIns="0" tIns="0" rIns="0" bIns="0" anchor="t">
            <a:normAutofit/>
          </a:bodyPr>
          <a:lstStyle/>
          <a:p>
            <a:pPr algn="ctr">
              <a:buNone/>
              <a:defRPr sz="1125" b="0" i="0">
                <a:solidFill>
                  <a:srgbClr val="686A66"/>
                </a:solidFill>
                <a:latin typeface="Arial"/>
                <a:ea typeface="Arial"/>
                <a:cs typeface="Arial"/>
              </a:defRPr>
            </a:pPr>
            <a:r>
              <a:rPr sz="1125" b="0" i="0">
                <a:solidFill>
                  <a:srgbClr val="686A66"/>
                </a:solidFill>
                <a:latin typeface="Arial"/>
                <a:ea typeface="Arial"/>
                <a:cs typeface="Arial"/>
              </a:rPr>
              <a:t>APIs · collectors · SLO evidence</a:t>
            </a:r>
          </a:p>
        </p:txBody>
      </p:sp>
      <p:sp>
        <p:nvSpPr>
          <p:cNvPr id="37" name="Rounded Rectangle 36">
            <a:extLst>
              <a:ext uri="{FF2B5EF4-FFF2-40B4-BE49-F238E27FC236}">
                <a16:creationId xmlns:a16="http://schemas.microsoft.com/office/drawing/2014/main" id="{4CD4950B-88C9-44E6-A2CD-73A3F7986C54}"/>
              </a:ext>
            </a:extLst>
          </p:cNvPr>
          <p:cNvSpPr>
            <a:spLocks noGrp="1"/>
          </p:cNvSpPr>
          <p:nvPr/>
        </p:nvSpPr>
        <p:spPr>
          <a:xfrm>
            <a:off x="7696200" y="3819525"/>
            <a:ext cx="3524250" cy="819150"/>
          </a:xfrm>
          <a:prstGeom prst="roundRect">
            <a:avLst>
              <a:gd name="adj" fmla="val 9302"/>
            </a:avLst>
          </a:prstGeom>
          <a:solidFill>
            <a:srgbClr val="FFFFFF"/>
          </a:solidFill>
          <a:ln w="14288">
            <a:solidFill>
              <a:srgbClr val="8A8B86"/>
            </a:solidFill>
            <a:prstDash val="solid"/>
          </a:ln>
        </p:spPr>
        <p:txBody>
          <a:bodyPr/>
          <a:lstStyle/>
          <a:p>
            <a:endParaRPr lang="en-US"/>
          </a:p>
        </p:txBody>
      </p:sp>
      <p:sp>
        <p:nvSpPr>
          <p:cNvPr id="38" name="Rectangle 37">
            <a:extLst>
              <a:ext uri="{FF2B5EF4-FFF2-40B4-BE49-F238E27FC236}">
                <a16:creationId xmlns:a16="http://schemas.microsoft.com/office/drawing/2014/main" id="{CBBE9091-E52A-44AE-8116-2B8B4881F031}"/>
              </a:ext>
            </a:extLst>
          </p:cNvPr>
          <p:cNvSpPr>
            <a:spLocks noGrp="1"/>
          </p:cNvSpPr>
          <p:nvPr/>
        </p:nvSpPr>
        <p:spPr>
          <a:xfrm>
            <a:off x="7848600" y="3952875"/>
            <a:ext cx="3219450" cy="400050"/>
          </a:xfrm>
          <a:prstGeom prst="rect">
            <a:avLst/>
          </a:prstGeom>
          <a:noFill/>
          <a:ln w="0">
            <a:noFill/>
            <a:prstDash val="solid"/>
          </a:ln>
        </p:spPr>
        <p:txBody>
          <a:bodyPr wrap="square" lIns="0" tIns="0" rIns="0" bIns="0" anchor="t">
            <a:normAutofit/>
          </a:bodyPr>
          <a:lstStyle/>
          <a:p>
            <a:pPr algn="ctr">
              <a:buNone/>
              <a:defRPr sz="1650" b="1" i="0">
                <a:solidFill>
                  <a:srgbClr val="111111"/>
                </a:solidFill>
                <a:latin typeface="Arial"/>
                <a:ea typeface="Arial"/>
                <a:cs typeface="Arial"/>
              </a:defRPr>
            </a:pPr>
            <a:r>
              <a:rPr sz="1650" b="1" i="0">
                <a:solidFill>
                  <a:srgbClr val="111111"/>
                </a:solidFill>
                <a:latin typeface="Arial"/>
                <a:ea typeface="Arial"/>
                <a:cs typeface="Arial"/>
              </a:rPr>
              <a:t>Cloud B services</a:t>
            </a:r>
          </a:p>
        </p:txBody>
      </p:sp>
      <p:sp>
        <p:nvSpPr>
          <p:cNvPr id="39" name="Rectangle 38">
            <a:extLst>
              <a:ext uri="{FF2B5EF4-FFF2-40B4-BE49-F238E27FC236}">
                <a16:creationId xmlns:a16="http://schemas.microsoft.com/office/drawing/2014/main" id="{7E0A3459-10D4-469A-860E-501121525C9B}"/>
              </a:ext>
            </a:extLst>
          </p:cNvPr>
          <p:cNvSpPr>
            <a:spLocks noGrp="1"/>
          </p:cNvSpPr>
          <p:nvPr/>
        </p:nvSpPr>
        <p:spPr>
          <a:xfrm>
            <a:off x="7829550" y="4352925"/>
            <a:ext cx="3257550" cy="190500"/>
          </a:xfrm>
          <a:prstGeom prst="rect">
            <a:avLst/>
          </a:prstGeom>
          <a:noFill/>
          <a:ln w="0">
            <a:noFill/>
            <a:prstDash val="solid"/>
          </a:ln>
        </p:spPr>
        <p:txBody>
          <a:bodyPr wrap="square" lIns="0" tIns="0" rIns="0" bIns="0" anchor="t">
            <a:normAutofit/>
          </a:bodyPr>
          <a:lstStyle/>
          <a:p>
            <a:pPr algn="ctr">
              <a:buNone/>
              <a:defRPr sz="1125" b="0" i="0">
                <a:solidFill>
                  <a:srgbClr val="686A66"/>
                </a:solidFill>
                <a:latin typeface="Arial"/>
                <a:ea typeface="Arial"/>
                <a:cs typeface="Arial"/>
              </a:defRPr>
            </a:pPr>
            <a:r>
              <a:rPr sz="1125" b="0" i="0">
                <a:solidFill>
                  <a:srgbClr val="686A66"/>
                </a:solidFill>
                <a:latin typeface="Arial"/>
                <a:ea typeface="Arial"/>
                <a:cs typeface="Arial"/>
              </a:rPr>
              <a:t>APIs · collectors · SLO evidence</a:t>
            </a:r>
          </a:p>
        </p:txBody>
      </p:sp>
      <p:sp>
        <p:nvSpPr>
          <p:cNvPr id="40" name="Rounded Rectangle 39">
            <a:extLst>
              <a:ext uri="{FF2B5EF4-FFF2-40B4-BE49-F238E27FC236}">
                <a16:creationId xmlns:a16="http://schemas.microsoft.com/office/drawing/2014/main" id="{66FB2B27-D012-4F61-989C-3766F7BFC6BE}"/>
              </a:ext>
            </a:extLst>
          </p:cNvPr>
          <p:cNvSpPr>
            <a:spLocks noGrp="1"/>
          </p:cNvSpPr>
          <p:nvPr/>
        </p:nvSpPr>
        <p:spPr>
          <a:xfrm>
            <a:off x="7696200" y="5019675"/>
            <a:ext cx="3524250" cy="819150"/>
          </a:xfrm>
          <a:prstGeom prst="roundRect">
            <a:avLst>
              <a:gd name="adj" fmla="val 9302"/>
            </a:avLst>
          </a:prstGeom>
          <a:solidFill>
            <a:srgbClr val="FFFFFF"/>
          </a:solidFill>
          <a:ln w="14288">
            <a:solidFill>
              <a:srgbClr val="8A8B86"/>
            </a:solidFill>
            <a:prstDash val="solid"/>
          </a:ln>
        </p:spPr>
        <p:txBody>
          <a:bodyPr/>
          <a:lstStyle/>
          <a:p>
            <a:endParaRPr lang="en-US"/>
          </a:p>
        </p:txBody>
      </p:sp>
      <p:sp>
        <p:nvSpPr>
          <p:cNvPr id="41" name="Rectangle 40">
            <a:extLst>
              <a:ext uri="{FF2B5EF4-FFF2-40B4-BE49-F238E27FC236}">
                <a16:creationId xmlns:a16="http://schemas.microsoft.com/office/drawing/2014/main" id="{303CD0C2-4935-4448-AD81-314DD3FDA9AE}"/>
              </a:ext>
            </a:extLst>
          </p:cNvPr>
          <p:cNvSpPr>
            <a:spLocks noGrp="1"/>
          </p:cNvSpPr>
          <p:nvPr/>
        </p:nvSpPr>
        <p:spPr>
          <a:xfrm>
            <a:off x="7848600" y="5153025"/>
            <a:ext cx="3219450" cy="400050"/>
          </a:xfrm>
          <a:prstGeom prst="rect">
            <a:avLst/>
          </a:prstGeom>
          <a:noFill/>
          <a:ln w="0">
            <a:noFill/>
            <a:prstDash val="solid"/>
          </a:ln>
        </p:spPr>
        <p:txBody>
          <a:bodyPr wrap="square" lIns="0" tIns="0" rIns="0" bIns="0" anchor="t">
            <a:normAutofit/>
          </a:bodyPr>
          <a:lstStyle/>
          <a:p>
            <a:pPr algn="ctr">
              <a:buNone/>
              <a:defRPr sz="1650" b="1" i="0">
                <a:solidFill>
                  <a:srgbClr val="111111"/>
                </a:solidFill>
                <a:latin typeface="Arial"/>
                <a:ea typeface="Arial"/>
                <a:cs typeface="Arial"/>
              </a:defRPr>
            </a:pPr>
            <a:r>
              <a:rPr sz="1650" b="1" i="0">
                <a:solidFill>
                  <a:srgbClr val="111111"/>
                </a:solidFill>
                <a:latin typeface="Arial"/>
                <a:ea typeface="Arial"/>
                <a:cs typeface="Arial"/>
              </a:rPr>
              <a:t>Private / legacy services</a:t>
            </a:r>
          </a:p>
        </p:txBody>
      </p:sp>
      <p:sp>
        <p:nvSpPr>
          <p:cNvPr id="42" name="Rectangle 41">
            <a:extLst>
              <a:ext uri="{FF2B5EF4-FFF2-40B4-BE49-F238E27FC236}">
                <a16:creationId xmlns:a16="http://schemas.microsoft.com/office/drawing/2014/main" id="{91C1A80A-82C1-4AB6-94D3-C0DC0E4D779F}"/>
              </a:ext>
            </a:extLst>
          </p:cNvPr>
          <p:cNvSpPr>
            <a:spLocks noGrp="1"/>
          </p:cNvSpPr>
          <p:nvPr/>
        </p:nvSpPr>
        <p:spPr>
          <a:xfrm>
            <a:off x="7829550" y="5553075"/>
            <a:ext cx="3257550" cy="190500"/>
          </a:xfrm>
          <a:prstGeom prst="rect">
            <a:avLst/>
          </a:prstGeom>
          <a:noFill/>
          <a:ln w="0">
            <a:noFill/>
            <a:prstDash val="solid"/>
          </a:ln>
        </p:spPr>
        <p:txBody>
          <a:bodyPr wrap="square" lIns="0" tIns="0" rIns="0" bIns="0" anchor="t">
            <a:normAutofit/>
          </a:bodyPr>
          <a:lstStyle/>
          <a:p>
            <a:pPr algn="ctr">
              <a:buNone/>
              <a:defRPr sz="1125" b="0" i="0">
                <a:solidFill>
                  <a:srgbClr val="686A66"/>
                </a:solidFill>
                <a:latin typeface="Arial"/>
                <a:ea typeface="Arial"/>
                <a:cs typeface="Arial"/>
              </a:defRPr>
            </a:pPr>
            <a:r>
              <a:rPr sz="1125" b="0" i="0">
                <a:solidFill>
                  <a:srgbClr val="686A66"/>
                </a:solidFill>
                <a:latin typeface="Arial"/>
                <a:ea typeface="Arial"/>
                <a:cs typeface="Arial"/>
              </a:rPr>
              <a:t>coexistence · collectors · business probes</a:t>
            </a:r>
          </a:p>
        </p:txBody>
      </p:sp>
      <p:cxnSp>
        <p:nvCxnSpPr>
          <p:cNvPr id="730" name="Straight Arrow Connector 729"/>
          <p:cNvCxnSpPr>
            <a:stCxn id="21" idx="3"/>
            <a:endCxn id="34" idx="1"/>
          </p:cNvCxnSpPr>
          <p:nvPr/>
        </p:nvCxnSpPr>
        <p:spPr>
          <a:xfrm>
            <a:off x="6381750" y="3028950"/>
            <a:ext cx="1314450" cy="0"/>
          </a:xfrm>
          <a:prstGeom prst="straightConnector1">
            <a:avLst/>
          </a:prstGeom>
          <a:ln w="19050">
            <a:solidFill>
              <a:srgbClr val="8A8B86"/>
            </a:solidFill>
            <a:prstDash val="solid"/>
            <a:tailEnd type="triangle" w="med" len="med"/>
          </a:ln>
        </p:spPr>
      </p:cxnSp>
      <p:cxnSp>
        <p:nvCxnSpPr>
          <p:cNvPr id="731" name="Straight Arrow Connector 730"/>
          <p:cNvCxnSpPr>
            <a:stCxn id="24" idx="3"/>
            <a:endCxn id="37" idx="1"/>
          </p:cNvCxnSpPr>
          <p:nvPr/>
        </p:nvCxnSpPr>
        <p:spPr>
          <a:xfrm>
            <a:off x="6381750" y="4229100"/>
            <a:ext cx="1314450" cy="0"/>
          </a:xfrm>
          <a:prstGeom prst="straightConnector1">
            <a:avLst/>
          </a:prstGeom>
          <a:ln w="19050">
            <a:solidFill>
              <a:srgbClr val="8A8B86"/>
            </a:solidFill>
            <a:prstDash val="solid"/>
            <a:tailEnd type="triangle" w="med" len="med"/>
          </a:ln>
        </p:spPr>
      </p:cxnSp>
      <p:cxnSp>
        <p:nvCxnSpPr>
          <p:cNvPr id="732" name="Straight Arrow Connector 731"/>
          <p:cNvCxnSpPr>
            <a:stCxn id="27" idx="3"/>
            <a:endCxn id="40" idx="1"/>
          </p:cNvCxnSpPr>
          <p:nvPr/>
        </p:nvCxnSpPr>
        <p:spPr>
          <a:xfrm>
            <a:off x="6381750" y="5429250"/>
            <a:ext cx="1314450" cy="0"/>
          </a:xfrm>
          <a:prstGeom prst="straightConnector1">
            <a:avLst/>
          </a:prstGeom>
          <a:ln w="19050">
            <a:solidFill>
              <a:srgbClr val="8A8B86"/>
            </a:solidFill>
            <a:prstDash val="solid"/>
            <a:tailEnd type="triangle" w="med" len="med"/>
          </a:ln>
        </p:spPr>
      </p:cxnSp>
    </p:spTree>
    <p:extLst>
      <p:ext uri="{BB962C8B-B14F-4D97-AF65-F5344CB8AC3E}">
        <p14:creationId xmlns:p14="http://schemas.microsoft.com/office/powerpoint/2010/main" val="17900495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0DB58ED5-846C-49FC-9B88-103BD54F3A74}"/>
              </a:ext>
            </a:extLst>
          </p:cNvPr>
          <p:cNvSpPr>
            <a:spLocks noGrp="1"/>
          </p:cNvSpPr>
          <p:nvPr/>
        </p:nvSpPr>
        <p:spPr>
          <a:xfrm>
            <a:off x="0" y="0"/>
            <a:ext cx="12192000" cy="266700"/>
          </a:xfrm>
          <a:prstGeom prst="rect">
            <a:avLst/>
          </a:prstGeom>
          <a:solidFill>
            <a:srgbClr val="FFC72C"/>
          </a:solidFill>
          <a:ln w="0">
            <a:noFill/>
            <a:prstDash val="solid"/>
          </a:ln>
        </p:spPr>
        <p:txBody>
          <a:bodyPr/>
          <a:lstStyle/>
          <a:p>
            <a:endParaRPr lang="en-US"/>
          </a:p>
        </p:txBody>
      </p:sp>
      <p:sp>
        <p:nvSpPr>
          <p:cNvPr id="2" name="Rectangle 1">
            <a:extLst>
              <a:ext uri="{FF2B5EF4-FFF2-40B4-BE49-F238E27FC236}">
                <a16:creationId xmlns:a16="http://schemas.microsoft.com/office/drawing/2014/main" id="{775726F1-C5D7-49E4-A263-F68D2A628EB0}"/>
              </a:ext>
            </a:extLst>
          </p:cNvPr>
          <p:cNvSpPr>
            <a:spLocks noGrp="1"/>
          </p:cNvSpPr>
          <p:nvPr/>
        </p:nvSpPr>
        <p:spPr>
          <a:xfrm>
            <a:off x="10668000" y="0"/>
            <a:ext cx="1524000" cy="266700"/>
          </a:xfrm>
          <a:prstGeom prst="rect">
            <a:avLst/>
          </a:prstGeom>
          <a:solidFill>
            <a:srgbClr val="5537D6"/>
          </a:solidFill>
          <a:ln w="0">
            <a:noFill/>
            <a:prstDash val="solid"/>
          </a:ln>
        </p:spPr>
        <p:txBody>
          <a:bodyPr/>
          <a:lstStyle/>
          <a:p>
            <a:endParaRPr lang="en-US"/>
          </a:p>
        </p:txBody>
      </p:sp>
      <p:sp>
        <p:nvSpPr>
          <p:cNvPr id="3" name="Rectangle 2">
            <a:extLst>
              <a:ext uri="{FF2B5EF4-FFF2-40B4-BE49-F238E27FC236}">
                <a16:creationId xmlns:a16="http://schemas.microsoft.com/office/drawing/2014/main" id="{9EAACE9E-FB50-4E70-A1FC-ED5ADF6922D0}"/>
              </a:ext>
            </a:extLst>
          </p:cNvPr>
          <p:cNvSpPr>
            <a:spLocks noGrp="1"/>
          </p:cNvSpPr>
          <p:nvPr/>
        </p:nvSpPr>
        <p:spPr>
          <a:xfrm>
            <a:off x="609600" y="38100"/>
            <a:ext cx="3429000" cy="190500"/>
          </a:xfrm>
          <a:prstGeom prst="rect">
            <a:avLst/>
          </a:prstGeom>
          <a:noFill/>
          <a:ln w="0">
            <a:noFill/>
            <a:prstDash val="solid"/>
          </a:ln>
        </p:spPr>
        <p:txBody>
          <a:bodyPr wrap="square" lIns="0" tIns="0" rIns="0" bIns="0" anchor="t">
            <a:normAutofit/>
          </a:bodyPr>
          <a:lstStyle/>
          <a:p>
            <a:pPr algn="l">
              <a:buNone/>
              <a:defRPr sz="975" b="1" i="0">
                <a:solidFill>
                  <a:srgbClr val="111111"/>
                </a:solidFill>
                <a:latin typeface="Consolas"/>
                <a:ea typeface="Consolas"/>
                <a:cs typeface="Consolas"/>
              </a:defRPr>
            </a:pPr>
            <a:r>
              <a:rPr sz="975" b="1" i="0">
                <a:solidFill>
                  <a:srgbClr val="111111"/>
                </a:solidFill>
                <a:latin typeface="Consolas"/>
                <a:ea typeface="Consolas"/>
                <a:cs typeface="Consolas"/>
              </a:rPr>
              <a:t>10 / ARCHITECTURE</a:t>
            </a:r>
          </a:p>
        </p:txBody>
      </p:sp>
      <p:sp>
        <p:nvSpPr>
          <p:cNvPr id="4" name="Rectangle 3">
            <a:extLst>
              <a:ext uri="{FF2B5EF4-FFF2-40B4-BE49-F238E27FC236}">
                <a16:creationId xmlns:a16="http://schemas.microsoft.com/office/drawing/2014/main" id="{75BE9A2A-B966-486D-864F-E241C2E316F1}"/>
              </a:ext>
            </a:extLst>
          </p:cNvPr>
          <p:cNvSpPr>
            <a:spLocks noGrp="1"/>
          </p:cNvSpPr>
          <p:nvPr/>
        </p:nvSpPr>
        <p:spPr>
          <a:xfrm>
            <a:off x="609600" y="428625"/>
            <a:ext cx="10572750" cy="1028700"/>
          </a:xfrm>
          <a:prstGeom prst="rect">
            <a:avLst/>
          </a:prstGeom>
          <a:noFill/>
          <a:ln w="0">
            <a:noFill/>
            <a:prstDash val="solid"/>
          </a:ln>
        </p:spPr>
        <p:txBody>
          <a:bodyPr wrap="square" lIns="0" tIns="0" rIns="0" bIns="0" anchor="t">
            <a:noAutofit/>
          </a:bodyPr>
          <a:lstStyle/>
          <a:p>
            <a:pPr algn="l">
              <a:buNone/>
              <a:defRPr sz="3300" b="1" i="0">
                <a:solidFill>
                  <a:srgbClr val="111111"/>
                </a:solidFill>
                <a:latin typeface="Arial"/>
                <a:ea typeface="Arial"/>
                <a:cs typeface="Arial"/>
              </a:defRPr>
            </a:pPr>
            <a:r>
              <a:rPr sz="3300" b="1" i="0">
                <a:solidFill>
                  <a:srgbClr val="111111"/>
                </a:solidFill>
                <a:latin typeface="Arial"/>
                <a:ea typeface="Arial"/>
                <a:cs typeface="Arial"/>
              </a:rPr>
              <a:t>Healthy proxy ≠ healthy platform</a:t>
            </a:r>
          </a:p>
        </p:txBody>
      </p:sp>
      <p:sp>
        <p:nvSpPr>
          <p:cNvPr id="5" name="Rectangle 4">
            <a:extLst>
              <a:ext uri="{FF2B5EF4-FFF2-40B4-BE49-F238E27FC236}">
                <a16:creationId xmlns:a16="http://schemas.microsoft.com/office/drawing/2014/main" id="{B6E17E41-FFA9-4756-922F-073EC13C7AA4}"/>
              </a:ext>
            </a:extLst>
          </p:cNvPr>
          <p:cNvSpPr>
            <a:spLocks noGrp="1"/>
          </p:cNvSpPr>
          <p:nvPr/>
        </p:nvSpPr>
        <p:spPr>
          <a:xfrm>
            <a:off x="628650" y="1514475"/>
            <a:ext cx="10382250" cy="323850"/>
          </a:xfrm>
          <a:prstGeom prst="rect">
            <a:avLst/>
          </a:prstGeom>
          <a:noFill/>
          <a:ln w="0">
            <a:noFill/>
            <a:prstDash val="solid"/>
          </a:ln>
        </p:spPr>
        <p:txBody>
          <a:bodyPr wrap="square" lIns="0" tIns="0" rIns="0" bIns="0" anchor="t">
            <a:noAutofit/>
          </a:bodyPr>
          <a:lstStyle/>
          <a:p>
            <a:pPr algn="l">
              <a:buNone/>
              <a:defRPr sz="1575" b="0" i="0">
                <a:solidFill>
                  <a:srgbClr val="686A66"/>
                </a:solidFill>
                <a:latin typeface="Arial"/>
                <a:ea typeface="Arial"/>
                <a:cs typeface="Arial"/>
              </a:defRPr>
            </a:pPr>
            <a:r>
              <a:rPr sz="1575" b="0" i="0">
                <a:solidFill>
                  <a:srgbClr val="686A66"/>
                </a:solidFill>
                <a:latin typeface="Arial"/>
                <a:ea typeface="Arial"/>
                <a:cs typeface="Arial"/>
              </a:rPr>
              <a:t>Trust, configuration and request paths can fail independently; test and admit them separately.</a:t>
            </a:r>
          </a:p>
        </p:txBody>
      </p:sp>
      <p:sp>
        <p:nvSpPr>
          <p:cNvPr id="6" name="Rectangle 5">
            <a:extLst>
              <a:ext uri="{FF2B5EF4-FFF2-40B4-BE49-F238E27FC236}">
                <a16:creationId xmlns:a16="http://schemas.microsoft.com/office/drawing/2014/main" id="{B452F04A-1083-4C6A-AD04-E0DD9D45078D}"/>
              </a:ext>
            </a:extLst>
          </p:cNvPr>
          <p:cNvSpPr>
            <a:spLocks noGrp="1"/>
          </p:cNvSpPr>
          <p:nvPr/>
        </p:nvSpPr>
        <p:spPr>
          <a:xfrm>
            <a:off x="609600" y="1905000"/>
            <a:ext cx="10972800" cy="9525"/>
          </a:xfrm>
          <a:prstGeom prst="rect">
            <a:avLst/>
          </a:prstGeom>
          <a:solidFill>
            <a:srgbClr val="8A8B86"/>
          </a:solidFill>
          <a:ln w="0">
            <a:noFill/>
            <a:prstDash val="solid"/>
          </a:ln>
        </p:spPr>
        <p:txBody>
          <a:bodyPr/>
          <a:lstStyle/>
          <a:p>
            <a:endParaRPr lang="en-US"/>
          </a:p>
        </p:txBody>
      </p:sp>
      <p:sp>
        <p:nvSpPr>
          <p:cNvPr id="7" name="Rectangle 6">
            <a:extLst>
              <a:ext uri="{FF2B5EF4-FFF2-40B4-BE49-F238E27FC236}">
                <a16:creationId xmlns:a16="http://schemas.microsoft.com/office/drawing/2014/main" id="{4BE9801D-CE46-4884-8D6B-400D59B40637}"/>
              </a:ext>
            </a:extLst>
          </p:cNvPr>
          <p:cNvSpPr>
            <a:spLocks noGrp="1"/>
          </p:cNvSpPr>
          <p:nvPr/>
        </p:nvSpPr>
        <p:spPr>
          <a:xfrm>
            <a:off x="609600" y="6524625"/>
            <a:ext cx="8858250" cy="180975"/>
          </a:xfrm>
          <a:prstGeom prst="rect">
            <a:avLst/>
          </a:prstGeom>
          <a:noFill/>
          <a:ln w="0">
            <a:noFill/>
            <a:prstDash val="solid"/>
          </a:ln>
        </p:spPr>
        <p:txBody>
          <a:bodyPr wrap="square" lIns="0" tIns="0" rIns="0" bIns="0" anchor="ctr">
            <a:normAutofit/>
          </a:bodyPr>
          <a:lstStyle/>
          <a:p>
            <a:pPr>
              <a:buNone/>
              <a:defRPr sz="825">
                <a:solidFill>
                  <a:srgbClr val="666762"/>
                </a:solidFill>
              </a:defRPr>
            </a:pPr>
            <a:r>
              <a:rPr sz="825" b="1">
                <a:solidFill>
                  <a:srgbClr val="666762"/>
                </a:solidFill>
              </a:rPr>
              <a:t>REFERENCES  </a:t>
            </a:r>
            <a:r>
              <a:rPr sz="825" u="sng">
                <a:solidFill>
                  <a:srgbClr val="666762"/>
                </a:solidFill>
                <a:hlinkClick r:id="rId3"/>
              </a:rPr>
              <a:t>Repo reference</a:t>
            </a:r>
            <a:r>
              <a:rPr sz="825">
                <a:solidFill>
                  <a:srgbClr val="666762"/>
                </a:solidFill>
              </a:rPr>
              <a:t>  ·  </a:t>
            </a:r>
            <a:r>
              <a:rPr sz="825" u="sng">
                <a:solidFill>
                  <a:srgbClr val="666762"/>
                </a:solidFill>
                <a:hlinkClick r:id="rId4"/>
              </a:rPr>
              <a:t>Official docs</a:t>
            </a:r>
          </a:p>
        </p:txBody>
      </p:sp>
      <p:sp>
        <p:nvSpPr>
          <p:cNvPr id="8" name="Rectangle 7">
            <a:extLst>
              <a:ext uri="{FF2B5EF4-FFF2-40B4-BE49-F238E27FC236}">
                <a16:creationId xmlns:a16="http://schemas.microsoft.com/office/drawing/2014/main" id="{2CAED66A-6CEB-4684-8F25-6CD005F315A7}"/>
              </a:ext>
            </a:extLst>
          </p:cNvPr>
          <p:cNvSpPr>
            <a:spLocks noGrp="1"/>
          </p:cNvSpPr>
          <p:nvPr/>
        </p:nvSpPr>
        <p:spPr>
          <a:xfrm>
            <a:off x="10287000" y="6486525"/>
            <a:ext cx="1295400" cy="209550"/>
          </a:xfrm>
          <a:prstGeom prst="rect">
            <a:avLst/>
          </a:prstGeom>
          <a:noFill/>
          <a:ln w="0">
            <a:noFill/>
            <a:prstDash val="solid"/>
          </a:ln>
        </p:spPr>
        <p:txBody>
          <a:bodyPr wrap="square" lIns="0" tIns="0" rIns="0" bIns="0" anchor="t">
            <a:normAutofit/>
          </a:bodyPr>
          <a:lstStyle/>
          <a:p>
            <a:pPr algn="r">
              <a:buNone/>
              <a:defRPr sz="975" b="1" i="0">
                <a:solidFill>
                  <a:srgbClr val="686A66"/>
                </a:solidFill>
                <a:latin typeface="Consolas"/>
                <a:ea typeface="Consolas"/>
                <a:cs typeface="Consolas"/>
              </a:defRPr>
            </a:pPr>
            <a:r>
              <a:rPr sz="975" b="1" i="0">
                <a:solidFill>
                  <a:srgbClr val="686A66"/>
                </a:solidFill>
                <a:latin typeface="Consolas"/>
                <a:ea typeface="Consolas"/>
                <a:cs typeface="Consolas"/>
              </a:rPr>
              <a:t>10 / 25</a:t>
            </a:r>
          </a:p>
        </p:txBody>
      </p:sp>
      <p:sp>
        <p:nvSpPr>
          <p:cNvPr id="9" name="Rectangle 8">
            <a:extLst>
              <a:ext uri="{FF2B5EF4-FFF2-40B4-BE49-F238E27FC236}">
                <a16:creationId xmlns:a16="http://schemas.microsoft.com/office/drawing/2014/main" id="{26B79BA8-CD83-46E3-B2CA-799811BC63C0}"/>
              </a:ext>
            </a:extLst>
          </p:cNvPr>
          <p:cNvSpPr>
            <a:spLocks noGrp="1"/>
          </p:cNvSpPr>
          <p:nvPr/>
        </p:nvSpPr>
        <p:spPr>
          <a:xfrm>
            <a:off x="685800" y="2381250"/>
            <a:ext cx="3333750" cy="2857500"/>
          </a:xfrm>
          <a:prstGeom prst="rect">
            <a:avLst/>
          </a:prstGeom>
          <a:solidFill>
            <a:srgbClr val="FFFFFF"/>
          </a:solidFill>
          <a:ln w="9525">
            <a:solidFill>
              <a:srgbClr val="8A8B86"/>
            </a:solidFill>
            <a:prstDash val="solid"/>
          </a:ln>
        </p:spPr>
        <p:txBody>
          <a:bodyPr/>
          <a:lstStyle/>
          <a:p>
            <a:endParaRPr lang="en-US"/>
          </a:p>
        </p:txBody>
      </p:sp>
      <p:sp>
        <p:nvSpPr>
          <p:cNvPr id="10" name="Rectangle 9">
            <a:extLst>
              <a:ext uri="{FF2B5EF4-FFF2-40B4-BE49-F238E27FC236}">
                <a16:creationId xmlns:a16="http://schemas.microsoft.com/office/drawing/2014/main" id="{9D496CCF-9CA6-415A-9D1D-7A5D6ECB9AC2}"/>
              </a:ext>
            </a:extLst>
          </p:cNvPr>
          <p:cNvSpPr>
            <a:spLocks noGrp="1"/>
          </p:cNvSpPr>
          <p:nvPr/>
        </p:nvSpPr>
        <p:spPr>
          <a:xfrm>
            <a:off x="685800" y="2381250"/>
            <a:ext cx="66675" cy="2857500"/>
          </a:xfrm>
          <a:prstGeom prst="rect">
            <a:avLst/>
          </a:prstGeom>
          <a:solidFill>
            <a:srgbClr val="FFC72C"/>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D085C105-8B87-4B98-9D0A-82578418940F}"/>
              </a:ext>
            </a:extLst>
          </p:cNvPr>
          <p:cNvSpPr>
            <a:spLocks noGrp="1"/>
          </p:cNvSpPr>
          <p:nvPr/>
        </p:nvSpPr>
        <p:spPr>
          <a:xfrm>
            <a:off x="895350" y="2552700"/>
            <a:ext cx="2914650" cy="228600"/>
          </a:xfrm>
          <a:prstGeom prst="rect">
            <a:avLst/>
          </a:prstGeom>
          <a:noFill/>
          <a:ln w="0">
            <a:noFill/>
            <a:prstDash val="solid"/>
          </a:ln>
        </p:spPr>
        <p:txBody>
          <a:bodyPr wrap="square" lIns="0" tIns="0" rIns="0" bIns="0" anchor="t">
            <a:normAutofit/>
          </a:bodyPr>
          <a:lstStyle/>
          <a:p>
            <a:pPr algn="l">
              <a:buNone/>
              <a:defRPr sz="1050" b="1" i="0">
                <a:solidFill>
                  <a:srgbClr val="111111"/>
                </a:solidFill>
                <a:latin typeface="Consolas"/>
                <a:ea typeface="Consolas"/>
                <a:cs typeface="Consolas"/>
              </a:defRPr>
            </a:pPr>
            <a:r>
              <a:rPr sz="1050" b="1" i="0">
                <a:solidFill>
                  <a:srgbClr val="111111"/>
                </a:solidFill>
                <a:latin typeface="Consolas"/>
                <a:ea typeface="Consolas"/>
                <a:cs typeface="Consolas"/>
              </a:rPr>
              <a:t>CONFIGURATION</a:t>
            </a:r>
          </a:p>
        </p:txBody>
      </p:sp>
      <p:sp>
        <p:nvSpPr>
          <p:cNvPr id="12" name="Rectangle 11">
            <a:extLst>
              <a:ext uri="{FF2B5EF4-FFF2-40B4-BE49-F238E27FC236}">
                <a16:creationId xmlns:a16="http://schemas.microsoft.com/office/drawing/2014/main" id="{10CCD0B1-B566-42DA-B7BD-2B9A889F0814}"/>
              </a:ext>
            </a:extLst>
          </p:cNvPr>
          <p:cNvSpPr>
            <a:spLocks noGrp="1"/>
          </p:cNvSpPr>
          <p:nvPr/>
        </p:nvSpPr>
        <p:spPr>
          <a:xfrm>
            <a:off x="895350" y="2857500"/>
            <a:ext cx="2914650" cy="685800"/>
          </a:xfrm>
          <a:prstGeom prst="rect">
            <a:avLst/>
          </a:prstGeom>
          <a:noFill/>
          <a:ln w="0">
            <a:noFill/>
            <a:prstDash val="solid"/>
          </a:ln>
        </p:spPr>
        <p:txBody>
          <a:bodyPr wrap="square" lIns="0" tIns="0" rIns="0" bIns="0" anchor="t">
            <a:normAutofit/>
          </a:bodyPr>
          <a:lstStyle/>
          <a:p>
            <a:pPr algn="l">
              <a:buNone/>
              <a:defRPr sz="2250" b="0" i="0">
                <a:solidFill>
                  <a:srgbClr val="111111"/>
                </a:solidFill>
                <a:latin typeface="Georgia"/>
                <a:ea typeface="Georgia"/>
                <a:cs typeface="Georgia"/>
              </a:defRPr>
            </a:pPr>
            <a:r>
              <a:rPr sz="2250" b="0" i="0">
                <a:solidFill>
                  <a:srgbClr val="111111"/>
                </a:solidFill>
                <a:latin typeface="Georgia"/>
                <a:ea typeface="Georgia"/>
                <a:cs typeface="Georgia"/>
              </a:rPr>
              <a:t>Desired ≠ effective</a:t>
            </a:r>
          </a:p>
        </p:txBody>
      </p:sp>
      <p:sp>
        <p:nvSpPr>
          <p:cNvPr id="13" name="Rectangle 12">
            <a:extLst>
              <a:ext uri="{FF2B5EF4-FFF2-40B4-BE49-F238E27FC236}">
                <a16:creationId xmlns:a16="http://schemas.microsoft.com/office/drawing/2014/main" id="{73074A0B-90A9-4CC7-A27C-C1207A59F3A2}"/>
              </a:ext>
            </a:extLst>
          </p:cNvPr>
          <p:cNvSpPr>
            <a:spLocks noGrp="1"/>
          </p:cNvSpPr>
          <p:nvPr/>
        </p:nvSpPr>
        <p:spPr>
          <a:xfrm>
            <a:off x="895350" y="3562350"/>
            <a:ext cx="2914650" cy="1504950"/>
          </a:xfrm>
          <a:prstGeom prst="rect">
            <a:avLst/>
          </a:prstGeom>
          <a:noFill/>
          <a:ln w="0">
            <a:noFill/>
            <a:prstDash val="solid"/>
          </a:ln>
        </p:spPr>
        <p:txBody>
          <a:bodyPr wrap="square" lIns="0" tIns="0" rIns="0" bIns="0" anchor="t">
            <a:normAutofit/>
          </a:bodyPr>
          <a:lstStyle/>
          <a:p>
            <a:pPr algn="l">
              <a:buNone/>
              <a:defRPr sz="1350" b="0" i="0">
                <a:solidFill>
                  <a:srgbClr val="686A66"/>
                </a:solidFill>
                <a:latin typeface="Arial"/>
                <a:ea typeface="Arial"/>
                <a:cs typeface="Arial"/>
              </a:defRPr>
            </a:pPr>
            <a:r>
              <a:rPr sz="1350" b="0" i="0">
                <a:solidFill>
                  <a:srgbClr val="686A66"/>
                </a:solidFill>
                <a:latin typeface="Arial"/>
                <a:ea typeface="Arial"/>
                <a:cs typeface="Arial"/>
              </a:rPr>
              <a:t>Can the control plane publish and can each data plane accept the desired state?</a:t>
            </a:r>
          </a:p>
          <a:p>
            <a:endParaRPr sz="1350" b="0" i="0">
              <a:solidFill>
                <a:srgbClr val="686A66"/>
              </a:solidFill>
              <a:latin typeface="Arial"/>
              <a:ea typeface="Arial"/>
              <a:cs typeface="Arial"/>
            </a:endParaRPr>
          </a:p>
          <a:p>
            <a:pPr algn="l">
              <a:buNone/>
              <a:defRPr sz="1350" b="0" i="0">
                <a:solidFill>
                  <a:srgbClr val="686A66"/>
                </a:solidFill>
                <a:latin typeface="Arial"/>
                <a:ea typeface="Arial"/>
                <a:cs typeface="Arial"/>
              </a:defRPr>
            </a:pPr>
            <a:r>
              <a:rPr sz="1350" b="0" i="0">
                <a:solidFill>
                  <a:srgbClr val="686A66"/>
                </a:solidFill>
                <a:latin typeface="Arial"/>
                <a:ea typeface="Arial"/>
                <a:cs typeface="Arial"/>
              </a:rPr>
              <a:t>Evidence: revision, hash, convergence gap</a:t>
            </a:r>
          </a:p>
        </p:txBody>
      </p:sp>
      <p:sp>
        <p:nvSpPr>
          <p:cNvPr id="14" name="Rectangle 13">
            <a:extLst>
              <a:ext uri="{FF2B5EF4-FFF2-40B4-BE49-F238E27FC236}">
                <a16:creationId xmlns:a16="http://schemas.microsoft.com/office/drawing/2014/main" id="{14196FE6-B12A-4B1A-A84D-349EF827752B}"/>
              </a:ext>
            </a:extLst>
          </p:cNvPr>
          <p:cNvSpPr>
            <a:spLocks noGrp="1"/>
          </p:cNvSpPr>
          <p:nvPr/>
        </p:nvSpPr>
        <p:spPr>
          <a:xfrm>
            <a:off x="4286250" y="2381250"/>
            <a:ext cx="3333750" cy="2857500"/>
          </a:xfrm>
          <a:prstGeom prst="rect">
            <a:avLst/>
          </a:prstGeom>
          <a:solidFill>
            <a:srgbClr val="FFFFFF"/>
          </a:solidFill>
          <a:ln w="9525">
            <a:solidFill>
              <a:srgbClr val="8A8B86"/>
            </a:solidFill>
            <a:prstDash val="solid"/>
          </a:ln>
        </p:spPr>
        <p:txBody>
          <a:bodyPr/>
          <a:lstStyle/>
          <a:p>
            <a:endParaRPr lang="en-US"/>
          </a:p>
        </p:txBody>
      </p:sp>
      <p:sp>
        <p:nvSpPr>
          <p:cNvPr id="15" name="Rectangle 14">
            <a:extLst>
              <a:ext uri="{FF2B5EF4-FFF2-40B4-BE49-F238E27FC236}">
                <a16:creationId xmlns:a16="http://schemas.microsoft.com/office/drawing/2014/main" id="{5A14D051-0151-438B-9EEF-67E653F8DD94}"/>
              </a:ext>
            </a:extLst>
          </p:cNvPr>
          <p:cNvSpPr>
            <a:spLocks noGrp="1"/>
          </p:cNvSpPr>
          <p:nvPr/>
        </p:nvSpPr>
        <p:spPr>
          <a:xfrm>
            <a:off x="4286250" y="2381250"/>
            <a:ext cx="66675" cy="2857500"/>
          </a:xfrm>
          <a:prstGeom prst="rect">
            <a:avLst/>
          </a:prstGeom>
          <a:solidFill>
            <a:srgbClr val="FFC72C"/>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6E1E0C57-06DE-456F-90F7-5615692B07D0}"/>
              </a:ext>
            </a:extLst>
          </p:cNvPr>
          <p:cNvSpPr>
            <a:spLocks noGrp="1"/>
          </p:cNvSpPr>
          <p:nvPr/>
        </p:nvSpPr>
        <p:spPr>
          <a:xfrm>
            <a:off x="4495800" y="2552700"/>
            <a:ext cx="2914650" cy="228600"/>
          </a:xfrm>
          <a:prstGeom prst="rect">
            <a:avLst/>
          </a:prstGeom>
          <a:noFill/>
          <a:ln w="0">
            <a:noFill/>
            <a:prstDash val="solid"/>
          </a:ln>
        </p:spPr>
        <p:txBody>
          <a:bodyPr wrap="square" lIns="0" tIns="0" rIns="0" bIns="0" anchor="t">
            <a:normAutofit/>
          </a:bodyPr>
          <a:lstStyle/>
          <a:p>
            <a:pPr algn="l">
              <a:buNone/>
              <a:defRPr sz="1050" b="1" i="0">
                <a:solidFill>
                  <a:srgbClr val="111111"/>
                </a:solidFill>
                <a:latin typeface="Consolas"/>
                <a:ea typeface="Consolas"/>
                <a:cs typeface="Consolas"/>
              </a:defRPr>
            </a:pPr>
            <a:r>
              <a:rPr sz="1050" b="1" i="0">
                <a:solidFill>
                  <a:srgbClr val="111111"/>
                </a:solidFill>
                <a:latin typeface="Consolas"/>
                <a:ea typeface="Consolas"/>
                <a:cs typeface="Consolas"/>
              </a:rPr>
              <a:t>TRUST + ADMISSION</a:t>
            </a:r>
          </a:p>
        </p:txBody>
      </p:sp>
      <p:sp>
        <p:nvSpPr>
          <p:cNvPr id="17" name="Rectangle 16">
            <a:extLst>
              <a:ext uri="{FF2B5EF4-FFF2-40B4-BE49-F238E27FC236}">
                <a16:creationId xmlns:a16="http://schemas.microsoft.com/office/drawing/2014/main" id="{B189DBBF-301B-4C8E-A33D-765F9F357267}"/>
              </a:ext>
            </a:extLst>
          </p:cNvPr>
          <p:cNvSpPr>
            <a:spLocks noGrp="1"/>
          </p:cNvSpPr>
          <p:nvPr/>
        </p:nvSpPr>
        <p:spPr>
          <a:xfrm>
            <a:off x="4495800" y="2857500"/>
            <a:ext cx="2914650" cy="685800"/>
          </a:xfrm>
          <a:prstGeom prst="rect">
            <a:avLst/>
          </a:prstGeom>
          <a:noFill/>
          <a:ln w="0">
            <a:noFill/>
            <a:prstDash val="solid"/>
          </a:ln>
        </p:spPr>
        <p:txBody>
          <a:bodyPr wrap="square" lIns="0" tIns="0" rIns="0" bIns="0" anchor="t">
            <a:normAutofit/>
          </a:bodyPr>
          <a:lstStyle/>
          <a:p>
            <a:pPr algn="l">
              <a:buNone/>
              <a:defRPr sz="2250" b="0" i="0">
                <a:solidFill>
                  <a:srgbClr val="111111"/>
                </a:solidFill>
                <a:latin typeface="Georgia"/>
                <a:ea typeface="Georgia"/>
                <a:cs typeface="Georgia"/>
              </a:defRPr>
            </a:pPr>
            <a:r>
              <a:rPr sz="2250" b="0" i="0">
                <a:solidFill>
                  <a:srgbClr val="111111"/>
                </a:solidFill>
                <a:latin typeface="Georgia"/>
                <a:ea typeface="Georgia"/>
                <a:cs typeface="Georgia"/>
              </a:rPr>
              <a:t>Identity ≠ admission</a:t>
            </a:r>
          </a:p>
        </p:txBody>
      </p:sp>
      <p:sp>
        <p:nvSpPr>
          <p:cNvPr id="18" name="Rectangle 17">
            <a:extLst>
              <a:ext uri="{FF2B5EF4-FFF2-40B4-BE49-F238E27FC236}">
                <a16:creationId xmlns:a16="http://schemas.microsoft.com/office/drawing/2014/main" id="{6ABD6651-7D61-456F-AF51-E63F100C5D75}"/>
              </a:ext>
            </a:extLst>
          </p:cNvPr>
          <p:cNvSpPr>
            <a:spLocks noGrp="1"/>
          </p:cNvSpPr>
          <p:nvPr/>
        </p:nvSpPr>
        <p:spPr>
          <a:xfrm>
            <a:off x="4495800" y="3562350"/>
            <a:ext cx="2914650" cy="1504950"/>
          </a:xfrm>
          <a:prstGeom prst="rect">
            <a:avLst/>
          </a:prstGeom>
          <a:noFill/>
          <a:ln w="0">
            <a:noFill/>
            <a:prstDash val="solid"/>
          </a:ln>
        </p:spPr>
        <p:txBody>
          <a:bodyPr wrap="square" lIns="0" tIns="0" rIns="0" bIns="0" anchor="t">
            <a:normAutofit/>
          </a:bodyPr>
          <a:lstStyle/>
          <a:p>
            <a:pPr algn="l">
              <a:buNone/>
              <a:defRPr sz="1350" b="0" i="0">
                <a:solidFill>
                  <a:srgbClr val="686A66"/>
                </a:solidFill>
                <a:latin typeface="Arial"/>
                <a:ea typeface="Arial"/>
                <a:cs typeface="Arial"/>
              </a:defRPr>
            </a:pPr>
            <a:r>
              <a:rPr sz="1350" b="0" i="0">
                <a:solidFill>
                  <a:srgbClr val="686A66"/>
                </a:solidFill>
                <a:latin typeface="Arial"/>
                <a:ea typeface="Arial"/>
                <a:cs typeface="Arial"/>
              </a:rPr>
              <a:t>Is the joining node named, allowed and governed—not merely signed by a shared CA?</a:t>
            </a:r>
          </a:p>
          <a:p>
            <a:endParaRPr sz="1350" b="0" i="0">
              <a:solidFill>
                <a:srgbClr val="686A66"/>
              </a:solidFill>
              <a:latin typeface="Arial"/>
              <a:ea typeface="Arial"/>
              <a:cs typeface="Arial"/>
            </a:endParaRPr>
          </a:p>
          <a:p>
            <a:pPr algn="l">
              <a:buNone/>
              <a:defRPr sz="1350" b="0" i="0">
                <a:solidFill>
                  <a:srgbClr val="686A66"/>
                </a:solidFill>
                <a:latin typeface="Arial"/>
                <a:ea typeface="Arial"/>
                <a:cs typeface="Arial"/>
              </a:defRPr>
            </a:pPr>
            <a:r>
              <a:rPr sz="1350" b="0" i="0">
                <a:solidFill>
                  <a:srgbClr val="686A66"/>
                </a:solidFill>
                <a:latin typeface="Arial"/>
                <a:ea typeface="Arial"/>
                <a:cs typeface="Arial"/>
              </a:rPr>
              <a:t>Evidence: CN allowlist, negative join, quarantine</a:t>
            </a:r>
          </a:p>
        </p:txBody>
      </p:sp>
      <p:sp>
        <p:nvSpPr>
          <p:cNvPr id="19" name="Rectangle 18">
            <a:extLst>
              <a:ext uri="{FF2B5EF4-FFF2-40B4-BE49-F238E27FC236}">
                <a16:creationId xmlns:a16="http://schemas.microsoft.com/office/drawing/2014/main" id="{D5E0CE59-6BC2-4721-A541-E863AE6102D1}"/>
              </a:ext>
            </a:extLst>
          </p:cNvPr>
          <p:cNvSpPr>
            <a:spLocks noGrp="1"/>
          </p:cNvSpPr>
          <p:nvPr/>
        </p:nvSpPr>
        <p:spPr>
          <a:xfrm>
            <a:off x="7886700" y="2381250"/>
            <a:ext cx="3333750" cy="2857500"/>
          </a:xfrm>
          <a:prstGeom prst="rect">
            <a:avLst/>
          </a:prstGeom>
          <a:solidFill>
            <a:srgbClr val="FFFFFF"/>
          </a:solidFill>
          <a:ln w="9525">
            <a:solidFill>
              <a:srgbClr val="8A8B86"/>
            </a:solidFill>
            <a:prstDash val="solid"/>
          </a:ln>
        </p:spPr>
        <p:txBody>
          <a:bodyPr/>
          <a:lstStyle/>
          <a:p>
            <a:endParaRPr lang="en-US"/>
          </a:p>
        </p:txBody>
      </p:sp>
      <p:sp>
        <p:nvSpPr>
          <p:cNvPr id="20" name="Rectangle 19">
            <a:extLst>
              <a:ext uri="{FF2B5EF4-FFF2-40B4-BE49-F238E27FC236}">
                <a16:creationId xmlns:a16="http://schemas.microsoft.com/office/drawing/2014/main" id="{93E7A430-196F-40B1-A305-E098195CDD64}"/>
              </a:ext>
            </a:extLst>
          </p:cNvPr>
          <p:cNvSpPr>
            <a:spLocks noGrp="1"/>
          </p:cNvSpPr>
          <p:nvPr/>
        </p:nvSpPr>
        <p:spPr>
          <a:xfrm>
            <a:off x="7886700" y="2381250"/>
            <a:ext cx="66675" cy="2857500"/>
          </a:xfrm>
          <a:prstGeom prst="rect">
            <a:avLst/>
          </a:prstGeom>
          <a:solidFill>
            <a:srgbClr val="197457"/>
          </a:solidFill>
          <a:ln w="0">
            <a:noFill/>
            <a:prstDash val="solid"/>
          </a:ln>
        </p:spPr>
        <p:txBody>
          <a:bodyPr/>
          <a:lstStyle/>
          <a:p>
            <a:endParaRPr lang="en-US"/>
          </a:p>
        </p:txBody>
      </p:sp>
      <p:sp>
        <p:nvSpPr>
          <p:cNvPr id="21" name="Rectangle 20">
            <a:extLst>
              <a:ext uri="{FF2B5EF4-FFF2-40B4-BE49-F238E27FC236}">
                <a16:creationId xmlns:a16="http://schemas.microsoft.com/office/drawing/2014/main" id="{154DE87E-E9F1-4759-97B9-0C049FD77B23}"/>
              </a:ext>
            </a:extLst>
          </p:cNvPr>
          <p:cNvSpPr>
            <a:spLocks noGrp="1"/>
          </p:cNvSpPr>
          <p:nvPr/>
        </p:nvSpPr>
        <p:spPr>
          <a:xfrm>
            <a:off x="8096250" y="2552700"/>
            <a:ext cx="2914650" cy="228600"/>
          </a:xfrm>
          <a:prstGeom prst="rect">
            <a:avLst/>
          </a:prstGeom>
          <a:noFill/>
          <a:ln w="0">
            <a:noFill/>
            <a:prstDash val="solid"/>
          </a:ln>
        </p:spPr>
        <p:txBody>
          <a:bodyPr wrap="square" lIns="0" tIns="0" rIns="0" bIns="0" anchor="t">
            <a:normAutofit/>
          </a:bodyPr>
          <a:lstStyle/>
          <a:p>
            <a:pPr algn="l">
              <a:buNone/>
              <a:defRPr sz="1050" b="1" i="0">
                <a:solidFill>
                  <a:srgbClr val="197457"/>
                </a:solidFill>
                <a:latin typeface="Consolas"/>
                <a:ea typeface="Consolas"/>
                <a:cs typeface="Consolas"/>
              </a:defRPr>
            </a:pPr>
            <a:r>
              <a:rPr sz="1050" b="1" i="0">
                <a:solidFill>
                  <a:srgbClr val="197457"/>
                </a:solidFill>
                <a:latin typeface="Consolas"/>
                <a:ea typeface="Consolas"/>
                <a:cs typeface="Consolas"/>
              </a:rPr>
              <a:t>REQUEST TRAFFIC</a:t>
            </a:r>
          </a:p>
        </p:txBody>
      </p:sp>
      <p:sp>
        <p:nvSpPr>
          <p:cNvPr id="22" name="Rectangle 21">
            <a:extLst>
              <a:ext uri="{FF2B5EF4-FFF2-40B4-BE49-F238E27FC236}">
                <a16:creationId xmlns:a16="http://schemas.microsoft.com/office/drawing/2014/main" id="{E1C57F98-75EF-4944-B8F6-2D8A3D826E0A}"/>
              </a:ext>
            </a:extLst>
          </p:cNvPr>
          <p:cNvSpPr>
            <a:spLocks noGrp="1"/>
          </p:cNvSpPr>
          <p:nvPr/>
        </p:nvSpPr>
        <p:spPr>
          <a:xfrm>
            <a:off x="8096250" y="2857500"/>
            <a:ext cx="2914650" cy="685800"/>
          </a:xfrm>
          <a:prstGeom prst="rect">
            <a:avLst/>
          </a:prstGeom>
          <a:noFill/>
          <a:ln w="0">
            <a:noFill/>
            <a:prstDash val="solid"/>
          </a:ln>
        </p:spPr>
        <p:txBody>
          <a:bodyPr wrap="square" lIns="0" tIns="0" rIns="0" bIns="0" anchor="t">
            <a:normAutofit/>
          </a:bodyPr>
          <a:lstStyle/>
          <a:p>
            <a:pPr algn="l">
              <a:buNone/>
              <a:defRPr sz="2250" b="0" i="0">
                <a:solidFill>
                  <a:srgbClr val="111111"/>
                </a:solidFill>
                <a:latin typeface="Georgia"/>
                <a:ea typeface="Georgia"/>
                <a:cs typeface="Georgia"/>
              </a:defRPr>
            </a:pPr>
            <a:r>
              <a:rPr sz="2250" b="0" i="0">
                <a:solidFill>
                  <a:srgbClr val="111111"/>
                </a:solidFill>
                <a:latin typeface="Georgia"/>
                <a:ea typeface="Georgia"/>
                <a:cs typeface="Georgia"/>
              </a:rPr>
              <a:t>Proxy ≠ platform</a:t>
            </a:r>
          </a:p>
        </p:txBody>
      </p:sp>
      <p:sp>
        <p:nvSpPr>
          <p:cNvPr id="23" name="Rectangle 22">
            <a:extLst>
              <a:ext uri="{FF2B5EF4-FFF2-40B4-BE49-F238E27FC236}">
                <a16:creationId xmlns:a16="http://schemas.microsoft.com/office/drawing/2014/main" id="{620AB8B3-B877-4228-9582-AC4685DDEFDA}"/>
              </a:ext>
            </a:extLst>
          </p:cNvPr>
          <p:cNvSpPr>
            <a:spLocks noGrp="1"/>
          </p:cNvSpPr>
          <p:nvPr/>
        </p:nvSpPr>
        <p:spPr>
          <a:xfrm>
            <a:off x="8096250" y="3562350"/>
            <a:ext cx="2914650" cy="1504950"/>
          </a:xfrm>
          <a:prstGeom prst="rect">
            <a:avLst/>
          </a:prstGeom>
          <a:noFill/>
          <a:ln w="0">
            <a:noFill/>
            <a:prstDash val="solid"/>
          </a:ln>
        </p:spPr>
        <p:txBody>
          <a:bodyPr wrap="square" lIns="0" tIns="0" rIns="0" bIns="0" anchor="t">
            <a:normAutofit/>
          </a:bodyPr>
          <a:lstStyle/>
          <a:p>
            <a:pPr algn="l">
              <a:buNone/>
              <a:defRPr sz="1350" b="0" i="0">
                <a:solidFill>
                  <a:srgbClr val="686A66"/>
                </a:solidFill>
                <a:latin typeface="Arial"/>
                <a:ea typeface="Arial"/>
                <a:cs typeface="Arial"/>
              </a:defRPr>
            </a:pPr>
            <a:r>
              <a:rPr sz="1350" b="0" i="0">
                <a:solidFill>
                  <a:srgbClr val="686A66"/>
                </a:solidFill>
                <a:latin typeface="Arial"/>
                <a:ea typeface="Arial"/>
                <a:cs typeface="Arial"/>
              </a:rPr>
              <a:t>Can the proxy continue serving the accepted configuration and local dependencies?</a:t>
            </a:r>
          </a:p>
          <a:p>
            <a:endParaRPr sz="1350" b="0" i="0">
              <a:solidFill>
                <a:srgbClr val="686A66"/>
              </a:solidFill>
              <a:latin typeface="Arial"/>
              <a:ea typeface="Arial"/>
              <a:cs typeface="Arial"/>
            </a:endParaRPr>
          </a:p>
          <a:p>
            <a:pPr algn="l">
              <a:buNone/>
              <a:defRPr sz="1350" b="0" i="0">
                <a:solidFill>
                  <a:srgbClr val="686A66"/>
                </a:solidFill>
                <a:latin typeface="Arial"/>
                <a:ea typeface="Arial"/>
                <a:cs typeface="Arial"/>
              </a:defRPr>
            </a:pPr>
            <a:r>
              <a:rPr sz="1350" b="0" i="0">
                <a:solidFill>
                  <a:srgbClr val="686A66"/>
                </a:solidFill>
                <a:latin typeface="Arial"/>
                <a:ea typeface="Arial"/>
                <a:cs typeface="Arial"/>
              </a:rPr>
              <a:t>Evidence: SLO probe, dependency state, restart</a:t>
            </a:r>
          </a:p>
        </p:txBody>
      </p:sp>
      <p:sp>
        <p:nvSpPr>
          <p:cNvPr id="24" name="Rectangle 23">
            <a:extLst>
              <a:ext uri="{FF2B5EF4-FFF2-40B4-BE49-F238E27FC236}">
                <a16:creationId xmlns:a16="http://schemas.microsoft.com/office/drawing/2014/main" id="{FA2F4986-9E81-43E5-A671-750B8E376E27}"/>
              </a:ext>
            </a:extLst>
          </p:cNvPr>
          <p:cNvSpPr>
            <a:spLocks noGrp="1"/>
          </p:cNvSpPr>
          <p:nvPr/>
        </p:nvSpPr>
        <p:spPr>
          <a:xfrm>
            <a:off x="1428750" y="5676900"/>
            <a:ext cx="9334500" cy="438150"/>
          </a:xfrm>
          <a:prstGeom prst="rect">
            <a:avLst/>
          </a:prstGeom>
          <a:noFill/>
          <a:ln w="0">
            <a:noFill/>
            <a:prstDash val="solid"/>
          </a:ln>
        </p:spPr>
        <p:txBody>
          <a:bodyPr wrap="square" lIns="0" tIns="0" rIns="0" bIns="0" anchor="t">
            <a:normAutofit fontScale="86978"/>
          </a:bodyPr>
          <a:lstStyle/>
          <a:p>
            <a:pPr algn="ctr">
              <a:buNone/>
              <a:defRPr sz="1875" b="0" i="0">
                <a:solidFill>
                  <a:srgbClr val="111111"/>
                </a:solidFill>
                <a:latin typeface="Georgia"/>
                <a:ea typeface="Georgia"/>
                <a:cs typeface="Georgia"/>
              </a:defRPr>
            </a:pPr>
            <a:r>
              <a:rPr sz="1875" b="0" i="0">
                <a:solidFill>
                  <a:srgbClr val="111111"/>
                </a:solidFill>
                <a:latin typeface="Georgia"/>
                <a:ea typeface="Georgia"/>
                <a:cs typeface="Georgia"/>
              </a:rPr>
              <a:t>Production admission is conjunctive: all required paths must meet their gate at the same time.</a:t>
            </a:r>
          </a:p>
        </p:txBody>
      </p:sp>
    </p:spTree>
    <p:extLst>
      <p:ext uri="{BB962C8B-B14F-4D97-AF65-F5344CB8AC3E}">
        <p14:creationId xmlns:p14="http://schemas.microsoft.com/office/powerpoint/2010/main" val="12361105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0DC3B7B3-DB05-4F55-9784-B78515E9C723}"/>
              </a:ext>
            </a:extLst>
          </p:cNvPr>
          <p:cNvSpPr>
            <a:spLocks noGrp="1"/>
          </p:cNvSpPr>
          <p:nvPr/>
        </p:nvSpPr>
        <p:spPr>
          <a:xfrm>
            <a:off x="0" y="0"/>
            <a:ext cx="12192000" cy="266700"/>
          </a:xfrm>
          <a:prstGeom prst="rect">
            <a:avLst/>
          </a:prstGeom>
          <a:solidFill>
            <a:srgbClr val="FFC72C"/>
          </a:solidFill>
          <a:ln w="0">
            <a:noFill/>
            <a:prstDash val="solid"/>
          </a:ln>
        </p:spPr>
        <p:txBody>
          <a:bodyPr/>
          <a:lstStyle/>
          <a:p>
            <a:endParaRPr lang="en-US"/>
          </a:p>
        </p:txBody>
      </p:sp>
      <p:sp>
        <p:nvSpPr>
          <p:cNvPr id="2" name="Rectangle 1">
            <a:extLst>
              <a:ext uri="{FF2B5EF4-FFF2-40B4-BE49-F238E27FC236}">
                <a16:creationId xmlns:a16="http://schemas.microsoft.com/office/drawing/2014/main" id="{F9316DC2-8956-4CA0-BE3B-5D8C45FD4CF1}"/>
              </a:ext>
            </a:extLst>
          </p:cNvPr>
          <p:cNvSpPr>
            <a:spLocks noGrp="1"/>
          </p:cNvSpPr>
          <p:nvPr/>
        </p:nvSpPr>
        <p:spPr>
          <a:xfrm>
            <a:off x="10668000" y="0"/>
            <a:ext cx="1524000" cy="266700"/>
          </a:xfrm>
          <a:prstGeom prst="rect">
            <a:avLst/>
          </a:prstGeom>
          <a:solidFill>
            <a:srgbClr val="5537D6"/>
          </a:solidFill>
          <a:ln w="0">
            <a:noFill/>
            <a:prstDash val="solid"/>
          </a:ln>
        </p:spPr>
        <p:txBody>
          <a:bodyPr/>
          <a:lstStyle/>
          <a:p>
            <a:endParaRPr lang="en-US"/>
          </a:p>
        </p:txBody>
      </p:sp>
      <p:sp>
        <p:nvSpPr>
          <p:cNvPr id="3" name="Rectangle 2">
            <a:extLst>
              <a:ext uri="{FF2B5EF4-FFF2-40B4-BE49-F238E27FC236}">
                <a16:creationId xmlns:a16="http://schemas.microsoft.com/office/drawing/2014/main" id="{0B481B66-EF76-4C81-8EB6-B2BB22A4E1E1}"/>
              </a:ext>
            </a:extLst>
          </p:cNvPr>
          <p:cNvSpPr>
            <a:spLocks noGrp="1"/>
          </p:cNvSpPr>
          <p:nvPr/>
        </p:nvSpPr>
        <p:spPr>
          <a:xfrm>
            <a:off x="609600" y="38100"/>
            <a:ext cx="3429000" cy="190500"/>
          </a:xfrm>
          <a:prstGeom prst="rect">
            <a:avLst/>
          </a:prstGeom>
          <a:noFill/>
          <a:ln w="0">
            <a:noFill/>
            <a:prstDash val="solid"/>
          </a:ln>
        </p:spPr>
        <p:txBody>
          <a:bodyPr wrap="square" lIns="0" tIns="0" rIns="0" bIns="0" anchor="t">
            <a:normAutofit/>
          </a:bodyPr>
          <a:lstStyle/>
          <a:p>
            <a:pPr algn="l">
              <a:buNone/>
              <a:defRPr sz="975" b="1" i="0">
                <a:solidFill>
                  <a:srgbClr val="111111"/>
                </a:solidFill>
                <a:latin typeface="Consolas"/>
                <a:ea typeface="Consolas"/>
                <a:cs typeface="Consolas"/>
              </a:defRPr>
            </a:pPr>
            <a:r>
              <a:rPr sz="975" b="1" i="0">
                <a:solidFill>
                  <a:srgbClr val="111111"/>
                </a:solidFill>
                <a:latin typeface="Consolas"/>
                <a:ea typeface="Consolas"/>
                <a:cs typeface="Consolas"/>
              </a:rPr>
              <a:t>11 / ARCHITECTURE</a:t>
            </a:r>
          </a:p>
        </p:txBody>
      </p:sp>
      <p:sp>
        <p:nvSpPr>
          <p:cNvPr id="4" name="Rectangle 3">
            <a:extLst>
              <a:ext uri="{FF2B5EF4-FFF2-40B4-BE49-F238E27FC236}">
                <a16:creationId xmlns:a16="http://schemas.microsoft.com/office/drawing/2014/main" id="{29D39F8E-07C4-43DB-8F81-02417BD32AC3}"/>
              </a:ext>
            </a:extLst>
          </p:cNvPr>
          <p:cNvSpPr>
            <a:spLocks noGrp="1"/>
          </p:cNvSpPr>
          <p:nvPr/>
        </p:nvSpPr>
        <p:spPr>
          <a:xfrm>
            <a:off x="609600" y="428625"/>
            <a:ext cx="10572750" cy="1028700"/>
          </a:xfrm>
          <a:prstGeom prst="rect">
            <a:avLst/>
          </a:prstGeom>
          <a:noFill/>
          <a:ln w="0">
            <a:noFill/>
            <a:prstDash val="solid"/>
          </a:ln>
        </p:spPr>
        <p:txBody>
          <a:bodyPr wrap="square" lIns="0" tIns="0" rIns="0" bIns="0" anchor="t">
            <a:noAutofit/>
          </a:bodyPr>
          <a:lstStyle/>
          <a:p>
            <a:pPr algn="l">
              <a:buNone/>
              <a:defRPr sz="3300" b="1" i="0">
                <a:solidFill>
                  <a:srgbClr val="111111"/>
                </a:solidFill>
                <a:latin typeface="Arial"/>
                <a:ea typeface="Arial"/>
                <a:cs typeface="Arial"/>
              </a:defRPr>
            </a:pPr>
            <a:r>
              <a:rPr sz="3300" b="1" i="0">
                <a:solidFill>
                  <a:srgbClr val="111111"/>
                </a:solidFill>
                <a:latin typeface="Arial"/>
                <a:ea typeface="Arial"/>
                <a:cs typeface="Arial"/>
              </a:rPr>
              <a:t>Control-plane loss requires explicit admission states</a:t>
            </a:r>
          </a:p>
        </p:txBody>
      </p:sp>
      <p:sp>
        <p:nvSpPr>
          <p:cNvPr id="5" name="Rectangle 4">
            <a:extLst>
              <a:ext uri="{FF2B5EF4-FFF2-40B4-BE49-F238E27FC236}">
                <a16:creationId xmlns:a16="http://schemas.microsoft.com/office/drawing/2014/main" id="{9025CC7A-351E-4B7F-8457-41D11690FC26}"/>
              </a:ext>
            </a:extLst>
          </p:cNvPr>
          <p:cNvSpPr>
            <a:spLocks noGrp="1"/>
          </p:cNvSpPr>
          <p:nvPr/>
        </p:nvSpPr>
        <p:spPr>
          <a:xfrm>
            <a:off x="628650" y="1514475"/>
            <a:ext cx="10382250" cy="323850"/>
          </a:xfrm>
          <a:prstGeom prst="rect">
            <a:avLst/>
          </a:prstGeom>
          <a:noFill/>
          <a:ln w="0">
            <a:noFill/>
            <a:prstDash val="solid"/>
          </a:ln>
        </p:spPr>
        <p:txBody>
          <a:bodyPr wrap="square" lIns="0" tIns="0" rIns="0" bIns="0" anchor="t">
            <a:noAutofit/>
          </a:bodyPr>
          <a:lstStyle/>
          <a:p>
            <a:pPr algn="l">
              <a:buNone/>
              <a:defRPr sz="1575" b="0" i="0">
                <a:solidFill>
                  <a:srgbClr val="686A66"/>
                </a:solidFill>
                <a:latin typeface="Arial"/>
                <a:ea typeface="Arial"/>
                <a:cs typeface="Arial"/>
              </a:defRPr>
            </a:pPr>
            <a:r>
              <a:rPr sz="1575" b="0" i="0">
                <a:solidFill>
                  <a:srgbClr val="686A66"/>
                </a:solidFill>
                <a:latin typeface="Arial"/>
                <a:ea typeface="Arial"/>
                <a:cs typeface="Arial"/>
              </a:rPr>
              <a:t>Continue, hold, quarantine and reconcile are governed decisions—not automatic labels.</a:t>
            </a:r>
          </a:p>
        </p:txBody>
      </p:sp>
      <p:sp>
        <p:nvSpPr>
          <p:cNvPr id="6" name="Rectangle 5">
            <a:extLst>
              <a:ext uri="{FF2B5EF4-FFF2-40B4-BE49-F238E27FC236}">
                <a16:creationId xmlns:a16="http://schemas.microsoft.com/office/drawing/2014/main" id="{4F54F610-91F7-459F-89B8-D7EA3BB52787}"/>
              </a:ext>
            </a:extLst>
          </p:cNvPr>
          <p:cNvSpPr>
            <a:spLocks noGrp="1"/>
          </p:cNvSpPr>
          <p:nvPr/>
        </p:nvSpPr>
        <p:spPr>
          <a:xfrm>
            <a:off x="609600" y="1905000"/>
            <a:ext cx="10972800" cy="9525"/>
          </a:xfrm>
          <a:prstGeom prst="rect">
            <a:avLst/>
          </a:prstGeom>
          <a:solidFill>
            <a:srgbClr val="8A8B86"/>
          </a:solidFill>
          <a:ln w="0">
            <a:noFill/>
            <a:prstDash val="solid"/>
          </a:ln>
        </p:spPr>
        <p:txBody>
          <a:bodyPr/>
          <a:lstStyle/>
          <a:p>
            <a:endParaRPr lang="en-US"/>
          </a:p>
        </p:txBody>
      </p:sp>
      <p:sp>
        <p:nvSpPr>
          <p:cNvPr id="7" name="Rectangle 6">
            <a:extLst>
              <a:ext uri="{FF2B5EF4-FFF2-40B4-BE49-F238E27FC236}">
                <a16:creationId xmlns:a16="http://schemas.microsoft.com/office/drawing/2014/main" id="{49E6550A-55F6-4545-92A7-700DD18A89C1}"/>
              </a:ext>
            </a:extLst>
          </p:cNvPr>
          <p:cNvSpPr>
            <a:spLocks noGrp="1"/>
          </p:cNvSpPr>
          <p:nvPr/>
        </p:nvSpPr>
        <p:spPr>
          <a:xfrm>
            <a:off x="609600" y="6524625"/>
            <a:ext cx="8858250" cy="180975"/>
          </a:xfrm>
          <a:prstGeom prst="rect">
            <a:avLst/>
          </a:prstGeom>
          <a:noFill/>
          <a:ln w="0">
            <a:noFill/>
            <a:prstDash val="solid"/>
          </a:ln>
        </p:spPr>
        <p:txBody>
          <a:bodyPr wrap="square" lIns="0" tIns="0" rIns="0" bIns="0" anchor="ctr">
            <a:normAutofit/>
          </a:bodyPr>
          <a:lstStyle/>
          <a:p>
            <a:pPr>
              <a:buNone/>
              <a:defRPr sz="825">
                <a:solidFill>
                  <a:srgbClr val="666762"/>
                </a:solidFill>
              </a:defRPr>
            </a:pPr>
            <a:r>
              <a:rPr sz="825" b="1">
                <a:solidFill>
                  <a:srgbClr val="666762"/>
                </a:solidFill>
              </a:rPr>
              <a:t>REFERENCES  </a:t>
            </a:r>
            <a:r>
              <a:rPr sz="825" u="sng">
                <a:solidFill>
                  <a:srgbClr val="666762"/>
                </a:solidFill>
                <a:hlinkClick r:id="rId3"/>
              </a:rPr>
              <a:t>Repo reference</a:t>
            </a:r>
            <a:r>
              <a:rPr sz="825">
                <a:solidFill>
                  <a:srgbClr val="666762"/>
                </a:solidFill>
              </a:rPr>
              <a:t>  ·  </a:t>
            </a:r>
            <a:r>
              <a:rPr sz="825" u="sng">
                <a:solidFill>
                  <a:srgbClr val="666762"/>
                </a:solidFill>
                <a:hlinkClick r:id="rId4"/>
              </a:rPr>
              <a:t>Official docs</a:t>
            </a:r>
          </a:p>
        </p:txBody>
      </p:sp>
      <p:sp>
        <p:nvSpPr>
          <p:cNvPr id="8" name="Rectangle 7">
            <a:extLst>
              <a:ext uri="{FF2B5EF4-FFF2-40B4-BE49-F238E27FC236}">
                <a16:creationId xmlns:a16="http://schemas.microsoft.com/office/drawing/2014/main" id="{78CF6139-20AB-497B-BDD5-C12EDD4B31DF}"/>
              </a:ext>
            </a:extLst>
          </p:cNvPr>
          <p:cNvSpPr>
            <a:spLocks noGrp="1"/>
          </p:cNvSpPr>
          <p:nvPr/>
        </p:nvSpPr>
        <p:spPr>
          <a:xfrm>
            <a:off x="10287000" y="6486525"/>
            <a:ext cx="1295400" cy="209550"/>
          </a:xfrm>
          <a:prstGeom prst="rect">
            <a:avLst/>
          </a:prstGeom>
          <a:noFill/>
          <a:ln w="0">
            <a:noFill/>
            <a:prstDash val="solid"/>
          </a:ln>
        </p:spPr>
        <p:txBody>
          <a:bodyPr wrap="square" lIns="0" tIns="0" rIns="0" bIns="0" anchor="t">
            <a:normAutofit/>
          </a:bodyPr>
          <a:lstStyle/>
          <a:p>
            <a:pPr algn="r">
              <a:buNone/>
              <a:defRPr sz="975" b="1" i="0">
                <a:solidFill>
                  <a:srgbClr val="686A66"/>
                </a:solidFill>
                <a:latin typeface="Consolas"/>
                <a:ea typeface="Consolas"/>
                <a:cs typeface="Consolas"/>
              </a:defRPr>
            </a:pPr>
            <a:r>
              <a:rPr sz="975" b="1" i="0">
                <a:solidFill>
                  <a:srgbClr val="686A66"/>
                </a:solidFill>
                <a:latin typeface="Consolas"/>
                <a:ea typeface="Consolas"/>
                <a:cs typeface="Consolas"/>
              </a:rPr>
              <a:t>11 / 25</a:t>
            </a:r>
          </a:p>
        </p:txBody>
      </p:sp>
      <p:sp>
        <p:nvSpPr>
          <p:cNvPr id="9" name="Rounded Rectangle 8">
            <a:extLst>
              <a:ext uri="{FF2B5EF4-FFF2-40B4-BE49-F238E27FC236}">
                <a16:creationId xmlns:a16="http://schemas.microsoft.com/office/drawing/2014/main" id="{49E551E6-7132-4AC9-9BEA-B70D06FFBC74}"/>
              </a:ext>
            </a:extLst>
          </p:cNvPr>
          <p:cNvSpPr>
            <a:spLocks noGrp="1"/>
          </p:cNvSpPr>
          <p:nvPr/>
        </p:nvSpPr>
        <p:spPr>
          <a:xfrm>
            <a:off x="685800" y="2800350"/>
            <a:ext cx="2143125" cy="1047750"/>
          </a:xfrm>
          <a:prstGeom prst="roundRect">
            <a:avLst>
              <a:gd name="adj" fmla="val 7273"/>
            </a:avLst>
          </a:prstGeom>
          <a:solidFill>
            <a:srgbClr val="FFFFFF"/>
          </a:solidFill>
          <a:ln w="14288">
            <a:solidFill>
              <a:srgbClr val="197457"/>
            </a:solidFill>
            <a:prstDash val="solid"/>
          </a:ln>
        </p:spPr>
        <p:txBody>
          <a:bodyPr/>
          <a:lstStyle/>
          <a:p>
            <a:endParaRPr lang="en-US"/>
          </a:p>
        </p:txBody>
      </p:sp>
      <p:sp>
        <p:nvSpPr>
          <p:cNvPr id="10" name="Rectangle 9">
            <a:extLst>
              <a:ext uri="{FF2B5EF4-FFF2-40B4-BE49-F238E27FC236}">
                <a16:creationId xmlns:a16="http://schemas.microsoft.com/office/drawing/2014/main" id="{CA20D4F9-E1CA-4071-A2E9-EC1BD1DE2E7B}"/>
              </a:ext>
            </a:extLst>
          </p:cNvPr>
          <p:cNvSpPr>
            <a:spLocks noGrp="1"/>
          </p:cNvSpPr>
          <p:nvPr/>
        </p:nvSpPr>
        <p:spPr>
          <a:xfrm>
            <a:off x="838200" y="2933700"/>
            <a:ext cx="1838325" cy="400050"/>
          </a:xfrm>
          <a:prstGeom prst="rect">
            <a:avLst/>
          </a:prstGeom>
          <a:noFill/>
          <a:ln w="0">
            <a:noFill/>
            <a:prstDash val="solid"/>
          </a:ln>
        </p:spPr>
        <p:txBody>
          <a:bodyPr wrap="square" lIns="0" tIns="0" rIns="0" bIns="0" anchor="t">
            <a:normAutofit/>
          </a:bodyPr>
          <a:lstStyle/>
          <a:p>
            <a:pPr algn="ctr">
              <a:buNone/>
              <a:defRPr sz="1650" b="1" i="0">
                <a:solidFill>
                  <a:srgbClr val="111111"/>
                </a:solidFill>
                <a:latin typeface="Arial"/>
                <a:ea typeface="Arial"/>
                <a:cs typeface="Arial"/>
              </a:defRPr>
            </a:pPr>
            <a:r>
              <a:rPr sz="1650" b="1" i="0">
                <a:solidFill>
                  <a:srgbClr val="111111"/>
                </a:solidFill>
                <a:latin typeface="Arial"/>
                <a:ea typeface="Arial"/>
                <a:cs typeface="Arial"/>
              </a:rPr>
              <a:t>CONNECTED</a:t>
            </a:r>
          </a:p>
        </p:txBody>
      </p:sp>
      <p:sp>
        <p:nvSpPr>
          <p:cNvPr id="11" name="Rectangle 10">
            <a:extLst>
              <a:ext uri="{FF2B5EF4-FFF2-40B4-BE49-F238E27FC236}">
                <a16:creationId xmlns:a16="http://schemas.microsoft.com/office/drawing/2014/main" id="{7597093A-3D27-41B2-8C0B-3BD395FB2FDA}"/>
              </a:ext>
            </a:extLst>
          </p:cNvPr>
          <p:cNvSpPr>
            <a:spLocks noGrp="1"/>
          </p:cNvSpPr>
          <p:nvPr/>
        </p:nvSpPr>
        <p:spPr>
          <a:xfrm>
            <a:off x="819150" y="3333750"/>
            <a:ext cx="1876425" cy="419100"/>
          </a:xfrm>
          <a:prstGeom prst="rect">
            <a:avLst/>
          </a:prstGeom>
          <a:noFill/>
          <a:ln w="0">
            <a:noFill/>
            <a:prstDash val="solid"/>
          </a:ln>
        </p:spPr>
        <p:txBody>
          <a:bodyPr wrap="square" lIns="0" tIns="0" rIns="0" bIns="0" anchor="t">
            <a:normAutofit/>
          </a:bodyPr>
          <a:lstStyle/>
          <a:p>
            <a:pPr algn="ctr">
              <a:buNone/>
              <a:defRPr sz="1125" b="0" i="0">
                <a:solidFill>
                  <a:srgbClr val="686A66"/>
                </a:solidFill>
                <a:latin typeface="Arial"/>
                <a:ea typeface="Arial"/>
                <a:cs typeface="Arial"/>
              </a:defRPr>
            </a:pPr>
            <a:r>
              <a:rPr sz="1125" b="0" i="0">
                <a:solidFill>
                  <a:srgbClr val="686A66"/>
                </a:solidFill>
                <a:latin typeface="Arial"/>
                <a:ea typeface="Arial"/>
                <a:cs typeface="Arial"/>
              </a:rPr>
              <a:t>desired = effective</a:t>
            </a:r>
          </a:p>
          <a:p>
            <a:pPr algn="ctr">
              <a:buNone/>
              <a:defRPr sz="1125" b="0" i="0">
                <a:solidFill>
                  <a:srgbClr val="686A66"/>
                </a:solidFill>
                <a:latin typeface="Arial"/>
                <a:ea typeface="Arial"/>
                <a:cs typeface="Arial"/>
              </a:defRPr>
            </a:pPr>
            <a:r>
              <a:rPr sz="1125" b="0" i="0">
                <a:solidFill>
                  <a:srgbClr val="686A66"/>
                </a:solidFill>
                <a:latin typeface="Arial"/>
                <a:ea typeface="Arial"/>
                <a:cs typeface="Arial"/>
              </a:rPr>
              <a:t>normal evidence cadence</a:t>
            </a:r>
          </a:p>
        </p:txBody>
      </p:sp>
      <p:sp>
        <p:nvSpPr>
          <p:cNvPr id="12" name="Rounded Rectangle 11">
            <a:extLst>
              <a:ext uri="{FF2B5EF4-FFF2-40B4-BE49-F238E27FC236}">
                <a16:creationId xmlns:a16="http://schemas.microsoft.com/office/drawing/2014/main" id="{5A362C78-E43D-471C-A6F5-7961A57E1ACD}"/>
              </a:ext>
            </a:extLst>
          </p:cNvPr>
          <p:cNvSpPr>
            <a:spLocks noGrp="1"/>
          </p:cNvSpPr>
          <p:nvPr/>
        </p:nvSpPr>
        <p:spPr>
          <a:xfrm>
            <a:off x="3486150" y="2800350"/>
            <a:ext cx="2143125" cy="1047750"/>
          </a:xfrm>
          <a:prstGeom prst="roundRect">
            <a:avLst>
              <a:gd name="adj" fmla="val 7273"/>
            </a:avLst>
          </a:prstGeom>
          <a:solidFill>
            <a:srgbClr val="FFFFFF"/>
          </a:solidFill>
          <a:ln w="14288">
            <a:solidFill>
              <a:srgbClr val="A96300"/>
            </a:solidFill>
            <a:prstDash val="solid"/>
          </a:ln>
        </p:spPr>
        <p:txBody>
          <a:bodyPr/>
          <a:lstStyle/>
          <a:p>
            <a:endParaRPr lang="en-US"/>
          </a:p>
        </p:txBody>
      </p:sp>
      <p:sp>
        <p:nvSpPr>
          <p:cNvPr id="13" name="Rectangle 12">
            <a:extLst>
              <a:ext uri="{FF2B5EF4-FFF2-40B4-BE49-F238E27FC236}">
                <a16:creationId xmlns:a16="http://schemas.microsoft.com/office/drawing/2014/main" id="{ED607623-3447-4EF6-9482-581F4CDECE9D}"/>
              </a:ext>
            </a:extLst>
          </p:cNvPr>
          <p:cNvSpPr>
            <a:spLocks noGrp="1"/>
          </p:cNvSpPr>
          <p:nvPr/>
        </p:nvSpPr>
        <p:spPr>
          <a:xfrm>
            <a:off x="3638550" y="2933700"/>
            <a:ext cx="1838325" cy="400050"/>
          </a:xfrm>
          <a:prstGeom prst="rect">
            <a:avLst/>
          </a:prstGeom>
          <a:noFill/>
          <a:ln w="0">
            <a:noFill/>
            <a:prstDash val="solid"/>
          </a:ln>
        </p:spPr>
        <p:txBody>
          <a:bodyPr wrap="square" lIns="0" tIns="0" rIns="0" bIns="0" anchor="t">
            <a:normAutofit/>
          </a:bodyPr>
          <a:lstStyle/>
          <a:p>
            <a:pPr algn="ctr">
              <a:buNone/>
              <a:defRPr sz="1650" b="1" i="0">
                <a:solidFill>
                  <a:srgbClr val="111111"/>
                </a:solidFill>
                <a:latin typeface="Arial"/>
                <a:ea typeface="Arial"/>
                <a:cs typeface="Arial"/>
              </a:defRPr>
            </a:pPr>
            <a:r>
              <a:rPr sz="1650" b="1" i="0">
                <a:solidFill>
                  <a:srgbClr val="111111"/>
                </a:solidFill>
                <a:latin typeface="Arial"/>
                <a:ea typeface="Arial"/>
                <a:cs typeface="Arial"/>
              </a:rPr>
              <a:t>ISOLATED</a:t>
            </a:r>
          </a:p>
        </p:txBody>
      </p:sp>
      <p:sp>
        <p:nvSpPr>
          <p:cNvPr id="14" name="Rectangle 13">
            <a:extLst>
              <a:ext uri="{FF2B5EF4-FFF2-40B4-BE49-F238E27FC236}">
                <a16:creationId xmlns:a16="http://schemas.microsoft.com/office/drawing/2014/main" id="{CC1211AF-41FD-43C1-A612-F2DC3E785F32}"/>
              </a:ext>
            </a:extLst>
          </p:cNvPr>
          <p:cNvSpPr>
            <a:spLocks noGrp="1"/>
          </p:cNvSpPr>
          <p:nvPr/>
        </p:nvSpPr>
        <p:spPr>
          <a:xfrm>
            <a:off x="3619500" y="3333750"/>
            <a:ext cx="1876425" cy="419100"/>
          </a:xfrm>
          <a:prstGeom prst="rect">
            <a:avLst/>
          </a:prstGeom>
          <a:noFill/>
          <a:ln w="0">
            <a:noFill/>
            <a:prstDash val="solid"/>
          </a:ln>
        </p:spPr>
        <p:txBody>
          <a:bodyPr wrap="square" lIns="0" tIns="0" rIns="0" bIns="0" anchor="t">
            <a:normAutofit/>
          </a:bodyPr>
          <a:lstStyle/>
          <a:p>
            <a:pPr algn="ctr">
              <a:buNone/>
              <a:defRPr sz="1125" b="0" i="0">
                <a:solidFill>
                  <a:srgbClr val="686A66"/>
                </a:solidFill>
                <a:latin typeface="Arial"/>
                <a:ea typeface="Arial"/>
                <a:cs typeface="Arial"/>
              </a:defRPr>
            </a:pPr>
            <a:r>
              <a:rPr sz="1125" b="0" i="0">
                <a:solidFill>
                  <a:srgbClr val="686A66"/>
                </a:solidFill>
                <a:latin typeface="Arial"/>
                <a:ea typeface="Arial"/>
                <a:cs typeface="Arial"/>
              </a:rPr>
              <a:t>proxy may continue</a:t>
            </a:r>
          </a:p>
          <a:p>
            <a:pPr algn="ctr">
              <a:buNone/>
              <a:defRPr sz="1125" b="0" i="0">
                <a:solidFill>
                  <a:srgbClr val="686A66"/>
                </a:solidFill>
                <a:latin typeface="Arial"/>
                <a:ea typeface="Arial"/>
                <a:cs typeface="Arial"/>
              </a:defRPr>
            </a:pPr>
            <a:r>
              <a:rPr sz="1125" b="0" i="0">
                <a:solidFill>
                  <a:srgbClr val="686A66"/>
                </a:solidFill>
                <a:latin typeface="Arial"/>
                <a:ea typeface="Arial"/>
                <a:cs typeface="Arial"/>
              </a:rPr>
              <a:t>mutation may not</a:t>
            </a:r>
          </a:p>
        </p:txBody>
      </p:sp>
      <p:sp>
        <p:nvSpPr>
          <p:cNvPr id="15" name="Rounded Rectangle 14">
            <a:extLst>
              <a:ext uri="{FF2B5EF4-FFF2-40B4-BE49-F238E27FC236}">
                <a16:creationId xmlns:a16="http://schemas.microsoft.com/office/drawing/2014/main" id="{3B32CE2A-3DBC-4714-B12D-8BE8B4396F0B}"/>
              </a:ext>
            </a:extLst>
          </p:cNvPr>
          <p:cNvSpPr>
            <a:spLocks noGrp="1"/>
          </p:cNvSpPr>
          <p:nvPr/>
        </p:nvSpPr>
        <p:spPr>
          <a:xfrm>
            <a:off x="6286500" y="2800350"/>
            <a:ext cx="2143125" cy="1047750"/>
          </a:xfrm>
          <a:prstGeom prst="roundRect">
            <a:avLst>
              <a:gd name="adj" fmla="val 7273"/>
            </a:avLst>
          </a:prstGeom>
          <a:solidFill>
            <a:srgbClr val="FFFFFF"/>
          </a:solidFill>
          <a:ln w="14288">
            <a:solidFill>
              <a:srgbClr val="FFC72C"/>
            </a:solidFill>
            <a:prstDash val="solid"/>
          </a:ln>
        </p:spPr>
        <p:txBody>
          <a:bodyPr/>
          <a:lstStyle/>
          <a:p>
            <a:endParaRPr lang="en-US"/>
          </a:p>
        </p:txBody>
      </p:sp>
      <p:sp>
        <p:nvSpPr>
          <p:cNvPr id="16" name="Rectangle 15">
            <a:extLst>
              <a:ext uri="{FF2B5EF4-FFF2-40B4-BE49-F238E27FC236}">
                <a16:creationId xmlns:a16="http://schemas.microsoft.com/office/drawing/2014/main" id="{7F03D53B-1AAA-4AAE-9241-4D565C689D29}"/>
              </a:ext>
            </a:extLst>
          </p:cNvPr>
          <p:cNvSpPr>
            <a:spLocks noGrp="1"/>
          </p:cNvSpPr>
          <p:nvPr/>
        </p:nvSpPr>
        <p:spPr>
          <a:xfrm>
            <a:off x="6438900" y="2933700"/>
            <a:ext cx="1838325" cy="400050"/>
          </a:xfrm>
          <a:prstGeom prst="rect">
            <a:avLst/>
          </a:prstGeom>
          <a:noFill/>
          <a:ln w="0">
            <a:noFill/>
            <a:prstDash val="solid"/>
          </a:ln>
        </p:spPr>
        <p:txBody>
          <a:bodyPr wrap="square" lIns="0" tIns="0" rIns="0" bIns="0" anchor="t">
            <a:normAutofit/>
          </a:bodyPr>
          <a:lstStyle/>
          <a:p>
            <a:pPr algn="ctr">
              <a:buNone/>
              <a:defRPr sz="1650" b="1" i="0">
                <a:solidFill>
                  <a:srgbClr val="111111"/>
                </a:solidFill>
                <a:latin typeface="Arial"/>
                <a:ea typeface="Arial"/>
                <a:cs typeface="Arial"/>
              </a:defRPr>
            </a:pPr>
            <a:r>
              <a:rPr sz="1650" b="1" i="0">
                <a:solidFill>
                  <a:srgbClr val="111111"/>
                </a:solidFill>
                <a:latin typeface="Arial"/>
                <a:ea typeface="Arial"/>
                <a:cs typeface="Arial"/>
              </a:rPr>
              <a:t>RECONCILING</a:t>
            </a:r>
          </a:p>
        </p:txBody>
      </p:sp>
      <p:sp>
        <p:nvSpPr>
          <p:cNvPr id="17" name="Rectangle 16">
            <a:extLst>
              <a:ext uri="{FF2B5EF4-FFF2-40B4-BE49-F238E27FC236}">
                <a16:creationId xmlns:a16="http://schemas.microsoft.com/office/drawing/2014/main" id="{EDFF62AD-23E9-41BB-BE3C-1237D8F6771D}"/>
              </a:ext>
            </a:extLst>
          </p:cNvPr>
          <p:cNvSpPr>
            <a:spLocks noGrp="1"/>
          </p:cNvSpPr>
          <p:nvPr/>
        </p:nvSpPr>
        <p:spPr>
          <a:xfrm>
            <a:off x="6419850" y="3333750"/>
            <a:ext cx="1876425" cy="419100"/>
          </a:xfrm>
          <a:prstGeom prst="rect">
            <a:avLst/>
          </a:prstGeom>
          <a:noFill/>
          <a:ln w="0">
            <a:noFill/>
            <a:prstDash val="solid"/>
          </a:ln>
        </p:spPr>
        <p:txBody>
          <a:bodyPr wrap="square" lIns="0" tIns="0" rIns="0" bIns="0" anchor="t">
            <a:normAutofit/>
          </a:bodyPr>
          <a:lstStyle/>
          <a:p>
            <a:pPr algn="ctr">
              <a:buNone/>
              <a:defRPr sz="1125" b="0" i="0">
                <a:solidFill>
                  <a:srgbClr val="686A66"/>
                </a:solidFill>
                <a:latin typeface="Arial"/>
                <a:ea typeface="Arial"/>
                <a:cs typeface="Arial"/>
              </a:defRPr>
            </a:pPr>
            <a:r>
              <a:rPr sz="1125" b="0" i="0">
                <a:solidFill>
                  <a:srgbClr val="686A66"/>
                </a:solidFill>
                <a:latin typeface="Arial"/>
                <a:ea typeface="Arial"/>
                <a:cs typeface="Arial"/>
              </a:rPr>
              <a:t>compare state</a:t>
            </a:r>
          </a:p>
          <a:p>
            <a:pPr algn="ctr">
              <a:buNone/>
              <a:defRPr sz="1125" b="0" i="0">
                <a:solidFill>
                  <a:srgbClr val="686A66"/>
                </a:solidFill>
                <a:latin typeface="Arial"/>
                <a:ea typeface="Arial"/>
                <a:cs typeface="Arial"/>
              </a:defRPr>
            </a:pPr>
            <a:r>
              <a:rPr sz="1125" b="0" i="0">
                <a:solidFill>
                  <a:srgbClr val="686A66"/>
                </a:solidFill>
                <a:latin typeface="Arial"/>
                <a:ea typeface="Arial"/>
                <a:cs typeface="Arial"/>
              </a:rPr>
              <a:t>probe before readmission</a:t>
            </a:r>
          </a:p>
        </p:txBody>
      </p:sp>
      <p:sp>
        <p:nvSpPr>
          <p:cNvPr id="18" name="Rounded Rectangle 17">
            <a:extLst>
              <a:ext uri="{FF2B5EF4-FFF2-40B4-BE49-F238E27FC236}">
                <a16:creationId xmlns:a16="http://schemas.microsoft.com/office/drawing/2014/main" id="{52012078-E919-49E5-BC9E-FE11F0AD90A8}"/>
              </a:ext>
            </a:extLst>
          </p:cNvPr>
          <p:cNvSpPr>
            <a:spLocks noGrp="1"/>
          </p:cNvSpPr>
          <p:nvPr/>
        </p:nvSpPr>
        <p:spPr>
          <a:xfrm>
            <a:off x="9086850" y="2800350"/>
            <a:ext cx="2143125" cy="1047750"/>
          </a:xfrm>
          <a:prstGeom prst="roundRect">
            <a:avLst>
              <a:gd name="adj" fmla="val 7273"/>
            </a:avLst>
          </a:prstGeom>
          <a:solidFill>
            <a:srgbClr val="FFFFFF"/>
          </a:solidFill>
          <a:ln w="14288">
            <a:solidFill>
              <a:srgbClr val="197457"/>
            </a:solidFill>
            <a:prstDash val="solid"/>
          </a:ln>
        </p:spPr>
        <p:txBody>
          <a:bodyPr/>
          <a:lstStyle/>
          <a:p>
            <a:endParaRPr lang="en-US"/>
          </a:p>
        </p:txBody>
      </p:sp>
      <p:sp>
        <p:nvSpPr>
          <p:cNvPr id="19" name="Rectangle 18">
            <a:extLst>
              <a:ext uri="{FF2B5EF4-FFF2-40B4-BE49-F238E27FC236}">
                <a16:creationId xmlns:a16="http://schemas.microsoft.com/office/drawing/2014/main" id="{8E146D63-060A-47A3-8CDF-510A67D48C54}"/>
              </a:ext>
            </a:extLst>
          </p:cNvPr>
          <p:cNvSpPr>
            <a:spLocks noGrp="1"/>
          </p:cNvSpPr>
          <p:nvPr/>
        </p:nvSpPr>
        <p:spPr>
          <a:xfrm>
            <a:off x="9239250" y="2933700"/>
            <a:ext cx="1838325" cy="400050"/>
          </a:xfrm>
          <a:prstGeom prst="rect">
            <a:avLst/>
          </a:prstGeom>
          <a:noFill/>
          <a:ln w="0">
            <a:noFill/>
            <a:prstDash val="solid"/>
          </a:ln>
        </p:spPr>
        <p:txBody>
          <a:bodyPr wrap="square" lIns="0" tIns="0" rIns="0" bIns="0" anchor="t">
            <a:normAutofit/>
          </a:bodyPr>
          <a:lstStyle/>
          <a:p>
            <a:pPr algn="ctr">
              <a:buNone/>
              <a:defRPr sz="1650" b="1" i="0">
                <a:solidFill>
                  <a:srgbClr val="111111"/>
                </a:solidFill>
                <a:latin typeface="Arial"/>
                <a:ea typeface="Arial"/>
                <a:cs typeface="Arial"/>
              </a:defRPr>
            </a:pPr>
            <a:r>
              <a:rPr sz="1650" b="1" i="0">
                <a:solidFill>
                  <a:srgbClr val="111111"/>
                </a:solidFill>
                <a:latin typeface="Arial"/>
                <a:ea typeface="Arial"/>
                <a:cs typeface="Arial"/>
              </a:rPr>
              <a:t>RE-ADMITTED</a:t>
            </a:r>
          </a:p>
        </p:txBody>
      </p:sp>
      <p:sp>
        <p:nvSpPr>
          <p:cNvPr id="20" name="Rectangle 19">
            <a:extLst>
              <a:ext uri="{FF2B5EF4-FFF2-40B4-BE49-F238E27FC236}">
                <a16:creationId xmlns:a16="http://schemas.microsoft.com/office/drawing/2014/main" id="{423CFD41-E57C-486D-BDD0-7343C81A1666}"/>
              </a:ext>
            </a:extLst>
          </p:cNvPr>
          <p:cNvSpPr>
            <a:spLocks noGrp="1"/>
          </p:cNvSpPr>
          <p:nvPr/>
        </p:nvSpPr>
        <p:spPr>
          <a:xfrm>
            <a:off x="9220200" y="3333750"/>
            <a:ext cx="1876425" cy="419100"/>
          </a:xfrm>
          <a:prstGeom prst="rect">
            <a:avLst/>
          </a:prstGeom>
          <a:noFill/>
          <a:ln w="0">
            <a:noFill/>
            <a:prstDash val="solid"/>
          </a:ln>
        </p:spPr>
        <p:txBody>
          <a:bodyPr wrap="square" lIns="0" tIns="0" rIns="0" bIns="0" anchor="t">
            <a:normAutofit/>
          </a:bodyPr>
          <a:lstStyle/>
          <a:p>
            <a:pPr algn="ctr">
              <a:buNone/>
              <a:defRPr sz="1125" b="0" i="0">
                <a:solidFill>
                  <a:srgbClr val="686A66"/>
                </a:solidFill>
                <a:latin typeface="Arial"/>
                <a:ea typeface="Arial"/>
                <a:cs typeface="Arial"/>
              </a:defRPr>
            </a:pPr>
            <a:r>
              <a:rPr sz="1125" b="0" i="0">
                <a:solidFill>
                  <a:srgbClr val="686A66"/>
                </a:solidFill>
                <a:latin typeface="Arial"/>
                <a:ea typeface="Arial"/>
                <a:cs typeface="Arial"/>
              </a:rPr>
              <a:t>conjunctive gates pass</a:t>
            </a:r>
          </a:p>
          <a:p>
            <a:pPr algn="ctr">
              <a:buNone/>
              <a:defRPr sz="1125" b="0" i="0">
                <a:solidFill>
                  <a:srgbClr val="686A66"/>
                </a:solidFill>
                <a:latin typeface="Arial"/>
                <a:ea typeface="Arial"/>
                <a:cs typeface="Arial"/>
              </a:defRPr>
            </a:pPr>
            <a:r>
              <a:rPr sz="1125" b="0" i="0">
                <a:solidFill>
                  <a:srgbClr val="686A66"/>
                </a:solidFill>
                <a:latin typeface="Arial"/>
                <a:ea typeface="Arial"/>
                <a:cs typeface="Arial"/>
              </a:rPr>
              <a:t>evidence retained</a:t>
            </a:r>
          </a:p>
        </p:txBody>
      </p:sp>
      <p:cxnSp>
        <p:nvCxnSpPr>
          <p:cNvPr id="378" name="Straight Arrow Connector 377"/>
          <p:cNvCxnSpPr>
            <a:stCxn id="9" idx="3"/>
            <a:endCxn id="12" idx="1"/>
          </p:cNvCxnSpPr>
          <p:nvPr/>
        </p:nvCxnSpPr>
        <p:spPr>
          <a:xfrm>
            <a:off x="2828925" y="3324225"/>
            <a:ext cx="657225" cy="0"/>
          </a:xfrm>
          <a:prstGeom prst="straightConnector1">
            <a:avLst/>
          </a:prstGeom>
          <a:ln w="19050">
            <a:solidFill>
              <a:srgbClr val="A96300"/>
            </a:solidFill>
            <a:prstDash val="solid"/>
            <a:tailEnd type="triangle" w="med" len="med"/>
          </a:ln>
        </p:spPr>
      </p:cxnSp>
      <p:cxnSp>
        <p:nvCxnSpPr>
          <p:cNvPr id="379" name="Straight Arrow Connector 378"/>
          <p:cNvCxnSpPr>
            <a:stCxn id="12" idx="3"/>
            <a:endCxn id="15" idx="1"/>
          </p:cNvCxnSpPr>
          <p:nvPr/>
        </p:nvCxnSpPr>
        <p:spPr>
          <a:xfrm>
            <a:off x="5629275" y="3324225"/>
            <a:ext cx="657225" cy="0"/>
          </a:xfrm>
          <a:prstGeom prst="straightConnector1">
            <a:avLst/>
          </a:prstGeom>
          <a:ln w="19050">
            <a:solidFill>
              <a:srgbClr val="FFC72C"/>
            </a:solidFill>
            <a:prstDash val="solid"/>
            <a:tailEnd type="triangle" w="med" len="med"/>
          </a:ln>
        </p:spPr>
      </p:cxnSp>
      <p:cxnSp>
        <p:nvCxnSpPr>
          <p:cNvPr id="380" name="Straight Arrow Connector 379"/>
          <p:cNvCxnSpPr>
            <a:stCxn id="15" idx="3"/>
            <a:endCxn id="18" idx="1"/>
          </p:cNvCxnSpPr>
          <p:nvPr/>
        </p:nvCxnSpPr>
        <p:spPr>
          <a:xfrm>
            <a:off x="8429625" y="3324225"/>
            <a:ext cx="657225" cy="0"/>
          </a:xfrm>
          <a:prstGeom prst="straightConnector1">
            <a:avLst/>
          </a:prstGeom>
          <a:ln w="19050">
            <a:solidFill>
              <a:srgbClr val="197457"/>
            </a:solidFill>
            <a:prstDash val="solid"/>
            <a:tailEnd type="triangle" w="med" len="med"/>
          </a:ln>
        </p:spPr>
      </p:cxnSp>
      <p:sp>
        <p:nvSpPr>
          <p:cNvPr id="24" name="Rectangle 23">
            <a:extLst>
              <a:ext uri="{FF2B5EF4-FFF2-40B4-BE49-F238E27FC236}">
                <a16:creationId xmlns:a16="http://schemas.microsoft.com/office/drawing/2014/main" id="{77D63DAD-790E-4680-B485-1502E246ADD0}"/>
              </a:ext>
            </a:extLst>
          </p:cNvPr>
          <p:cNvSpPr>
            <a:spLocks noGrp="1"/>
          </p:cNvSpPr>
          <p:nvPr/>
        </p:nvSpPr>
        <p:spPr>
          <a:xfrm>
            <a:off x="800100" y="4762500"/>
            <a:ext cx="2343150" cy="781050"/>
          </a:xfrm>
          <a:prstGeom prst="rect">
            <a:avLst/>
          </a:prstGeom>
          <a:solidFill>
            <a:srgbClr val="F4F0E7"/>
          </a:solidFill>
          <a:ln w="9525">
            <a:solidFill>
              <a:srgbClr val="8A8B86"/>
            </a:solidFill>
            <a:prstDash val="solid"/>
          </a:ln>
        </p:spPr>
        <p:txBody>
          <a:bodyPr/>
          <a:lstStyle/>
          <a:p>
            <a:endParaRPr lang="en-US"/>
          </a:p>
        </p:txBody>
      </p:sp>
      <p:sp>
        <p:nvSpPr>
          <p:cNvPr id="25" name="Rectangle 24">
            <a:extLst>
              <a:ext uri="{FF2B5EF4-FFF2-40B4-BE49-F238E27FC236}">
                <a16:creationId xmlns:a16="http://schemas.microsoft.com/office/drawing/2014/main" id="{D0D7435A-831C-42F7-86A2-46051B0592AD}"/>
              </a:ext>
            </a:extLst>
          </p:cNvPr>
          <p:cNvSpPr>
            <a:spLocks noGrp="1"/>
          </p:cNvSpPr>
          <p:nvPr/>
        </p:nvSpPr>
        <p:spPr>
          <a:xfrm>
            <a:off x="952500" y="4895850"/>
            <a:ext cx="2038350" cy="228600"/>
          </a:xfrm>
          <a:prstGeom prst="rect">
            <a:avLst/>
          </a:prstGeom>
          <a:noFill/>
          <a:ln w="0">
            <a:noFill/>
            <a:prstDash val="solid"/>
          </a:ln>
        </p:spPr>
        <p:txBody>
          <a:bodyPr wrap="square" lIns="0" tIns="0" rIns="0" bIns="0" anchor="t">
            <a:normAutofit/>
          </a:bodyPr>
          <a:lstStyle/>
          <a:p>
            <a:pPr algn="ctr">
              <a:buNone/>
              <a:defRPr sz="1200" b="1" i="0">
                <a:solidFill>
                  <a:srgbClr val="111111"/>
                </a:solidFill>
                <a:latin typeface="Consolas"/>
                <a:ea typeface="Consolas"/>
                <a:cs typeface="Consolas"/>
              </a:defRPr>
            </a:pPr>
            <a:r>
              <a:rPr sz="1200" b="1" i="0">
                <a:solidFill>
                  <a:srgbClr val="111111"/>
                </a:solidFill>
                <a:latin typeface="Consolas"/>
                <a:ea typeface="Consolas"/>
                <a:cs typeface="Consolas"/>
              </a:rPr>
              <a:t>CONTINUE</a:t>
            </a:r>
          </a:p>
        </p:txBody>
      </p:sp>
      <p:sp>
        <p:nvSpPr>
          <p:cNvPr id="26" name="Rectangle 25">
            <a:extLst>
              <a:ext uri="{FF2B5EF4-FFF2-40B4-BE49-F238E27FC236}">
                <a16:creationId xmlns:a16="http://schemas.microsoft.com/office/drawing/2014/main" id="{2743B61A-0A53-4F01-937E-68D697797D3A}"/>
              </a:ext>
            </a:extLst>
          </p:cNvPr>
          <p:cNvSpPr>
            <a:spLocks noGrp="1"/>
          </p:cNvSpPr>
          <p:nvPr/>
        </p:nvSpPr>
        <p:spPr>
          <a:xfrm>
            <a:off x="933450" y="5200650"/>
            <a:ext cx="2076450" cy="228600"/>
          </a:xfrm>
          <a:prstGeom prst="rect">
            <a:avLst/>
          </a:prstGeom>
          <a:noFill/>
          <a:ln w="0">
            <a:noFill/>
            <a:prstDash val="solid"/>
          </a:ln>
        </p:spPr>
        <p:txBody>
          <a:bodyPr wrap="square" lIns="0" tIns="0" rIns="0" bIns="0" anchor="t">
            <a:normAutofit/>
          </a:bodyPr>
          <a:lstStyle/>
          <a:p>
            <a:pPr algn="ctr">
              <a:buNone/>
              <a:defRPr sz="1350" b="0" i="0">
                <a:solidFill>
                  <a:srgbClr val="686A66"/>
                </a:solidFill>
                <a:latin typeface="Arial"/>
                <a:ea typeface="Arial"/>
                <a:cs typeface="Arial"/>
              </a:defRPr>
            </a:pPr>
            <a:r>
              <a:rPr sz="1350" b="0" i="0">
                <a:solidFill>
                  <a:srgbClr val="686A66"/>
                </a:solidFill>
                <a:latin typeface="Arial"/>
                <a:ea typeface="Arial"/>
                <a:cs typeface="Arial"/>
              </a:rPr>
              <a:t>bounded proxying</a:t>
            </a:r>
          </a:p>
        </p:txBody>
      </p:sp>
      <p:sp>
        <p:nvSpPr>
          <p:cNvPr id="27" name="Rectangle 26">
            <a:extLst>
              <a:ext uri="{FF2B5EF4-FFF2-40B4-BE49-F238E27FC236}">
                <a16:creationId xmlns:a16="http://schemas.microsoft.com/office/drawing/2014/main" id="{6D9DBA9A-8F89-4900-9959-BD680CE85B4E}"/>
              </a:ext>
            </a:extLst>
          </p:cNvPr>
          <p:cNvSpPr>
            <a:spLocks noGrp="1"/>
          </p:cNvSpPr>
          <p:nvPr/>
        </p:nvSpPr>
        <p:spPr>
          <a:xfrm>
            <a:off x="3486150" y="4762500"/>
            <a:ext cx="2343150" cy="781050"/>
          </a:xfrm>
          <a:prstGeom prst="rect">
            <a:avLst/>
          </a:prstGeom>
          <a:solidFill>
            <a:srgbClr val="F4F0E7"/>
          </a:solidFill>
          <a:ln w="9525">
            <a:solidFill>
              <a:srgbClr val="8A8B86"/>
            </a:solidFill>
            <a:prstDash val="solid"/>
          </a:ln>
        </p:spPr>
        <p:txBody>
          <a:bodyPr/>
          <a:lstStyle/>
          <a:p>
            <a:endParaRPr lang="en-US"/>
          </a:p>
        </p:txBody>
      </p:sp>
      <p:sp>
        <p:nvSpPr>
          <p:cNvPr id="28" name="Rectangle 27">
            <a:extLst>
              <a:ext uri="{FF2B5EF4-FFF2-40B4-BE49-F238E27FC236}">
                <a16:creationId xmlns:a16="http://schemas.microsoft.com/office/drawing/2014/main" id="{D7129F16-52AD-4387-93D9-44C4513646D4}"/>
              </a:ext>
            </a:extLst>
          </p:cNvPr>
          <p:cNvSpPr>
            <a:spLocks noGrp="1"/>
          </p:cNvSpPr>
          <p:nvPr/>
        </p:nvSpPr>
        <p:spPr>
          <a:xfrm>
            <a:off x="3638550" y="4895850"/>
            <a:ext cx="2038350" cy="228600"/>
          </a:xfrm>
          <a:prstGeom prst="rect">
            <a:avLst/>
          </a:prstGeom>
          <a:noFill/>
          <a:ln w="0">
            <a:noFill/>
            <a:prstDash val="solid"/>
          </a:ln>
        </p:spPr>
        <p:txBody>
          <a:bodyPr wrap="square" lIns="0" tIns="0" rIns="0" bIns="0" anchor="t">
            <a:normAutofit/>
          </a:bodyPr>
          <a:lstStyle/>
          <a:p>
            <a:pPr algn="ctr">
              <a:buNone/>
              <a:defRPr sz="1200" b="1" i="0">
                <a:solidFill>
                  <a:srgbClr val="111111"/>
                </a:solidFill>
                <a:latin typeface="Consolas"/>
                <a:ea typeface="Consolas"/>
                <a:cs typeface="Consolas"/>
              </a:defRPr>
            </a:pPr>
            <a:r>
              <a:rPr sz="1200" b="1" i="0">
                <a:solidFill>
                  <a:srgbClr val="111111"/>
                </a:solidFill>
                <a:latin typeface="Consolas"/>
                <a:ea typeface="Consolas"/>
                <a:cs typeface="Consolas"/>
              </a:rPr>
              <a:t>HOLD</a:t>
            </a:r>
          </a:p>
        </p:txBody>
      </p:sp>
      <p:sp>
        <p:nvSpPr>
          <p:cNvPr id="29" name="Rectangle 28">
            <a:extLst>
              <a:ext uri="{FF2B5EF4-FFF2-40B4-BE49-F238E27FC236}">
                <a16:creationId xmlns:a16="http://schemas.microsoft.com/office/drawing/2014/main" id="{ED5829A2-5027-495A-BBE5-483CB443A713}"/>
              </a:ext>
            </a:extLst>
          </p:cNvPr>
          <p:cNvSpPr>
            <a:spLocks noGrp="1"/>
          </p:cNvSpPr>
          <p:nvPr/>
        </p:nvSpPr>
        <p:spPr>
          <a:xfrm>
            <a:off x="3619500" y="5200650"/>
            <a:ext cx="2076450" cy="228600"/>
          </a:xfrm>
          <a:prstGeom prst="rect">
            <a:avLst/>
          </a:prstGeom>
          <a:noFill/>
          <a:ln w="0">
            <a:noFill/>
            <a:prstDash val="solid"/>
          </a:ln>
        </p:spPr>
        <p:txBody>
          <a:bodyPr wrap="square" lIns="0" tIns="0" rIns="0" bIns="0" anchor="t">
            <a:normAutofit/>
          </a:bodyPr>
          <a:lstStyle/>
          <a:p>
            <a:pPr algn="ctr">
              <a:buNone/>
              <a:defRPr sz="1350" b="0" i="0">
                <a:solidFill>
                  <a:srgbClr val="686A66"/>
                </a:solidFill>
                <a:latin typeface="Arial"/>
                <a:ea typeface="Arial"/>
                <a:cs typeface="Arial"/>
              </a:defRPr>
            </a:pPr>
            <a:r>
              <a:rPr sz="1350" b="0" i="0">
                <a:solidFill>
                  <a:srgbClr val="686A66"/>
                </a:solidFill>
                <a:latin typeface="Arial"/>
                <a:ea typeface="Arial"/>
                <a:cs typeface="Arial"/>
              </a:rPr>
              <a:t>block change / scale</a:t>
            </a:r>
          </a:p>
        </p:txBody>
      </p:sp>
      <p:sp>
        <p:nvSpPr>
          <p:cNvPr id="30" name="Rectangle 29">
            <a:extLst>
              <a:ext uri="{FF2B5EF4-FFF2-40B4-BE49-F238E27FC236}">
                <a16:creationId xmlns:a16="http://schemas.microsoft.com/office/drawing/2014/main" id="{22D33A81-AED9-4FAC-9329-17F5D96115A7}"/>
              </a:ext>
            </a:extLst>
          </p:cNvPr>
          <p:cNvSpPr>
            <a:spLocks noGrp="1"/>
          </p:cNvSpPr>
          <p:nvPr/>
        </p:nvSpPr>
        <p:spPr>
          <a:xfrm>
            <a:off x="6172200" y="4762500"/>
            <a:ext cx="2343150" cy="781050"/>
          </a:xfrm>
          <a:prstGeom prst="rect">
            <a:avLst/>
          </a:prstGeom>
          <a:solidFill>
            <a:srgbClr val="F4F0E7"/>
          </a:solidFill>
          <a:ln w="9525">
            <a:solidFill>
              <a:srgbClr val="8A8B86"/>
            </a:solidFill>
            <a:prstDash val="solid"/>
          </a:ln>
        </p:spPr>
        <p:txBody>
          <a:bodyPr/>
          <a:lstStyle/>
          <a:p>
            <a:endParaRPr lang="en-US"/>
          </a:p>
        </p:txBody>
      </p:sp>
      <p:sp>
        <p:nvSpPr>
          <p:cNvPr id="31" name="Rectangle 30">
            <a:extLst>
              <a:ext uri="{FF2B5EF4-FFF2-40B4-BE49-F238E27FC236}">
                <a16:creationId xmlns:a16="http://schemas.microsoft.com/office/drawing/2014/main" id="{2413B5F1-16DB-4B93-A59B-E25CAD30ED43}"/>
              </a:ext>
            </a:extLst>
          </p:cNvPr>
          <p:cNvSpPr>
            <a:spLocks noGrp="1"/>
          </p:cNvSpPr>
          <p:nvPr/>
        </p:nvSpPr>
        <p:spPr>
          <a:xfrm>
            <a:off x="6324600" y="4895850"/>
            <a:ext cx="2038350" cy="228600"/>
          </a:xfrm>
          <a:prstGeom prst="rect">
            <a:avLst/>
          </a:prstGeom>
          <a:noFill/>
          <a:ln w="0">
            <a:noFill/>
            <a:prstDash val="solid"/>
          </a:ln>
        </p:spPr>
        <p:txBody>
          <a:bodyPr wrap="square" lIns="0" tIns="0" rIns="0" bIns="0" anchor="t">
            <a:normAutofit/>
          </a:bodyPr>
          <a:lstStyle/>
          <a:p>
            <a:pPr algn="ctr">
              <a:buNone/>
              <a:defRPr sz="1200" b="1" i="0">
                <a:solidFill>
                  <a:srgbClr val="111111"/>
                </a:solidFill>
                <a:latin typeface="Consolas"/>
                <a:ea typeface="Consolas"/>
                <a:cs typeface="Consolas"/>
              </a:defRPr>
            </a:pPr>
            <a:r>
              <a:rPr sz="1200" b="1" i="0">
                <a:solidFill>
                  <a:srgbClr val="111111"/>
                </a:solidFill>
                <a:latin typeface="Consolas"/>
                <a:ea typeface="Consolas"/>
                <a:cs typeface="Consolas"/>
              </a:rPr>
              <a:t>QUARANTINE</a:t>
            </a:r>
          </a:p>
        </p:txBody>
      </p:sp>
      <p:sp>
        <p:nvSpPr>
          <p:cNvPr id="32" name="Rectangle 31">
            <a:extLst>
              <a:ext uri="{FF2B5EF4-FFF2-40B4-BE49-F238E27FC236}">
                <a16:creationId xmlns:a16="http://schemas.microsoft.com/office/drawing/2014/main" id="{A7C29D11-3FF7-4A04-ACD0-2C6249D81CA3}"/>
              </a:ext>
            </a:extLst>
          </p:cNvPr>
          <p:cNvSpPr>
            <a:spLocks noGrp="1"/>
          </p:cNvSpPr>
          <p:nvPr/>
        </p:nvSpPr>
        <p:spPr>
          <a:xfrm>
            <a:off x="6305550" y="5200650"/>
            <a:ext cx="2076450" cy="228600"/>
          </a:xfrm>
          <a:prstGeom prst="rect">
            <a:avLst/>
          </a:prstGeom>
          <a:noFill/>
          <a:ln w="0">
            <a:noFill/>
            <a:prstDash val="solid"/>
          </a:ln>
        </p:spPr>
        <p:txBody>
          <a:bodyPr wrap="square" lIns="0" tIns="0" rIns="0" bIns="0" anchor="t">
            <a:normAutofit/>
          </a:bodyPr>
          <a:lstStyle/>
          <a:p>
            <a:pPr algn="ctr">
              <a:buNone/>
              <a:defRPr sz="1350" b="0" i="0">
                <a:solidFill>
                  <a:srgbClr val="686A66"/>
                </a:solidFill>
                <a:latin typeface="Arial"/>
                <a:ea typeface="Arial"/>
                <a:cs typeface="Arial"/>
              </a:defRPr>
            </a:pPr>
            <a:r>
              <a:rPr sz="1350" b="0" i="0">
                <a:solidFill>
                  <a:srgbClr val="686A66"/>
                </a:solidFill>
                <a:latin typeface="Arial"/>
                <a:ea typeface="Arial"/>
                <a:cs typeface="Arial"/>
              </a:rPr>
              <a:t>deny unlisted node</a:t>
            </a:r>
          </a:p>
        </p:txBody>
      </p:sp>
      <p:sp>
        <p:nvSpPr>
          <p:cNvPr id="33" name="Rectangle 32">
            <a:extLst>
              <a:ext uri="{FF2B5EF4-FFF2-40B4-BE49-F238E27FC236}">
                <a16:creationId xmlns:a16="http://schemas.microsoft.com/office/drawing/2014/main" id="{491F712A-FE0D-43FA-80F2-127C4255B30F}"/>
              </a:ext>
            </a:extLst>
          </p:cNvPr>
          <p:cNvSpPr>
            <a:spLocks noGrp="1"/>
          </p:cNvSpPr>
          <p:nvPr/>
        </p:nvSpPr>
        <p:spPr>
          <a:xfrm>
            <a:off x="8858250" y="4762500"/>
            <a:ext cx="2343150" cy="781050"/>
          </a:xfrm>
          <a:prstGeom prst="rect">
            <a:avLst/>
          </a:prstGeom>
          <a:solidFill>
            <a:srgbClr val="F4F0E7"/>
          </a:solidFill>
          <a:ln w="9525">
            <a:solidFill>
              <a:srgbClr val="8A8B86"/>
            </a:solidFill>
            <a:prstDash val="solid"/>
          </a:ln>
        </p:spPr>
        <p:txBody>
          <a:bodyPr/>
          <a:lstStyle/>
          <a:p>
            <a:endParaRPr lang="en-US"/>
          </a:p>
        </p:txBody>
      </p:sp>
      <p:sp>
        <p:nvSpPr>
          <p:cNvPr id="34" name="Rectangle 33">
            <a:extLst>
              <a:ext uri="{FF2B5EF4-FFF2-40B4-BE49-F238E27FC236}">
                <a16:creationId xmlns:a16="http://schemas.microsoft.com/office/drawing/2014/main" id="{0BB2023E-A999-4A03-880E-546C86C24DCB}"/>
              </a:ext>
            </a:extLst>
          </p:cNvPr>
          <p:cNvSpPr>
            <a:spLocks noGrp="1"/>
          </p:cNvSpPr>
          <p:nvPr/>
        </p:nvSpPr>
        <p:spPr>
          <a:xfrm>
            <a:off x="9010650" y="4895850"/>
            <a:ext cx="2038350" cy="228600"/>
          </a:xfrm>
          <a:prstGeom prst="rect">
            <a:avLst/>
          </a:prstGeom>
          <a:noFill/>
          <a:ln w="0">
            <a:noFill/>
            <a:prstDash val="solid"/>
          </a:ln>
        </p:spPr>
        <p:txBody>
          <a:bodyPr wrap="square" lIns="0" tIns="0" rIns="0" bIns="0" anchor="t">
            <a:normAutofit/>
          </a:bodyPr>
          <a:lstStyle/>
          <a:p>
            <a:pPr algn="ctr">
              <a:buNone/>
              <a:defRPr sz="1200" b="1" i="0">
                <a:solidFill>
                  <a:srgbClr val="5537D6"/>
                </a:solidFill>
                <a:latin typeface="Consolas"/>
                <a:ea typeface="Consolas"/>
                <a:cs typeface="Consolas"/>
              </a:defRPr>
            </a:pPr>
            <a:r>
              <a:rPr sz="1200" b="1" i="0">
                <a:solidFill>
                  <a:srgbClr val="5537D6"/>
                </a:solidFill>
                <a:latin typeface="Consolas"/>
                <a:ea typeface="Consolas"/>
                <a:cs typeface="Consolas"/>
              </a:rPr>
              <a:t>STOP</a:t>
            </a:r>
          </a:p>
        </p:txBody>
      </p:sp>
      <p:sp>
        <p:nvSpPr>
          <p:cNvPr id="35" name="Rectangle 34">
            <a:extLst>
              <a:ext uri="{FF2B5EF4-FFF2-40B4-BE49-F238E27FC236}">
                <a16:creationId xmlns:a16="http://schemas.microsoft.com/office/drawing/2014/main" id="{24C0CE3B-B6DE-4014-8B24-7125B8E6ABF4}"/>
              </a:ext>
            </a:extLst>
          </p:cNvPr>
          <p:cNvSpPr>
            <a:spLocks noGrp="1"/>
          </p:cNvSpPr>
          <p:nvPr/>
        </p:nvSpPr>
        <p:spPr>
          <a:xfrm>
            <a:off x="8991600" y="5200650"/>
            <a:ext cx="2076450" cy="228600"/>
          </a:xfrm>
          <a:prstGeom prst="rect">
            <a:avLst/>
          </a:prstGeom>
          <a:noFill/>
          <a:ln w="0">
            <a:noFill/>
            <a:prstDash val="solid"/>
          </a:ln>
        </p:spPr>
        <p:txBody>
          <a:bodyPr wrap="square" lIns="0" tIns="0" rIns="0" bIns="0" anchor="t">
            <a:normAutofit/>
          </a:bodyPr>
          <a:lstStyle/>
          <a:p>
            <a:pPr algn="ctr">
              <a:buNone/>
              <a:defRPr sz="1350" b="0" i="0">
                <a:solidFill>
                  <a:srgbClr val="686A66"/>
                </a:solidFill>
                <a:latin typeface="Arial"/>
                <a:ea typeface="Arial"/>
                <a:cs typeface="Arial"/>
              </a:defRPr>
            </a:pPr>
            <a:r>
              <a:rPr sz="1350" b="0" i="0">
                <a:solidFill>
                  <a:srgbClr val="686A66"/>
                </a:solidFill>
                <a:latin typeface="Arial"/>
                <a:ea typeface="Arial"/>
                <a:cs typeface="Arial"/>
              </a:rPr>
              <a:t>protect outcome / exit</a:t>
            </a:r>
          </a:p>
        </p:txBody>
      </p:sp>
    </p:spTree>
    <p:extLst>
      <p:ext uri="{BB962C8B-B14F-4D97-AF65-F5344CB8AC3E}">
        <p14:creationId xmlns:p14="http://schemas.microsoft.com/office/powerpoint/2010/main" val="14350384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C9D70440-F3D3-4D1D-B560-E90C2DD9E3C3}"/>
              </a:ext>
            </a:extLst>
          </p:cNvPr>
          <p:cNvSpPr>
            <a:spLocks noGrp="1"/>
          </p:cNvSpPr>
          <p:nvPr/>
        </p:nvSpPr>
        <p:spPr>
          <a:xfrm>
            <a:off x="0" y="0"/>
            <a:ext cx="12192000" cy="266700"/>
          </a:xfrm>
          <a:prstGeom prst="rect">
            <a:avLst/>
          </a:prstGeom>
          <a:solidFill>
            <a:srgbClr val="FFC72C"/>
          </a:solidFill>
          <a:ln w="0">
            <a:noFill/>
            <a:prstDash val="solid"/>
          </a:ln>
        </p:spPr>
        <p:txBody>
          <a:bodyPr/>
          <a:lstStyle/>
          <a:p>
            <a:endParaRPr lang="en-US"/>
          </a:p>
        </p:txBody>
      </p:sp>
      <p:sp>
        <p:nvSpPr>
          <p:cNvPr id="2" name="Rectangle 1">
            <a:extLst>
              <a:ext uri="{FF2B5EF4-FFF2-40B4-BE49-F238E27FC236}">
                <a16:creationId xmlns:a16="http://schemas.microsoft.com/office/drawing/2014/main" id="{7EBAF676-3A97-4ED6-944C-4C18AA876574}"/>
              </a:ext>
            </a:extLst>
          </p:cNvPr>
          <p:cNvSpPr>
            <a:spLocks noGrp="1"/>
          </p:cNvSpPr>
          <p:nvPr/>
        </p:nvSpPr>
        <p:spPr>
          <a:xfrm>
            <a:off x="10668000" y="0"/>
            <a:ext cx="1524000" cy="266700"/>
          </a:xfrm>
          <a:prstGeom prst="rect">
            <a:avLst/>
          </a:prstGeom>
          <a:solidFill>
            <a:srgbClr val="5537D6"/>
          </a:solidFill>
          <a:ln w="0">
            <a:noFill/>
            <a:prstDash val="solid"/>
          </a:ln>
        </p:spPr>
        <p:txBody>
          <a:bodyPr/>
          <a:lstStyle/>
          <a:p>
            <a:endParaRPr lang="en-US"/>
          </a:p>
        </p:txBody>
      </p:sp>
      <p:sp>
        <p:nvSpPr>
          <p:cNvPr id="3" name="Rectangle 2">
            <a:extLst>
              <a:ext uri="{FF2B5EF4-FFF2-40B4-BE49-F238E27FC236}">
                <a16:creationId xmlns:a16="http://schemas.microsoft.com/office/drawing/2014/main" id="{7E431990-522A-4E19-8F27-6AB1C3FABEC3}"/>
              </a:ext>
            </a:extLst>
          </p:cNvPr>
          <p:cNvSpPr>
            <a:spLocks noGrp="1"/>
          </p:cNvSpPr>
          <p:nvPr/>
        </p:nvSpPr>
        <p:spPr>
          <a:xfrm>
            <a:off x="609600" y="38100"/>
            <a:ext cx="3429000" cy="190500"/>
          </a:xfrm>
          <a:prstGeom prst="rect">
            <a:avLst/>
          </a:prstGeom>
          <a:noFill/>
          <a:ln w="0">
            <a:noFill/>
            <a:prstDash val="solid"/>
          </a:ln>
        </p:spPr>
        <p:txBody>
          <a:bodyPr wrap="square" lIns="0" tIns="0" rIns="0" bIns="0" anchor="t">
            <a:normAutofit/>
          </a:bodyPr>
          <a:lstStyle/>
          <a:p>
            <a:pPr algn="l">
              <a:buNone/>
              <a:defRPr sz="975" b="1" i="0">
                <a:solidFill>
                  <a:srgbClr val="111111"/>
                </a:solidFill>
                <a:latin typeface="Consolas"/>
                <a:ea typeface="Consolas"/>
                <a:cs typeface="Consolas"/>
              </a:defRPr>
            </a:pPr>
            <a:r>
              <a:rPr sz="975" b="1" i="0">
                <a:solidFill>
                  <a:srgbClr val="111111"/>
                </a:solidFill>
                <a:latin typeface="Consolas"/>
                <a:ea typeface="Consolas"/>
                <a:cs typeface="Consolas"/>
              </a:rPr>
              <a:t>12 / ADOPTION</a:t>
            </a:r>
          </a:p>
        </p:txBody>
      </p:sp>
      <p:sp>
        <p:nvSpPr>
          <p:cNvPr id="4" name="Rectangle 3">
            <a:extLst>
              <a:ext uri="{FF2B5EF4-FFF2-40B4-BE49-F238E27FC236}">
                <a16:creationId xmlns:a16="http://schemas.microsoft.com/office/drawing/2014/main" id="{BCB76D5D-258D-44AE-B6D7-1FC8CC167B2D}"/>
              </a:ext>
            </a:extLst>
          </p:cNvPr>
          <p:cNvSpPr>
            <a:spLocks noGrp="1"/>
          </p:cNvSpPr>
          <p:nvPr/>
        </p:nvSpPr>
        <p:spPr>
          <a:xfrm>
            <a:off x="609600" y="428625"/>
            <a:ext cx="10572750" cy="1028700"/>
          </a:xfrm>
          <a:prstGeom prst="rect">
            <a:avLst/>
          </a:prstGeom>
          <a:noFill/>
          <a:ln w="0">
            <a:noFill/>
            <a:prstDash val="solid"/>
          </a:ln>
        </p:spPr>
        <p:txBody>
          <a:bodyPr wrap="square" lIns="0" tIns="0" rIns="0" bIns="0" anchor="t">
            <a:noAutofit/>
          </a:bodyPr>
          <a:lstStyle/>
          <a:p>
            <a:pPr algn="l">
              <a:buNone/>
              <a:defRPr sz="3300" b="1" i="0">
                <a:solidFill>
                  <a:srgbClr val="111111"/>
                </a:solidFill>
                <a:latin typeface="Arial"/>
                <a:ea typeface="Arial"/>
                <a:cs typeface="Arial"/>
              </a:defRPr>
            </a:pPr>
            <a:r>
              <a:rPr sz="3300" b="1" i="0">
                <a:solidFill>
                  <a:srgbClr val="111111"/>
                </a:solidFill>
                <a:latin typeface="Arial"/>
                <a:ea typeface="Arial"/>
                <a:cs typeface="Arial"/>
              </a:rPr>
              <a:t>Self-managed control is a funded platform service</a:t>
            </a:r>
          </a:p>
        </p:txBody>
      </p:sp>
      <p:sp>
        <p:nvSpPr>
          <p:cNvPr id="5" name="Rectangle 4">
            <a:extLst>
              <a:ext uri="{FF2B5EF4-FFF2-40B4-BE49-F238E27FC236}">
                <a16:creationId xmlns:a16="http://schemas.microsoft.com/office/drawing/2014/main" id="{6D4115DC-3D5C-4E3E-8158-C343F89D8AA9}"/>
              </a:ext>
            </a:extLst>
          </p:cNvPr>
          <p:cNvSpPr>
            <a:spLocks noGrp="1"/>
          </p:cNvSpPr>
          <p:nvPr/>
        </p:nvSpPr>
        <p:spPr>
          <a:xfrm>
            <a:off x="628650" y="1514475"/>
            <a:ext cx="10382250" cy="323850"/>
          </a:xfrm>
          <a:prstGeom prst="rect">
            <a:avLst/>
          </a:prstGeom>
          <a:noFill/>
          <a:ln w="0">
            <a:noFill/>
            <a:prstDash val="solid"/>
          </a:ln>
        </p:spPr>
        <p:txBody>
          <a:bodyPr wrap="square" lIns="0" tIns="0" rIns="0" bIns="0" anchor="t">
            <a:noAutofit/>
          </a:bodyPr>
          <a:lstStyle/>
          <a:p>
            <a:pPr algn="l">
              <a:buNone/>
              <a:defRPr sz="1575" b="0" i="0">
                <a:solidFill>
                  <a:srgbClr val="686A66"/>
                </a:solidFill>
                <a:latin typeface="Arial"/>
                <a:ea typeface="Arial"/>
                <a:cs typeface="Arial"/>
              </a:defRPr>
            </a:pPr>
            <a:r>
              <a:rPr sz="1575" b="0" i="0">
                <a:solidFill>
                  <a:srgbClr val="686A66"/>
                </a:solidFill>
                <a:latin typeface="Arial"/>
                <a:ea typeface="Arial"/>
                <a:cs typeface="Arial"/>
              </a:rPr>
              <a:t>Ownership must cover the platform product, not only installation tickets.</a:t>
            </a:r>
          </a:p>
        </p:txBody>
      </p:sp>
      <p:sp>
        <p:nvSpPr>
          <p:cNvPr id="6" name="Rectangle 5">
            <a:extLst>
              <a:ext uri="{FF2B5EF4-FFF2-40B4-BE49-F238E27FC236}">
                <a16:creationId xmlns:a16="http://schemas.microsoft.com/office/drawing/2014/main" id="{881B49F8-30C6-4BD1-8887-7B79ADFC89E4}"/>
              </a:ext>
            </a:extLst>
          </p:cNvPr>
          <p:cNvSpPr>
            <a:spLocks noGrp="1"/>
          </p:cNvSpPr>
          <p:nvPr/>
        </p:nvSpPr>
        <p:spPr>
          <a:xfrm>
            <a:off x="609600" y="1905000"/>
            <a:ext cx="10972800" cy="9525"/>
          </a:xfrm>
          <a:prstGeom prst="rect">
            <a:avLst/>
          </a:prstGeom>
          <a:solidFill>
            <a:srgbClr val="8A8B86"/>
          </a:solidFill>
          <a:ln w="0">
            <a:noFill/>
            <a:prstDash val="solid"/>
          </a:ln>
        </p:spPr>
        <p:txBody>
          <a:bodyPr/>
          <a:lstStyle/>
          <a:p>
            <a:endParaRPr lang="en-US"/>
          </a:p>
        </p:txBody>
      </p:sp>
      <p:sp>
        <p:nvSpPr>
          <p:cNvPr id="7" name="Rectangle 6">
            <a:extLst>
              <a:ext uri="{FF2B5EF4-FFF2-40B4-BE49-F238E27FC236}">
                <a16:creationId xmlns:a16="http://schemas.microsoft.com/office/drawing/2014/main" id="{FA5976F6-91C6-4066-ABFC-94E70DF2A886}"/>
              </a:ext>
            </a:extLst>
          </p:cNvPr>
          <p:cNvSpPr>
            <a:spLocks noGrp="1"/>
          </p:cNvSpPr>
          <p:nvPr/>
        </p:nvSpPr>
        <p:spPr>
          <a:xfrm>
            <a:off x="609600" y="6524625"/>
            <a:ext cx="8858250" cy="180975"/>
          </a:xfrm>
          <a:prstGeom prst="rect">
            <a:avLst/>
          </a:prstGeom>
          <a:noFill/>
          <a:ln w="0">
            <a:noFill/>
            <a:prstDash val="solid"/>
          </a:ln>
        </p:spPr>
        <p:txBody>
          <a:bodyPr wrap="square" lIns="0" tIns="0" rIns="0" bIns="0" anchor="ctr">
            <a:normAutofit/>
          </a:bodyPr>
          <a:lstStyle/>
          <a:p>
            <a:pPr>
              <a:buNone/>
              <a:defRPr sz="825">
                <a:solidFill>
                  <a:srgbClr val="666762"/>
                </a:solidFill>
              </a:defRPr>
            </a:pPr>
            <a:r>
              <a:rPr sz="825" b="1">
                <a:solidFill>
                  <a:srgbClr val="666762"/>
                </a:solidFill>
              </a:rPr>
              <a:t>REFERENCES  </a:t>
            </a:r>
            <a:r>
              <a:rPr sz="825" u="sng">
                <a:solidFill>
                  <a:srgbClr val="666762"/>
                </a:solidFill>
                <a:hlinkClick r:id="rId3"/>
              </a:rPr>
              <a:t>Repo reference</a:t>
            </a:r>
            <a:r>
              <a:rPr sz="825">
                <a:solidFill>
                  <a:srgbClr val="666762"/>
                </a:solidFill>
              </a:rPr>
              <a:t>  ·  </a:t>
            </a:r>
            <a:r>
              <a:rPr sz="825" u="sng">
                <a:solidFill>
                  <a:srgbClr val="666762"/>
                </a:solidFill>
                <a:hlinkClick r:id="rId4"/>
              </a:rPr>
              <a:t>Official docs</a:t>
            </a:r>
          </a:p>
        </p:txBody>
      </p:sp>
      <p:sp>
        <p:nvSpPr>
          <p:cNvPr id="8" name="Rectangle 7">
            <a:extLst>
              <a:ext uri="{FF2B5EF4-FFF2-40B4-BE49-F238E27FC236}">
                <a16:creationId xmlns:a16="http://schemas.microsoft.com/office/drawing/2014/main" id="{1E3C29D7-08EF-4E1A-99D3-5F810AAAA65A}"/>
              </a:ext>
            </a:extLst>
          </p:cNvPr>
          <p:cNvSpPr>
            <a:spLocks noGrp="1"/>
          </p:cNvSpPr>
          <p:nvPr/>
        </p:nvSpPr>
        <p:spPr>
          <a:xfrm>
            <a:off x="10287000" y="6486525"/>
            <a:ext cx="1295400" cy="209550"/>
          </a:xfrm>
          <a:prstGeom prst="rect">
            <a:avLst/>
          </a:prstGeom>
          <a:noFill/>
          <a:ln w="0">
            <a:noFill/>
            <a:prstDash val="solid"/>
          </a:ln>
        </p:spPr>
        <p:txBody>
          <a:bodyPr wrap="square" lIns="0" tIns="0" rIns="0" bIns="0" anchor="t">
            <a:normAutofit/>
          </a:bodyPr>
          <a:lstStyle/>
          <a:p>
            <a:pPr algn="r">
              <a:buNone/>
              <a:defRPr sz="975" b="1" i="0">
                <a:solidFill>
                  <a:srgbClr val="686A66"/>
                </a:solidFill>
                <a:latin typeface="Consolas"/>
                <a:ea typeface="Consolas"/>
                <a:cs typeface="Consolas"/>
              </a:defRPr>
            </a:pPr>
            <a:r>
              <a:rPr sz="975" b="1" i="0">
                <a:solidFill>
                  <a:srgbClr val="686A66"/>
                </a:solidFill>
                <a:latin typeface="Consolas"/>
                <a:ea typeface="Consolas"/>
                <a:cs typeface="Consolas"/>
              </a:rPr>
              <a:t>12 / 25</a:t>
            </a:r>
          </a:p>
        </p:txBody>
      </p:sp>
      <p:sp>
        <p:nvSpPr>
          <p:cNvPr id="9" name="Rectangle 8">
            <a:extLst>
              <a:ext uri="{FF2B5EF4-FFF2-40B4-BE49-F238E27FC236}">
                <a16:creationId xmlns:a16="http://schemas.microsoft.com/office/drawing/2014/main" id="{F18A5B71-3F18-4B0C-83DC-984E40BE0FD4}"/>
              </a:ext>
            </a:extLst>
          </p:cNvPr>
          <p:cNvSpPr>
            <a:spLocks noGrp="1"/>
          </p:cNvSpPr>
          <p:nvPr/>
        </p:nvSpPr>
        <p:spPr>
          <a:xfrm>
            <a:off x="609600" y="2362200"/>
            <a:ext cx="2571750" cy="3048000"/>
          </a:xfrm>
          <a:prstGeom prst="rect">
            <a:avLst/>
          </a:prstGeom>
          <a:solidFill>
            <a:srgbClr val="FFFFFF"/>
          </a:solidFill>
          <a:ln w="9525">
            <a:solidFill>
              <a:srgbClr val="8A8B86"/>
            </a:solidFill>
            <a:prstDash val="solid"/>
          </a:ln>
        </p:spPr>
        <p:txBody>
          <a:bodyPr/>
          <a:lstStyle/>
          <a:p>
            <a:endParaRPr lang="en-US"/>
          </a:p>
        </p:txBody>
      </p:sp>
      <p:sp>
        <p:nvSpPr>
          <p:cNvPr id="10" name="Rectangle 9">
            <a:extLst>
              <a:ext uri="{FF2B5EF4-FFF2-40B4-BE49-F238E27FC236}">
                <a16:creationId xmlns:a16="http://schemas.microsoft.com/office/drawing/2014/main" id="{B6471B91-C974-4A09-9885-9A3ACA60E67E}"/>
              </a:ext>
            </a:extLst>
          </p:cNvPr>
          <p:cNvSpPr>
            <a:spLocks noGrp="1"/>
          </p:cNvSpPr>
          <p:nvPr/>
        </p:nvSpPr>
        <p:spPr>
          <a:xfrm>
            <a:off x="609600" y="2362200"/>
            <a:ext cx="66675" cy="3048000"/>
          </a:xfrm>
          <a:prstGeom prst="rect">
            <a:avLst/>
          </a:prstGeom>
          <a:solidFill>
            <a:srgbClr val="FFC72C"/>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D3742BE1-C4AA-4B81-BE5C-846109C3B9C0}"/>
              </a:ext>
            </a:extLst>
          </p:cNvPr>
          <p:cNvSpPr>
            <a:spLocks noGrp="1"/>
          </p:cNvSpPr>
          <p:nvPr/>
        </p:nvSpPr>
        <p:spPr>
          <a:xfrm>
            <a:off x="819150" y="2533650"/>
            <a:ext cx="2152650" cy="228600"/>
          </a:xfrm>
          <a:prstGeom prst="rect">
            <a:avLst/>
          </a:prstGeom>
          <a:noFill/>
          <a:ln w="0">
            <a:noFill/>
            <a:prstDash val="solid"/>
          </a:ln>
        </p:spPr>
        <p:txBody>
          <a:bodyPr wrap="square" lIns="0" tIns="0" rIns="0" bIns="0" anchor="t">
            <a:normAutofit/>
          </a:bodyPr>
          <a:lstStyle/>
          <a:p>
            <a:pPr algn="l">
              <a:buNone/>
              <a:defRPr sz="1050" b="1" i="0">
                <a:solidFill>
                  <a:srgbClr val="111111"/>
                </a:solidFill>
                <a:latin typeface="Consolas"/>
                <a:ea typeface="Consolas"/>
                <a:cs typeface="Consolas"/>
              </a:defRPr>
            </a:pPr>
            <a:r>
              <a:rPr sz="1050" b="1" i="0">
                <a:solidFill>
                  <a:srgbClr val="111111"/>
                </a:solidFill>
                <a:latin typeface="Consolas"/>
                <a:ea typeface="Consolas"/>
                <a:cs typeface="Consolas"/>
              </a:rPr>
              <a:t>PLATFORM TEAM</a:t>
            </a:r>
          </a:p>
        </p:txBody>
      </p:sp>
      <p:sp>
        <p:nvSpPr>
          <p:cNvPr id="12" name="Rectangle 11">
            <a:extLst>
              <a:ext uri="{FF2B5EF4-FFF2-40B4-BE49-F238E27FC236}">
                <a16:creationId xmlns:a16="http://schemas.microsoft.com/office/drawing/2014/main" id="{E27FCFF0-4C24-4ACA-895F-989F5920361E}"/>
              </a:ext>
            </a:extLst>
          </p:cNvPr>
          <p:cNvSpPr>
            <a:spLocks noGrp="1"/>
          </p:cNvSpPr>
          <p:nvPr/>
        </p:nvSpPr>
        <p:spPr>
          <a:xfrm>
            <a:off x="819150" y="2838450"/>
            <a:ext cx="2152650" cy="685800"/>
          </a:xfrm>
          <a:prstGeom prst="rect">
            <a:avLst/>
          </a:prstGeom>
          <a:noFill/>
          <a:ln w="0">
            <a:noFill/>
            <a:prstDash val="solid"/>
          </a:ln>
        </p:spPr>
        <p:txBody>
          <a:bodyPr wrap="square" lIns="0" tIns="0" rIns="0" bIns="0" anchor="t">
            <a:normAutofit/>
          </a:bodyPr>
          <a:lstStyle/>
          <a:p>
            <a:pPr algn="l">
              <a:buNone/>
              <a:defRPr sz="2025" b="0" i="0">
                <a:solidFill>
                  <a:srgbClr val="111111"/>
                </a:solidFill>
                <a:latin typeface="Georgia"/>
                <a:ea typeface="Georgia"/>
                <a:cs typeface="Georgia"/>
              </a:defRPr>
            </a:pPr>
            <a:r>
              <a:rPr sz="2025" b="0" i="0">
                <a:solidFill>
                  <a:srgbClr val="111111"/>
                </a:solidFill>
                <a:latin typeface="Georgia"/>
                <a:ea typeface="Georgia"/>
                <a:cs typeface="Georgia"/>
              </a:rPr>
              <a:t>Own the service</a:t>
            </a:r>
          </a:p>
        </p:txBody>
      </p:sp>
      <p:sp>
        <p:nvSpPr>
          <p:cNvPr id="13" name="Rectangle 12">
            <a:extLst>
              <a:ext uri="{FF2B5EF4-FFF2-40B4-BE49-F238E27FC236}">
                <a16:creationId xmlns:a16="http://schemas.microsoft.com/office/drawing/2014/main" id="{A41E4F92-011A-4FAF-9AD4-2354E17423BF}"/>
              </a:ext>
            </a:extLst>
          </p:cNvPr>
          <p:cNvSpPr>
            <a:spLocks noGrp="1"/>
          </p:cNvSpPr>
          <p:nvPr/>
        </p:nvSpPr>
        <p:spPr>
          <a:xfrm>
            <a:off x="819150" y="3543300"/>
            <a:ext cx="2152650" cy="1695450"/>
          </a:xfrm>
          <a:prstGeom prst="rect">
            <a:avLst/>
          </a:prstGeom>
          <a:noFill/>
          <a:ln w="0">
            <a:noFill/>
            <a:prstDash val="solid"/>
          </a:ln>
        </p:spPr>
        <p:txBody>
          <a:bodyPr wrap="square" lIns="0" tIns="0" rIns="0" bIns="0" anchor="t">
            <a:normAutofit/>
          </a:bodyPr>
          <a:lstStyle/>
          <a:p>
            <a:pPr algn="l">
              <a:buNone/>
              <a:defRPr sz="1350" b="0" i="0">
                <a:solidFill>
                  <a:srgbClr val="686A66"/>
                </a:solidFill>
                <a:latin typeface="Arial"/>
                <a:ea typeface="Arial"/>
                <a:cs typeface="Arial"/>
              </a:defRPr>
            </a:pPr>
            <a:r>
              <a:rPr sz="1350" b="0" i="0">
                <a:solidFill>
                  <a:srgbClr val="686A66"/>
                </a:solidFill>
                <a:latin typeface="Arial"/>
                <a:ea typeface="Arial"/>
                <a:cs typeface="Arial"/>
              </a:rPr>
              <a:t>CP / DB / PKI lifecycle</a:t>
            </a:r>
          </a:p>
          <a:p>
            <a:pPr algn="l">
              <a:buNone/>
              <a:defRPr sz="1350" b="0" i="0">
                <a:solidFill>
                  <a:srgbClr val="686A66"/>
                </a:solidFill>
                <a:latin typeface="Arial"/>
                <a:ea typeface="Arial"/>
                <a:cs typeface="Arial"/>
              </a:defRPr>
            </a:pPr>
            <a:r>
              <a:rPr sz="1350" b="0" i="0">
                <a:solidFill>
                  <a:srgbClr val="686A66"/>
                </a:solidFill>
                <a:latin typeface="Arial"/>
                <a:ea typeface="Arial"/>
                <a:cs typeface="Arial"/>
              </a:rPr>
              <a:t>Paved road + configuration authority</a:t>
            </a:r>
          </a:p>
          <a:p>
            <a:pPr algn="l">
              <a:buNone/>
              <a:defRPr sz="1350" b="0" i="0">
                <a:solidFill>
                  <a:srgbClr val="686A66"/>
                </a:solidFill>
                <a:latin typeface="Arial"/>
                <a:ea typeface="Arial"/>
                <a:cs typeface="Arial"/>
              </a:defRPr>
            </a:pPr>
            <a:r>
              <a:rPr sz="1350" b="0" i="0">
                <a:solidFill>
                  <a:srgbClr val="686A66"/>
                </a:solidFill>
                <a:latin typeface="Arial"/>
                <a:ea typeface="Arial"/>
                <a:cs typeface="Arial"/>
              </a:rPr>
              <a:t>Restore and upgrade rehearsals</a:t>
            </a:r>
          </a:p>
        </p:txBody>
      </p:sp>
      <p:sp>
        <p:nvSpPr>
          <p:cNvPr id="14" name="Rectangle 13">
            <a:extLst>
              <a:ext uri="{FF2B5EF4-FFF2-40B4-BE49-F238E27FC236}">
                <a16:creationId xmlns:a16="http://schemas.microsoft.com/office/drawing/2014/main" id="{DC478F3D-AC50-49DC-AC80-FEEA483FADE2}"/>
              </a:ext>
            </a:extLst>
          </p:cNvPr>
          <p:cNvSpPr>
            <a:spLocks noGrp="1"/>
          </p:cNvSpPr>
          <p:nvPr/>
        </p:nvSpPr>
        <p:spPr>
          <a:xfrm>
            <a:off x="3390900" y="2362200"/>
            <a:ext cx="2571750" cy="3048000"/>
          </a:xfrm>
          <a:prstGeom prst="rect">
            <a:avLst/>
          </a:prstGeom>
          <a:solidFill>
            <a:srgbClr val="FFFFFF"/>
          </a:solidFill>
          <a:ln w="9525">
            <a:solidFill>
              <a:srgbClr val="8A8B86"/>
            </a:solidFill>
            <a:prstDash val="solid"/>
          </a:ln>
        </p:spPr>
        <p:txBody>
          <a:bodyPr/>
          <a:lstStyle/>
          <a:p>
            <a:endParaRPr lang="en-US"/>
          </a:p>
        </p:txBody>
      </p:sp>
      <p:sp>
        <p:nvSpPr>
          <p:cNvPr id="15" name="Rectangle 14">
            <a:extLst>
              <a:ext uri="{FF2B5EF4-FFF2-40B4-BE49-F238E27FC236}">
                <a16:creationId xmlns:a16="http://schemas.microsoft.com/office/drawing/2014/main" id="{C7F5CCCE-707B-41EB-BB88-FA98C4FBC394}"/>
              </a:ext>
            </a:extLst>
          </p:cNvPr>
          <p:cNvSpPr>
            <a:spLocks noGrp="1"/>
          </p:cNvSpPr>
          <p:nvPr/>
        </p:nvSpPr>
        <p:spPr>
          <a:xfrm>
            <a:off x="3390900" y="2362200"/>
            <a:ext cx="66675" cy="3048000"/>
          </a:xfrm>
          <a:prstGeom prst="rect">
            <a:avLst/>
          </a:prstGeom>
          <a:solidFill>
            <a:srgbClr val="111111"/>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3383DBFB-7283-4BDC-B253-5622232584D2}"/>
              </a:ext>
            </a:extLst>
          </p:cNvPr>
          <p:cNvSpPr>
            <a:spLocks noGrp="1"/>
          </p:cNvSpPr>
          <p:nvPr/>
        </p:nvSpPr>
        <p:spPr>
          <a:xfrm>
            <a:off x="3600450" y="2533650"/>
            <a:ext cx="2152650" cy="228600"/>
          </a:xfrm>
          <a:prstGeom prst="rect">
            <a:avLst/>
          </a:prstGeom>
          <a:noFill/>
          <a:ln w="0">
            <a:noFill/>
            <a:prstDash val="solid"/>
          </a:ln>
        </p:spPr>
        <p:txBody>
          <a:bodyPr wrap="square" lIns="0" tIns="0" rIns="0" bIns="0" anchor="t">
            <a:normAutofit/>
          </a:bodyPr>
          <a:lstStyle/>
          <a:p>
            <a:pPr algn="l">
              <a:buNone/>
              <a:defRPr sz="1050" b="1" i="0">
                <a:solidFill>
                  <a:srgbClr val="111111"/>
                </a:solidFill>
                <a:latin typeface="Consolas"/>
                <a:ea typeface="Consolas"/>
                <a:cs typeface="Consolas"/>
              </a:defRPr>
            </a:pPr>
            <a:r>
              <a:rPr sz="1050" b="1" i="0">
                <a:solidFill>
                  <a:srgbClr val="111111"/>
                </a:solidFill>
                <a:latin typeface="Consolas"/>
                <a:ea typeface="Consolas"/>
                <a:cs typeface="Consolas"/>
              </a:rPr>
              <a:t>PRODUCT TEAMS</a:t>
            </a:r>
          </a:p>
        </p:txBody>
      </p:sp>
      <p:sp>
        <p:nvSpPr>
          <p:cNvPr id="17" name="Rectangle 16">
            <a:extLst>
              <a:ext uri="{FF2B5EF4-FFF2-40B4-BE49-F238E27FC236}">
                <a16:creationId xmlns:a16="http://schemas.microsoft.com/office/drawing/2014/main" id="{86976CAC-84C6-4E94-9C89-E100D955CAF5}"/>
              </a:ext>
            </a:extLst>
          </p:cNvPr>
          <p:cNvSpPr>
            <a:spLocks noGrp="1"/>
          </p:cNvSpPr>
          <p:nvPr/>
        </p:nvSpPr>
        <p:spPr>
          <a:xfrm>
            <a:off x="3600450" y="2838450"/>
            <a:ext cx="2152650" cy="685800"/>
          </a:xfrm>
          <a:prstGeom prst="rect">
            <a:avLst/>
          </a:prstGeom>
          <a:noFill/>
          <a:ln w="0">
            <a:noFill/>
            <a:prstDash val="solid"/>
          </a:ln>
        </p:spPr>
        <p:txBody>
          <a:bodyPr wrap="square" lIns="0" tIns="0" rIns="0" bIns="0" anchor="t">
            <a:normAutofit/>
          </a:bodyPr>
          <a:lstStyle/>
          <a:p>
            <a:pPr algn="l">
              <a:buNone/>
              <a:defRPr sz="2025" b="0" i="0">
                <a:solidFill>
                  <a:srgbClr val="111111"/>
                </a:solidFill>
                <a:latin typeface="Georgia"/>
                <a:ea typeface="Georgia"/>
                <a:cs typeface="Georgia"/>
              </a:defRPr>
            </a:pPr>
            <a:r>
              <a:rPr sz="2025" b="0" i="0">
                <a:solidFill>
                  <a:srgbClr val="111111"/>
                </a:solidFill>
                <a:latin typeface="Georgia"/>
                <a:ea typeface="Georgia"/>
                <a:cs typeface="Georgia"/>
              </a:rPr>
              <a:t>Own the API</a:t>
            </a:r>
          </a:p>
        </p:txBody>
      </p:sp>
      <p:sp>
        <p:nvSpPr>
          <p:cNvPr id="18" name="Rectangle 17">
            <a:extLst>
              <a:ext uri="{FF2B5EF4-FFF2-40B4-BE49-F238E27FC236}">
                <a16:creationId xmlns:a16="http://schemas.microsoft.com/office/drawing/2014/main" id="{8CCC8A01-28F9-4E4A-B4CA-3339977B83B9}"/>
              </a:ext>
            </a:extLst>
          </p:cNvPr>
          <p:cNvSpPr>
            <a:spLocks noGrp="1"/>
          </p:cNvSpPr>
          <p:nvPr/>
        </p:nvSpPr>
        <p:spPr>
          <a:xfrm>
            <a:off x="3600450" y="3543300"/>
            <a:ext cx="2152650" cy="1695450"/>
          </a:xfrm>
          <a:prstGeom prst="rect">
            <a:avLst/>
          </a:prstGeom>
          <a:noFill/>
          <a:ln w="0">
            <a:noFill/>
            <a:prstDash val="solid"/>
          </a:ln>
        </p:spPr>
        <p:txBody>
          <a:bodyPr wrap="square" lIns="0" tIns="0" rIns="0" bIns="0" anchor="t">
            <a:normAutofit/>
          </a:bodyPr>
          <a:lstStyle/>
          <a:p>
            <a:pPr algn="l">
              <a:buNone/>
              <a:defRPr sz="1350" b="0" i="0">
                <a:solidFill>
                  <a:srgbClr val="686A66"/>
                </a:solidFill>
                <a:latin typeface="Arial"/>
                <a:ea typeface="Arial"/>
                <a:cs typeface="Arial"/>
              </a:defRPr>
            </a:pPr>
            <a:r>
              <a:rPr sz="1350" b="0" i="0">
                <a:solidFill>
                  <a:srgbClr val="686A66"/>
                </a:solidFill>
                <a:latin typeface="Arial"/>
                <a:ea typeface="Arial"/>
                <a:cs typeface="Arial"/>
              </a:rPr>
              <a:t>API intent + SLOs</a:t>
            </a:r>
          </a:p>
          <a:p>
            <a:pPr algn="l">
              <a:buNone/>
              <a:defRPr sz="1350" b="0" i="0">
                <a:solidFill>
                  <a:srgbClr val="686A66"/>
                </a:solidFill>
                <a:latin typeface="Arial"/>
                <a:ea typeface="Arial"/>
                <a:cs typeface="Arial"/>
              </a:defRPr>
            </a:pPr>
            <a:r>
              <a:rPr sz="1350" b="0" i="0">
                <a:solidFill>
                  <a:srgbClr val="686A66"/>
                </a:solidFill>
                <a:latin typeface="Arial"/>
                <a:ea typeface="Arial"/>
                <a:cs typeface="Arial"/>
              </a:rPr>
              <a:t>Contract and route ownership</a:t>
            </a:r>
          </a:p>
          <a:p>
            <a:pPr algn="l">
              <a:buNone/>
              <a:defRPr sz="1350" b="0" i="0">
                <a:solidFill>
                  <a:srgbClr val="686A66"/>
                </a:solidFill>
                <a:latin typeface="Arial"/>
                <a:ea typeface="Arial"/>
                <a:cs typeface="Arial"/>
              </a:defRPr>
            </a:pPr>
            <a:r>
              <a:rPr sz="1350" b="0" i="0">
                <a:solidFill>
                  <a:srgbClr val="686A66"/>
                </a:solidFill>
                <a:latin typeface="Arial"/>
                <a:ea typeface="Arial"/>
                <a:cs typeface="Arial"/>
              </a:rPr>
              <a:t>Representative business probes</a:t>
            </a:r>
          </a:p>
        </p:txBody>
      </p:sp>
      <p:sp>
        <p:nvSpPr>
          <p:cNvPr id="19" name="Rectangle 18">
            <a:extLst>
              <a:ext uri="{FF2B5EF4-FFF2-40B4-BE49-F238E27FC236}">
                <a16:creationId xmlns:a16="http://schemas.microsoft.com/office/drawing/2014/main" id="{517437A8-8195-465E-93BE-8C0DE672D238}"/>
              </a:ext>
            </a:extLst>
          </p:cNvPr>
          <p:cNvSpPr>
            <a:spLocks noGrp="1"/>
          </p:cNvSpPr>
          <p:nvPr/>
        </p:nvSpPr>
        <p:spPr>
          <a:xfrm>
            <a:off x="6172200" y="2362200"/>
            <a:ext cx="2571750" cy="3048000"/>
          </a:xfrm>
          <a:prstGeom prst="rect">
            <a:avLst/>
          </a:prstGeom>
          <a:solidFill>
            <a:srgbClr val="FFFFFF"/>
          </a:solidFill>
          <a:ln w="9525">
            <a:solidFill>
              <a:srgbClr val="8A8B86"/>
            </a:solidFill>
            <a:prstDash val="solid"/>
          </a:ln>
        </p:spPr>
        <p:txBody>
          <a:bodyPr/>
          <a:lstStyle/>
          <a:p>
            <a:endParaRPr lang="en-US"/>
          </a:p>
        </p:txBody>
      </p:sp>
      <p:sp>
        <p:nvSpPr>
          <p:cNvPr id="20" name="Rectangle 19">
            <a:extLst>
              <a:ext uri="{FF2B5EF4-FFF2-40B4-BE49-F238E27FC236}">
                <a16:creationId xmlns:a16="http://schemas.microsoft.com/office/drawing/2014/main" id="{D2918E27-467E-4B50-A629-33562FC018FD}"/>
              </a:ext>
            </a:extLst>
          </p:cNvPr>
          <p:cNvSpPr>
            <a:spLocks noGrp="1"/>
          </p:cNvSpPr>
          <p:nvPr/>
        </p:nvSpPr>
        <p:spPr>
          <a:xfrm>
            <a:off x="6172200" y="2362200"/>
            <a:ext cx="66675" cy="3048000"/>
          </a:xfrm>
          <a:prstGeom prst="rect">
            <a:avLst/>
          </a:prstGeom>
          <a:solidFill>
            <a:srgbClr val="111111"/>
          </a:solidFill>
          <a:ln w="0">
            <a:noFill/>
            <a:prstDash val="solid"/>
          </a:ln>
        </p:spPr>
        <p:txBody>
          <a:bodyPr/>
          <a:lstStyle/>
          <a:p>
            <a:endParaRPr lang="en-US"/>
          </a:p>
        </p:txBody>
      </p:sp>
      <p:sp>
        <p:nvSpPr>
          <p:cNvPr id="21" name="Rectangle 20">
            <a:extLst>
              <a:ext uri="{FF2B5EF4-FFF2-40B4-BE49-F238E27FC236}">
                <a16:creationId xmlns:a16="http://schemas.microsoft.com/office/drawing/2014/main" id="{B4439025-67C1-482F-8813-C2C77339A226}"/>
              </a:ext>
            </a:extLst>
          </p:cNvPr>
          <p:cNvSpPr>
            <a:spLocks noGrp="1"/>
          </p:cNvSpPr>
          <p:nvPr/>
        </p:nvSpPr>
        <p:spPr>
          <a:xfrm>
            <a:off x="6381750" y="2533650"/>
            <a:ext cx="2152650" cy="228600"/>
          </a:xfrm>
          <a:prstGeom prst="rect">
            <a:avLst/>
          </a:prstGeom>
          <a:noFill/>
          <a:ln w="0">
            <a:noFill/>
            <a:prstDash val="solid"/>
          </a:ln>
        </p:spPr>
        <p:txBody>
          <a:bodyPr wrap="square" lIns="0" tIns="0" rIns="0" bIns="0" anchor="t">
            <a:normAutofit/>
          </a:bodyPr>
          <a:lstStyle/>
          <a:p>
            <a:pPr algn="l">
              <a:buNone/>
              <a:defRPr sz="1050" b="1" i="0">
                <a:solidFill>
                  <a:srgbClr val="111111"/>
                </a:solidFill>
                <a:latin typeface="Consolas"/>
                <a:ea typeface="Consolas"/>
                <a:cs typeface="Consolas"/>
              </a:defRPr>
            </a:pPr>
            <a:r>
              <a:rPr sz="1050" b="1" i="0">
                <a:solidFill>
                  <a:srgbClr val="111111"/>
                </a:solidFill>
                <a:latin typeface="Consolas"/>
                <a:ea typeface="Consolas"/>
                <a:cs typeface="Consolas"/>
              </a:rPr>
              <a:t>SECURITY + SRE</a:t>
            </a:r>
          </a:p>
        </p:txBody>
      </p:sp>
      <p:sp>
        <p:nvSpPr>
          <p:cNvPr id="22" name="Rectangle 21">
            <a:extLst>
              <a:ext uri="{FF2B5EF4-FFF2-40B4-BE49-F238E27FC236}">
                <a16:creationId xmlns:a16="http://schemas.microsoft.com/office/drawing/2014/main" id="{0C397136-EE63-4CD1-A97D-F26C41D77D67}"/>
              </a:ext>
            </a:extLst>
          </p:cNvPr>
          <p:cNvSpPr>
            <a:spLocks noGrp="1"/>
          </p:cNvSpPr>
          <p:nvPr/>
        </p:nvSpPr>
        <p:spPr>
          <a:xfrm>
            <a:off x="6381750" y="2838450"/>
            <a:ext cx="2152650" cy="685800"/>
          </a:xfrm>
          <a:prstGeom prst="rect">
            <a:avLst/>
          </a:prstGeom>
          <a:noFill/>
          <a:ln w="0">
            <a:noFill/>
            <a:prstDash val="solid"/>
          </a:ln>
        </p:spPr>
        <p:txBody>
          <a:bodyPr wrap="square" lIns="0" tIns="0" rIns="0" bIns="0" anchor="t">
            <a:normAutofit/>
          </a:bodyPr>
          <a:lstStyle/>
          <a:p>
            <a:pPr algn="l">
              <a:buNone/>
              <a:defRPr sz="2025" b="0" i="0">
                <a:solidFill>
                  <a:srgbClr val="111111"/>
                </a:solidFill>
                <a:latin typeface="Georgia"/>
                <a:ea typeface="Georgia"/>
                <a:cs typeface="Georgia"/>
              </a:defRPr>
            </a:pPr>
            <a:r>
              <a:rPr sz="2025" b="0" i="0">
                <a:solidFill>
                  <a:srgbClr val="111111"/>
                </a:solidFill>
                <a:latin typeface="Georgia"/>
                <a:ea typeface="Georgia"/>
                <a:cs typeface="Georgia"/>
              </a:rPr>
              <a:t>Own the gate</a:t>
            </a:r>
          </a:p>
        </p:txBody>
      </p:sp>
      <p:sp>
        <p:nvSpPr>
          <p:cNvPr id="23" name="Rectangle 22">
            <a:extLst>
              <a:ext uri="{FF2B5EF4-FFF2-40B4-BE49-F238E27FC236}">
                <a16:creationId xmlns:a16="http://schemas.microsoft.com/office/drawing/2014/main" id="{07A1B44A-9D8E-4C6E-9026-FE3A4831B52A}"/>
              </a:ext>
            </a:extLst>
          </p:cNvPr>
          <p:cNvSpPr>
            <a:spLocks noGrp="1"/>
          </p:cNvSpPr>
          <p:nvPr/>
        </p:nvSpPr>
        <p:spPr>
          <a:xfrm>
            <a:off x="6381750" y="3543300"/>
            <a:ext cx="2152650" cy="1695450"/>
          </a:xfrm>
          <a:prstGeom prst="rect">
            <a:avLst/>
          </a:prstGeom>
          <a:noFill/>
          <a:ln w="0">
            <a:noFill/>
            <a:prstDash val="solid"/>
          </a:ln>
        </p:spPr>
        <p:txBody>
          <a:bodyPr wrap="square" lIns="0" tIns="0" rIns="0" bIns="0" anchor="t">
            <a:normAutofit/>
          </a:bodyPr>
          <a:lstStyle/>
          <a:p>
            <a:pPr algn="l">
              <a:buNone/>
              <a:defRPr sz="1350" b="0" i="0">
                <a:solidFill>
                  <a:srgbClr val="686A66"/>
                </a:solidFill>
                <a:latin typeface="Arial"/>
                <a:ea typeface="Arial"/>
                <a:cs typeface="Arial"/>
              </a:defRPr>
            </a:pPr>
            <a:r>
              <a:rPr sz="1350" b="0" i="0">
                <a:solidFill>
                  <a:srgbClr val="686A66"/>
                </a:solidFill>
                <a:latin typeface="Arial"/>
                <a:ea typeface="Arial"/>
                <a:cs typeface="Arial"/>
              </a:rPr>
              <a:t>Admission policy</a:t>
            </a:r>
          </a:p>
          <a:p>
            <a:pPr algn="l">
              <a:buNone/>
              <a:defRPr sz="1350" b="0" i="0">
                <a:solidFill>
                  <a:srgbClr val="686A66"/>
                </a:solidFill>
                <a:latin typeface="Arial"/>
                <a:ea typeface="Arial"/>
                <a:cs typeface="Arial"/>
              </a:defRPr>
            </a:pPr>
            <a:r>
              <a:rPr sz="1350" b="0" i="0">
                <a:solidFill>
                  <a:srgbClr val="686A66"/>
                </a:solidFill>
                <a:latin typeface="Arial"/>
                <a:ea typeface="Arial"/>
                <a:cs typeface="Arial"/>
              </a:rPr>
              <a:t>Threat and control evidence</a:t>
            </a:r>
          </a:p>
          <a:p>
            <a:pPr algn="l">
              <a:buNone/>
              <a:defRPr sz="1350" b="0" i="0">
                <a:solidFill>
                  <a:srgbClr val="686A66"/>
                </a:solidFill>
                <a:latin typeface="Arial"/>
                <a:ea typeface="Arial"/>
                <a:cs typeface="Arial"/>
              </a:defRPr>
            </a:pPr>
            <a:r>
              <a:rPr sz="1350" b="0" i="0">
                <a:solidFill>
                  <a:srgbClr val="686A66"/>
                </a:solidFill>
                <a:latin typeface="Arial"/>
                <a:ea typeface="Arial"/>
                <a:cs typeface="Arial"/>
              </a:rPr>
              <a:t>On-call, capacity and incident review</a:t>
            </a:r>
          </a:p>
        </p:txBody>
      </p:sp>
      <p:sp>
        <p:nvSpPr>
          <p:cNvPr id="24" name="Rectangle 23">
            <a:extLst>
              <a:ext uri="{FF2B5EF4-FFF2-40B4-BE49-F238E27FC236}">
                <a16:creationId xmlns:a16="http://schemas.microsoft.com/office/drawing/2014/main" id="{5DCA6203-CF79-4A04-814A-687B127ACFE9}"/>
              </a:ext>
            </a:extLst>
          </p:cNvPr>
          <p:cNvSpPr>
            <a:spLocks noGrp="1"/>
          </p:cNvSpPr>
          <p:nvPr/>
        </p:nvSpPr>
        <p:spPr>
          <a:xfrm>
            <a:off x="8953500" y="2362200"/>
            <a:ext cx="2571750" cy="3048000"/>
          </a:xfrm>
          <a:prstGeom prst="rect">
            <a:avLst/>
          </a:prstGeom>
          <a:solidFill>
            <a:srgbClr val="FFFFFF"/>
          </a:solidFill>
          <a:ln w="9525">
            <a:solidFill>
              <a:srgbClr val="8A8B86"/>
            </a:solidFill>
            <a:prstDash val="solid"/>
          </a:ln>
        </p:spPr>
        <p:txBody>
          <a:bodyPr/>
          <a:lstStyle/>
          <a:p>
            <a:endParaRPr lang="en-US"/>
          </a:p>
        </p:txBody>
      </p:sp>
      <p:sp>
        <p:nvSpPr>
          <p:cNvPr id="25" name="Rectangle 24">
            <a:extLst>
              <a:ext uri="{FF2B5EF4-FFF2-40B4-BE49-F238E27FC236}">
                <a16:creationId xmlns:a16="http://schemas.microsoft.com/office/drawing/2014/main" id="{1C3CC5B0-A16D-4764-9378-9126209071C3}"/>
              </a:ext>
            </a:extLst>
          </p:cNvPr>
          <p:cNvSpPr>
            <a:spLocks noGrp="1"/>
          </p:cNvSpPr>
          <p:nvPr/>
        </p:nvSpPr>
        <p:spPr>
          <a:xfrm>
            <a:off x="8953500" y="2362200"/>
            <a:ext cx="66675" cy="3048000"/>
          </a:xfrm>
          <a:prstGeom prst="rect">
            <a:avLst/>
          </a:prstGeom>
          <a:solidFill>
            <a:srgbClr val="111111"/>
          </a:solidFill>
          <a:ln w="0">
            <a:noFill/>
            <a:prstDash val="solid"/>
          </a:ln>
        </p:spPr>
        <p:txBody>
          <a:bodyPr/>
          <a:lstStyle/>
          <a:p>
            <a:endParaRPr lang="en-US"/>
          </a:p>
        </p:txBody>
      </p:sp>
      <p:sp>
        <p:nvSpPr>
          <p:cNvPr id="26" name="Rectangle 25">
            <a:extLst>
              <a:ext uri="{FF2B5EF4-FFF2-40B4-BE49-F238E27FC236}">
                <a16:creationId xmlns:a16="http://schemas.microsoft.com/office/drawing/2014/main" id="{A6A8C459-2487-4BB3-9E09-E2718CE71A25}"/>
              </a:ext>
            </a:extLst>
          </p:cNvPr>
          <p:cNvSpPr>
            <a:spLocks noGrp="1"/>
          </p:cNvSpPr>
          <p:nvPr/>
        </p:nvSpPr>
        <p:spPr>
          <a:xfrm>
            <a:off x="9163050" y="2533650"/>
            <a:ext cx="2152650" cy="228600"/>
          </a:xfrm>
          <a:prstGeom prst="rect">
            <a:avLst/>
          </a:prstGeom>
          <a:noFill/>
          <a:ln w="0">
            <a:noFill/>
            <a:prstDash val="solid"/>
          </a:ln>
        </p:spPr>
        <p:txBody>
          <a:bodyPr wrap="square" lIns="0" tIns="0" rIns="0" bIns="0" anchor="t">
            <a:normAutofit/>
          </a:bodyPr>
          <a:lstStyle/>
          <a:p>
            <a:pPr algn="l">
              <a:buNone/>
              <a:defRPr sz="1050" b="1" i="0">
                <a:solidFill>
                  <a:srgbClr val="111111"/>
                </a:solidFill>
                <a:latin typeface="Consolas"/>
                <a:ea typeface="Consolas"/>
                <a:cs typeface="Consolas"/>
              </a:defRPr>
            </a:pPr>
            <a:r>
              <a:rPr sz="1050" b="1" i="0">
                <a:solidFill>
                  <a:srgbClr val="111111"/>
                </a:solidFill>
                <a:latin typeface="Consolas"/>
                <a:ea typeface="Consolas"/>
                <a:cs typeface="Consolas"/>
              </a:rPr>
              <a:t>VENDOR / PARTNERS</a:t>
            </a:r>
          </a:p>
        </p:txBody>
      </p:sp>
      <p:sp>
        <p:nvSpPr>
          <p:cNvPr id="27" name="Rectangle 26">
            <a:extLst>
              <a:ext uri="{FF2B5EF4-FFF2-40B4-BE49-F238E27FC236}">
                <a16:creationId xmlns:a16="http://schemas.microsoft.com/office/drawing/2014/main" id="{5948D7CF-C416-450F-B7DA-1C03603A82E3}"/>
              </a:ext>
            </a:extLst>
          </p:cNvPr>
          <p:cNvSpPr>
            <a:spLocks noGrp="1"/>
          </p:cNvSpPr>
          <p:nvPr/>
        </p:nvSpPr>
        <p:spPr>
          <a:xfrm>
            <a:off x="9163050" y="2838450"/>
            <a:ext cx="2152650" cy="685800"/>
          </a:xfrm>
          <a:prstGeom prst="rect">
            <a:avLst/>
          </a:prstGeom>
          <a:noFill/>
          <a:ln w="0">
            <a:noFill/>
            <a:prstDash val="solid"/>
          </a:ln>
        </p:spPr>
        <p:txBody>
          <a:bodyPr wrap="square" lIns="0" tIns="0" rIns="0" bIns="0" anchor="t">
            <a:normAutofit/>
          </a:bodyPr>
          <a:lstStyle/>
          <a:p>
            <a:pPr algn="l">
              <a:buNone/>
              <a:defRPr sz="2025" b="0" i="0">
                <a:solidFill>
                  <a:srgbClr val="111111"/>
                </a:solidFill>
                <a:latin typeface="Georgia"/>
                <a:ea typeface="Georgia"/>
                <a:cs typeface="Georgia"/>
              </a:defRPr>
            </a:pPr>
            <a:r>
              <a:rPr sz="2025" b="0" i="0">
                <a:solidFill>
                  <a:srgbClr val="111111"/>
                </a:solidFill>
                <a:latin typeface="Georgia"/>
                <a:ea typeface="Georgia"/>
                <a:cs typeface="Georgia"/>
              </a:rPr>
              <a:t>Support the owner</a:t>
            </a:r>
          </a:p>
        </p:txBody>
      </p:sp>
      <p:sp>
        <p:nvSpPr>
          <p:cNvPr id="28" name="Rectangle 27">
            <a:extLst>
              <a:ext uri="{FF2B5EF4-FFF2-40B4-BE49-F238E27FC236}">
                <a16:creationId xmlns:a16="http://schemas.microsoft.com/office/drawing/2014/main" id="{4C402D6F-9EA5-43D8-BD92-8F2E88F15C9F}"/>
              </a:ext>
            </a:extLst>
          </p:cNvPr>
          <p:cNvSpPr>
            <a:spLocks noGrp="1"/>
          </p:cNvSpPr>
          <p:nvPr/>
        </p:nvSpPr>
        <p:spPr>
          <a:xfrm>
            <a:off x="9163050" y="3543300"/>
            <a:ext cx="2152650" cy="1695450"/>
          </a:xfrm>
          <a:prstGeom prst="rect">
            <a:avLst/>
          </a:prstGeom>
          <a:noFill/>
          <a:ln w="0">
            <a:noFill/>
            <a:prstDash val="solid"/>
          </a:ln>
        </p:spPr>
        <p:txBody>
          <a:bodyPr wrap="square" lIns="0" tIns="0" rIns="0" bIns="0" anchor="t">
            <a:normAutofit/>
          </a:bodyPr>
          <a:lstStyle/>
          <a:p>
            <a:pPr algn="l">
              <a:buNone/>
              <a:defRPr sz="1350" b="0" i="0">
                <a:solidFill>
                  <a:srgbClr val="686A66"/>
                </a:solidFill>
                <a:latin typeface="Arial"/>
                <a:ea typeface="Arial"/>
                <a:cs typeface="Arial"/>
              </a:defRPr>
            </a:pPr>
            <a:r>
              <a:rPr sz="1350" b="0" i="0">
                <a:solidFill>
                  <a:srgbClr val="686A66"/>
                </a:solidFill>
                <a:latin typeface="Arial"/>
                <a:ea typeface="Arial"/>
                <a:cs typeface="Arial"/>
              </a:rPr>
              <a:t>Product support and defect path</a:t>
            </a:r>
          </a:p>
          <a:p>
            <a:pPr algn="l">
              <a:buNone/>
              <a:defRPr sz="1350" b="0" i="0">
                <a:solidFill>
                  <a:srgbClr val="686A66"/>
                </a:solidFill>
                <a:latin typeface="Arial"/>
                <a:ea typeface="Arial"/>
                <a:cs typeface="Arial"/>
              </a:defRPr>
            </a:pPr>
            <a:r>
              <a:rPr sz="1350" b="0" i="0">
                <a:solidFill>
                  <a:srgbClr val="686A66"/>
                </a:solidFill>
                <a:latin typeface="Arial"/>
                <a:ea typeface="Arial"/>
                <a:cs typeface="Arial"/>
              </a:rPr>
              <a:t>Version / compatibility evidence</a:t>
            </a:r>
          </a:p>
          <a:p>
            <a:pPr algn="l">
              <a:buNone/>
              <a:defRPr sz="1350" b="0" i="0">
                <a:solidFill>
                  <a:srgbClr val="686A66"/>
                </a:solidFill>
                <a:latin typeface="Arial"/>
                <a:ea typeface="Arial"/>
                <a:cs typeface="Arial"/>
              </a:defRPr>
            </a:pPr>
            <a:r>
              <a:rPr sz="1350" b="0" i="0">
                <a:solidFill>
                  <a:srgbClr val="686A66"/>
                </a:solidFill>
                <a:latin typeface="Arial"/>
                <a:ea typeface="Arial"/>
                <a:cs typeface="Arial"/>
              </a:rPr>
              <a:t>No substitution for enterprise ownership</a:t>
            </a:r>
          </a:p>
        </p:txBody>
      </p:sp>
      <p:sp>
        <p:nvSpPr>
          <p:cNvPr id="29" name="Rectangle 28">
            <a:extLst>
              <a:ext uri="{FF2B5EF4-FFF2-40B4-BE49-F238E27FC236}">
                <a16:creationId xmlns:a16="http://schemas.microsoft.com/office/drawing/2014/main" id="{EFA4B390-28C4-4864-BFF5-DA83004A392C}"/>
              </a:ext>
            </a:extLst>
          </p:cNvPr>
          <p:cNvSpPr>
            <a:spLocks noGrp="1"/>
          </p:cNvSpPr>
          <p:nvPr/>
        </p:nvSpPr>
        <p:spPr>
          <a:xfrm>
            <a:off x="1200150" y="5743575"/>
            <a:ext cx="9791700" cy="323850"/>
          </a:xfrm>
          <a:prstGeom prst="rect">
            <a:avLst/>
          </a:prstGeom>
          <a:noFill/>
          <a:ln w="0">
            <a:noFill/>
            <a:prstDash val="solid"/>
          </a:ln>
        </p:spPr>
        <p:txBody>
          <a:bodyPr wrap="square" lIns="0" tIns="0" rIns="0" bIns="0" anchor="t">
            <a:normAutofit/>
          </a:bodyPr>
          <a:lstStyle/>
          <a:p>
            <a:pPr algn="ctr">
              <a:buNone/>
              <a:defRPr sz="1725" b="0" i="0">
                <a:solidFill>
                  <a:srgbClr val="111111"/>
                </a:solidFill>
                <a:latin typeface="Georgia"/>
                <a:ea typeface="Georgia"/>
                <a:cs typeface="Georgia"/>
              </a:defRPr>
            </a:pPr>
            <a:r>
              <a:rPr sz="1725" b="0" i="0">
                <a:solidFill>
                  <a:srgbClr val="111111"/>
                </a:solidFill>
                <a:latin typeface="Georgia"/>
                <a:ea typeface="Georgia"/>
                <a:cs typeface="Georgia"/>
              </a:rPr>
              <a:t>No production gate closes without an owner, artifact, cadence and stop condition.</a:t>
            </a:r>
          </a:p>
        </p:txBody>
      </p:sp>
    </p:spTree>
    <p:extLst>
      <p:ext uri="{BB962C8B-B14F-4D97-AF65-F5344CB8AC3E}">
        <p14:creationId xmlns:p14="http://schemas.microsoft.com/office/powerpoint/2010/main" val="15268012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B875BD08-8D1C-4824-B79C-BCC42E4D7D66}"/>
              </a:ext>
            </a:extLst>
          </p:cNvPr>
          <p:cNvSpPr>
            <a:spLocks noGrp="1"/>
          </p:cNvSpPr>
          <p:nvPr/>
        </p:nvSpPr>
        <p:spPr>
          <a:xfrm>
            <a:off x="0" y="0"/>
            <a:ext cx="12192000" cy="266700"/>
          </a:xfrm>
          <a:prstGeom prst="rect">
            <a:avLst/>
          </a:prstGeom>
          <a:solidFill>
            <a:srgbClr val="FFC72C"/>
          </a:solidFill>
          <a:ln w="0">
            <a:noFill/>
            <a:prstDash val="solid"/>
          </a:ln>
        </p:spPr>
        <p:txBody>
          <a:bodyPr/>
          <a:lstStyle/>
          <a:p>
            <a:endParaRPr lang="en-US"/>
          </a:p>
        </p:txBody>
      </p:sp>
      <p:sp>
        <p:nvSpPr>
          <p:cNvPr id="2" name="Rectangle 1">
            <a:extLst>
              <a:ext uri="{FF2B5EF4-FFF2-40B4-BE49-F238E27FC236}">
                <a16:creationId xmlns:a16="http://schemas.microsoft.com/office/drawing/2014/main" id="{E430D34B-6286-4BF3-89F3-DA4C104134FC}"/>
              </a:ext>
            </a:extLst>
          </p:cNvPr>
          <p:cNvSpPr>
            <a:spLocks noGrp="1"/>
          </p:cNvSpPr>
          <p:nvPr/>
        </p:nvSpPr>
        <p:spPr>
          <a:xfrm>
            <a:off x="10668000" y="0"/>
            <a:ext cx="1524000" cy="266700"/>
          </a:xfrm>
          <a:prstGeom prst="rect">
            <a:avLst/>
          </a:prstGeom>
          <a:solidFill>
            <a:srgbClr val="5537D6"/>
          </a:solidFill>
          <a:ln w="0">
            <a:noFill/>
            <a:prstDash val="solid"/>
          </a:ln>
        </p:spPr>
        <p:txBody>
          <a:bodyPr/>
          <a:lstStyle/>
          <a:p>
            <a:endParaRPr lang="en-US"/>
          </a:p>
        </p:txBody>
      </p:sp>
      <p:sp>
        <p:nvSpPr>
          <p:cNvPr id="3" name="Rectangle 2">
            <a:extLst>
              <a:ext uri="{FF2B5EF4-FFF2-40B4-BE49-F238E27FC236}">
                <a16:creationId xmlns:a16="http://schemas.microsoft.com/office/drawing/2014/main" id="{DE1B99D7-C3EE-4264-94C0-F3559503A850}"/>
              </a:ext>
            </a:extLst>
          </p:cNvPr>
          <p:cNvSpPr>
            <a:spLocks noGrp="1"/>
          </p:cNvSpPr>
          <p:nvPr/>
        </p:nvSpPr>
        <p:spPr>
          <a:xfrm>
            <a:off x="609600" y="38100"/>
            <a:ext cx="3429000" cy="190500"/>
          </a:xfrm>
          <a:prstGeom prst="rect">
            <a:avLst/>
          </a:prstGeom>
          <a:noFill/>
          <a:ln w="0">
            <a:noFill/>
            <a:prstDash val="solid"/>
          </a:ln>
        </p:spPr>
        <p:txBody>
          <a:bodyPr wrap="square" lIns="0" tIns="0" rIns="0" bIns="0" anchor="t">
            <a:normAutofit/>
          </a:bodyPr>
          <a:lstStyle/>
          <a:p>
            <a:pPr algn="l">
              <a:buNone/>
              <a:defRPr sz="975" b="1" i="0">
                <a:solidFill>
                  <a:srgbClr val="111111"/>
                </a:solidFill>
                <a:latin typeface="Consolas"/>
                <a:ea typeface="Consolas"/>
                <a:cs typeface="Consolas"/>
              </a:defRPr>
            </a:pPr>
            <a:r>
              <a:rPr sz="975" b="1" i="0">
                <a:solidFill>
                  <a:srgbClr val="111111"/>
                </a:solidFill>
                <a:latin typeface="Consolas"/>
                <a:ea typeface="Consolas"/>
                <a:cs typeface="Consolas"/>
              </a:rPr>
              <a:t>13 / ADOPTION</a:t>
            </a:r>
          </a:p>
        </p:txBody>
      </p:sp>
      <p:sp>
        <p:nvSpPr>
          <p:cNvPr id="4" name="Rectangle 3">
            <a:extLst>
              <a:ext uri="{FF2B5EF4-FFF2-40B4-BE49-F238E27FC236}">
                <a16:creationId xmlns:a16="http://schemas.microsoft.com/office/drawing/2014/main" id="{004583F7-6F5A-4032-80C7-29C9EA1DCDDC}"/>
              </a:ext>
            </a:extLst>
          </p:cNvPr>
          <p:cNvSpPr>
            <a:spLocks noGrp="1"/>
          </p:cNvSpPr>
          <p:nvPr/>
        </p:nvSpPr>
        <p:spPr>
          <a:xfrm>
            <a:off x="609600" y="428625"/>
            <a:ext cx="10572750" cy="1028700"/>
          </a:xfrm>
          <a:prstGeom prst="rect">
            <a:avLst/>
          </a:prstGeom>
          <a:noFill/>
          <a:ln w="0">
            <a:noFill/>
            <a:prstDash val="solid"/>
          </a:ln>
        </p:spPr>
        <p:txBody>
          <a:bodyPr wrap="square" lIns="0" tIns="0" rIns="0" bIns="0" anchor="t">
            <a:noAutofit/>
          </a:bodyPr>
          <a:lstStyle/>
          <a:p>
            <a:pPr algn="l">
              <a:buNone/>
              <a:defRPr sz="3225" b="1" i="0">
                <a:solidFill>
                  <a:srgbClr val="111111"/>
                </a:solidFill>
                <a:latin typeface="Arial"/>
                <a:ea typeface="Arial"/>
                <a:cs typeface="Arial"/>
              </a:defRPr>
            </a:pPr>
            <a:r>
              <a:rPr sz="3225" b="1" i="0">
                <a:solidFill>
                  <a:srgbClr val="111111"/>
                </a:solidFill>
                <a:latin typeface="Arial"/>
                <a:ea typeface="Arial"/>
                <a:cs typeface="Arial"/>
              </a:rPr>
              <a:t>Foundation is work; scale is an outcome gate</a:t>
            </a:r>
          </a:p>
        </p:txBody>
      </p:sp>
      <p:sp>
        <p:nvSpPr>
          <p:cNvPr id="5" name="Rectangle 4">
            <a:extLst>
              <a:ext uri="{FF2B5EF4-FFF2-40B4-BE49-F238E27FC236}">
                <a16:creationId xmlns:a16="http://schemas.microsoft.com/office/drawing/2014/main" id="{9060ACB3-2C84-435A-9805-A51E5C6918C9}"/>
              </a:ext>
            </a:extLst>
          </p:cNvPr>
          <p:cNvSpPr>
            <a:spLocks noGrp="1"/>
          </p:cNvSpPr>
          <p:nvPr/>
        </p:nvSpPr>
        <p:spPr>
          <a:xfrm>
            <a:off x="628650" y="1514475"/>
            <a:ext cx="10382250" cy="323850"/>
          </a:xfrm>
          <a:prstGeom prst="rect">
            <a:avLst/>
          </a:prstGeom>
          <a:noFill/>
          <a:ln w="0">
            <a:noFill/>
            <a:prstDash val="solid"/>
          </a:ln>
        </p:spPr>
        <p:txBody>
          <a:bodyPr wrap="square" lIns="0" tIns="0" rIns="0" bIns="0" anchor="t">
            <a:noAutofit/>
          </a:bodyPr>
          <a:lstStyle/>
          <a:p>
            <a:pPr algn="l">
              <a:buNone/>
              <a:defRPr sz="1575" b="0" i="0">
                <a:solidFill>
                  <a:srgbClr val="686A66"/>
                </a:solidFill>
                <a:latin typeface="Arial"/>
                <a:ea typeface="Arial"/>
                <a:cs typeface="Arial"/>
              </a:defRPr>
            </a:pPr>
            <a:r>
              <a:rPr sz="1575" b="0" i="0">
                <a:solidFill>
                  <a:srgbClr val="686A66"/>
                </a:solidFill>
                <a:latin typeface="Arial"/>
                <a:ea typeface="Arial"/>
                <a:cs typeface="Arial"/>
              </a:rPr>
              <a:t>Scenario windows show decision order—not a committed calendar.</a:t>
            </a:r>
          </a:p>
        </p:txBody>
      </p:sp>
      <p:sp>
        <p:nvSpPr>
          <p:cNvPr id="6" name="Rectangle 5">
            <a:extLst>
              <a:ext uri="{FF2B5EF4-FFF2-40B4-BE49-F238E27FC236}">
                <a16:creationId xmlns:a16="http://schemas.microsoft.com/office/drawing/2014/main" id="{EEB79BEB-30C1-43C8-9F05-257231E61601}"/>
              </a:ext>
            </a:extLst>
          </p:cNvPr>
          <p:cNvSpPr>
            <a:spLocks noGrp="1"/>
          </p:cNvSpPr>
          <p:nvPr/>
        </p:nvSpPr>
        <p:spPr>
          <a:xfrm>
            <a:off x="609600" y="1905000"/>
            <a:ext cx="10972800" cy="9525"/>
          </a:xfrm>
          <a:prstGeom prst="rect">
            <a:avLst/>
          </a:prstGeom>
          <a:solidFill>
            <a:srgbClr val="8A8B86"/>
          </a:solidFill>
          <a:ln w="0">
            <a:noFill/>
            <a:prstDash val="solid"/>
          </a:ln>
        </p:spPr>
        <p:txBody>
          <a:bodyPr/>
          <a:lstStyle/>
          <a:p>
            <a:endParaRPr lang="en-US"/>
          </a:p>
        </p:txBody>
      </p:sp>
      <p:sp>
        <p:nvSpPr>
          <p:cNvPr id="7" name="Rectangle 6">
            <a:extLst>
              <a:ext uri="{FF2B5EF4-FFF2-40B4-BE49-F238E27FC236}">
                <a16:creationId xmlns:a16="http://schemas.microsoft.com/office/drawing/2014/main" id="{BD274C11-597C-4180-91B0-11763F7942F3}"/>
              </a:ext>
            </a:extLst>
          </p:cNvPr>
          <p:cNvSpPr>
            <a:spLocks noGrp="1"/>
          </p:cNvSpPr>
          <p:nvPr/>
        </p:nvSpPr>
        <p:spPr>
          <a:xfrm>
            <a:off x="609600" y="6524625"/>
            <a:ext cx="8858250" cy="180975"/>
          </a:xfrm>
          <a:prstGeom prst="rect">
            <a:avLst/>
          </a:prstGeom>
          <a:noFill/>
          <a:ln w="0">
            <a:noFill/>
            <a:prstDash val="solid"/>
          </a:ln>
        </p:spPr>
        <p:txBody>
          <a:bodyPr wrap="square" lIns="0" tIns="0" rIns="0" bIns="0" anchor="ctr">
            <a:normAutofit/>
          </a:bodyPr>
          <a:lstStyle/>
          <a:p>
            <a:pPr>
              <a:buNone/>
              <a:defRPr sz="825">
                <a:solidFill>
                  <a:srgbClr val="666762"/>
                </a:solidFill>
              </a:defRPr>
            </a:pPr>
            <a:r>
              <a:rPr sz="825" b="1">
                <a:solidFill>
                  <a:srgbClr val="666762"/>
                </a:solidFill>
              </a:rPr>
              <a:t>REFERENCES  </a:t>
            </a:r>
            <a:r>
              <a:rPr sz="825" u="sng">
                <a:solidFill>
                  <a:srgbClr val="666762"/>
                </a:solidFill>
                <a:hlinkClick r:id="rId3"/>
              </a:rPr>
              <a:t>Repo reference</a:t>
            </a:r>
            <a:r>
              <a:rPr sz="825">
                <a:solidFill>
                  <a:srgbClr val="666762"/>
                </a:solidFill>
              </a:rPr>
              <a:t>  ·  </a:t>
            </a:r>
            <a:r>
              <a:rPr sz="825" u="sng">
                <a:solidFill>
                  <a:srgbClr val="666762"/>
                </a:solidFill>
                <a:hlinkClick r:id="rId4"/>
              </a:rPr>
              <a:t>Official docs</a:t>
            </a:r>
          </a:p>
        </p:txBody>
      </p:sp>
      <p:sp>
        <p:nvSpPr>
          <p:cNvPr id="8" name="Rectangle 7">
            <a:extLst>
              <a:ext uri="{FF2B5EF4-FFF2-40B4-BE49-F238E27FC236}">
                <a16:creationId xmlns:a16="http://schemas.microsoft.com/office/drawing/2014/main" id="{C7EE617E-7171-4FD1-A8BB-EC56AE465124}"/>
              </a:ext>
            </a:extLst>
          </p:cNvPr>
          <p:cNvSpPr>
            <a:spLocks noGrp="1"/>
          </p:cNvSpPr>
          <p:nvPr/>
        </p:nvSpPr>
        <p:spPr>
          <a:xfrm>
            <a:off x="10287000" y="6486525"/>
            <a:ext cx="1295400" cy="209550"/>
          </a:xfrm>
          <a:prstGeom prst="rect">
            <a:avLst/>
          </a:prstGeom>
          <a:noFill/>
          <a:ln w="0">
            <a:noFill/>
            <a:prstDash val="solid"/>
          </a:ln>
        </p:spPr>
        <p:txBody>
          <a:bodyPr wrap="square" lIns="0" tIns="0" rIns="0" bIns="0" anchor="t">
            <a:normAutofit/>
          </a:bodyPr>
          <a:lstStyle/>
          <a:p>
            <a:pPr algn="r">
              <a:buNone/>
              <a:defRPr sz="975" b="1" i="0">
                <a:solidFill>
                  <a:srgbClr val="686A66"/>
                </a:solidFill>
                <a:latin typeface="Consolas"/>
                <a:ea typeface="Consolas"/>
                <a:cs typeface="Consolas"/>
              </a:defRPr>
            </a:pPr>
            <a:r>
              <a:rPr sz="975" b="1" i="0">
                <a:solidFill>
                  <a:srgbClr val="686A66"/>
                </a:solidFill>
                <a:latin typeface="Consolas"/>
                <a:ea typeface="Consolas"/>
                <a:cs typeface="Consolas"/>
              </a:rPr>
              <a:t>13 / 25</a:t>
            </a:r>
          </a:p>
        </p:txBody>
      </p:sp>
      <p:sp>
        <p:nvSpPr>
          <p:cNvPr id="9" name="Rectangle 8">
            <a:extLst>
              <a:ext uri="{FF2B5EF4-FFF2-40B4-BE49-F238E27FC236}">
                <a16:creationId xmlns:a16="http://schemas.microsoft.com/office/drawing/2014/main" id="{228A28E3-3E48-4EDE-BA72-9DB8C7CC1AFB}"/>
              </a:ext>
            </a:extLst>
          </p:cNvPr>
          <p:cNvSpPr>
            <a:spLocks noGrp="1"/>
          </p:cNvSpPr>
          <p:nvPr/>
        </p:nvSpPr>
        <p:spPr>
          <a:xfrm>
            <a:off x="971550" y="3790950"/>
            <a:ext cx="10001250" cy="19050"/>
          </a:xfrm>
          <a:prstGeom prst="rect">
            <a:avLst/>
          </a:prstGeom>
          <a:solidFill>
            <a:srgbClr val="8A8B86"/>
          </a:solidFill>
          <a:ln w="0">
            <a:noFill/>
            <a:prstDash val="solid"/>
          </a:ln>
        </p:spPr>
        <p:txBody>
          <a:bodyPr/>
          <a:lstStyle/>
          <a:p>
            <a:endParaRPr lang="en-US"/>
          </a:p>
        </p:txBody>
      </p:sp>
      <p:sp>
        <p:nvSpPr>
          <p:cNvPr id="10" name="Oval 9">
            <a:extLst>
              <a:ext uri="{FF2B5EF4-FFF2-40B4-BE49-F238E27FC236}">
                <a16:creationId xmlns:a16="http://schemas.microsoft.com/office/drawing/2014/main" id="{18970D30-4F3B-4605-A71E-CE024ACAF42C}"/>
              </a:ext>
            </a:extLst>
          </p:cNvPr>
          <p:cNvSpPr>
            <a:spLocks noGrp="1"/>
          </p:cNvSpPr>
          <p:nvPr/>
        </p:nvSpPr>
        <p:spPr>
          <a:xfrm>
            <a:off x="1219200" y="3514725"/>
            <a:ext cx="552450" cy="552450"/>
          </a:xfrm>
          <a:prstGeom prst="ellipse">
            <a:avLst/>
          </a:prstGeom>
          <a:solidFill>
            <a:srgbClr val="FFC72C"/>
          </a:solidFill>
          <a:ln w="19050">
            <a:solidFill>
              <a:srgbClr val="FFC72C"/>
            </a:solidFill>
            <a:prstDash val="solid"/>
          </a:ln>
        </p:spPr>
        <p:txBody>
          <a:bodyPr/>
          <a:lstStyle/>
          <a:p>
            <a:endParaRPr lang="en-US"/>
          </a:p>
        </p:txBody>
      </p:sp>
      <p:sp>
        <p:nvSpPr>
          <p:cNvPr id="11" name="Rectangle 10">
            <a:extLst>
              <a:ext uri="{FF2B5EF4-FFF2-40B4-BE49-F238E27FC236}">
                <a16:creationId xmlns:a16="http://schemas.microsoft.com/office/drawing/2014/main" id="{B7EDD9ED-E7AF-4FC9-AAB2-06EF29613B2F}"/>
              </a:ext>
            </a:extLst>
          </p:cNvPr>
          <p:cNvSpPr>
            <a:spLocks noGrp="1"/>
          </p:cNvSpPr>
          <p:nvPr/>
        </p:nvSpPr>
        <p:spPr>
          <a:xfrm>
            <a:off x="1219200" y="3667125"/>
            <a:ext cx="552450" cy="228600"/>
          </a:xfrm>
          <a:prstGeom prst="rect">
            <a:avLst/>
          </a:prstGeom>
          <a:noFill/>
          <a:ln w="0">
            <a:noFill/>
            <a:prstDash val="solid"/>
          </a:ln>
        </p:spPr>
        <p:txBody>
          <a:bodyPr wrap="square" lIns="0" tIns="0" rIns="0" bIns="0" anchor="ctr">
            <a:normAutofit/>
          </a:bodyPr>
          <a:lstStyle/>
          <a:p>
            <a:pPr algn="ctr">
              <a:buNone/>
              <a:defRPr sz="1125" b="1" i="0">
                <a:solidFill>
                  <a:srgbClr val="111111"/>
                </a:solidFill>
                <a:latin typeface="Consolas"/>
                <a:ea typeface="Consolas"/>
                <a:cs typeface="Consolas"/>
              </a:defRPr>
            </a:pPr>
            <a:r>
              <a:rPr sz="1125" b="1" i="0">
                <a:solidFill>
                  <a:srgbClr val="111111"/>
                </a:solidFill>
                <a:latin typeface="Consolas"/>
                <a:ea typeface="Consolas"/>
                <a:cs typeface="Consolas"/>
              </a:rPr>
              <a:t>KP0</a:t>
            </a:r>
          </a:p>
        </p:txBody>
      </p:sp>
      <p:sp>
        <p:nvSpPr>
          <p:cNvPr id="12" name="Rectangle 11">
            <a:extLst>
              <a:ext uri="{FF2B5EF4-FFF2-40B4-BE49-F238E27FC236}">
                <a16:creationId xmlns:a16="http://schemas.microsoft.com/office/drawing/2014/main" id="{7E72C2A1-6C56-42FC-A5A2-B7F27E411F3D}"/>
              </a:ext>
            </a:extLst>
          </p:cNvPr>
          <p:cNvSpPr>
            <a:spLocks noGrp="1"/>
          </p:cNvSpPr>
          <p:nvPr/>
        </p:nvSpPr>
        <p:spPr>
          <a:xfrm>
            <a:off x="1009650" y="2286000"/>
            <a:ext cx="971550" cy="209550"/>
          </a:xfrm>
          <a:prstGeom prst="rect">
            <a:avLst/>
          </a:prstGeom>
          <a:noFill/>
          <a:ln w="0">
            <a:noFill/>
            <a:prstDash val="solid"/>
          </a:ln>
        </p:spPr>
        <p:txBody>
          <a:bodyPr wrap="square" lIns="0" tIns="0" rIns="0" bIns="0" anchor="t">
            <a:normAutofit/>
          </a:bodyPr>
          <a:lstStyle/>
          <a:p>
            <a:pPr algn="ctr">
              <a:buNone/>
              <a:defRPr sz="1050" b="1" i="0">
                <a:solidFill>
                  <a:srgbClr val="5537D6"/>
                </a:solidFill>
                <a:latin typeface="Consolas"/>
                <a:ea typeface="Consolas"/>
                <a:cs typeface="Consolas"/>
              </a:defRPr>
            </a:pPr>
            <a:r>
              <a:rPr sz="1050" b="1" i="0">
                <a:solidFill>
                  <a:srgbClr val="5537D6"/>
                </a:solidFill>
                <a:latin typeface="Consolas"/>
                <a:ea typeface="Consolas"/>
                <a:cs typeface="Consolas"/>
              </a:rPr>
              <a:t>0–2m</a:t>
            </a:r>
          </a:p>
        </p:txBody>
      </p:sp>
      <p:sp>
        <p:nvSpPr>
          <p:cNvPr id="13" name="Rectangle 12">
            <a:extLst>
              <a:ext uri="{FF2B5EF4-FFF2-40B4-BE49-F238E27FC236}">
                <a16:creationId xmlns:a16="http://schemas.microsoft.com/office/drawing/2014/main" id="{15FDA9DF-2A6C-46ED-A3AB-7B82C7401F53}"/>
              </a:ext>
            </a:extLst>
          </p:cNvPr>
          <p:cNvSpPr>
            <a:spLocks noGrp="1"/>
          </p:cNvSpPr>
          <p:nvPr/>
        </p:nvSpPr>
        <p:spPr>
          <a:xfrm>
            <a:off x="819150" y="2590800"/>
            <a:ext cx="1352550" cy="609600"/>
          </a:xfrm>
          <a:prstGeom prst="rect">
            <a:avLst/>
          </a:prstGeom>
          <a:noFill/>
          <a:ln w="0">
            <a:noFill/>
            <a:prstDash val="solid"/>
          </a:ln>
        </p:spPr>
        <p:txBody>
          <a:bodyPr wrap="square" lIns="0" tIns="0" rIns="0" bIns="0" anchor="ctr">
            <a:normAutofit/>
          </a:bodyPr>
          <a:lstStyle/>
          <a:p>
            <a:pPr algn="ctr">
              <a:buNone/>
              <a:defRPr sz="1725" b="0" i="0">
                <a:solidFill>
                  <a:srgbClr val="111111"/>
                </a:solidFill>
                <a:latin typeface="Georgia"/>
                <a:ea typeface="Georgia"/>
                <a:cs typeface="Georgia"/>
              </a:defRPr>
            </a:pPr>
            <a:r>
              <a:rPr sz="1725" b="0" i="0">
                <a:solidFill>
                  <a:srgbClr val="111111"/>
                </a:solidFill>
                <a:latin typeface="Georgia"/>
                <a:ea typeface="Georgia"/>
                <a:cs typeface="Georgia"/>
              </a:rPr>
              <a:t>Direction</a:t>
            </a:r>
          </a:p>
        </p:txBody>
      </p:sp>
      <p:sp>
        <p:nvSpPr>
          <p:cNvPr id="14" name="Rectangle 13">
            <a:extLst>
              <a:ext uri="{FF2B5EF4-FFF2-40B4-BE49-F238E27FC236}">
                <a16:creationId xmlns:a16="http://schemas.microsoft.com/office/drawing/2014/main" id="{C1E643B3-E0E9-468D-AA69-500498ADA896}"/>
              </a:ext>
            </a:extLst>
          </p:cNvPr>
          <p:cNvSpPr>
            <a:spLocks noGrp="1"/>
          </p:cNvSpPr>
          <p:nvPr/>
        </p:nvSpPr>
        <p:spPr>
          <a:xfrm>
            <a:off x="742950" y="4305300"/>
            <a:ext cx="1504950" cy="666750"/>
          </a:xfrm>
          <a:prstGeom prst="rect">
            <a:avLst/>
          </a:prstGeom>
          <a:noFill/>
          <a:ln w="0">
            <a:noFill/>
            <a:prstDash val="solid"/>
          </a:ln>
        </p:spPr>
        <p:txBody>
          <a:bodyPr wrap="square" lIns="0" tIns="0" rIns="0" bIns="0" anchor="t">
            <a:normAutofit/>
          </a:bodyPr>
          <a:lstStyle/>
          <a:p>
            <a:pPr algn="ctr">
              <a:buNone/>
              <a:defRPr sz="1200" b="0" i="0">
                <a:solidFill>
                  <a:srgbClr val="686A66"/>
                </a:solidFill>
                <a:latin typeface="Arial"/>
                <a:ea typeface="Arial"/>
                <a:cs typeface="Arial"/>
              </a:defRPr>
            </a:pPr>
            <a:r>
              <a:rPr sz="1200" b="0" i="0">
                <a:solidFill>
                  <a:srgbClr val="686A66"/>
                </a:solidFill>
                <a:latin typeface="Arial"/>
                <a:ea typeface="Arial"/>
                <a:cs typeface="Arial"/>
              </a:rPr>
              <a:t>owners + inventory</a:t>
            </a:r>
          </a:p>
        </p:txBody>
      </p:sp>
      <p:sp>
        <p:nvSpPr>
          <p:cNvPr id="15" name="Oval 14">
            <a:extLst>
              <a:ext uri="{FF2B5EF4-FFF2-40B4-BE49-F238E27FC236}">
                <a16:creationId xmlns:a16="http://schemas.microsoft.com/office/drawing/2014/main" id="{208A5602-57D3-4DA2-82EC-04BCEE5B1925}"/>
              </a:ext>
            </a:extLst>
          </p:cNvPr>
          <p:cNvSpPr>
            <a:spLocks noGrp="1"/>
          </p:cNvSpPr>
          <p:nvPr/>
        </p:nvSpPr>
        <p:spPr>
          <a:xfrm>
            <a:off x="3028950" y="3514725"/>
            <a:ext cx="552450" cy="552450"/>
          </a:xfrm>
          <a:prstGeom prst="ellipse">
            <a:avLst/>
          </a:prstGeom>
          <a:solidFill>
            <a:srgbClr val="FFC72C"/>
          </a:solidFill>
          <a:ln w="19050">
            <a:solidFill>
              <a:srgbClr val="FFC72C"/>
            </a:solidFill>
            <a:prstDash val="solid"/>
          </a:ln>
        </p:spPr>
        <p:txBody>
          <a:bodyPr/>
          <a:lstStyle/>
          <a:p>
            <a:endParaRPr lang="en-US"/>
          </a:p>
        </p:txBody>
      </p:sp>
      <p:sp>
        <p:nvSpPr>
          <p:cNvPr id="16" name="Rectangle 15">
            <a:extLst>
              <a:ext uri="{FF2B5EF4-FFF2-40B4-BE49-F238E27FC236}">
                <a16:creationId xmlns:a16="http://schemas.microsoft.com/office/drawing/2014/main" id="{FC484416-6227-49D8-B101-7F04A4DD5366}"/>
              </a:ext>
            </a:extLst>
          </p:cNvPr>
          <p:cNvSpPr>
            <a:spLocks noGrp="1"/>
          </p:cNvSpPr>
          <p:nvPr/>
        </p:nvSpPr>
        <p:spPr>
          <a:xfrm>
            <a:off x="3028950" y="3667125"/>
            <a:ext cx="552450" cy="228600"/>
          </a:xfrm>
          <a:prstGeom prst="rect">
            <a:avLst/>
          </a:prstGeom>
          <a:noFill/>
          <a:ln w="0">
            <a:noFill/>
            <a:prstDash val="solid"/>
          </a:ln>
        </p:spPr>
        <p:txBody>
          <a:bodyPr wrap="square" lIns="0" tIns="0" rIns="0" bIns="0" anchor="ctr">
            <a:normAutofit/>
          </a:bodyPr>
          <a:lstStyle/>
          <a:p>
            <a:pPr algn="ctr">
              <a:buNone/>
              <a:defRPr sz="1125" b="1" i="0">
                <a:solidFill>
                  <a:srgbClr val="111111"/>
                </a:solidFill>
                <a:latin typeface="Consolas"/>
                <a:ea typeface="Consolas"/>
                <a:cs typeface="Consolas"/>
              </a:defRPr>
            </a:pPr>
            <a:r>
              <a:rPr sz="1125" b="1" i="0">
                <a:solidFill>
                  <a:srgbClr val="111111"/>
                </a:solidFill>
                <a:latin typeface="Consolas"/>
                <a:ea typeface="Consolas"/>
                <a:cs typeface="Consolas"/>
              </a:rPr>
              <a:t>KP1</a:t>
            </a:r>
          </a:p>
        </p:txBody>
      </p:sp>
      <p:sp>
        <p:nvSpPr>
          <p:cNvPr id="17" name="Rectangle 16">
            <a:extLst>
              <a:ext uri="{FF2B5EF4-FFF2-40B4-BE49-F238E27FC236}">
                <a16:creationId xmlns:a16="http://schemas.microsoft.com/office/drawing/2014/main" id="{7E9EA001-5D76-41BF-B585-EEEC92317757}"/>
              </a:ext>
            </a:extLst>
          </p:cNvPr>
          <p:cNvSpPr>
            <a:spLocks noGrp="1"/>
          </p:cNvSpPr>
          <p:nvPr/>
        </p:nvSpPr>
        <p:spPr>
          <a:xfrm>
            <a:off x="2819400" y="2286000"/>
            <a:ext cx="971550" cy="209550"/>
          </a:xfrm>
          <a:prstGeom prst="rect">
            <a:avLst/>
          </a:prstGeom>
          <a:noFill/>
          <a:ln w="0">
            <a:noFill/>
            <a:prstDash val="solid"/>
          </a:ln>
        </p:spPr>
        <p:txBody>
          <a:bodyPr wrap="square" lIns="0" tIns="0" rIns="0" bIns="0" anchor="t">
            <a:normAutofit/>
          </a:bodyPr>
          <a:lstStyle/>
          <a:p>
            <a:pPr algn="ctr">
              <a:buNone/>
              <a:defRPr sz="1050" b="1" i="0">
                <a:solidFill>
                  <a:srgbClr val="5537D6"/>
                </a:solidFill>
                <a:latin typeface="Consolas"/>
                <a:ea typeface="Consolas"/>
                <a:cs typeface="Consolas"/>
              </a:defRPr>
            </a:pPr>
            <a:r>
              <a:rPr sz="1050" b="1" i="0">
                <a:solidFill>
                  <a:srgbClr val="5537D6"/>
                </a:solidFill>
                <a:latin typeface="Consolas"/>
                <a:ea typeface="Consolas"/>
                <a:cs typeface="Consolas"/>
              </a:rPr>
              <a:t>2–5m</a:t>
            </a:r>
          </a:p>
        </p:txBody>
      </p:sp>
      <p:sp>
        <p:nvSpPr>
          <p:cNvPr id="18" name="Rectangle 17">
            <a:extLst>
              <a:ext uri="{FF2B5EF4-FFF2-40B4-BE49-F238E27FC236}">
                <a16:creationId xmlns:a16="http://schemas.microsoft.com/office/drawing/2014/main" id="{A371116D-EA8A-49D7-8D1D-F199C9FF5A6E}"/>
              </a:ext>
            </a:extLst>
          </p:cNvPr>
          <p:cNvSpPr>
            <a:spLocks noGrp="1"/>
          </p:cNvSpPr>
          <p:nvPr/>
        </p:nvSpPr>
        <p:spPr>
          <a:xfrm>
            <a:off x="2628900" y="2590800"/>
            <a:ext cx="1352550" cy="609600"/>
          </a:xfrm>
          <a:prstGeom prst="rect">
            <a:avLst/>
          </a:prstGeom>
          <a:noFill/>
          <a:ln w="0">
            <a:noFill/>
            <a:prstDash val="solid"/>
          </a:ln>
        </p:spPr>
        <p:txBody>
          <a:bodyPr wrap="square" lIns="0" tIns="0" rIns="0" bIns="0" anchor="ctr">
            <a:normAutofit/>
          </a:bodyPr>
          <a:lstStyle/>
          <a:p>
            <a:pPr algn="ctr">
              <a:buNone/>
              <a:defRPr sz="1725" b="0" i="0">
                <a:solidFill>
                  <a:srgbClr val="111111"/>
                </a:solidFill>
                <a:latin typeface="Georgia"/>
                <a:ea typeface="Georgia"/>
                <a:cs typeface="Georgia"/>
              </a:defRPr>
            </a:pPr>
            <a:r>
              <a:rPr sz="1725" b="0" i="0">
                <a:solidFill>
                  <a:srgbClr val="111111"/>
                </a:solidFill>
                <a:latin typeface="Georgia"/>
                <a:ea typeface="Georgia"/>
                <a:cs typeface="Georgia"/>
              </a:rPr>
              <a:t>Foundation</a:t>
            </a:r>
          </a:p>
        </p:txBody>
      </p:sp>
      <p:sp>
        <p:nvSpPr>
          <p:cNvPr id="19" name="Rectangle 18">
            <a:extLst>
              <a:ext uri="{FF2B5EF4-FFF2-40B4-BE49-F238E27FC236}">
                <a16:creationId xmlns:a16="http://schemas.microsoft.com/office/drawing/2014/main" id="{C112D303-0517-4835-AD58-80C487AE0583}"/>
              </a:ext>
            </a:extLst>
          </p:cNvPr>
          <p:cNvSpPr>
            <a:spLocks noGrp="1"/>
          </p:cNvSpPr>
          <p:nvPr/>
        </p:nvSpPr>
        <p:spPr>
          <a:xfrm>
            <a:off x="2552700" y="4305300"/>
            <a:ext cx="1504950" cy="666750"/>
          </a:xfrm>
          <a:prstGeom prst="rect">
            <a:avLst/>
          </a:prstGeom>
          <a:noFill/>
          <a:ln w="0">
            <a:noFill/>
            <a:prstDash val="solid"/>
          </a:ln>
        </p:spPr>
        <p:txBody>
          <a:bodyPr wrap="square" lIns="0" tIns="0" rIns="0" bIns="0" anchor="t">
            <a:normAutofit/>
          </a:bodyPr>
          <a:lstStyle/>
          <a:p>
            <a:pPr algn="ctr">
              <a:buNone/>
              <a:defRPr sz="1200" b="0" i="0">
                <a:solidFill>
                  <a:srgbClr val="686A66"/>
                </a:solidFill>
                <a:latin typeface="Arial"/>
                <a:ea typeface="Arial"/>
                <a:cs typeface="Arial"/>
              </a:defRPr>
            </a:pPr>
            <a:r>
              <a:rPr sz="1200" b="0" i="0">
                <a:solidFill>
                  <a:srgbClr val="686A66"/>
                </a:solidFill>
                <a:latin typeface="Arial"/>
                <a:ea typeface="Arial"/>
                <a:cs typeface="Arial"/>
              </a:rPr>
              <a:t>CP/DB/PKI + paved road</a:t>
            </a:r>
          </a:p>
        </p:txBody>
      </p:sp>
      <p:sp>
        <p:nvSpPr>
          <p:cNvPr id="20" name="Oval 19">
            <a:extLst>
              <a:ext uri="{FF2B5EF4-FFF2-40B4-BE49-F238E27FC236}">
                <a16:creationId xmlns:a16="http://schemas.microsoft.com/office/drawing/2014/main" id="{6BF5CDFA-0DC3-4CCA-8D80-D966539213D0}"/>
              </a:ext>
            </a:extLst>
          </p:cNvPr>
          <p:cNvSpPr>
            <a:spLocks noGrp="1"/>
          </p:cNvSpPr>
          <p:nvPr/>
        </p:nvSpPr>
        <p:spPr>
          <a:xfrm>
            <a:off x="4838700" y="3514725"/>
            <a:ext cx="552450" cy="552450"/>
          </a:xfrm>
          <a:prstGeom prst="ellipse">
            <a:avLst/>
          </a:prstGeom>
          <a:solidFill>
            <a:srgbClr val="FFFCF5"/>
          </a:solidFill>
          <a:ln w="19050">
            <a:solidFill>
              <a:srgbClr val="111111"/>
            </a:solidFill>
            <a:prstDash val="solid"/>
          </a:ln>
        </p:spPr>
        <p:txBody>
          <a:bodyPr/>
          <a:lstStyle/>
          <a:p>
            <a:endParaRPr lang="en-US"/>
          </a:p>
        </p:txBody>
      </p:sp>
      <p:sp>
        <p:nvSpPr>
          <p:cNvPr id="21" name="Rectangle 20">
            <a:extLst>
              <a:ext uri="{FF2B5EF4-FFF2-40B4-BE49-F238E27FC236}">
                <a16:creationId xmlns:a16="http://schemas.microsoft.com/office/drawing/2014/main" id="{CA490340-0B85-4157-B5DC-CFB8187DD8C2}"/>
              </a:ext>
            </a:extLst>
          </p:cNvPr>
          <p:cNvSpPr>
            <a:spLocks noGrp="1"/>
          </p:cNvSpPr>
          <p:nvPr/>
        </p:nvSpPr>
        <p:spPr>
          <a:xfrm>
            <a:off x="4838700" y="3667125"/>
            <a:ext cx="552450" cy="228600"/>
          </a:xfrm>
          <a:prstGeom prst="rect">
            <a:avLst/>
          </a:prstGeom>
          <a:noFill/>
          <a:ln w="0">
            <a:noFill/>
            <a:prstDash val="solid"/>
          </a:ln>
        </p:spPr>
        <p:txBody>
          <a:bodyPr wrap="square" lIns="0" tIns="0" rIns="0" bIns="0" anchor="ctr">
            <a:normAutofit/>
          </a:bodyPr>
          <a:lstStyle/>
          <a:p>
            <a:pPr algn="ctr">
              <a:buNone/>
              <a:defRPr sz="1125" b="1" i="0">
                <a:solidFill>
                  <a:srgbClr val="111111"/>
                </a:solidFill>
                <a:latin typeface="Consolas"/>
                <a:ea typeface="Consolas"/>
                <a:cs typeface="Consolas"/>
              </a:defRPr>
            </a:pPr>
            <a:r>
              <a:rPr sz="1125" b="1" i="0">
                <a:solidFill>
                  <a:srgbClr val="111111"/>
                </a:solidFill>
                <a:latin typeface="Consolas"/>
                <a:ea typeface="Consolas"/>
                <a:cs typeface="Consolas"/>
              </a:rPr>
              <a:t>KP2</a:t>
            </a:r>
          </a:p>
        </p:txBody>
      </p:sp>
      <p:sp>
        <p:nvSpPr>
          <p:cNvPr id="22" name="Rectangle 21">
            <a:extLst>
              <a:ext uri="{FF2B5EF4-FFF2-40B4-BE49-F238E27FC236}">
                <a16:creationId xmlns:a16="http://schemas.microsoft.com/office/drawing/2014/main" id="{2F60C272-FA1F-4154-B36E-213CC267C5E7}"/>
              </a:ext>
            </a:extLst>
          </p:cNvPr>
          <p:cNvSpPr>
            <a:spLocks noGrp="1"/>
          </p:cNvSpPr>
          <p:nvPr/>
        </p:nvSpPr>
        <p:spPr>
          <a:xfrm>
            <a:off x="4629150" y="2286000"/>
            <a:ext cx="971550" cy="209550"/>
          </a:xfrm>
          <a:prstGeom prst="rect">
            <a:avLst/>
          </a:prstGeom>
          <a:noFill/>
          <a:ln w="0">
            <a:noFill/>
            <a:prstDash val="solid"/>
          </a:ln>
        </p:spPr>
        <p:txBody>
          <a:bodyPr wrap="square" lIns="0" tIns="0" rIns="0" bIns="0" anchor="t">
            <a:normAutofit/>
          </a:bodyPr>
          <a:lstStyle/>
          <a:p>
            <a:pPr algn="ctr">
              <a:buNone/>
              <a:defRPr sz="1050" b="1" i="0">
                <a:solidFill>
                  <a:srgbClr val="5537D6"/>
                </a:solidFill>
                <a:latin typeface="Consolas"/>
                <a:ea typeface="Consolas"/>
                <a:cs typeface="Consolas"/>
              </a:defRPr>
            </a:pPr>
            <a:r>
              <a:rPr sz="1050" b="1" i="0">
                <a:solidFill>
                  <a:srgbClr val="5537D6"/>
                </a:solidFill>
                <a:latin typeface="Consolas"/>
                <a:ea typeface="Consolas"/>
                <a:cs typeface="Consolas"/>
              </a:rPr>
              <a:t>4–8m</a:t>
            </a:r>
          </a:p>
        </p:txBody>
      </p:sp>
      <p:sp>
        <p:nvSpPr>
          <p:cNvPr id="23" name="Rectangle 22">
            <a:extLst>
              <a:ext uri="{FF2B5EF4-FFF2-40B4-BE49-F238E27FC236}">
                <a16:creationId xmlns:a16="http://schemas.microsoft.com/office/drawing/2014/main" id="{C7270B88-8650-463F-BCF0-151B62836AB8}"/>
              </a:ext>
            </a:extLst>
          </p:cNvPr>
          <p:cNvSpPr>
            <a:spLocks noGrp="1"/>
          </p:cNvSpPr>
          <p:nvPr/>
        </p:nvSpPr>
        <p:spPr>
          <a:xfrm>
            <a:off x="4438650" y="2590800"/>
            <a:ext cx="1352550" cy="609600"/>
          </a:xfrm>
          <a:prstGeom prst="rect">
            <a:avLst/>
          </a:prstGeom>
          <a:noFill/>
          <a:ln w="0">
            <a:noFill/>
            <a:prstDash val="solid"/>
          </a:ln>
        </p:spPr>
        <p:txBody>
          <a:bodyPr wrap="square" lIns="0" tIns="0" rIns="0" bIns="0" anchor="ctr">
            <a:normAutofit fontScale="93367"/>
          </a:bodyPr>
          <a:lstStyle/>
          <a:p>
            <a:pPr algn="ctr">
              <a:buNone/>
              <a:defRPr sz="1725" b="0" i="0">
                <a:solidFill>
                  <a:srgbClr val="111111"/>
                </a:solidFill>
                <a:latin typeface="Georgia"/>
                <a:ea typeface="Georgia"/>
                <a:cs typeface="Georgia"/>
              </a:defRPr>
            </a:pPr>
            <a:r>
              <a:rPr sz="1725" b="0" i="0">
                <a:solidFill>
                  <a:srgbClr val="111111"/>
                </a:solidFill>
                <a:latin typeface="Georgia"/>
                <a:ea typeface="Georgia"/>
                <a:cs typeface="Georgia"/>
              </a:rPr>
              <a:t>Representative</a:t>
            </a:r>
          </a:p>
          <a:p>
            <a:pPr algn="ctr">
              <a:buNone/>
              <a:defRPr sz="1725" b="0" i="0">
                <a:solidFill>
                  <a:srgbClr val="111111"/>
                </a:solidFill>
                <a:latin typeface="Georgia"/>
                <a:ea typeface="Georgia"/>
                <a:cs typeface="Georgia"/>
              </a:defRPr>
            </a:pPr>
            <a:r>
              <a:rPr sz="1725" b="0" i="0">
                <a:solidFill>
                  <a:srgbClr val="111111"/>
                </a:solidFill>
                <a:latin typeface="Georgia"/>
                <a:ea typeface="Georgia"/>
                <a:cs typeface="Georgia"/>
              </a:rPr>
              <a:t>proof</a:t>
            </a:r>
          </a:p>
        </p:txBody>
      </p:sp>
      <p:sp>
        <p:nvSpPr>
          <p:cNvPr id="24" name="Rectangle 23">
            <a:extLst>
              <a:ext uri="{FF2B5EF4-FFF2-40B4-BE49-F238E27FC236}">
                <a16:creationId xmlns:a16="http://schemas.microsoft.com/office/drawing/2014/main" id="{64E70BE8-E629-4597-A7F8-CA2E4761F457}"/>
              </a:ext>
            </a:extLst>
          </p:cNvPr>
          <p:cNvSpPr>
            <a:spLocks noGrp="1"/>
          </p:cNvSpPr>
          <p:nvPr/>
        </p:nvSpPr>
        <p:spPr>
          <a:xfrm>
            <a:off x="4362450" y="4305300"/>
            <a:ext cx="1504950" cy="666750"/>
          </a:xfrm>
          <a:prstGeom prst="rect">
            <a:avLst/>
          </a:prstGeom>
          <a:noFill/>
          <a:ln w="0">
            <a:noFill/>
            <a:prstDash val="solid"/>
          </a:ln>
        </p:spPr>
        <p:txBody>
          <a:bodyPr wrap="square" lIns="0" tIns="0" rIns="0" bIns="0" anchor="t">
            <a:normAutofit/>
          </a:bodyPr>
          <a:lstStyle/>
          <a:p>
            <a:pPr algn="ctr">
              <a:buNone/>
              <a:defRPr sz="1200" b="0" i="0">
                <a:solidFill>
                  <a:srgbClr val="686A66"/>
                </a:solidFill>
                <a:latin typeface="Arial"/>
                <a:ea typeface="Arial"/>
                <a:cs typeface="Arial"/>
              </a:defRPr>
            </a:pPr>
            <a:r>
              <a:rPr sz="1200" b="0" i="0">
                <a:solidFill>
                  <a:srgbClr val="686A66"/>
                </a:solidFill>
                <a:latin typeface="Arial"/>
                <a:ea typeface="Arial"/>
                <a:cs typeface="Arial"/>
              </a:rPr>
              <a:t>failure + restore + SLO</a:t>
            </a:r>
          </a:p>
        </p:txBody>
      </p:sp>
      <p:sp>
        <p:nvSpPr>
          <p:cNvPr id="25" name="Oval 24">
            <a:extLst>
              <a:ext uri="{FF2B5EF4-FFF2-40B4-BE49-F238E27FC236}">
                <a16:creationId xmlns:a16="http://schemas.microsoft.com/office/drawing/2014/main" id="{2B3E5B0F-7861-4F86-8C28-CA4D6C25A807}"/>
              </a:ext>
            </a:extLst>
          </p:cNvPr>
          <p:cNvSpPr>
            <a:spLocks noGrp="1"/>
          </p:cNvSpPr>
          <p:nvPr/>
        </p:nvSpPr>
        <p:spPr>
          <a:xfrm>
            <a:off x="6648450" y="3514725"/>
            <a:ext cx="552450" cy="552450"/>
          </a:xfrm>
          <a:prstGeom prst="ellipse">
            <a:avLst/>
          </a:prstGeom>
          <a:solidFill>
            <a:srgbClr val="FFFCF5"/>
          </a:solidFill>
          <a:ln w="19050">
            <a:solidFill>
              <a:srgbClr val="111111"/>
            </a:solidFill>
            <a:prstDash val="solid"/>
          </a:ln>
        </p:spPr>
        <p:txBody>
          <a:bodyPr/>
          <a:lstStyle/>
          <a:p>
            <a:endParaRPr lang="en-US"/>
          </a:p>
        </p:txBody>
      </p:sp>
      <p:sp>
        <p:nvSpPr>
          <p:cNvPr id="26" name="Rectangle 25">
            <a:extLst>
              <a:ext uri="{FF2B5EF4-FFF2-40B4-BE49-F238E27FC236}">
                <a16:creationId xmlns:a16="http://schemas.microsoft.com/office/drawing/2014/main" id="{9BBC032A-089C-43FA-84B9-CD22FC46220E}"/>
              </a:ext>
            </a:extLst>
          </p:cNvPr>
          <p:cNvSpPr>
            <a:spLocks noGrp="1"/>
          </p:cNvSpPr>
          <p:nvPr/>
        </p:nvSpPr>
        <p:spPr>
          <a:xfrm>
            <a:off x="6648450" y="3667125"/>
            <a:ext cx="552450" cy="228600"/>
          </a:xfrm>
          <a:prstGeom prst="rect">
            <a:avLst/>
          </a:prstGeom>
          <a:noFill/>
          <a:ln w="0">
            <a:noFill/>
            <a:prstDash val="solid"/>
          </a:ln>
        </p:spPr>
        <p:txBody>
          <a:bodyPr wrap="square" lIns="0" tIns="0" rIns="0" bIns="0" anchor="ctr">
            <a:normAutofit/>
          </a:bodyPr>
          <a:lstStyle/>
          <a:p>
            <a:pPr algn="ctr">
              <a:buNone/>
              <a:defRPr sz="1125" b="1" i="0">
                <a:solidFill>
                  <a:srgbClr val="111111"/>
                </a:solidFill>
                <a:latin typeface="Consolas"/>
                <a:ea typeface="Consolas"/>
                <a:cs typeface="Consolas"/>
              </a:defRPr>
            </a:pPr>
            <a:r>
              <a:rPr sz="1125" b="1" i="0">
                <a:solidFill>
                  <a:srgbClr val="111111"/>
                </a:solidFill>
                <a:latin typeface="Consolas"/>
                <a:ea typeface="Consolas"/>
                <a:cs typeface="Consolas"/>
              </a:rPr>
              <a:t>KP3</a:t>
            </a:r>
          </a:p>
        </p:txBody>
      </p:sp>
      <p:sp>
        <p:nvSpPr>
          <p:cNvPr id="27" name="Rectangle 26">
            <a:extLst>
              <a:ext uri="{FF2B5EF4-FFF2-40B4-BE49-F238E27FC236}">
                <a16:creationId xmlns:a16="http://schemas.microsoft.com/office/drawing/2014/main" id="{715BC160-5D8B-4A2F-9F55-AF45AD4010EA}"/>
              </a:ext>
            </a:extLst>
          </p:cNvPr>
          <p:cNvSpPr>
            <a:spLocks noGrp="1"/>
          </p:cNvSpPr>
          <p:nvPr/>
        </p:nvSpPr>
        <p:spPr>
          <a:xfrm>
            <a:off x="6438900" y="2286000"/>
            <a:ext cx="971550" cy="209550"/>
          </a:xfrm>
          <a:prstGeom prst="rect">
            <a:avLst/>
          </a:prstGeom>
          <a:noFill/>
          <a:ln w="0">
            <a:noFill/>
            <a:prstDash val="solid"/>
          </a:ln>
        </p:spPr>
        <p:txBody>
          <a:bodyPr wrap="square" lIns="0" tIns="0" rIns="0" bIns="0" anchor="t">
            <a:normAutofit/>
          </a:bodyPr>
          <a:lstStyle/>
          <a:p>
            <a:pPr algn="ctr">
              <a:buNone/>
              <a:defRPr sz="1050" b="1" i="0">
                <a:solidFill>
                  <a:srgbClr val="5537D6"/>
                </a:solidFill>
                <a:latin typeface="Consolas"/>
                <a:ea typeface="Consolas"/>
                <a:cs typeface="Consolas"/>
              </a:defRPr>
            </a:pPr>
            <a:r>
              <a:rPr sz="1050" b="1" i="0">
                <a:solidFill>
                  <a:srgbClr val="5537D6"/>
                </a:solidFill>
                <a:latin typeface="Consolas"/>
                <a:ea typeface="Consolas"/>
                <a:cs typeface="Consolas"/>
              </a:rPr>
              <a:t>6–10m</a:t>
            </a:r>
          </a:p>
        </p:txBody>
      </p:sp>
      <p:sp>
        <p:nvSpPr>
          <p:cNvPr id="28" name="Rectangle 27">
            <a:extLst>
              <a:ext uri="{FF2B5EF4-FFF2-40B4-BE49-F238E27FC236}">
                <a16:creationId xmlns:a16="http://schemas.microsoft.com/office/drawing/2014/main" id="{AC088AA2-C961-4ED4-AA3A-93A2BEACF91E}"/>
              </a:ext>
            </a:extLst>
          </p:cNvPr>
          <p:cNvSpPr>
            <a:spLocks noGrp="1"/>
          </p:cNvSpPr>
          <p:nvPr/>
        </p:nvSpPr>
        <p:spPr>
          <a:xfrm>
            <a:off x="6248400" y="2590800"/>
            <a:ext cx="1352550" cy="609600"/>
          </a:xfrm>
          <a:prstGeom prst="rect">
            <a:avLst/>
          </a:prstGeom>
          <a:noFill/>
          <a:ln w="0">
            <a:noFill/>
            <a:prstDash val="solid"/>
          </a:ln>
        </p:spPr>
        <p:txBody>
          <a:bodyPr wrap="square" lIns="0" tIns="0" rIns="0" bIns="0" anchor="ctr">
            <a:normAutofit/>
          </a:bodyPr>
          <a:lstStyle/>
          <a:p>
            <a:pPr algn="ctr">
              <a:buNone/>
              <a:defRPr sz="1725" b="0" i="0">
                <a:solidFill>
                  <a:srgbClr val="111111"/>
                </a:solidFill>
                <a:latin typeface="Georgia"/>
                <a:ea typeface="Georgia"/>
                <a:cs typeface="Georgia"/>
              </a:defRPr>
            </a:pPr>
            <a:r>
              <a:rPr sz="1725" b="0" i="0">
                <a:solidFill>
                  <a:srgbClr val="111111"/>
                </a:solidFill>
                <a:latin typeface="Georgia"/>
                <a:ea typeface="Georgia"/>
                <a:cs typeface="Georgia"/>
              </a:rPr>
              <a:t>Coexistence</a:t>
            </a:r>
          </a:p>
        </p:txBody>
      </p:sp>
      <p:sp>
        <p:nvSpPr>
          <p:cNvPr id="29" name="Rectangle 28">
            <a:extLst>
              <a:ext uri="{FF2B5EF4-FFF2-40B4-BE49-F238E27FC236}">
                <a16:creationId xmlns:a16="http://schemas.microsoft.com/office/drawing/2014/main" id="{2280B853-4EB1-46ED-AC91-D35F1ED62C2E}"/>
              </a:ext>
            </a:extLst>
          </p:cNvPr>
          <p:cNvSpPr>
            <a:spLocks noGrp="1"/>
          </p:cNvSpPr>
          <p:nvPr/>
        </p:nvSpPr>
        <p:spPr>
          <a:xfrm>
            <a:off x="6172200" y="4305300"/>
            <a:ext cx="1504950" cy="666750"/>
          </a:xfrm>
          <a:prstGeom prst="rect">
            <a:avLst/>
          </a:prstGeom>
          <a:noFill/>
          <a:ln w="0">
            <a:noFill/>
            <a:prstDash val="solid"/>
          </a:ln>
        </p:spPr>
        <p:txBody>
          <a:bodyPr wrap="square" lIns="0" tIns="0" rIns="0" bIns="0" anchor="t">
            <a:normAutofit/>
          </a:bodyPr>
          <a:lstStyle/>
          <a:p>
            <a:pPr algn="ctr">
              <a:buNone/>
              <a:defRPr sz="1200" b="0" i="0">
                <a:solidFill>
                  <a:srgbClr val="686A66"/>
                </a:solidFill>
                <a:latin typeface="Arial"/>
                <a:ea typeface="Arial"/>
                <a:cs typeface="Arial"/>
              </a:defRPr>
            </a:pPr>
            <a:r>
              <a:rPr sz="1200" b="0" i="0">
                <a:solidFill>
                  <a:srgbClr val="686A66"/>
                </a:solidFill>
                <a:latin typeface="Arial"/>
                <a:ea typeface="Arial"/>
                <a:cs typeface="Arial"/>
              </a:rPr>
              <a:t>route-back + adoption</a:t>
            </a:r>
          </a:p>
        </p:txBody>
      </p:sp>
      <p:sp>
        <p:nvSpPr>
          <p:cNvPr id="30" name="Oval 29">
            <a:extLst>
              <a:ext uri="{FF2B5EF4-FFF2-40B4-BE49-F238E27FC236}">
                <a16:creationId xmlns:a16="http://schemas.microsoft.com/office/drawing/2014/main" id="{08C2F6B1-2D9E-4F06-935D-59F027BF20B8}"/>
              </a:ext>
            </a:extLst>
          </p:cNvPr>
          <p:cNvSpPr>
            <a:spLocks noGrp="1"/>
          </p:cNvSpPr>
          <p:nvPr/>
        </p:nvSpPr>
        <p:spPr>
          <a:xfrm>
            <a:off x="8458200" y="3514725"/>
            <a:ext cx="552450" cy="552450"/>
          </a:xfrm>
          <a:prstGeom prst="ellipse">
            <a:avLst/>
          </a:prstGeom>
          <a:solidFill>
            <a:srgbClr val="FFFCF5"/>
          </a:solidFill>
          <a:ln w="19050">
            <a:solidFill>
              <a:srgbClr val="111111"/>
            </a:solidFill>
            <a:prstDash val="solid"/>
          </a:ln>
        </p:spPr>
        <p:txBody>
          <a:bodyPr/>
          <a:lstStyle/>
          <a:p>
            <a:endParaRPr lang="en-US"/>
          </a:p>
        </p:txBody>
      </p:sp>
      <p:sp>
        <p:nvSpPr>
          <p:cNvPr id="31" name="Rectangle 30">
            <a:extLst>
              <a:ext uri="{FF2B5EF4-FFF2-40B4-BE49-F238E27FC236}">
                <a16:creationId xmlns:a16="http://schemas.microsoft.com/office/drawing/2014/main" id="{218B4EDE-3BE4-4945-A03F-D4AB88A2F934}"/>
              </a:ext>
            </a:extLst>
          </p:cNvPr>
          <p:cNvSpPr>
            <a:spLocks noGrp="1"/>
          </p:cNvSpPr>
          <p:nvPr/>
        </p:nvSpPr>
        <p:spPr>
          <a:xfrm>
            <a:off x="8458200" y="3667125"/>
            <a:ext cx="552450" cy="228600"/>
          </a:xfrm>
          <a:prstGeom prst="rect">
            <a:avLst/>
          </a:prstGeom>
          <a:noFill/>
          <a:ln w="0">
            <a:noFill/>
            <a:prstDash val="solid"/>
          </a:ln>
        </p:spPr>
        <p:txBody>
          <a:bodyPr wrap="square" lIns="0" tIns="0" rIns="0" bIns="0" anchor="ctr">
            <a:normAutofit/>
          </a:bodyPr>
          <a:lstStyle/>
          <a:p>
            <a:pPr algn="ctr">
              <a:buNone/>
              <a:defRPr sz="1125" b="1" i="0">
                <a:solidFill>
                  <a:srgbClr val="111111"/>
                </a:solidFill>
                <a:latin typeface="Consolas"/>
                <a:ea typeface="Consolas"/>
                <a:cs typeface="Consolas"/>
              </a:defRPr>
            </a:pPr>
            <a:r>
              <a:rPr sz="1125" b="1" i="0">
                <a:solidFill>
                  <a:srgbClr val="111111"/>
                </a:solidFill>
                <a:latin typeface="Consolas"/>
                <a:ea typeface="Consolas"/>
                <a:cs typeface="Consolas"/>
              </a:rPr>
              <a:t>KP4</a:t>
            </a:r>
          </a:p>
        </p:txBody>
      </p:sp>
      <p:sp>
        <p:nvSpPr>
          <p:cNvPr id="32" name="Rectangle 31">
            <a:extLst>
              <a:ext uri="{FF2B5EF4-FFF2-40B4-BE49-F238E27FC236}">
                <a16:creationId xmlns:a16="http://schemas.microsoft.com/office/drawing/2014/main" id="{50FA7E66-7FBC-45CD-B910-4879362CD1A0}"/>
              </a:ext>
            </a:extLst>
          </p:cNvPr>
          <p:cNvSpPr>
            <a:spLocks noGrp="1"/>
          </p:cNvSpPr>
          <p:nvPr/>
        </p:nvSpPr>
        <p:spPr>
          <a:xfrm>
            <a:off x="8248650" y="2286000"/>
            <a:ext cx="971550" cy="209550"/>
          </a:xfrm>
          <a:prstGeom prst="rect">
            <a:avLst/>
          </a:prstGeom>
          <a:noFill/>
          <a:ln w="0">
            <a:noFill/>
            <a:prstDash val="solid"/>
          </a:ln>
        </p:spPr>
        <p:txBody>
          <a:bodyPr wrap="square" lIns="0" tIns="0" rIns="0" bIns="0" anchor="t">
            <a:normAutofit/>
          </a:bodyPr>
          <a:lstStyle/>
          <a:p>
            <a:pPr algn="ctr">
              <a:buNone/>
              <a:defRPr sz="1050" b="1" i="0">
                <a:solidFill>
                  <a:srgbClr val="5537D6"/>
                </a:solidFill>
                <a:latin typeface="Consolas"/>
                <a:ea typeface="Consolas"/>
                <a:cs typeface="Consolas"/>
              </a:defRPr>
            </a:pPr>
            <a:r>
              <a:rPr sz="1050" b="1" i="0">
                <a:solidFill>
                  <a:srgbClr val="5537D6"/>
                </a:solidFill>
                <a:latin typeface="Consolas"/>
                <a:ea typeface="Consolas"/>
                <a:cs typeface="Consolas"/>
              </a:rPr>
              <a:t>9–14m</a:t>
            </a:r>
          </a:p>
        </p:txBody>
      </p:sp>
      <p:sp>
        <p:nvSpPr>
          <p:cNvPr id="33" name="Rectangle 32">
            <a:extLst>
              <a:ext uri="{FF2B5EF4-FFF2-40B4-BE49-F238E27FC236}">
                <a16:creationId xmlns:a16="http://schemas.microsoft.com/office/drawing/2014/main" id="{DB65C47A-1EB4-4834-ACE9-D697B88CE3B9}"/>
              </a:ext>
            </a:extLst>
          </p:cNvPr>
          <p:cNvSpPr>
            <a:spLocks noGrp="1"/>
          </p:cNvSpPr>
          <p:nvPr/>
        </p:nvSpPr>
        <p:spPr>
          <a:xfrm>
            <a:off x="8058150" y="2590800"/>
            <a:ext cx="1352550" cy="609600"/>
          </a:xfrm>
          <a:prstGeom prst="rect">
            <a:avLst/>
          </a:prstGeom>
          <a:noFill/>
          <a:ln w="0">
            <a:noFill/>
            <a:prstDash val="solid"/>
          </a:ln>
        </p:spPr>
        <p:txBody>
          <a:bodyPr wrap="square" lIns="0" tIns="0" rIns="0" bIns="0" anchor="ctr">
            <a:normAutofit/>
          </a:bodyPr>
          <a:lstStyle/>
          <a:p>
            <a:pPr algn="ctr">
              <a:buNone/>
              <a:defRPr sz="1725" b="0" i="0">
                <a:solidFill>
                  <a:srgbClr val="111111"/>
                </a:solidFill>
                <a:latin typeface="Georgia"/>
                <a:ea typeface="Georgia"/>
                <a:cs typeface="Georgia"/>
              </a:defRPr>
            </a:pPr>
            <a:r>
              <a:rPr sz="1725" b="0" i="0">
                <a:solidFill>
                  <a:srgbClr val="111111"/>
                </a:solidFill>
                <a:latin typeface="Georgia"/>
                <a:ea typeface="Georgia"/>
                <a:cs typeface="Georgia"/>
              </a:rPr>
              <a:t>Operating</a:t>
            </a:r>
          </a:p>
          <a:p>
            <a:pPr algn="ctr">
              <a:buNone/>
              <a:defRPr sz="1725" b="0" i="0">
                <a:solidFill>
                  <a:srgbClr val="111111"/>
                </a:solidFill>
                <a:latin typeface="Georgia"/>
                <a:ea typeface="Georgia"/>
                <a:cs typeface="Georgia"/>
              </a:defRPr>
            </a:pPr>
            <a:r>
              <a:rPr sz="1725" b="0" i="0">
                <a:solidFill>
                  <a:srgbClr val="111111"/>
                </a:solidFill>
                <a:latin typeface="Georgia"/>
                <a:ea typeface="Georgia"/>
                <a:cs typeface="Georgia"/>
              </a:rPr>
              <a:t>scale</a:t>
            </a:r>
          </a:p>
        </p:txBody>
      </p:sp>
      <p:sp>
        <p:nvSpPr>
          <p:cNvPr id="34" name="Rectangle 33">
            <a:extLst>
              <a:ext uri="{FF2B5EF4-FFF2-40B4-BE49-F238E27FC236}">
                <a16:creationId xmlns:a16="http://schemas.microsoft.com/office/drawing/2014/main" id="{4E2FB793-AE2D-45E4-A49E-3C2B51C45DBC}"/>
              </a:ext>
            </a:extLst>
          </p:cNvPr>
          <p:cNvSpPr>
            <a:spLocks noGrp="1"/>
          </p:cNvSpPr>
          <p:nvPr/>
        </p:nvSpPr>
        <p:spPr>
          <a:xfrm>
            <a:off x="7981950" y="4305300"/>
            <a:ext cx="1504950" cy="666750"/>
          </a:xfrm>
          <a:prstGeom prst="rect">
            <a:avLst/>
          </a:prstGeom>
          <a:noFill/>
          <a:ln w="0">
            <a:noFill/>
            <a:prstDash val="solid"/>
          </a:ln>
        </p:spPr>
        <p:txBody>
          <a:bodyPr wrap="square" lIns="0" tIns="0" rIns="0" bIns="0" anchor="t">
            <a:normAutofit/>
          </a:bodyPr>
          <a:lstStyle/>
          <a:p>
            <a:pPr algn="ctr">
              <a:buNone/>
              <a:defRPr sz="1200" b="0" i="0">
                <a:solidFill>
                  <a:srgbClr val="686A66"/>
                </a:solidFill>
                <a:latin typeface="Arial"/>
                <a:ea typeface="Arial"/>
                <a:cs typeface="Arial"/>
              </a:defRPr>
            </a:pPr>
            <a:r>
              <a:rPr sz="1200" b="0" i="0">
                <a:solidFill>
                  <a:srgbClr val="686A66"/>
                </a:solidFill>
                <a:latin typeface="Arial"/>
                <a:ea typeface="Arial"/>
                <a:cs typeface="Arial"/>
              </a:rPr>
              <a:t>capacity + sustainability</a:t>
            </a:r>
          </a:p>
        </p:txBody>
      </p:sp>
      <p:sp>
        <p:nvSpPr>
          <p:cNvPr id="35" name="Oval 34">
            <a:extLst>
              <a:ext uri="{FF2B5EF4-FFF2-40B4-BE49-F238E27FC236}">
                <a16:creationId xmlns:a16="http://schemas.microsoft.com/office/drawing/2014/main" id="{E96E7EB9-F5AA-4DD1-B238-DD3BCB4EA87B}"/>
              </a:ext>
            </a:extLst>
          </p:cNvPr>
          <p:cNvSpPr>
            <a:spLocks noGrp="1"/>
          </p:cNvSpPr>
          <p:nvPr/>
        </p:nvSpPr>
        <p:spPr>
          <a:xfrm>
            <a:off x="10267950" y="3514725"/>
            <a:ext cx="552450" cy="552450"/>
          </a:xfrm>
          <a:prstGeom prst="ellipse">
            <a:avLst/>
          </a:prstGeom>
          <a:solidFill>
            <a:srgbClr val="FFFCF5"/>
          </a:solidFill>
          <a:ln w="19050">
            <a:solidFill>
              <a:srgbClr val="111111"/>
            </a:solidFill>
            <a:prstDash val="solid"/>
          </a:ln>
        </p:spPr>
        <p:txBody>
          <a:bodyPr/>
          <a:lstStyle/>
          <a:p>
            <a:endParaRPr lang="en-US"/>
          </a:p>
        </p:txBody>
      </p:sp>
      <p:sp>
        <p:nvSpPr>
          <p:cNvPr id="36" name="Rectangle 35">
            <a:extLst>
              <a:ext uri="{FF2B5EF4-FFF2-40B4-BE49-F238E27FC236}">
                <a16:creationId xmlns:a16="http://schemas.microsoft.com/office/drawing/2014/main" id="{09499944-E6CC-4B38-A394-AEA8FFD28427}"/>
              </a:ext>
            </a:extLst>
          </p:cNvPr>
          <p:cNvSpPr>
            <a:spLocks noGrp="1"/>
          </p:cNvSpPr>
          <p:nvPr/>
        </p:nvSpPr>
        <p:spPr>
          <a:xfrm>
            <a:off x="10267950" y="3667125"/>
            <a:ext cx="552450" cy="228600"/>
          </a:xfrm>
          <a:prstGeom prst="rect">
            <a:avLst/>
          </a:prstGeom>
          <a:noFill/>
          <a:ln w="0">
            <a:noFill/>
            <a:prstDash val="solid"/>
          </a:ln>
        </p:spPr>
        <p:txBody>
          <a:bodyPr wrap="square" lIns="0" tIns="0" rIns="0" bIns="0" anchor="ctr">
            <a:normAutofit/>
          </a:bodyPr>
          <a:lstStyle/>
          <a:p>
            <a:pPr algn="ctr">
              <a:buNone/>
              <a:defRPr sz="1125" b="1" i="0">
                <a:solidFill>
                  <a:srgbClr val="111111"/>
                </a:solidFill>
                <a:latin typeface="Consolas"/>
                <a:ea typeface="Consolas"/>
                <a:cs typeface="Consolas"/>
              </a:defRPr>
            </a:pPr>
            <a:r>
              <a:rPr sz="1125" b="1" i="0">
                <a:solidFill>
                  <a:srgbClr val="111111"/>
                </a:solidFill>
                <a:latin typeface="Consolas"/>
                <a:ea typeface="Consolas"/>
                <a:cs typeface="Consolas"/>
              </a:rPr>
              <a:t>KP5</a:t>
            </a:r>
          </a:p>
        </p:txBody>
      </p:sp>
      <p:sp>
        <p:nvSpPr>
          <p:cNvPr id="37" name="Rectangle 36">
            <a:extLst>
              <a:ext uri="{FF2B5EF4-FFF2-40B4-BE49-F238E27FC236}">
                <a16:creationId xmlns:a16="http://schemas.microsoft.com/office/drawing/2014/main" id="{41A935F6-5225-41BB-9D1F-9E0406F40172}"/>
              </a:ext>
            </a:extLst>
          </p:cNvPr>
          <p:cNvSpPr>
            <a:spLocks noGrp="1"/>
          </p:cNvSpPr>
          <p:nvPr/>
        </p:nvSpPr>
        <p:spPr>
          <a:xfrm>
            <a:off x="10058400" y="2286000"/>
            <a:ext cx="971550" cy="209550"/>
          </a:xfrm>
          <a:prstGeom prst="rect">
            <a:avLst/>
          </a:prstGeom>
          <a:noFill/>
          <a:ln w="0">
            <a:noFill/>
            <a:prstDash val="solid"/>
          </a:ln>
        </p:spPr>
        <p:txBody>
          <a:bodyPr wrap="square" lIns="0" tIns="0" rIns="0" bIns="0" anchor="t">
            <a:normAutofit/>
          </a:bodyPr>
          <a:lstStyle/>
          <a:p>
            <a:pPr algn="ctr">
              <a:buNone/>
              <a:defRPr sz="1050" b="1" i="0">
                <a:solidFill>
                  <a:srgbClr val="5537D6"/>
                </a:solidFill>
                <a:latin typeface="Consolas"/>
                <a:ea typeface="Consolas"/>
                <a:cs typeface="Consolas"/>
              </a:defRPr>
            </a:pPr>
            <a:r>
              <a:rPr sz="1050" b="1" i="0">
                <a:solidFill>
                  <a:srgbClr val="5537D6"/>
                </a:solidFill>
                <a:latin typeface="Consolas"/>
                <a:ea typeface="Consolas"/>
                <a:cs typeface="Consolas"/>
              </a:rPr>
              <a:t>13–18m</a:t>
            </a:r>
          </a:p>
        </p:txBody>
      </p:sp>
      <p:sp>
        <p:nvSpPr>
          <p:cNvPr id="38" name="Rectangle 37">
            <a:extLst>
              <a:ext uri="{FF2B5EF4-FFF2-40B4-BE49-F238E27FC236}">
                <a16:creationId xmlns:a16="http://schemas.microsoft.com/office/drawing/2014/main" id="{03B78C41-2697-41E4-BF7C-173CAF2A0434}"/>
              </a:ext>
            </a:extLst>
          </p:cNvPr>
          <p:cNvSpPr>
            <a:spLocks noGrp="1"/>
          </p:cNvSpPr>
          <p:nvPr/>
        </p:nvSpPr>
        <p:spPr>
          <a:xfrm>
            <a:off x="9867900" y="2590800"/>
            <a:ext cx="1352550" cy="609600"/>
          </a:xfrm>
          <a:prstGeom prst="rect">
            <a:avLst/>
          </a:prstGeom>
          <a:noFill/>
          <a:ln w="0">
            <a:noFill/>
            <a:prstDash val="solid"/>
          </a:ln>
        </p:spPr>
        <p:txBody>
          <a:bodyPr wrap="square" lIns="0" tIns="0" rIns="0" bIns="0" anchor="ctr">
            <a:normAutofit/>
          </a:bodyPr>
          <a:lstStyle/>
          <a:p>
            <a:pPr algn="ctr">
              <a:buNone/>
              <a:defRPr sz="1725" b="0" i="0">
                <a:solidFill>
                  <a:srgbClr val="111111"/>
                </a:solidFill>
                <a:latin typeface="Georgia"/>
                <a:ea typeface="Georgia"/>
                <a:cs typeface="Georgia"/>
              </a:defRPr>
            </a:pPr>
            <a:r>
              <a:rPr sz="1725" b="0" i="0">
                <a:solidFill>
                  <a:srgbClr val="111111"/>
                </a:solidFill>
                <a:latin typeface="Georgia"/>
                <a:ea typeface="Georgia"/>
                <a:cs typeface="Georgia"/>
              </a:rPr>
              <a:t>Scale</a:t>
            </a:r>
          </a:p>
          <a:p>
            <a:pPr algn="ctr">
              <a:buNone/>
              <a:defRPr sz="1725" b="0" i="0">
                <a:solidFill>
                  <a:srgbClr val="111111"/>
                </a:solidFill>
                <a:latin typeface="Georgia"/>
                <a:ea typeface="Georgia"/>
                <a:cs typeface="Georgia"/>
              </a:defRPr>
            </a:pPr>
            <a:r>
              <a:rPr sz="1725" b="0" i="0">
                <a:solidFill>
                  <a:srgbClr val="111111"/>
                </a:solidFill>
                <a:latin typeface="Georgia"/>
                <a:ea typeface="Georgia"/>
                <a:cs typeface="Georgia"/>
              </a:rPr>
              <a:t>decision</a:t>
            </a:r>
          </a:p>
        </p:txBody>
      </p:sp>
      <p:sp>
        <p:nvSpPr>
          <p:cNvPr id="39" name="Rectangle 38">
            <a:extLst>
              <a:ext uri="{FF2B5EF4-FFF2-40B4-BE49-F238E27FC236}">
                <a16:creationId xmlns:a16="http://schemas.microsoft.com/office/drawing/2014/main" id="{7F6EE68C-24CC-43D6-8383-F9766B9ECEDF}"/>
              </a:ext>
            </a:extLst>
          </p:cNvPr>
          <p:cNvSpPr>
            <a:spLocks noGrp="1"/>
          </p:cNvSpPr>
          <p:nvPr/>
        </p:nvSpPr>
        <p:spPr>
          <a:xfrm>
            <a:off x="9791700" y="4305300"/>
            <a:ext cx="1504950" cy="666750"/>
          </a:xfrm>
          <a:prstGeom prst="rect">
            <a:avLst/>
          </a:prstGeom>
          <a:noFill/>
          <a:ln w="0">
            <a:noFill/>
            <a:prstDash val="solid"/>
          </a:ln>
        </p:spPr>
        <p:txBody>
          <a:bodyPr wrap="square" lIns="0" tIns="0" rIns="0" bIns="0" anchor="t">
            <a:normAutofit/>
          </a:bodyPr>
          <a:lstStyle/>
          <a:p>
            <a:pPr algn="ctr">
              <a:buNone/>
              <a:defRPr sz="1200" b="0" i="0">
                <a:solidFill>
                  <a:srgbClr val="686A66"/>
                </a:solidFill>
                <a:latin typeface="Arial"/>
                <a:ea typeface="Arial"/>
                <a:cs typeface="Arial"/>
              </a:defRPr>
            </a:pPr>
            <a:r>
              <a:rPr sz="1200" b="0" i="0">
                <a:solidFill>
                  <a:srgbClr val="686A66"/>
                </a:solidFill>
                <a:latin typeface="Arial"/>
                <a:ea typeface="Arial"/>
                <a:cs typeface="Arial"/>
              </a:rPr>
              <a:t>scale / narrow / switch / exit</a:t>
            </a:r>
          </a:p>
        </p:txBody>
      </p:sp>
      <p:sp>
        <p:nvSpPr>
          <p:cNvPr id="40" name="Rectangle 39">
            <a:extLst>
              <a:ext uri="{FF2B5EF4-FFF2-40B4-BE49-F238E27FC236}">
                <a16:creationId xmlns:a16="http://schemas.microsoft.com/office/drawing/2014/main" id="{083403D3-6501-4367-B6B9-13EA9CC96883}"/>
              </a:ext>
            </a:extLst>
          </p:cNvPr>
          <p:cNvSpPr>
            <a:spLocks noGrp="1"/>
          </p:cNvSpPr>
          <p:nvPr/>
        </p:nvSpPr>
        <p:spPr>
          <a:xfrm>
            <a:off x="1619250" y="5410200"/>
            <a:ext cx="8953500" cy="457200"/>
          </a:xfrm>
          <a:prstGeom prst="rect">
            <a:avLst/>
          </a:prstGeom>
          <a:solidFill>
            <a:srgbClr val="111111"/>
          </a:solidFill>
          <a:ln w="0">
            <a:noFill/>
            <a:prstDash val="solid"/>
          </a:ln>
        </p:spPr>
        <p:txBody>
          <a:bodyPr/>
          <a:lstStyle/>
          <a:p>
            <a:endParaRPr lang="en-US"/>
          </a:p>
        </p:txBody>
      </p:sp>
      <p:sp>
        <p:nvSpPr>
          <p:cNvPr id="41" name="Rectangle 40">
            <a:extLst>
              <a:ext uri="{FF2B5EF4-FFF2-40B4-BE49-F238E27FC236}">
                <a16:creationId xmlns:a16="http://schemas.microsoft.com/office/drawing/2014/main" id="{86C2321D-2EAF-46F6-A445-8BDCAE2CC6E5}"/>
              </a:ext>
            </a:extLst>
          </p:cNvPr>
          <p:cNvSpPr>
            <a:spLocks noGrp="1"/>
          </p:cNvSpPr>
          <p:nvPr/>
        </p:nvSpPr>
        <p:spPr>
          <a:xfrm>
            <a:off x="1790700" y="5505450"/>
            <a:ext cx="8610600" cy="285750"/>
          </a:xfrm>
          <a:prstGeom prst="rect">
            <a:avLst/>
          </a:prstGeom>
          <a:noFill/>
          <a:ln w="0">
            <a:noFill/>
            <a:prstDash val="solid"/>
          </a:ln>
        </p:spPr>
        <p:txBody>
          <a:bodyPr wrap="square" lIns="0" tIns="0" rIns="0" bIns="0" anchor="t">
            <a:normAutofit/>
          </a:bodyPr>
          <a:lstStyle/>
          <a:p>
            <a:pPr algn="ctr">
              <a:buNone/>
              <a:defRPr sz="1650" b="1" i="0">
                <a:solidFill>
                  <a:srgbClr val="FFFFFF"/>
                </a:solidFill>
                <a:latin typeface="Arial"/>
                <a:ea typeface="Arial"/>
                <a:cs typeface="Arial"/>
              </a:defRPr>
            </a:pPr>
            <a:r>
              <a:rPr sz="1650" b="1" i="0">
                <a:solidFill>
                  <a:srgbClr val="FFFFFF"/>
                </a:solidFill>
                <a:latin typeface="Arial"/>
                <a:ea typeface="Arial"/>
                <a:cs typeface="Arial"/>
              </a:rPr>
              <a:t>Every phase exits on evidence—not elapsed time.</a:t>
            </a:r>
          </a:p>
        </p:txBody>
      </p:sp>
    </p:spTree>
    <p:extLst>
      <p:ext uri="{BB962C8B-B14F-4D97-AF65-F5344CB8AC3E}">
        <p14:creationId xmlns:p14="http://schemas.microsoft.com/office/powerpoint/2010/main" val="173883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63A1A880-42B2-4240-8C81-614EC365C4A0}"/>
              </a:ext>
            </a:extLst>
          </p:cNvPr>
          <p:cNvSpPr>
            <a:spLocks noGrp="1"/>
          </p:cNvSpPr>
          <p:nvPr/>
        </p:nvSpPr>
        <p:spPr>
          <a:xfrm>
            <a:off x="0" y="0"/>
            <a:ext cx="12192000" cy="266700"/>
          </a:xfrm>
          <a:prstGeom prst="rect">
            <a:avLst/>
          </a:prstGeom>
          <a:solidFill>
            <a:srgbClr val="FFC72C"/>
          </a:solidFill>
          <a:ln w="0">
            <a:noFill/>
            <a:prstDash val="solid"/>
          </a:ln>
        </p:spPr>
        <p:txBody>
          <a:bodyPr/>
          <a:lstStyle/>
          <a:p>
            <a:endParaRPr lang="en-US"/>
          </a:p>
        </p:txBody>
      </p:sp>
      <p:sp>
        <p:nvSpPr>
          <p:cNvPr id="2" name="Rectangle 1">
            <a:extLst>
              <a:ext uri="{FF2B5EF4-FFF2-40B4-BE49-F238E27FC236}">
                <a16:creationId xmlns:a16="http://schemas.microsoft.com/office/drawing/2014/main" id="{6CA3BB9C-F970-48B9-8BCA-75C271D01DDD}"/>
              </a:ext>
            </a:extLst>
          </p:cNvPr>
          <p:cNvSpPr>
            <a:spLocks noGrp="1"/>
          </p:cNvSpPr>
          <p:nvPr/>
        </p:nvSpPr>
        <p:spPr>
          <a:xfrm>
            <a:off x="10668000" y="0"/>
            <a:ext cx="1524000" cy="266700"/>
          </a:xfrm>
          <a:prstGeom prst="rect">
            <a:avLst/>
          </a:prstGeom>
          <a:solidFill>
            <a:srgbClr val="5537D6"/>
          </a:solidFill>
          <a:ln w="0">
            <a:noFill/>
            <a:prstDash val="solid"/>
          </a:ln>
        </p:spPr>
        <p:txBody>
          <a:bodyPr/>
          <a:lstStyle/>
          <a:p>
            <a:endParaRPr lang="en-US"/>
          </a:p>
        </p:txBody>
      </p:sp>
      <p:sp>
        <p:nvSpPr>
          <p:cNvPr id="3" name="Rectangle 2">
            <a:extLst>
              <a:ext uri="{FF2B5EF4-FFF2-40B4-BE49-F238E27FC236}">
                <a16:creationId xmlns:a16="http://schemas.microsoft.com/office/drawing/2014/main" id="{F50C9A46-BCD6-487B-B7AB-E161BBB35838}"/>
              </a:ext>
            </a:extLst>
          </p:cNvPr>
          <p:cNvSpPr>
            <a:spLocks noGrp="1"/>
          </p:cNvSpPr>
          <p:nvPr/>
        </p:nvSpPr>
        <p:spPr>
          <a:xfrm>
            <a:off x="609600" y="38100"/>
            <a:ext cx="3429000" cy="190500"/>
          </a:xfrm>
          <a:prstGeom prst="rect">
            <a:avLst/>
          </a:prstGeom>
          <a:noFill/>
          <a:ln w="0">
            <a:noFill/>
            <a:prstDash val="solid"/>
          </a:ln>
        </p:spPr>
        <p:txBody>
          <a:bodyPr wrap="square" lIns="0" tIns="0" rIns="0" bIns="0" anchor="t">
            <a:normAutofit/>
          </a:bodyPr>
          <a:lstStyle/>
          <a:p>
            <a:pPr algn="l">
              <a:buNone/>
              <a:defRPr sz="975" b="1" i="0">
                <a:solidFill>
                  <a:srgbClr val="111111"/>
                </a:solidFill>
                <a:latin typeface="Consolas"/>
                <a:ea typeface="Consolas"/>
                <a:cs typeface="Consolas"/>
              </a:defRPr>
            </a:pPr>
            <a:r>
              <a:rPr sz="975" b="1" i="0">
                <a:solidFill>
                  <a:srgbClr val="111111"/>
                </a:solidFill>
                <a:latin typeface="Consolas"/>
                <a:ea typeface="Consolas"/>
                <a:cs typeface="Consolas"/>
              </a:rPr>
              <a:t>14 / MIGRATION</a:t>
            </a:r>
          </a:p>
        </p:txBody>
      </p:sp>
      <p:sp>
        <p:nvSpPr>
          <p:cNvPr id="4" name="Rectangle 3">
            <a:extLst>
              <a:ext uri="{FF2B5EF4-FFF2-40B4-BE49-F238E27FC236}">
                <a16:creationId xmlns:a16="http://schemas.microsoft.com/office/drawing/2014/main" id="{CD26530F-E24B-4FCA-B8A8-DB734813748A}"/>
              </a:ext>
            </a:extLst>
          </p:cNvPr>
          <p:cNvSpPr>
            <a:spLocks noGrp="1"/>
          </p:cNvSpPr>
          <p:nvPr/>
        </p:nvSpPr>
        <p:spPr>
          <a:xfrm>
            <a:off x="609600" y="428625"/>
            <a:ext cx="10572750" cy="1028700"/>
          </a:xfrm>
          <a:prstGeom prst="rect">
            <a:avLst/>
          </a:prstGeom>
          <a:noFill/>
          <a:ln w="0">
            <a:noFill/>
            <a:prstDash val="solid"/>
          </a:ln>
        </p:spPr>
        <p:txBody>
          <a:bodyPr wrap="square" lIns="0" tIns="0" rIns="0" bIns="0" anchor="t">
            <a:noAutofit/>
          </a:bodyPr>
          <a:lstStyle/>
          <a:p>
            <a:pPr algn="l">
              <a:buNone/>
              <a:defRPr sz="3300" b="1" i="0">
                <a:solidFill>
                  <a:srgbClr val="111111"/>
                </a:solidFill>
                <a:latin typeface="Arial"/>
                <a:ea typeface="Arial"/>
                <a:cs typeface="Arial"/>
              </a:defRPr>
            </a:pPr>
            <a:r>
              <a:rPr sz="3300" b="1" i="0">
                <a:solidFill>
                  <a:srgbClr val="111111"/>
                </a:solidFill>
                <a:latin typeface="Arial"/>
                <a:ea typeface="Arial"/>
                <a:cs typeface="Arial"/>
              </a:rPr>
              <a:t>Move responsibilities—not Mule packages</a:t>
            </a:r>
          </a:p>
        </p:txBody>
      </p:sp>
      <p:sp>
        <p:nvSpPr>
          <p:cNvPr id="5" name="Rectangle 4">
            <a:extLst>
              <a:ext uri="{FF2B5EF4-FFF2-40B4-BE49-F238E27FC236}">
                <a16:creationId xmlns:a16="http://schemas.microsoft.com/office/drawing/2014/main" id="{2634C78F-F297-45B3-8ED5-FE7D14B74DCE}"/>
              </a:ext>
            </a:extLst>
          </p:cNvPr>
          <p:cNvSpPr>
            <a:spLocks noGrp="1"/>
          </p:cNvSpPr>
          <p:nvPr/>
        </p:nvSpPr>
        <p:spPr>
          <a:xfrm>
            <a:off x="628650" y="1514475"/>
            <a:ext cx="10382250" cy="323850"/>
          </a:xfrm>
          <a:prstGeom prst="rect">
            <a:avLst/>
          </a:prstGeom>
          <a:noFill/>
          <a:ln w="0">
            <a:noFill/>
            <a:prstDash val="solid"/>
          </a:ln>
        </p:spPr>
        <p:txBody>
          <a:bodyPr wrap="square" lIns="0" tIns="0" rIns="0" bIns="0" anchor="t">
            <a:noAutofit/>
          </a:bodyPr>
          <a:lstStyle/>
          <a:p>
            <a:pPr algn="l">
              <a:buNone/>
              <a:defRPr sz="1575" b="0" i="0">
                <a:solidFill>
                  <a:srgbClr val="686A66"/>
                </a:solidFill>
                <a:latin typeface="Arial"/>
                <a:ea typeface="Arial"/>
                <a:cs typeface="Arial"/>
              </a:defRPr>
            </a:pPr>
            <a:r>
              <a:rPr sz="1575" b="0" i="0">
                <a:solidFill>
                  <a:srgbClr val="686A66"/>
                </a:solidFill>
                <a:latin typeface="Arial"/>
                <a:ea typeface="Arial"/>
                <a:cs typeface="Arial"/>
              </a:rPr>
              <a:t>Decompose gateway, facade, transformation, orchestration, batch, connector and retirement duties.</a:t>
            </a:r>
          </a:p>
        </p:txBody>
      </p:sp>
      <p:sp>
        <p:nvSpPr>
          <p:cNvPr id="6" name="Rectangle 5">
            <a:extLst>
              <a:ext uri="{FF2B5EF4-FFF2-40B4-BE49-F238E27FC236}">
                <a16:creationId xmlns:a16="http://schemas.microsoft.com/office/drawing/2014/main" id="{07778F16-C4EA-4DDB-B374-049C3853959E}"/>
              </a:ext>
            </a:extLst>
          </p:cNvPr>
          <p:cNvSpPr>
            <a:spLocks noGrp="1"/>
          </p:cNvSpPr>
          <p:nvPr/>
        </p:nvSpPr>
        <p:spPr>
          <a:xfrm>
            <a:off x="609600" y="1905000"/>
            <a:ext cx="10972800" cy="9525"/>
          </a:xfrm>
          <a:prstGeom prst="rect">
            <a:avLst/>
          </a:prstGeom>
          <a:solidFill>
            <a:srgbClr val="8A8B86"/>
          </a:solidFill>
          <a:ln w="0">
            <a:noFill/>
            <a:prstDash val="solid"/>
          </a:ln>
        </p:spPr>
        <p:txBody>
          <a:bodyPr/>
          <a:lstStyle/>
          <a:p>
            <a:endParaRPr lang="en-US"/>
          </a:p>
        </p:txBody>
      </p:sp>
      <p:sp>
        <p:nvSpPr>
          <p:cNvPr id="7" name="Rectangle 6">
            <a:extLst>
              <a:ext uri="{FF2B5EF4-FFF2-40B4-BE49-F238E27FC236}">
                <a16:creationId xmlns:a16="http://schemas.microsoft.com/office/drawing/2014/main" id="{B5A91ACB-79E6-4C5F-BA16-4355A571FDB8}"/>
              </a:ext>
            </a:extLst>
          </p:cNvPr>
          <p:cNvSpPr>
            <a:spLocks noGrp="1"/>
          </p:cNvSpPr>
          <p:nvPr/>
        </p:nvSpPr>
        <p:spPr>
          <a:xfrm>
            <a:off x="609600" y="6524625"/>
            <a:ext cx="8858250" cy="180975"/>
          </a:xfrm>
          <a:prstGeom prst="rect">
            <a:avLst/>
          </a:prstGeom>
          <a:noFill/>
          <a:ln w="0">
            <a:noFill/>
            <a:prstDash val="solid"/>
          </a:ln>
        </p:spPr>
        <p:txBody>
          <a:bodyPr wrap="square" lIns="0" tIns="0" rIns="0" bIns="0" anchor="ctr">
            <a:normAutofit/>
          </a:bodyPr>
          <a:lstStyle/>
          <a:p>
            <a:pPr>
              <a:buNone/>
              <a:defRPr sz="825">
                <a:solidFill>
                  <a:srgbClr val="666762"/>
                </a:solidFill>
              </a:defRPr>
            </a:pPr>
            <a:r>
              <a:rPr sz="825" b="1">
                <a:solidFill>
                  <a:srgbClr val="666762"/>
                </a:solidFill>
              </a:rPr>
              <a:t>REFERENCES  </a:t>
            </a:r>
            <a:r>
              <a:rPr sz="825" u="sng">
                <a:solidFill>
                  <a:srgbClr val="666762"/>
                </a:solidFill>
                <a:hlinkClick r:id="rId3"/>
              </a:rPr>
              <a:t>Repo reference</a:t>
            </a:r>
            <a:r>
              <a:rPr sz="825">
                <a:solidFill>
                  <a:srgbClr val="666762"/>
                </a:solidFill>
              </a:rPr>
              <a:t>  ·  </a:t>
            </a:r>
            <a:r>
              <a:rPr sz="825" u="sng">
                <a:solidFill>
                  <a:srgbClr val="666762"/>
                </a:solidFill>
                <a:hlinkClick r:id="rId4"/>
              </a:rPr>
              <a:t>Official docs</a:t>
            </a:r>
          </a:p>
        </p:txBody>
      </p:sp>
      <p:sp>
        <p:nvSpPr>
          <p:cNvPr id="8" name="Rectangle 7">
            <a:extLst>
              <a:ext uri="{FF2B5EF4-FFF2-40B4-BE49-F238E27FC236}">
                <a16:creationId xmlns:a16="http://schemas.microsoft.com/office/drawing/2014/main" id="{01357F1B-6B35-4095-B51B-3331FBBF5DAF}"/>
              </a:ext>
            </a:extLst>
          </p:cNvPr>
          <p:cNvSpPr>
            <a:spLocks noGrp="1"/>
          </p:cNvSpPr>
          <p:nvPr/>
        </p:nvSpPr>
        <p:spPr>
          <a:xfrm>
            <a:off x="10287000" y="6486525"/>
            <a:ext cx="1295400" cy="209550"/>
          </a:xfrm>
          <a:prstGeom prst="rect">
            <a:avLst/>
          </a:prstGeom>
          <a:noFill/>
          <a:ln w="0">
            <a:noFill/>
            <a:prstDash val="solid"/>
          </a:ln>
        </p:spPr>
        <p:txBody>
          <a:bodyPr wrap="square" lIns="0" tIns="0" rIns="0" bIns="0" anchor="t">
            <a:normAutofit/>
          </a:bodyPr>
          <a:lstStyle/>
          <a:p>
            <a:pPr algn="r">
              <a:buNone/>
              <a:defRPr sz="975" b="1" i="0">
                <a:solidFill>
                  <a:srgbClr val="686A66"/>
                </a:solidFill>
                <a:latin typeface="Consolas"/>
                <a:ea typeface="Consolas"/>
                <a:cs typeface="Consolas"/>
              </a:defRPr>
            </a:pPr>
            <a:r>
              <a:rPr sz="975" b="1" i="0">
                <a:solidFill>
                  <a:srgbClr val="686A66"/>
                </a:solidFill>
                <a:latin typeface="Consolas"/>
                <a:ea typeface="Consolas"/>
                <a:cs typeface="Consolas"/>
              </a:rPr>
              <a:t>14 / 25</a:t>
            </a:r>
          </a:p>
        </p:txBody>
      </p:sp>
      <p:sp>
        <p:nvSpPr>
          <p:cNvPr id="9" name="Rounded Rectangle 8">
            <a:extLst>
              <a:ext uri="{FF2B5EF4-FFF2-40B4-BE49-F238E27FC236}">
                <a16:creationId xmlns:a16="http://schemas.microsoft.com/office/drawing/2014/main" id="{4F450649-D764-456C-98B2-0C3473B15082}"/>
              </a:ext>
            </a:extLst>
          </p:cNvPr>
          <p:cNvSpPr>
            <a:spLocks noGrp="1"/>
          </p:cNvSpPr>
          <p:nvPr/>
        </p:nvSpPr>
        <p:spPr>
          <a:xfrm>
            <a:off x="685800" y="2809875"/>
            <a:ext cx="2381250" cy="1428750"/>
          </a:xfrm>
          <a:prstGeom prst="roundRect">
            <a:avLst>
              <a:gd name="adj" fmla="val 5333"/>
            </a:avLst>
          </a:prstGeom>
          <a:solidFill>
            <a:srgbClr val="FFFFFF"/>
          </a:solidFill>
          <a:ln w="14288">
            <a:solidFill>
              <a:srgbClr val="FFC72C"/>
            </a:solidFill>
            <a:prstDash val="solid"/>
          </a:ln>
        </p:spPr>
        <p:txBody>
          <a:bodyPr/>
          <a:lstStyle/>
          <a:p>
            <a:endParaRPr lang="en-US"/>
          </a:p>
        </p:txBody>
      </p:sp>
      <p:sp>
        <p:nvSpPr>
          <p:cNvPr id="10" name="Rectangle 9">
            <a:extLst>
              <a:ext uri="{FF2B5EF4-FFF2-40B4-BE49-F238E27FC236}">
                <a16:creationId xmlns:a16="http://schemas.microsoft.com/office/drawing/2014/main" id="{F48D3E9C-5067-40EF-8B6D-54335778E7C3}"/>
              </a:ext>
            </a:extLst>
          </p:cNvPr>
          <p:cNvSpPr>
            <a:spLocks noGrp="1"/>
          </p:cNvSpPr>
          <p:nvPr/>
        </p:nvSpPr>
        <p:spPr>
          <a:xfrm>
            <a:off x="838200" y="2943225"/>
            <a:ext cx="2076450" cy="400050"/>
          </a:xfrm>
          <a:prstGeom prst="rect">
            <a:avLst/>
          </a:prstGeom>
          <a:noFill/>
          <a:ln w="0">
            <a:noFill/>
            <a:prstDash val="solid"/>
          </a:ln>
        </p:spPr>
        <p:txBody>
          <a:bodyPr wrap="square" lIns="0" tIns="0" rIns="0" bIns="0" anchor="t">
            <a:normAutofit/>
          </a:bodyPr>
          <a:lstStyle/>
          <a:p>
            <a:pPr algn="ctr">
              <a:buNone/>
              <a:defRPr sz="1650" b="1" i="0">
                <a:solidFill>
                  <a:srgbClr val="111111"/>
                </a:solidFill>
                <a:latin typeface="Arial"/>
                <a:ea typeface="Arial"/>
                <a:cs typeface="Arial"/>
              </a:defRPr>
            </a:pPr>
            <a:r>
              <a:rPr sz="1650" b="1" i="0">
                <a:solidFill>
                  <a:srgbClr val="111111"/>
                </a:solidFill>
                <a:latin typeface="Arial"/>
                <a:ea typeface="Arial"/>
                <a:cs typeface="Arial"/>
              </a:rPr>
              <a:t>Mule estate unit</a:t>
            </a:r>
          </a:p>
        </p:txBody>
      </p:sp>
      <p:sp>
        <p:nvSpPr>
          <p:cNvPr id="11" name="Rectangle 10">
            <a:extLst>
              <a:ext uri="{FF2B5EF4-FFF2-40B4-BE49-F238E27FC236}">
                <a16:creationId xmlns:a16="http://schemas.microsoft.com/office/drawing/2014/main" id="{1549F0D5-3AA7-420F-93EC-4088FD9ED042}"/>
              </a:ext>
            </a:extLst>
          </p:cNvPr>
          <p:cNvSpPr>
            <a:spLocks noGrp="1"/>
          </p:cNvSpPr>
          <p:nvPr/>
        </p:nvSpPr>
        <p:spPr>
          <a:xfrm>
            <a:off x="819150" y="3343275"/>
            <a:ext cx="2114550" cy="800100"/>
          </a:xfrm>
          <a:prstGeom prst="rect">
            <a:avLst/>
          </a:prstGeom>
          <a:noFill/>
          <a:ln w="0">
            <a:noFill/>
            <a:prstDash val="solid"/>
          </a:ln>
        </p:spPr>
        <p:txBody>
          <a:bodyPr wrap="square" lIns="0" tIns="0" rIns="0" bIns="0" anchor="t">
            <a:normAutofit/>
          </a:bodyPr>
          <a:lstStyle/>
          <a:p>
            <a:pPr algn="ctr">
              <a:buNone/>
              <a:defRPr sz="1125" b="0" i="0">
                <a:solidFill>
                  <a:srgbClr val="686A66"/>
                </a:solidFill>
                <a:latin typeface="Arial"/>
                <a:ea typeface="Arial"/>
                <a:cs typeface="Arial"/>
              </a:defRPr>
            </a:pPr>
            <a:r>
              <a:rPr sz="1125" b="0" i="0">
                <a:solidFill>
                  <a:srgbClr val="686A66"/>
                </a:solidFill>
                <a:latin typeface="Arial"/>
                <a:ea typeface="Arial"/>
                <a:cs typeface="Arial"/>
              </a:rPr>
              <a:t>policy + facade + mapping + orchestration + connector + state</a:t>
            </a:r>
          </a:p>
        </p:txBody>
      </p:sp>
      <p:sp>
        <p:nvSpPr>
          <p:cNvPr id="12" name="Rounded Rectangle 11">
            <a:extLst>
              <a:ext uri="{FF2B5EF4-FFF2-40B4-BE49-F238E27FC236}">
                <a16:creationId xmlns:a16="http://schemas.microsoft.com/office/drawing/2014/main" id="{86493D52-1817-44AD-8547-1C79E9DBB257}"/>
              </a:ext>
            </a:extLst>
          </p:cNvPr>
          <p:cNvSpPr>
            <a:spLocks noGrp="1"/>
          </p:cNvSpPr>
          <p:nvPr/>
        </p:nvSpPr>
        <p:spPr>
          <a:xfrm>
            <a:off x="4095750" y="2286000"/>
            <a:ext cx="1562100" cy="1066800"/>
          </a:xfrm>
          <a:prstGeom prst="roundRect">
            <a:avLst>
              <a:gd name="adj" fmla="val 7143"/>
            </a:avLst>
          </a:prstGeom>
          <a:solidFill>
            <a:srgbClr val="FFFFFF"/>
          </a:solidFill>
          <a:ln w="14288">
            <a:solidFill>
              <a:srgbClr val="FFC72C"/>
            </a:solidFill>
            <a:prstDash val="solid"/>
          </a:ln>
        </p:spPr>
        <p:txBody>
          <a:bodyPr/>
          <a:lstStyle/>
          <a:p>
            <a:endParaRPr lang="en-US"/>
          </a:p>
        </p:txBody>
      </p:sp>
      <p:sp>
        <p:nvSpPr>
          <p:cNvPr id="13" name="Rectangle 12">
            <a:extLst>
              <a:ext uri="{FF2B5EF4-FFF2-40B4-BE49-F238E27FC236}">
                <a16:creationId xmlns:a16="http://schemas.microsoft.com/office/drawing/2014/main" id="{C7B38D6A-4D27-411E-AA26-4B8369B6F07B}"/>
              </a:ext>
            </a:extLst>
          </p:cNvPr>
          <p:cNvSpPr>
            <a:spLocks noGrp="1"/>
          </p:cNvSpPr>
          <p:nvPr/>
        </p:nvSpPr>
        <p:spPr>
          <a:xfrm>
            <a:off x="4248150" y="2419350"/>
            <a:ext cx="1257300" cy="400050"/>
          </a:xfrm>
          <a:prstGeom prst="rect">
            <a:avLst/>
          </a:prstGeom>
          <a:noFill/>
          <a:ln w="0">
            <a:noFill/>
            <a:prstDash val="solid"/>
          </a:ln>
        </p:spPr>
        <p:txBody>
          <a:bodyPr wrap="square" lIns="0" tIns="0" rIns="0" bIns="0" anchor="t">
            <a:normAutofit fontScale="97222"/>
          </a:bodyPr>
          <a:lstStyle/>
          <a:p>
            <a:pPr algn="ctr">
              <a:buNone/>
              <a:defRPr sz="1350" b="1" i="0">
                <a:solidFill>
                  <a:srgbClr val="111111"/>
                </a:solidFill>
                <a:latin typeface="Arial"/>
                <a:ea typeface="Arial"/>
                <a:cs typeface="Arial"/>
              </a:defRPr>
            </a:pPr>
            <a:r>
              <a:rPr sz="1350" b="1" i="0">
                <a:solidFill>
                  <a:srgbClr val="111111"/>
                </a:solidFill>
                <a:latin typeface="Arial"/>
                <a:ea typeface="Arial"/>
                <a:cs typeface="Arial"/>
              </a:rPr>
              <a:t>G · Gateway policy</a:t>
            </a:r>
          </a:p>
        </p:txBody>
      </p:sp>
      <p:sp>
        <p:nvSpPr>
          <p:cNvPr id="14" name="Rectangle 13">
            <a:extLst>
              <a:ext uri="{FF2B5EF4-FFF2-40B4-BE49-F238E27FC236}">
                <a16:creationId xmlns:a16="http://schemas.microsoft.com/office/drawing/2014/main" id="{5F0D0D70-C940-4875-91EC-6E1F29618C21}"/>
              </a:ext>
            </a:extLst>
          </p:cNvPr>
          <p:cNvSpPr>
            <a:spLocks noGrp="1"/>
          </p:cNvSpPr>
          <p:nvPr/>
        </p:nvSpPr>
        <p:spPr>
          <a:xfrm>
            <a:off x="4229100" y="2819400"/>
            <a:ext cx="1295400" cy="438150"/>
          </a:xfrm>
          <a:prstGeom prst="rect">
            <a:avLst/>
          </a:prstGeom>
          <a:noFill/>
          <a:ln w="0">
            <a:noFill/>
            <a:prstDash val="solid"/>
          </a:ln>
        </p:spPr>
        <p:txBody>
          <a:bodyPr wrap="square" lIns="0" tIns="0" rIns="0" bIns="0" anchor="t">
            <a:normAutofit/>
          </a:bodyPr>
          <a:lstStyle/>
          <a:p>
            <a:pPr algn="ctr">
              <a:buNone/>
              <a:defRPr sz="1125" b="0" i="0">
                <a:solidFill>
                  <a:srgbClr val="686A66"/>
                </a:solidFill>
                <a:latin typeface="Arial"/>
                <a:ea typeface="Arial"/>
                <a:cs typeface="Arial"/>
              </a:defRPr>
            </a:pPr>
            <a:r>
              <a:rPr sz="1125" b="0" i="0">
                <a:solidFill>
                  <a:srgbClr val="686A66"/>
                </a:solidFill>
                <a:latin typeface="Arial"/>
                <a:ea typeface="Arial"/>
                <a:cs typeface="Arial"/>
              </a:rPr>
              <a:t>Kong</a:t>
            </a:r>
          </a:p>
        </p:txBody>
      </p:sp>
      <p:sp>
        <p:nvSpPr>
          <p:cNvPr id="15" name="Rounded Rectangle 14">
            <a:extLst>
              <a:ext uri="{FF2B5EF4-FFF2-40B4-BE49-F238E27FC236}">
                <a16:creationId xmlns:a16="http://schemas.microsoft.com/office/drawing/2014/main" id="{D36E5374-DD34-42C8-B040-EFAE2CFC62E0}"/>
              </a:ext>
            </a:extLst>
          </p:cNvPr>
          <p:cNvSpPr>
            <a:spLocks noGrp="1"/>
          </p:cNvSpPr>
          <p:nvPr/>
        </p:nvSpPr>
        <p:spPr>
          <a:xfrm>
            <a:off x="5886450" y="2286000"/>
            <a:ext cx="1562100" cy="1066800"/>
          </a:xfrm>
          <a:prstGeom prst="roundRect">
            <a:avLst>
              <a:gd name="adj" fmla="val 7143"/>
            </a:avLst>
          </a:prstGeom>
          <a:solidFill>
            <a:srgbClr val="FFFFFF"/>
          </a:solidFill>
          <a:ln w="14288">
            <a:solidFill>
              <a:srgbClr val="A96300"/>
            </a:solidFill>
            <a:prstDash val="solid"/>
          </a:ln>
        </p:spPr>
        <p:txBody>
          <a:bodyPr/>
          <a:lstStyle/>
          <a:p>
            <a:endParaRPr lang="en-US"/>
          </a:p>
        </p:txBody>
      </p:sp>
      <p:sp>
        <p:nvSpPr>
          <p:cNvPr id="16" name="Rectangle 15">
            <a:extLst>
              <a:ext uri="{FF2B5EF4-FFF2-40B4-BE49-F238E27FC236}">
                <a16:creationId xmlns:a16="http://schemas.microsoft.com/office/drawing/2014/main" id="{3AD4F31A-908B-4725-A1CA-5D79D3E2A552}"/>
              </a:ext>
            </a:extLst>
          </p:cNvPr>
          <p:cNvSpPr>
            <a:spLocks noGrp="1"/>
          </p:cNvSpPr>
          <p:nvPr/>
        </p:nvSpPr>
        <p:spPr>
          <a:xfrm>
            <a:off x="6038850" y="2419350"/>
            <a:ext cx="1257300" cy="400050"/>
          </a:xfrm>
          <a:prstGeom prst="rect">
            <a:avLst/>
          </a:prstGeom>
          <a:noFill/>
          <a:ln w="0">
            <a:noFill/>
            <a:prstDash val="solid"/>
          </a:ln>
        </p:spPr>
        <p:txBody>
          <a:bodyPr wrap="square" lIns="0" tIns="0" rIns="0" bIns="0" anchor="t">
            <a:normAutofit/>
          </a:bodyPr>
          <a:lstStyle/>
          <a:p>
            <a:pPr algn="ctr">
              <a:buNone/>
              <a:defRPr sz="1350" b="1" i="0">
                <a:solidFill>
                  <a:srgbClr val="111111"/>
                </a:solidFill>
                <a:latin typeface="Arial"/>
                <a:ea typeface="Arial"/>
                <a:cs typeface="Arial"/>
              </a:defRPr>
            </a:pPr>
            <a:r>
              <a:rPr sz="1350" b="1" i="0">
                <a:solidFill>
                  <a:srgbClr val="111111"/>
                </a:solidFill>
                <a:latin typeface="Arial"/>
                <a:ea typeface="Arial"/>
                <a:cs typeface="Arial"/>
              </a:rPr>
              <a:t>F · Thin facade</a:t>
            </a:r>
          </a:p>
        </p:txBody>
      </p:sp>
      <p:sp>
        <p:nvSpPr>
          <p:cNvPr id="17" name="Rectangle 16">
            <a:extLst>
              <a:ext uri="{FF2B5EF4-FFF2-40B4-BE49-F238E27FC236}">
                <a16:creationId xmlns:a16="http://schemas.microsoft.com/office/drawing/2014/main" id="{27228589-C11D-45AC-98D4-31F3AE960FF9}"/>
              </a:ext>
            </a:extLst>
          </p:cNvPr>
          <p:cNvSpPr>
            <a:spLocks noGrp="1"/>
          </p:cNvSpPr>
          <p:nvPr/>
        </p:nvSpPr>
        <p:spPr>
          <a:xfrm>
            <a:off x="6019800" y="2819400"/>
            <a:ext cx="1295400" cy="438150"/>
          </a:xfrm>
          <a:prstGeom prst="rect">
            <a:avLst/>
          </a:prstGeom>
          <a:noFill/>
          <a:ln w="0">
            <a:noFill/>
            <a:prstDash val="solid"/>
          </a:ln>
        </p:spPr>
        <p:txBody>
          <a:bodyPr wrap="square" lIns="0" tIns="0" rIns="0" bIns="0" anchor="t">
            <a:normAutofit/>
          </a:bodyPr>
          <a:lstStyle/>
          <a:p>
            <a:pPr algn="ctr">
              <a:buNone/>
              <a:defRPr sz="1125" b="0" i="0">
                <a:solidFill>
                  <a:srgbClr val="686A66"/>
                </a:solidFill>
                <a:latin typeface="Arial"/>
                <a:ea typeface="Arial"/>
                <a:cs typeface="Arial"/>
              </a:defRPr>
            </a:pPr>
            <a:r>
              <a:rPr sz="1125" b="0" i="0">
                <a:solidFill>
                  <a:srgbClr val="686A66"/>
                </a:solidFill>
                <a:latin typeface="Arial"/>
                <a:ea typeface="Arial"/>
                <a:cs typeface="Arial"/>
              </a:rPr>
              <a:t>gateway or owned service</a:t>
            </a:r>
          </a:p>
        </p:txBody>
      </p:sp>
      <p:sp>
        <p:nvSpPr>
          <p:cNvPr id="18" name="Rounded Rectangle 17">
            <a:extLst>
              <a:ext uri="{FF2B5EF4-FFF2-40B4-BE49-F238E27FC236}">
                <a16:creationId xmlns:a16="http://schemas.microsoft.com/office/drawing/2014/main" id="{714F41F6-6AF1-4305-BFA9-9FCF637160E6}"/>
              </a:ext>
            </a:extLst>
          </p:cNvPr>
          <p:cNvSpPr>
            <a:spLocks noGrp="1"/>
          </p:cNvSpPr>
          <p:nvPr/>
        </p:nvSpPr>
        <p:spPr>
          <a:xfrm>
            <a:off x="7677150" y="2286000"/>
            <a:ext cx="1562100" cy="1066800"/>
          </a:xfrm>
          <a:prstGeom prst="roundRect">
            <a:avLst>
              <a:gd name="adj" fmla="val 7143"/>
            </a:avLst>
          </a:prstGeom>
          <a:solidFill>
            <a:srgbClr val="FFFFFF"/>
          </a:solidFill>
          <a:ln w="14288">
            <a:solidFill>
              <a:srgbClr val="111111"/>
            </a:solidFill>
            <a:prstDash val="solid"/>
          </a:ln>
        </p:spPr>
        <p:txBody>
          <a:bodyPr/>
          <a:lstStyle/>
          <a:p>
            <a:endParaRPr lang="en-US"/>
          </a:p>
        </p:txBody>
      </p:sp>
      <p:sp>
        <p:nvSpPr>
          <p:cNvPr id="19" name="Rectangle 18">
            <a:extLst>
              <a:ext uri="{FF2B5EF4-FFF2-40B4-BE49-F238E27FC236}">
                <a16:creationId xmlns:a16="http://schemas.microsoft.com/office/drawing/2014/main" id="{CD4CFFC9-9B40-402D-9836-6E8340BF8C76}"/>
              </a:ext>
            </a:extLst>
          </p:cNvPr>
          <p:cNvSpPr>
            <a:spLocks noGrp="1"/>
          </p:cNvSpPr>
          <p:nvPr/>
        </p:nvSpPr>
        <p:spPr>
          <a:xfrm>
            <a:off x="7829550" y="2419350"/>
            <a:ext cx="1257300" cy="400050"/>
          </a:xfrm>
          <a:prstGeom prst="rect">
            <a:avLst/>
          </a:prstGeom>
          <a:noFill/>
          <a:ln w="0">
            <a:noFill/>
            <a:prstDash val="solid"/>
          </a:ln>
        </p:spPr>
        <p:txBody>
          <a:bodyPr wrap="square" lIns="0" tIns="0" rIns="0" bIns="0" anchor="t">
            <a:normAutofit fontScale="97222"/>
          </a:bodyPr>
          <a:lstStyle/>
          <a:p>
            <a:pPr algn="ctr">
              <a:buNone/>
              <a:defRPr sz="1350" b="1" i="0">
                <a:solidFill>
                  <a:srgbClr val="111111"/>
                </a:solidFill>
                <a:latin typeface="Arial"/>
                <a:ea typeface="Arial"/>
                <a:cs typeface="Arial"/>
              </a:defRPr>
            </a:pPr>
            <a:r>
              <a:rPr sz="1350" b="1" i="0">
                <a:solidFill>
                  <a:srgbClr val="111111"/>
                </a:solidFill>
                <a:latin typeface="Arial"/>
                <a:ea typeface="Arial"/>
                <a:cs typeface="Arial"/>
              </a:rPr>
              <a:t>T · Transformation</a:t>
            </a:r>
          </a:p>
        </p:txBody>
      </p:sp>
      <p:sp>
        <p:nvSpPr>
          <p:cNvPr id="20" name="Rectangle 19">
            <a:extLst>
              <a:ext uri="{FF2B5EF4-FFF2-40B4-BE49-F238E27FC236}">
                <a16:creationId xmlns:a16="http://schemas.microsoft.com/office/drawing/2014/main" id="{CD2EF8F9-8B23-421D-BC9E-425B6B881C6A}"/>
              </a:ext>
            </a:extLst>
          </p:cNvPr>
          <p:cNvSpPr>
            <a:spLocks noGrp="1"/>
          </p:cNvSpPr>
          <p:nvPr/>
        </p:nvSpPr>
        <p:spPr>
          <a:xfrm>
            <a:off x="7810500" y="2819400"/>
            <a:ext cx="1295400" cy="438150"/>
          </a:xfrm>
          <a:prstGeom prst="rect">
            <a:avLst/>
          </a:prstGeom>
          <a:noFill/>
          <a:ln w="0">
            <a:noFill/>
            <a:prstDash val="solid"/>
          </a:ln>
        </p:spPr>
        <p:txBody>
          <a:bodyPr wrap="square" lIns="0" tIns="0" rIns="0" bIns="0" anchor="t">
            <a:normAutofit/>
          </a:bodyPr>
          <a:lstStyle/>
          <a:p>
            <a:pPr algn="ctr">
              <a:buNone/>
              <a:defRPr sz="1125" b="0" i="0">
                <a:solidFill>
                  <a:srgbClr val="686A66"/>
                </a:solidFill>
                <a:latin typeface="Arial"/>
                <a:ea typeface="Arial"/>
                <a:cs typeface="Arial"/>
              </a:defRPr>
            </a:pPr>
            <a:r>
              <a:rPr sz="1125" b="0" i="0">
                <a:solidFill>
                  <a:srgbClr val="686A66"/>
                </a:solidFill>
                <a:latin typeface="Arial"/>
                <a:ea typeface="Arial"/>
                <a:cs typeface="Arial"/>
              </a:rPr>
              <a:t>owned platform / service</a:t>
            </a:r>
          </a:p>
        </p:txBody>
      </p:sp>
      <p:sp>
        <p:nvSpPr>
          <p:cNvPr id="21" name="Rounded Rectangle 20">
            <a:extLst>
              <a:ext uri="{FF2B5EF4-FFF2-40B4-BE49-F238E27FC236}">
                <a16:creationId xmlns:a16="http://schemas.microsoft.com/office/drawing/2014/main" id="{279FD8F0-EBF7-4F30-BE67-74E903FFBA38}"/>
              </a:ext>
            </a:extLst>
          </p:cNvPr>
          <p:cNvSpPr>
            <a:spLocks noGrp="1"/>
          </p:cNvSpPr>
          <p:nvPr/>
        </p:nvSpPr>
        <p:spPr>
          <a:xfrm>
            <a:off x="9467850" y="2286000"/>
            <a:ext cx="1562100" cy="1066800"/>
          </a:xfrm>
          <a:prstGeom prst="roundRect">
            <a:avLst>
              <a:gd name="adj" fmla="val 7143"/>
            </a:avLst>
          </a:prstGeom>
          <a:solidFill>
            <a:srgbClr val="FFFFFF"/>
          </a:solidFill>
          <a:ln w="14288">
            <a:solidFill>
              <a:srgbClr val="111111"/>
            </a:solidFill>
            <a:prstDash val="solid"/>
          </a:ln>
        </p:spPr>
        <p:txBody>
          <a:bodyPr/>
          <a:lstStyle/>
          <a:p>
            <a:endParaRPr lang="en-US"/>
          </a:p>
        </p:txBody>
      </p:sp>
      <p:sp>
        <p:nvSpPr>
          <p:cNvPr id="22" name="Rectangle 21">
            <a:extLst>
              <a:ext uri="{FF2B5EF4-FFF2-40B4-BE49-F238E27FC236}">
                <a16:creationId xmlns:a16="http://schemas.microsoft.com/office/drawing/2014/main" id="{E86E3BC3-C7A5-4B5A-AAAF-42946AA96F42}"/>
              </a:ext>
            </a:extLst>
          </p:cNvPr>
          <p:cNvSpPr>
            <a:spLocks noGrp="1"/>
          </p:cNvSpPr>
          <p:nvPr/>
        </p:nvSpPr>
        <p:spPr>
          <a:xfrm>
            <a:off x="9620250" y="2419350"/>
            <a:ext cx="1257300" cy="400050"/>
          </a:xfrm>
          <a:prstGeom prst="rect">
            <a:avLst/>
          </a:prstGeom>
          <a:noFill/>
          <a:ln w="0">
            <a:noFill/>
            <a:prstDash val="solid"/>
          </a:ln>
        </p:spPr>
        <p:txBody>
          <a:bodyPr wrap="square" lIns="0" tIns="0" rIns="0" bIns="0" anchor="t">
            <a:normAutofit fontScale="97222"/>
          </a:bodyPr>
          <a:lstStyle/>
          <a:p>
            <a:pPr algn="ctr">
              <a:buNone/>
              <a:defRPr sz="1350" b="1" i="0">
                <a:solidFill>
                  <a:srgbClr val="111111"/>
                </a:solidFill>
                <a:latin typeface="Arial"/>
                <a:ea typeface="Arial"/>
                <a:cs typeface="Arial"/>
              </a:defRPr>
            </a:pPr>
            <a:r>
              <a:rPr sz="1350" b="1" i="0">
                <a:solidFill>
                  <a:srgbClr val="111111"/>
                </a:solidFill>
                <a:latin typeface="Arial"/>
                <a:ea typeface="Arial"/>
                <a:cs typeface="Arial"/>
              </a:rPr>
              <a:t>O · Orchestration</a:t>
            </a:r>
          </a:p>
        </p:txBody>
      </p:sp>
      <p:sp>
        <p:nvSpPr>
          <p:cNvPr id="23" name="Rectangle 22">
            <a:extLst>
              <a:ext uri="{FF2B5EF4-FFF2-40B4-BE49-F238E27FC236}">
                <a16:creationId xmlns:a16="http://schemas.microsoft.com/office/drawing/2014/main" id="{D48823FF-675C-47AE-9321-F5D5414C6FAD}"/>
              </a:ext>
            </a:extLst>
          </p:cNvPr>
          <p:cNvSpPr>
            <a:spLocks noGrp="1"/>
          </p:cNvSpPr>
          <p:nvPr/>
        </p:nvSpPr>
        <p:spPr>
          <a:xfrm>
            <a:off x="9601200" y="2819400"/>
            <a:ext cx="1295400" cy="438150"/>
          </a:xfrm>
          <a:prstGeom prst="rect">
            <a:avLst/>
          </a:prstGeom>
          <a:noFill/>
          <a:ln w="0">
            <a:noFill/>
            <a:prstDash val="solid"/>
          </a:ln>
        </p:spPr>
        <p:txBody>
          <a:bodyPr wrap="square" lIns="0" tIns="0" rIns="0" bIns="0" anchor="t">
            <a:normAutofit/>
          </a:bodyPr>
          <a:lstStyle/>
          <a:p>
            <a:pPr algn="ctr">
              <a:buNone/>
              <a:defRPr sz="1125" b="0" i="0">
                <a:solidFill>
                  <a:srgbClr val="686A66"/>
                </a:solidFill>
                <a:latin typeface="Arial"/>
                <a:ea typeface="Arial"/>
                <a:cs typeface="Arial"/>
              </a:defRPr>
            </a:pPr>
            <a:r>
              <a:rPr sz="1125" b="0" i="0">
                <a:solidFill>
                  <a:srgbClr val="686A66"/>
                </a:solidFill>
                <a:latin typeface="Arial"/>
                <a:ea typeface="Arial"/>
                <a:cs typeface="Arial"/>
              </a:rPr>
              <a:t>owned platform / service</a:t>
            </a:r>
          </a:p>
        </p:txBody>
      </p:sp>
      <p:sp>
        <p:nvSpPr>
          <p:cNvPr id="24" name="Rounded Rectangle 23">
            <a:extLst>
              <a:ext uri="{FF2B5EF4-FFF2-40B4-BE49-F238E27FC236}">
                <a16:creationId xmlns:a16="http://schemas.microsoft.com/office/drawing/2014/main" id="{CA826FC9-89E3-4FD5-8C57-8604F6DE05BC}"/>
              </a:ext>
            </a:extLst>
          </p:cNvPr>
          <p:cNvSpPr>
            <a:spLocks noGrp="1"/>
          </p:cNvSpPr>
          <p:nvPr/>
        </p:nvSpPr>
        <p:spPr>
          <a:xfrm>
            <a:off x="4095750" y="3981450"/>
            <a:ext cx="1562100" cy="1066800"/>
          </a:xfrm>
          <a:prstGeom prst="roundRect">
            <a:avLst>
              <a:gd name="adj" fmla="val 7143"/>
            </a:avLst>
          </a:prstGeom>
          <a:solidFill>
            <a:srgbClr val="FFFFFF"/>
          </a:solidFill>
          <a:ln w="14288">
            <a:solidFill>
              <a:srgbClr val="111111"/>
            </a:solidFill>
            <a:prstDash val="solid"/>
          </a:ln>
        </p:spPr>
        <p:txBody>
          <a:bodyPr/>
          <a:lstStyle/>
          <a:p>
            <a:endParaRPr lang="en-US"/>
          </a:p>
        </p:txBody>
      </p:sp>
      <p:sp>
        <p:nvSpPr>
          <p:cNvPr id="25" name="Rectangle 24">
            <a:extLst>
              <a:ext uri="{FF2B5EF4-FFF2-40B4-BE49-F238E27FC236}">
                <a16:creationId xmlns:a16="http://schemas.microsoft.com/office/drawing/2014/main" id="{765A5C26-8108-4188-A4BC-8703B2E4BB38}"/>
              </a:ext>
            </a:extLst>
          </p:cNvPr>
          <p:cNvSpPr>
            <a:spLocks noGrp="1"/>
          </p:cNvSpPr>
          <p:nvPr/>
        </p:nvSpPr>
        <p:spPr>
          <a:xfrm>
            <a:off x="4248150" y="4114800"/>
            <a:ext cx="1257300" cy="400050"/>
          </a:xfrm>
          <a:prstGeom prst="rect">
            <a:avLst/>
          </a:prstGeom>
          <a:noFill/>
          <a:ln w="0">
            <a:noFill/>
            <a:prstDash val="solid"/>
          </a:ln>
        </p:spPr>
        <p:txBody>
          <a:bodyPr wrap="square" lIns="0" tIns="0" rIns="0" bIns="0" anchor="t">
            <a:normAutofit fontScale="97222"/>
          </a:bodyPr>
          <a:lstStyle/>
          <a:p>
            <a:pPr algn="ctr">
              <a:buNone/>
              <a:defRPr sz="1350" b="1" i="0">
                <a:solidFill>
                  <a:srgbClr val="111111"/>
                </a:solidFill>
                <a:latin typeface="Arial"/>
                <a:ea typeface="Arial"/>
                <a:cs typeface="Arial"/>
              </a:defRPr>
            </a:pPr>
            <a:r>
              <a:rPr sz="1350" b="1" i="0">
                <a:solidFill>
                  <a:srgbClr val="111111"/>
                </a:solidFill>
                <a:latin typeface="Arial"/>
                <a:ea typeface="Arial"/>
                <a:cs typeface="Arial"/>
              </a:rPr>
              <a:t>M · Messaging / state</a:t>
            </a:r>
          </a:p>
        </p:txBody>
      </p:sp>
      <p:sp>
        <p:nvSpPr>
          <p:cNvPr id="26" name="Rectangle 25">
            <a:extLst>
              <a:ext uri="{FF2B5EF4-FFF2-40B4-BE49-F238E27FC236}">
                <a16:creationId xmlns:a16="http://schemas.microsoft.com/office/drawing/2014/main" id="{FF78B29B-3951-4612-A6C7-288085983ADC}"/>
              </a:ext>
            </a:extLst>
          </p:cNvPr>
          <p:cNvSpPr>
            <a:spLocks noGrp="1"/>
          </p:cNvSpPr>
          <p:nvPr/>
        </p:nvSpPr>
        <p:spPr>
          <a:xfrm>
            <a:off x="4229100" y="4514850"/>
            <a:ext cx="1295400" cy="438150"/>
          </a:xfrm>
          <a:prstGeom prst="rect">
            <a:avLst/>
          </a:prstGeom>
          <a:noFill/>
          <a:ln w="0">
            <a:noFill/>
            <a:prstDash val="solid"/>
          </a:ln>
        </p:spPr>
        <p:txBody>
          <a:bodyPr wrap="square" lIns="0" tIns="0" rIns="0" bIns="0" anchor="t">
            <a:normAutofit/>
          </a:bodyPr>
          <a:lstStyle/>
          <a:p>
            <a:pPr algn="ctr">
              <a:buNone/>
              <a:defRPr sz="1125" b="0" i="0">
                <a:solidFill>
                  <a:srgbClr val="686A66"/>
                </a:solidFill>
                <a:latin typeface="Arial"/>
                <a:ea typeface="Arial"/>
                <a:cs typeface="Arial"/>
              </a:defRPr>
            </a:pPr>
            <a:r>
              <a:rPr sz="1125" b="0" i="0">
                <a:solidFill>
                  <a:srgbClr val="686A66"/>
                </a:solidFill>
                <a:latin typeface="Arial"/>
                <a:ea typeface="Arial"/>
                <a:cs typeface="Arial"/>
              </a:rPr>
              <a:t>owned platform / service</a:t>
            </a:r>
          </a:p>
        </p:txBody>
      </p:sp>
      <p:sp>
        <p:nvSpPr>
          <p:cNvPr id="27" name="Rounded Rectangle 26">
            <a:extLst>
              <a:ext uri="{FF2B5EF4-FFF2-40B4-BE49-F238E27FC236}">
                <a16:creationId xmlns:a16="http://schemas.microsoft.com/office/drawing/2014/main" id="{005E4646-31FE-4ACF-AD41-4BAD3DE4D697}"/>
              </a:ext>
            </a:extLst>
          </p:cNvPr>
          <p:cNvSpPr>
            <a:spLocks noGrp="1"/>
          </p:cNvSpPr>
          <p:nvPr/>
        </p:nvSpPr>
        <p:spPr>
          <a:xfrm>
            <a:off x="5886450" y="3981450"/>
            <a:ext cx="1562100" cy="1066800"/>
          </a:xfrm>
          <a:prstGeom prst="roundRect">
            <a:avLst>
              <a:gd name="adj" fmla="val 7143"/>
            </a:avLst>
          </a:prstGeom>
          <a:solidFill>
            <a:srgbClr val="FFFFFF"/>
          </a:solidFill>
          <a:ln w="14288">
            <a:solidFill>
              <a:srgbClr val="111111"/>
            </a:solidFill>
            <a:prstDash val="solid"/>
          </a:ln>
        </p:spPr>
        <p:txBody>
          <a:bodyPr/>
          <a:lstStyle/>
          <a:p>
            <a:endParaRPr lang="en-US"/>
          </a:p>
        </p:txBody>
      </p:sp>
      <p:sp>
        <p:nvSpPr>
          <p:cNvPr id="28" name="Rectangle 27">
            <a:extLst>
              <a:ext uri="{FF2B5EF4-FFF2-40B4-BE49-F238E27FC236}">
                <a16:creationId xmlns:a16="http://schemas.microsoft.com/office/drawing/2014/main" id="{0A381827-ED81-4052-B398-E55ECF52965F}"/>
              </a:ext>
            </a:extLst>
          </p:cNvPr>
          <p:cNvSpPr>
            <a:spLocks noGrp="1"/>
          </p:cNvSpPr>
          <p:nvPr/>
        </p:nvSpPr>
        <p:spPr>
          <a:xfrm>
            <a:off x="6038850" y="4114800"/>
            <a:ext cx="1257300" cy="400050"/>
          </a:xfrm>
          <a:prstGeom prst="rect">
            <a:avLst/>
          </a:prstGeom>
          <a:noFill/>
          <a:ln w="0">
            <a:noFill/>
            <a:prstDash val="solid"/>
          </a:ln>
        </p:spPr>
        <p:txBody>
          <a:bodyPr wrap="square" lIns="0" tIns="0" rIns="0" bIns="0" anchor="t">
            <a:normAutofit/>
          </a:bodyPr>
          <a:lstStyle/>
          <a:p>
            <a:pPr algn="ctr">
              <a:buNone/>
              <a:defRPr sz="1350" b="1" i="0">
                <a:solidFill>
                  <a:srgbClr val="111111"/>
                </a:solidFill>
                <a:latin typeface="Arial"/>
                <a:ea typeface="Arial"/>
                <a:cs typeface="Arial"/>
              </a:defRPr>
            </a:pPr>
            <a:r>
              <a:rPr sz="1350" b="1" i="0">
                <a:solidFill>
                  <a:srgbClr val="111111"/>
                </a:solidFill>
                <a:latin typeface="Arial"/>
                <a:ea typeface="Arial"/>
                <a:cs typeface="Arial"/>
              </a:rPr>
              <a:t>B · Batch</a:t>
            </a:r>
          </a:p>
        </p:txBody>
      </p:sp>
      <p:sp>
        <p:nvSpPr>
          <p:cNvPr id="29" name="Rectangle 28">
            <a:extLst>
              <a:ext uri="{FF2B5EF4-FFF2-40B4-BE49-F238E27FC236}">
                <a16:creationId xmlns:a16="http://schemas.microsoft.com/office/drawing/2014/main" id="{6C8551B1-4569-447B-B8E1-D0DDE291C76B}"/>
              </a:ext>
            </a:extLst>
          </p:cNvPr>
          <p:cNvSpPr>
            <a:spLocks noGrp="1"/>
          </p:cNvSpPr>
          <p:nvPr/>
        </p:nvSpPr>
        <p:spPr>
          <a:xfrm>
            <a:off x="6019800" y="4514850"/>
            <a:ext cx="1295400" cy="438150"/>
          </a:xfrm>
          <a:prstGeom prst="rect">
            <a:avLst/>
          </a:prstGeom>
          <a:noFill/>
          <a:ln w="0">
            <a:noFill/>
            <a:prstDash val="solid"/>
          </a:ln>
        </p:spPr>
        <p:txBody>
          <a:bodyPr wrap="square" lIns="0" tIns="0" rIns="0" bIns="0" anchor="t">
            <a:normAutofit/>
          </a:bodyPr>
          <a:lstStyle/>
          <a:p>
            <a:pPr algn="ctr">
              <a:buNone/>
              <a:defRPr sz="1125" b="0" i="0">
                <a:solidFill>
                  <a:srgbClr val="686A66"/>
                </a:solidFill>
                <a:latin typeface="Arial"/>
                <a:ea typeface="Arial"/>
                <a:cs typeface="Arial"/>
              </a:defRPr>
            </a:pPr>
            <a:r>
              <a:rPr sz="1125" b="0" i="0">
                <a:solidFill>
                  <a:srgbClr val="686A66"/>
                </a:solidFill>
                <a:latin typeface="Arial"/>
                <a:ea typeface="Arial"/>
                <a:cs typeface="Arial"/>
              </a:rPr>
              <a:t>owned platform / service</a:t>
            </a:r>
          </a:p>
        </p:txBody>
      </p:sp>
      <p:sp>
        <p:nvSpPr>
          <p:cNvPr id="30" name="Rounded Rectangle 29">
            <a:extLst>
              <a:ext uri="{FF2B5EF4-FFF2-40B4-BE49-F238E27FC236}">
                <a16:creationId xmlns:a16="http://schemas.microsoft.com/office/drawing/2014/main" id="{BF9E7A39-B01A-4C47-B02A-CAE6C26C8F45}"/>
              </a:ext>
            </a:extLst>
          </p:cNvPr>
          <p:cNvSpPr>
            <a:spLocks noGrp="1"/>
          </p:cNvSpPr>
          <p:nvPr/>
        </p:nvSpPr>
        <p:spPr>
          <a:xfrm>
            <a:off x="7677150" y="3981450"/>
            <a:ext cx="1562100" cy="1066800"/>
          </a:xfrm>
          <a:prstGeom prst="roundRect">
            <a:avLst>
              <a:gd name="adj" fmla="val 7143"/>
            </a:avLst>
          </a:prstGeom>
          <a:solidFill>
            <a:srgbClr val="FFFFFF"/>
          </a:solidFill>
          <a:ln w="14288">
            <a:solidFill>
              <a:srgbClr val="111111"/>
            </a:solidFill>
            <a:prstDash val="solid"/>
          </a:ln>
        </p:spPr>
        <p:txBody>
          <a:bodyPr/>
          <a:lstStyle/>
          <a:p>
            <a:endParaRPr lang="en-US"/>
          </a:p>
        </p:txBody>
      </p:sp>
      <p:sp>
        <p:nvSpPr>
          <p:cNvPr id="31" name="Rectangle 30">
            <a:extLst>
              <a:ext uri="{FF2B5EF4-FFF2-40B4-BE49-F238E27FC236}">
                <a16:creationId xmlns:a16="http://schemas.microsoft.com/office/drawing/2014/main" id="{0160DBCB-314F-4B43-ACCD-6A294635DB2F}"/>
              </a:ext>
            </a:extLst>
          </p:cNvPr>
          <p:cNvSpPr>
            <a:spLocks noGrp="1"/>
          </p:cNvSpPr>
          <p:nvPr/>
        </p:nvSpPr>
        <p:spPr>
          <a:xfrm>
            <a:off x="7829550" y="4114800"/>
            <a:ext cx="1257300" cy="400050"/>
          </a:xfrm>
          <a:prstGeom prst="rect">
            <a:avLst/>
          </a:prstGeom>
          <a:noFill/>
          <a:ln w="0">
            <a:noFill/>
            <a:prstDash val="solid"/>
          </a:ln>
        </p:spPr>
        <p:txBody>
          <a:bodyPr wrap="square" lIns="0" tIns="0" rIns="0" bIns="0" anchor="t">
            <a:normAutofit/>
          </a:bodyPr>
          <a:lstStyle/>
          <a:p>
            <a:pPr algn="ctr">
              <a:buNone/>
              <a:defRPr sz="1350" b="1" i="0">
                <a:solidFill>
                  <a:srgbClr val="111111"/>
                </a:solidFill>
                <a:latin typeface="Arial"/>
                <a:ea typeface="Arial"/>
                <a:cs typeface="Arial"/>
              </a:defRPr>
            </a:pPr>
            <a:r>
              <a:rPr sz="1350" b="1" i="0">
                <a:solidFill>
                  <a:srgbClr val="111111"/>
                </a:solidFill>
                <a:latin typeface="Arial"/>
                <a:ea typeface="Arial"/>
                <a:cs typeface="Arial"/>
              </a:rPr>
              <a:t>C · Connector</a:t>
            </a:r>
          </a:p>
        </p:txBody>
      </p:sp>
      <p:sp>
        <p:nvSpPr>
          <p:cNvPr id="32" name="Rectangle 31">
            <a:extLst>
              <a:ext uri="{FF2B5EF4-FFF2-40B4-BE49-F238E27FC236}">
                <a16:creationId xmlns:a16="http://schemas.microsoft.com/office/drawing/2014/main" id="{9B8B7670-3583-4362-BDE5-FAE4219B821C}"/>
              </a:ext>
            </a:extLst>
          </p:cNvPr>
          <p:cNvSpPr>
            <a:spLocks noGrp="1"/>
          </p:cNvSpPr>
          <p:nvPr/>
        </p:nvSpPr>
        <p:spPr>
          <a:xfrm>
            <a:off x="7810500" y="4514850"/>
            <a:ext cx="1295400" cy="438150"/>
          </a:xfrm>
          <a:prstGeom prst="rect">
            <a:avLst/>
          </a:prstGeom>
          <a:noFill/>
          <a:ln w="0">
            <a:noFill/>
            <a:prstDash val="solid"/>
          </a:ln>
        </p:spPr>
        <p:txBody>
          <a:bodyPr wrap="square" lIns="0" tIns="0" rIns="0" bIns="0" anchor="t">
            <a:normAutofit/>
          </a:bodyPr>
          <a:lstStyle/>
          <a:p>
            <a:pPr algn="ctr">
              <a:buNone/>
              <a:defRPr sz="1125" b="0" i="0">
                <a:solidFill>
                  <a:srgbClr val="686A66"/>
                </a:solidFill>
                <a:latin typeface="Arial"/>
                <a:ea typeface="Arial"/>
                <a:cs typeface="Arial"/>
              </a:defRPr>
            </a:pPr>
            <a:r>
              <a:rPr sz="1125" b="0" i="0">
                <a:solidFill>
                  <a:srgbClr val="686A66"/>
                </a:solidFill>
                <a:latin typeface="Arial"/>
                <a:ea typeface="Arial"/>
                <a:cs typeface="Arial"/>
              </a:rPr>
              <a:t>owned platform / service</a:t>
            </a:r>
          </a:p>
        </p:txBody>
      </p:sp>
      <p:sp>
        <p:nvSpPr>
          <p:cNvPr id="33" name="Rounded Rectangle 32">
            <a:extLst>
              <a:ext uri="{FF2B5EF4-FFF2-40B4-BE49-F238E27FC236}">
                <a16:creationId xmlns:a16="http://schemas.microsoft.com/office/drawing/2014/main" id="{44A550F2-166A-4767-A6EE-43B497A1D653}"/>
              </a:ext>
            </a:extLst>
          </p:cNvPr>
          <p:cNvSpPr>
            <a:spLocks noGrp="1"/>
          </p:cNvSpPr>
          <p:nvPr/>
        </p:nvSpPr>
        <p:spPr>
          <a:xfrm>
            <a:off x="9467850" y="3981450"/>
            <a:ext cx="1562100" cy="1066800"/>
          </a:xfrm>
          <a:prstGeom prst="roundRect">
            <a:avLst>
              <a:gd name="adj" fmla="val 7143"/>
            </a:avLst>
          </a:prstGeom>
          <a:solidFill>
            <a:srgbClr val="FFFFFF"/>
          </a:solidFill>
          <a:ln w="14288">
            <a:solidFill>
              <a:srgbClr val="197457"/>
            </a:solidFill>
            <a:prstDash val="solid"/>
          </a:ln>
        </p:spPr>
        <p:txBody>
          <a:bodyPr/>
          <a:lstStyle/>
          <a:p>
            <a:endParaRPr lang="en-US"/>
          </a:p>
        </p:txBody>
      </p:sp>
      <p:sp>
        <p:nvSpPr>
          <p:cNvPr id="34" name="Rectangle 33">
            <a:extLst>
              <a:ext uri="{FF2B5EF4-FFF2-40B4-BE49-F238E27FC236}">
                <a16:creationId xmlns:a16="http://schemas.microsoft.com/office/drawing/2014/main" id="{8D0F432A-1B4E-45B5-BD50-5445DAC0331F}"/>
              </a:ext>
            </a:extLst>
          </p:cNvPr>
          <p:cNvSpPr>
            <a:spLocks noGrp="1"/>
          </p:cNvSpPr>
          <p:nvPr/>
        </p:nvSpPr>
        <p:spPr>
          <a:xfrm>
            <a:off x="9620250" y="4114800"/>
            <a:ext cx="1257300" cy="400050"/>
          </a:xfrm>
          <a:prstGeom prst="rect">
            <a:avLst/>
          </a:prstGeom>
          <a:noFill/>
          <a:ln w="0">
            <a:noFill/>
            <a:prstDash val="solid"/>
          </a:ln>
        </p:spPr>
        <p:txBody>
          <a:bodyPr wrap="square" lIns="0" tIns="0" rIns="0" bIns="0" anchor="t">
            <a:normAutofit fontScale="97222"/>
          </a:bodyPr>
          <a:lstStyle/>
          <a:p>
            <a:pPr algn="ctr">
              <a:buNone/>
              <a:defRPr sz="1350" b="1" i="0">
                <a:solidFill>
                  <a:srgbClr val="111111"/>
                </a:solidFill>
                <a:latin typeface="Arial"/>
                <a:ea typeface="Arial"/>
                <a:cs typeface="Arial"/>
              </a:defRPr>
            </a:pPr>
            <a:r>
              <a:rPr sz="1350" b="1" i="0">
                <a:solidFill>
                  <a:srgbClr val="111111"/>
                </a:solidFill>
                <a:latin typeface="Arial"/>
                <a:ea typeface="Arial"/>
                <a:cs typeface="Arial"/>
              </a:rPr>
              <a:t>R · Retire after proof</a:t>
            </a:r>
          </a:p>
        </p:txBody>
      </p:sp>
      <p:sp>
        <p:nvSpPr>
          <p:cNvPr id="35" name="Rectangle 34">
            <a:extLst>
              <a:ext uri="{FF2B5EF4-FFF2-40B4-BE49-F238E27FC236}">
                <a16:creationId xmlns:a16="http://schemas.microsoft.com/office/drawing/2014/main" id="{D815DAEE-F491-4130-A9B3-197AB9250230}"/>
              </a:ext>
            </a:extLst>
          </p:cNvPr>
          <p:cNvSpPr>
            <a:spLocks noGrp="1"/>
          </p:cNvSpPr>
          <p:nvPr/>
        </p:nvSpPr>
        <p:spPr>
          <a:xfrm>
            <a:off x="9601200" y="4514850"/>
            <a:ext cx="1295400" cy="438150"/>
          </a:xfrm>
          <a:prstGeom prst="rect">
            <a:avLst/>
          </a:prstGeom>
          <a:noFill/>
          <a:ln w="0">
            <a:noFill/>
            <a:prstDash val="solid"/>
          </a:ln>
        </p:spPr>
        <p:txBody>
          <a:bodyPr wrap="square" lIns="0" tIns="0" rIns="0" bIns="0" anchor="t">
            <a:normAutofit/>
          </a:bodyPr>
          <a:lstStyle/>
          <a:p>
            <a:pPr algn="ctr">
              <a:buNone/>
              <a:defRPr sz="1125" b="0" i="0">
                <a:solidFill>
                  <a:srgbClr val="686A66"/>
                </a:solidFill>
                <a:latin typeface="Arial"/>
                <a:ea typeface="Arial"/>
                <a:cs typeface="Arial"/>
              </a:defRPr>
            </a:pPr>
            <a:r>
              <a:rPr sz="1125" b="0" i="0">
                <a:solidFill>
                  <a:srgbClr val="686A66"/>
                </a:solidFill>
                <a:latin typeface="Arial"/>
                <a:ea typeface="Arial"/>
                <a:cs typeface="Arial"/>
              </a:rPr>
              <a:t>evidence-gated</a:t>
            </a:r>
          </a:p>
        </p:txBody>
      </p:sp>
      <p:sp>
        <p:nvSpPr>
          <p:cNvPr id="36" name="Chevron 35">
            <a:extLst>
              <a:ext uri="{FF2B5EF4-FFF2-40B4-BE49-F238E27FC236}">
                <a16:creationId xmlns:a16="http://schemas.microsoft.com/office/drawing/2014/main" id="{180DA062-A33C-4018-9D72-C5DEEA0C653E}"/>
              </a:ext>
            </a:extLst>
          </p:cNvPr>
          <p:cNvSpPr>
            <a:spLocks noGrp="1"/>
          </p:cNvSpPr>
          <p:nvPr/>
        </p:nvSpPr>
        <p:spPr>
          <a:xfrm>
            <a:off x="3333750" y="3238500"/>
            <a:ext cx="514350" cy="533400"/>
          </a:xfrm>
          <a:prstGeom prst="chevron">
            <a:avLst/>
          </a:prstGeom>
          <a:solidFill>
            <a:srgbClr val="FFC72C"/>
          </a:solidFill>
          <a:ln w="0">
            <a:noFill/>
            <a:prstDash val="solid"/>
          </a:ln>
        </p:spPr>
        <p:txBody>
          <a:bodyPr/>
          <a:lstStyle/>
          <a:p>
            <a:endParaRPr lang="en-US"/>
          </a:p>
        </p:txBody>
      </p:sp>
      <p:sp>
        <p:nvSpPr>
          <p:cNvPr id="37" name="Rectangle 36">
            <a:extLst>
              <a:ext uri="{FF2B5EF4-FFF2-40B4-BE49-F238E27FC236}">
                <a16:creationId xmlns:a16="http://schemas.microsoft.com/office/drawing/2014/main" id="{FDC24E81-279B-4DA2-8A7A-BBCCF23DBAFD}"/>
              </a:ext>
            </a:extLst>
          </p:cNvPr>
          <p:cNvSpPr>
            <a:spLocks noGrp="1"/>
          </p:cNvSpPr>
          <p:nvPr/>
        </p:nvSpPr>
        <p:spPr>
          <a:xfrm>
            <a:off x="3143250" y="3905250"/>
            <a:ext cx="914400" cy="209550"/>
          </a:xfrm>
          <a:prstGeom prst="rect">
            <a:avLst/>
          </a:prstGeom>
          <a:noFill/>
          <a:ln w="0">
            <a:noFill/>
            <a:prstDash val="solid"/>
          </a:ln>
        </p:spPr>
        <p:txBody>
          <a:bodyPr wrap="square" lIns="0" tIns="0" rIns="0" bIns="0" anchor="t">
            <a:normAutofit/>
          </a:bodyPr>
          <a:lstStyle/>
          <a:p>
            <a:pPr algn="ctr">
              <a:buNone/>
              <a:defRPr sz="975" b="1" i="0">
                <a:solidFill>
                  <a:srgbClr val="5537D6"/>
                </a:solidFill>
                <a:latin typeface="Consolas"/>
                <a:ea typeface="Consolas"/>
                <a:cs typeface="Consolas"/>
              </a:defRPr>
            </a:pPr>
            <a:r>
              <a:rPr sz="975" b="1" i="0">
                <a:solidFill>
                  <a:srgbClr val="5537D6"/>
                </a:solidFill>
                <a:latin typeface="Consolas"/>
                <a:ea typeface="Consolas"/>
                <a:cs typeface="Consolas"/>
              </a:rPr>
              <a:t>DECOMPOSE</a:t>
            </a:r>
          </a:p>
        </p:txBody>
      </p:sp>
      <p:sp>
        <p:nvSpPr>
          <p:cNvPr id="38" name="Rectangle 37">
            <a:extLst>
              <a:ext uri="{FF2B5EF4-FFF2-40B4-BE49-F238E27FC236}">
                <a16:creationId xmlns:a16="http://schemas.microsoft.com/office/drawing/2014/main" id="{E6EB4CCC-F4FE-42BF-BC65-A088267C7F18}"/>
              </a:ext>
            </a:extLst>
          </p:cNvPr>
          <p:cNvSpPr>
            <a:spLocks noGrp="1"/>
          </p:cNvSpPr>
          <p:nvPr/>
        </p:nvSpPr>
        <p:spPr>
          <a:xfrm>
            <a:off x="2476500" y="5810250"/>
            <a:ext cx="8953500" cy="285750"/>
          </a:xfrm>
          <a:prstGeom prst="rect">
            <a:avLst/>
          </a:prstGeom>
          <a:noFill/>
          <a:ln w="0">
            <a:noFill/>
            <a:prstDash val="solid"/>
          </a:ln>
        </p:spPr>
        <p:txBody>
          <a:bodyPr wrap="square" lIns="0" tIns="0" rIns="0" bIns="0" anchor="t">
            <a:normAutofit/>
          </a:bodyPr>
          <a:lstStyle/>
          <a:p>
            <a:pPr algn="ctr">
              <a:buNone/>
              <a:defRPr sz="1425" b="0" i="0">
                <a:solidFill>
                  <a:srgbClr val="111111"/>
                </a:solidFill>
                <a:latin typeface="Georgia"/>
                <a:ea typeface="Georgia"/>
                <a:cs typeface="Georgia"/>
              </a:defRPr>
            </a:pPr>
            <a:r>
              <a:rPr sz="1425" b="0" i="0">
                <a:solidFill>
                  <a:srgbClr val="111111"/>
                </a:solidFill>
                <a:latin typeface="Georgia"/>
                <a:ea typeface="Georgia"/>
                <a:cs typeface="Georgia"/>
              </a:rPr>
              <a:t>Keep F at the edge only while it remains thin; otherwise move logic to an owned service.</a:t>
            </a:r>
          </a:p>
        </p:txBody>
      </p:sp>
    </p:spTree>
    <p:extLst>
      <p:ext uri="{BB962C8B-B14F-4D97-AF65-F5344CB8AC3E}">
        <p14:creationId xmlns:p14="http://schemas.microsoft.com/office/powerpoint/2010/main" val="1976377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3411453F-FD67-4F31-BE00-A8FA470FFB04}"/>
              </a:ext>
            </a:extLst>
          </p:cNvPr>
          <p:cNvSpPr>
            <a:spLocks noGrp="1"/>
          </p:cNvSpPr>
          <p:nvPr/>
        </p:nvSpPr>
        <p:spPr>
          <a:xfrm>
            <a:off x="0" y="0"/>
            <a:ext cx="12192000" cy="266700"/>
          </a:xfrm>
          <a:prstGeom prst="rect">
            <a:avLst/>
          </a:prstGeom>
          <a:solidFill>
            <a:srgbClr val="FFC72C"/>
          </a:solidFill>
          <a:ln w="0">
            <a:noFill/>
            <a:prstDash val="solid"/>
          </a:ln>
        </p:spPr>
        <p:txBody>
          <a:bodyPr/>
          <a:lstStyle/>
          <a:p>
            <a:endParaRPr lang="en-US"/>
          </a:p>
        </p:txBody>
      </p:sp>
      <p:sp>
        <p:nvSpPr>
          <p:cNvPr id="2" name="Rectangle 1">
            <a:extLst>
              <a:ext uri="{FF2B5EF4-FFF2-40B4-BE49-F238E27FC236}">
                <a16:creationId xmlns:a16="http://schemas.microsoft.com/office/drawing/2014/main" id="{B8EEBF07-37C2-4709-AA30-315D9AFC3374}"/>
              </a:ext>
            </a:extLst>
          </p:cNvPr>
          <p:cNvSpPr>
            <a:spLocks noGrp="1"/>
          </p:cNvSpPr>
          <p:nvPr/>
        </p:nvSpPr>
        <p:spPr>
          <a:xfrm>
            <a:off x="10668000" y="0"/>
            <a:ext cx="1524000" cy="266700"/>
          </a:xfrm>
          <a:prstGeom prst="rect">
            <a:avLst/>
          </a:prstGeom>
          <a:solidFill>
            <a:srgbClr val="5537D6"/>
          </a:solidFill>
          <a:ln w="0">
            <a:noFill/>
            <a:prstDash val="solid"/>
          </a:ln>
        </p:spPr>
        <p:txBody>
          <a:bodyPr/>
          <a:lstStyle/>
          <a:p>
            <a:endParaRPr lang="en-US"/>
          </a:p>
        </p:txBody>
      </p:sp>
      <p:sp>
        <p:nvSpPr>
          <p:cNvPr id="3" name="Rectangle 2">
            <a:extLst>
              <a:ext uri="{FF2B5EF4-FFF2-40B4-BE49-F238E27FC236}">
                <a16:creationId xmlns:a16="http://schemas.microsoft.com/office/drawing/2014/main" id="{E811627A-7972-4F50-A97A-16985495933C}"/>
              </a:ext>
            </a:extLst>
          </p:cNvPr>
          <p:cNvSpPr>
            <a:spLocks noGrp="1"/>
          </p:cNvSpPr>
          <p:nvPr/>
        </p:nvSpPr>
        <p:spPr>
          <a:xfrm>
            <a:off x="609600" y="38100"/>
            <a:ext cx="3429000" cy="190500"/>
          </a:xfrm>
          <a:prstGeom prst="rect">
            <a:avLst/>
          </a:prstGeom>
          <a:noFill/>
          <a:ln w="0">
            <a:noFill/>
            <a:prstDash val="solid"/>
          </a:ln>
        </p:spPr>
        <p:txBody>
          <a:bodyPr wrap="square" lIns="0" tIns="0" rIns="0" bIns="0" anchor="t">
            <a:normAutofit/>
          </a:bodyPr>
          <a:lstStyle/>
          <a:p>
            <a:pPr algn="l">
              <a:buNone/>
              <a:defRPr sz="975" b="1" i="0">
                <a:solidFill>
                  <a:srgbClr val="111111"/>
                </a:solidFill>
                <a:latin typeface="Consolas"/>
                <a:ea typeface="Consolas"/>
                <a:cs typeface="Consolas"/>
              </a:defRPr>
            </a:pPr>
            <a:r>
              <a:rPr sz="975" b="1" i="0">
                <a:solidFill>
                  <a:srgbClr val="111111"/>
                </a:solidFill>
                <a:latin typeface="Consolas"/>
                <a:ea typeface="Consolas"/>
                <a:cs typeface="Consolas"/>
              </a:rPr>
              <a:t>15 / MIGRATION</a:t>
            </a:r>
          </a:p>
        </p:txBody>
      </p:sp>
      <p:sp>
        <p:nvSpPr>
          <p:cNvPr id="4" name="Rectangle 3">
            <a:extLst>
              <a:ext uri="{FF2B5EF4-FFF2-40B4-BE49-F238E27FC236}">
                <a16:creationId xmlns:a16="http://schemas.microsoft.com/office/drawing/2014/main" id="{15ED21F7-713A-4E44-95DE-7574A4B21769}"/>
              </a:ext>
            </a:extLst>
          </p:cNvPr>
          <p:cNvSpPr>
            <a:spLocks noGrp="1"/>
          </p:cNvSpPr>
          <p:nvPr/>
        </p:nvSpPr>
        <p:spPr>
          <a:xfrm>
            <a:off x="609600" y="428625"/>
            <a:ext cx="10572750" cy="1028700"/>
          </a:xfrm>
          <a:prstGeom prst="rect">
            <a:avLst/>
          </a:prstGeom>
          <a:noFill/>
          <a:ln w="0">
            <a:noFill/>
            <a:prstDash val="solid"/>
          </a:ln>
        </p:spPr>
        <p:txBody>
          <a:bodyPr wrap="square" lIns="0" tIns="0" rIns="0" bIns="0" anchor="t">
            <a:noAutofit/>
          </a:bodyPr>
          <a:lstStyle/>
          <a:p>
            <a:pPr algn="l">
              <a:buNone/>
              <a:defRPr sz="3300" b="1" i="0">
                <a:solidFill>
                  <a:srgbClr val="111111"/>
                </a:solidFill>
                <a:latin typeface="Arial"/>
                <a:ea typeface="Arial"/>
                <a:cs typeface="Arial"/>
              </a:defRPr>
            </a:pPr>
            <a:r>
              <a:rPr sz="3300" b="1" i="0">
                <a:solidFill>
                  <a:srgbClr val="111111"/>
                </a:solidFill>
                <a:latin typeface="Arial"/>
                <a:ea typeface="Arial"/>
                <a:cs typeface="Arial"/>
              </a:rPr>
              <a:t>Keep the API edge stable while old and new runtimes coexist</a:t>
            </a:r>
          </a:p>
        </p:txBody>
      </p:sp>
      <p:sp>
        <p:nvSpPr>
          <p:cNvPr id="5" name="Rectangle 4">
            <a:extLst>
              <a:ext uri="{FF2B5EF4-FFF2-40B4-BE49-F238E27FC236}">
                <a16:creationId xmlns:a16="http://schemas.microsoft.com/office/drawing/2014/main" id="{98AE9B19-FF2E-4FE4-98AC-1337FC28E3AB}"/>
              </a:ext>
            </a:extLst>
          </p:cNvPr>
          <p:cNvSpPr>
            <a:spLocks noGrp="1"/>
          </p:cNvSpPr>
          <p:nvPr/>
        </p:nvSpPr>
        <p:spPr>
          <a:xfrm>
            <a:off x="628650" y="1514475"/>
            <a:ext cx="10382250" cy="323850"/>
          </a:xfrm>
          <a:prstGeom prst="rect">
            <a:avLst/>
          </a:prstGeom>
          <a:noFill/>
          <a:ln w="0">
            <a:noFill/>
            <a:prstDash val="solid"/>
          </a:ln>
        </p:spPr>
        <p:txBody>
          <a:bodyPr wrap="square" lIns="0" tIns="0" rIns="0" bIns="0" anchor="t">
            <a:noAutofit/>
          </a:bodyPr>
          <a:lstStyle/>
          <a:p>
            <a:pPr algn="l">
              <a:buNone/>
              <a:defRPr sz="1575" b="0" i="0">
                <a:solidFill>
                  <a:srgbClr val="686A66"/>
                </a:solidFill>
                <a:latin typeface="Arial"/>
                <a:ea typeface="Arial"/>
                <a:cs typeface="Arial"/>
              </a:defRPr>
            </a:pPr>
            <a:r>
              <a:rPr sz="1575" b="0" i="0">
                <a:solidFill>
                  <a:srgbClr val="686A66"/>
                </a:solidFill>
                <a:latin typeface="Arial"/>
                <a:ea typeface="Arial"/>
                <a:cs typeface="Arial"/>
              </a:rPr>
              <a:t>Use bounded traffic splits, parity probes and a route-back path.</a:t>
            </a:r>
          </a:p>
        </p:txBody>
      </p:sp>
      <p:sp>
        <p:nvSpPr>
          <p:cNvPr id="6" name="Rectangle 5">
            <a:extLst>
              <a:ext uri="{FF2B5EF4-FFF2-40B4-BE49-F238E27FC236}">
                <a16:creationId xmlns:a16="http://schemas.microsoft.com/office/drawing/2014/main" id="{F46D8D11-BD17-4576-BA1A-424F556452EE}"/>
              </a:ext>
            </a:extLst>
          </p:cNvPr>
          <p:cNvSpPr>
            <a:spLocks noGrp="1"/>
          </p:cNvSpPr>
          <p:nvPr/>
        </p:nvSpPr>
        <p:spPr>
          <a:xfrm>
            <a:off x="609600" y="1905000"/>
            <a:ext cx="10972800" cy="9525"/>
          </a:xfrm>
          <a:prstGeom prst="rect">
            <a:avLst/>
          </a:prstGeom>
          <a:solidFill>
            <a:srgbClr val="8A8B86"/>
          </a:solidFill>
          <a:ln w="0">
            <a:noFill/>
            <a:prstDash val="solid"/>
          </a:ln>
        </p:spPr>
        <p:txBody>
          <a:bodyPr/>
          <a:lstStyle/>
          <a:p>
            <a:endParaRPr lang="en-US"/>
          </a:p>
        </p:txBody>
      </p:sp>
      <p:sp>
        <p:nvSpPr>
          <p:cNvPr id="7" name="Rectangle 6">
            <a:extLst>
              <a:ext uri="{FF2B5EF4-FFF2-40B4-BE49-F238E27FC236}">
                <a16:creationId xmlns:a16="http://schemas.microsoft.com/office/drawing/2014/main" id="{48AC345E-81B6-42FE-ACF2-3A7D7658CA23}"/>
              </a:ext>
            </a:extLst>
          </p:cNvPr>
          <p:cNvSpPr>
            <a:spLocks noGrp="1"/>
          </p:cNvSpPr>
          <p:nvPr/>
        </p:nvSpPr>
        <p:spPr>
          <a:xfrm>
            <a:off x="609600" y="6524625"/>
            <a:ext cx="8858250" cy="180975"/>
          </a:xfrm>
          <a:prstGeom prst="rect">
            <a:avLst/>
          </a:prstGeom>
          <a:noFill/>
          <a:ln w="0">
            <a:noFill/>
            <a:prstDash val="solid"/>
          </a:ln>
        </p:spPr>
        <p:txBody>
          <a:bodyPr wrap="square" lIns="0" tIns="0" rIns="0" bIns="0" anchor="ctr">
            <a:normAutofit/>
          </a:bodyPr>
          <a:lstStyle/>
          <a:p>
            <a:pPr>
              <a:buNone/>
              <a:defRPr sz="825">
                <a:solidFill>
                  <a:srgbClr val="666762"/>
                </a:solidFill>
              </a:defRPr>
            </a:pPr>
            <a:r>
              <a:rPr sz="825" b="1">
                <a:solidFill>
                  <a:srgbClr val="666762"/>
                </a:solidFill>
              </a:rPr>
              <a:t>REFERENCES  </a:t>
            </a:r>
            <a:r>
              <a:rPr sz="825" u="sng">
                <a:solidFill>
                  <a:srgbClr val="666762"/>
                </a:solidFill>
                <a:hlinkClick r:id="rId3"/>
              </a:rPr>
              <a:t>Repo reference</a:t>
            </a:r>
            <a:r>
              <a:rPr sz="825">
                <a:solidFill>
                  <a:srgbClr val="666762"/>
                </a:solidFill>
              </a:rPr>
              <a:t>  ·  </a:t>
            </a:r>
            <a:r>
              <a:rPr sz="825" u="sng">
                <a:solidFill>
                  <a:srgbClr val="666762"/>
                </a:solidFill>
                <a:hlinkClick r:id="rId4"/>
              </a:rPr>
              <a:t>Official docs</a:t>
            </a:r>
          </a:p>
        </p:txBody>
      </p:sp>
      <p:sp>
        <p:nvSpPr>
          <p:cNvPr id="8" name="Rectangle 7">
            <a:extLst>
              <a:ext uri="{FF2B5EF4-FFF2-40B4-BE49-F238E27FC236}">
                <a16:creationId xmlns:a16="http://schemas.microsoft.com/office/drawing/2014/main" id="{3CBA9384-9966-4B49-97BD-E4759F359DD8}"/>
              </a:ext>
            </a:extLst>
          </p:cNvPr>
          <p:cNvSpPr>
            <a:spLocks noGrp="1"/>
          </p:cNvSpPr>
          <p:nvPr/>
        </p:nvSpPr>
        <p:spPr>
          <a:xfrm>
            <a:off x="10287000" y="6486525"/>
            <a:ext cx="1295400" cy="209550"/>
          </a:xfrm>
          <a:prstGeom prst="rect">
            <a:avLst/>
          </a:prstGeom>
          <a:noFill/>
          <a:ln w="0">
            <a:noFill/>
            <a:prstDash val="solid"/>
          </a:ln>
        </p:spPr>
        <p:txBody>
          <a:bodyPr wrap="square" lIns="0" tIns="0" rIns="0" bIns="0" anchor="t">
            <a:normAutofit/>
          </a:bodyPr>
          <a:lstStyle/>
          <a:p>
            <a:pPr algn="r">
              <a:buNone/>
              <a:defRPr sz="975" b="1" i="0">
                <a:solidFill>
                  <a:srgbClr val="686A66"/>
                </a:solidFill>
                <a:latin typeface="Consolas"/>
                <a:ea typeface="Consolas"/>
                <a:cs typeface="Consolas"/>
              </a:defRPr>
            </a:pPr>
            <a:r>
              <a:rPr sz="975" b="1" i="0">
                <a:solidFill>
                  <a:srgbClr val="686A66"/>
                </a:solidFill>
                <a:latin typeface="Consolas"/>
                <a:ea typeface="Consolas"/>
                <a:cs typeface="Consolas"/>
              </a:rPr>
              <a:t>15 / 25</a:t>
            </a:r>
          </a:p>
        </p:txBody>
      </p:sp>
      <p:sp>
        <p:nvSpPr>
          <p:cNvPr id="9" name="Rounded Rectangle 8">
            <a:extLst>
              <a:ext uri="{FF2B5EF4-FFF2-40B4-BE49-F238E27FC236}">
                <a16:creationId xmlns:a16="http://schemas.microsoft.com/office/drawing/2014/main" id="{53576948-919C-463A-B7DB-D2B75E6EF32B}"/>
              </a:ext>
            </a:extLst>
          </p:cNvPr>
          <p:cNvSpPr>
            <a:spLocks noGrp="1"/>
          </p:cNvSpPr>
          <p:nvPr/>
        </p:nvSpPr>
        <p:spPr>
          <a:xfrm>
            <a:off x="666750" y="3095625"/>
            <a:ext cx="1714500" cy="895350"/>
          </a:xfrm>
          <a:prstGeom prst="roundRect">
            <a:avLst>
              <a:gd name="adj" fmla="val 8511"/>
            </a:avLst>
          </a:prstGeom>
          <a:solidFill>
            <a:srgbClr val="FFFFFF"/>
          </a:solidFill>
          <a:ln w="14288">
            <a:solidFill>
              <a:srgbClr val="111111"/>
            </a:solidFill>
            <a:prstDash val="solid"/>
          </a:ln>
        </p:spPr>
        <p:txBody>
          <a:bodyPr/>
          <a:lstStyle/>
          <a:p>
            <a:endParaRPr lang="en-US"/>
          </a:p>
        </p:txBody>
      </p:sp>
      <p:sp>
        <p:nvSpPr>
          <p:cNvPr id="10" name="Rectangle 9">
            <a:extLst>
              <a:ext uri="{FF2B5EF4-FFF2-40B4-BE49-F238E27FC236}">
                <a16:creationId xmlns:a16="http://schemas.microsoft.com/office/drawing/2014/main" id="{0FC45C3D-A9CB-4267-AB45-6684A921676D}"/>
              </a:ext>
            </a:extLst>
          </p:cNvPr>
          <p:cNvSpPr>
            <a:spLocks noGrp="1"/>
          </p:cNvSpPr>
          <p:nvPr/>
        </p:nvSpPr>
        <p:spPr>
          <a:xfrm>
            <a:off x="819150" y="3228975"/>
            <a:ext cx="1409700" cy="400050"/>
          </a:xfrm>
          <a:prstGeom prst="rect">
            <a:avLst/>
          </a:prstGeom>
          <a:noFill/>
          <a:ln w="0">
            <a:noFill/>
            <a:prstDash val="solid"/>
          </a:ln>
        </p:spPr>
        <p:txBody>
          <a:bodyPr wrap="square" lIns="0" tIns="0" rIns="0" bIns="0" anchor="t">
            <a:normAutofit/>
          </a:bodyPr>
          <a:lstStyle/>
          <a:p>
            <a:pPr algn="ctr">
              <a:buNone/>
              <a:defRPr sz="1650" b="1" i="0">
                <a:solidFill>
                  <a:srgbClr val="111111"/>
                </a:solidFill>
                <a:latin typeface="Arial"/>
                <a:ea typeface="Arial"/>
                <a:cs typeface="Arial"/>
              </a:defRPr>
            </a:pPr>
            <a:r>
              <a:rPr sz="1650" b="1" i="0">
                <a:solidFill>
                  <a:srgbClr val="111111"/>
                </a:solidFill>
                <a:latin typeface="Arial"/>
                <a:ea typeface="Arial"/>
                <a:cs typeface="Arial"/>
              </a:rPr>
              <a:t>Consumers</a:t>
            </a:r>
          </a:p>
        </p:txBody>
      </p:sp>
      <p:sp>
        <p:nvSpPr>
          <p:cNvPr id="11" name="Rectangle 10">
            <a:extLst>
              <a:ext uri="{FF2B5EF4-FFF2-40B4-BE49-F238E27FC236}">
                <a16:creationId xmlns:a16="http://schemas.microsoft.com/office/drawing/2014/main" id="{E95C5E7A-19D1-4000-82DC-4E9D2623BA79}"/>
              </a:ext>
            </a:extLst>
          </p:cNvPr>
          <p:cNvSpPr>
            <a:spLocks noGrp="1"/>
          </p:cNvSpPr>
          <p:nvPr/>
        </p:nvSpPr>
        <p:spPr>
          <a:xfrm>
            <a:off x="800100" y="3629025"/>
            <a:ext cx="1447800" cy="266700"/>
          </a:xfrm>
          <a:prstGeom prst="rect">
            <a:avLst/>
          </a:prstGeom>
          <a:noFill/>
          <a:ln w="0">
            <a:noFill/>
            <a:prstDash val="solid"/>
          </a:ln>
        </p:spPr>
        <p:txBody>
          <a:bodyPr wrap="square" lIns="0" tIns="0" rIns="0" bIns="0" anchor="t">
            <a:normAutofit/>
          </a:bodyPr>
          <a:lstStyle/>
          <a:p>
            <a:pPr algn="ctr">
              <a:buNone/>
              <a:defRPr sz="1125" b="0" i="0">
                <a:solidFill>
                  <a:srgbClr val="686A66"/>
                </a:solidFill>
                <a:latin typeface="Arial"/>
                <a:ea typeface="Arial"/>
                <a:cs typeface="Arial"/>
              </a:defRPr>
            </a:pPr>
            <a:r>
              <a:rPr sz="1125" b="0" i="0">
                <a:solidFill>
                  <a:srgbClr val="686A66"/>
                </a:solidFill>
                <a:latin typeface="Arial"/>
                <a:ea typeface="Arial"/>
                <a:cs typeface="Arial"/>
              </a:rPr>
              <a:t>stable contract</a:t>
            </a:r>
          </a:p>
        </p:txBody>
      </p:sp>
      <p:sp>
        <p:nvSpPr>
          <p:cNvPr id="12" name="Rounded Rectangle 11">
            <a:extLst>
              <a:ext uri="{FF2B5EF4-FFF2-40B4-BE49-F238E27FC236}">
                <a16:creationId xmlns:a16="http://schemas.microsoft.com/office/drawing/2014/main" id="{AE373801-342A-4566-BA2B-126B260832EA}"/>
              </a:ext>
            </a:extLst>
          </p:cNvPr>
          <p:cNvSpPr>
            <a:spLocks noGrp="1"/>
          </p:cNvSpPr>
          <p:nvPr/>
        </p:nvSpPr>
        <p:spPr>
          <a:xfrm>
            <a:off x="3143250" y="2809875"/>
            <a:ext cx="2286000" cy="1428750"/>
          </a:xfrm>
          <a:prstGeom prst="roundRect">
            <a:avLst>
              <a:gd name="adj" fmla="val 5333"/>
            </a:avLst>
          </a:prstGeom>
          <a:solidFill>
            <a:srgbClr val="FFFFFF"/>
          </a:solidFill>
          <a:ln w="14288">
            <a:solidFill>
              <a:srgbClr val="FFC72C"/>
            </a:solidFill>
            <a:prstDash val="solid"/>
          </a:ln>
        </p:spPr>
        <p:txBody>
          <a:bodyPr/>
          <a:lstStyle/>
          <a:p>
            <a:endParaRPr lang="en-US"/>
          </a:p>
        </p:txBody>
      </p:sp>
      <p:sp>
        <p:nvSpPr>
          <p:cNvPr id="13" name="Rectangle 12">
            <a:extLst>
              <a:ext uri="{FF2B5EF4-FFF2-40B4-BE49-F238E27FC236}">
                <a16:creationId xmlns:a16="http://schemas.microsoft.com/office/drawing/2014/main" id="{4F0B2C1C-FF9C-495E-A80A-88A0D4FA045A}"/>
              </a:ext>
            </a:extLst>
          </p:cNvPr>
          <p:cNvSpPr>
            <a:spLocks noGrp="1"/>
          </p:cNvSpPr>
          <p:nvPr/>
        </p:nvSpPr>
        <p:spPr>
          <a:xfrm>
            <a:off x="3295650" y="2943225"/>
            <a:ext cx="1981200" cy="400050"/>
          </a:xfrm>
          <a:prstGeom prst="rect">
            <a:avLst/>
          </a:prstGeom>
          <a:noFill/>
          <a:ln w="0">
            <a:noFill/>
            <a:prstDash val="solid"/>
          </a:ln>
        </p:spPr>
        <p:txBody>
          <a:bodyPr wrap="square" lIns="0" tIns="0" rIns="0" bIns="0" anchor="t">
            <a:normAutofit/>
          </a:bodyPr>
          <a:lstStyle/>
          <a:p>
            <a:pPr algn="ctr">
              <a:buNone/>
              <a:defRPr sz="1875" b="1" i="0">
                <a:solidFill>
                  <a:srgbClr val="111111"/>
                </a:solidFill>
                <a:latin typeface="Arial"/>
                <a:ea typeface="Arial"/>
                <a:cs typeface="Arial"/>
              </a:defRPr>
            </a:pPr>
            <a:r>
              <a:rPr sz="1875" b="1" i="0">
                <a:solidFill>
                  <a:srgbClr val="111111"/>
                </a:solidFill>
                <a:latin typeface="Arial"/>
                <a:ea typeface="Arial"/>
                <a:cs typeface="Arial"/>
              </a:rPr>
              <a:t>Stable API edge</a:t>
            </a:r>
          </a:p>
        </p:txBody>
      </p:sp>
      <p:sp>
        <p:nvSpPr>
          <p:cNvPr id="14" name="Rectangle 13">
            <a:extLst>
              <a:ext uri="{FF2B5EF4-FFF2-40B4-BE49-F238E27FC236}">
                <a16:creationId xmlns:a16="http://schemas.microsoft.com/office/drawing/2014/main" id="{7856A3A5-EA92-474B-91D7-4630A0503AF5}"/>
              </a:ext>
            </a:extLst>
          </p:cNvPr>
          <p:cNvSpPr>
            <a:spLocks noGrp="1"/>
          </p:cNvSpPr>
          <p:nvPr/>
        </p:nvSpPr>
        <p:spPr>
          <a:xfrm>
            <a:off x="3276600" y="3343275"/>
            <a:ext cx="2019300" cy="800100"/>
          </a:xfrm>
          <a:prstGeom prst="rect">
            <a:avLst/>
          </a:prstGeom>
          <a:noFill/>
          <a:ln w="0">
            <a:noFill/>
            <a:prstDash val="solid"/>
          </a:ln>
        </p:spPr>
        <p:txBody>
          <a:bodyPr wrap="square" lIns="0" tIns="0" rIns="0" bIns="0" anchor="t">
            <a:normAutofit/>
          </a:bodyPr>
          <a:lstStyle/>
          <a:p>
            <a:pPr algn="ctr">
              <a:buNone/>
              <a:defRPr sz="1125" b="0" i="0">
                <a:solidFill>
                  <a:srgbClr val="686A66"/>
                </a:solidFill>
                <a:latin typeface="Arial"/>
                <a:ea typeface="Arial"/>
                <a:cs typeface="Arial"/>
              </a:defRPr>
            </a:pPr>
            <a:r>
              <a:rPr sz="1125" b="0" i="0">
                <a:solidFill>
                  <a:srgbClr val="686A66"/>
                </a:solidFill>
                <a:latin typeface="Arial"/>
                <a:ea typeface="Arial"/>
                <a:cs typeface="Arial"/>
              </a:rPr>
              <a:t>auth · policy · routing</a:t>
            </a:r>
          </a:p>
          <a:p>
            <a:pPr algn="ctr">
              <a:buNone/>
              <a:defRPr sz="1125" b="0" i="0">
                <a:solidFill>
                  <a:srgbClr val="686A66"/>
                </a:solidFill>
                <a:latin typeface="Arial"/>
                <a:ea typeface="Arial"/>
                <a:cs typeface="Arial"/>
              </a:defRPr>
            </a:pPr>
            <a:r>
              <a:rPr sz="1125" b="0" i="0">
                <a:solidFill>
                  <a:srgbClr val="686A66"/>
                </a:solidFill>
                <a:latin typeface="Arial"/>
                <a:ea typeface="Arial"/>
                <a:cs typeface="Arial"/>
              </a:rPr>
              <a:t>cohort-aware traffic split</a:t>
            </a:r>
          </a:p>
        </p:txBody>
      </p:sp>
      <p:sp>
        <p:nvSpPr>
          <p:cNvPr id="15" name="Rounded Rectangle 14">
            <a:extLst>
              <a:ext uri="{FF2B5EF4-FFF2-40B4-BE49-F238E27FC236}">
                <a16:creationId xmlns:a16="http://schemas.microsoft.com/office/drawing/2014/main" id="{9583DDED-507C-432E-B60D-4503EDAACBCF}"/>
              </a:ext>
            </a:extLst>
          </p:cNvPr>
          <p:cNvSpPr>
            <a:spLocks noGrp="1"/>
          </p:cNvSpPr>
          <p:nvPr/>
        </p:nvSpPr>
        <p:spPr>
          <a:xfrm>
            <a:off x="6572250" y="2238375"/>
            <a:ext cx="2381250" cy="1047750"/>
          </a:xfrm>
          <a:prstGeom prst="roundRect">
            <a:avLst>
              <a:gd name="adj" fmla="val 7273"/>
            </a:avLst>
          </a:prstGeom>
          <a:solidFill>
            <a:srgbClr val="FFFFFF"/>
          </a:solidFill>
          <a:ln w="14288">
            <a:solidFill>
              <a:srgbClr val="A96300"/>
            </a:solidFill>
            <a:prstDash val="solid"/>
          </a:ln>
        </p:spPr>
        <p:txBody>
          <a:bodyPr/>
          <a:lstStyle/>
          <a:p>
            <a:endParaRPr lang="en-US"/>
          </a:p>
        </p:txBody>
      </p:sp>
      <p:sp>
        <p:nvSpPr>
          <p:cNvPr id="16" name="Rectangle 15">
            <a:extLst>
              <a:ext uri="{FF2B5EF4-FFF2-40B4-BE49-F238E27FC236}">
                <a16:creationId xmlns:a16="http://schemas.microsoft.com/office/drawing/2014/main" id="{1245EDBC-0EF3-4605-930B-435B6FD39F72}"/>
              </a:ext>
            </a:extLst>
          </p:cNvPr>
          <p:cNvSpPr>
            <a:spLocks noGrp="1"/>
          </p:cNvSpPr>
          <p:nvPr/>
        </p:nvSpPr>
        <p:spPr>
          <a:xfrm>
            <a:off x="6724650" y="2371725"/>
            <a:ext cx="2076450" cy="400050"/>
          </a:xfrm>
          <a:prstGeom prst="rect">
            <a:avLst/>
          </a:prstGeom>
          <a:noFill/>
          <a:ln w="0">
            <a:noFill/>
            <a:prstDash val="solid"/>
          </a:ln>
        </p:spPr>
        <p:txBody>
          <a:bodyPr wrap="square" lIns="0" tIns="0" rIns="0" bIns="0" anchor="t">
            <a:normAutofit fontScale="87525"/>
          </a:bodyPr>
          <a:lstStyle/>
          <a:p>
            <a:pPr algn="ctr">
              <a:buNone/>
              <a:defRPr sz="1650" b="1" i="0">
                <a:solidFill>
                  <a:srgbClr val="111111"/>
                </a:solidFill>
                <a:latin typeface="Arial"/>
                <a:ea typeface="Arial"/>
                <a:cs typeface="Arial"/>
              </a:defRPr>
            </a:pPr>
            <a:r>
              <a:rPr sz="1650" b="1" i="0">
                <a:solidFill>
                  <a:srgbClr val="111111"/>
                </a:solidFill>
                <a:latin typeface="Arial"/>
                <a:ea typeface="Arial"/>
                <a:cs typeface="Arial"/>
              </a:rPr>
              <a:t>Existing Mule runtime</a:t>
            </a:r>
          </a:p>
        </p:txBody>
      </p:sp>
      <p:sp>
        <p:nvSpPr>
          <p:cNvPr id="17" name="Rectangle 16">
            <a:extLst>
              <a:ext uri="{FF2B5EF4-FFF2-40B4-BE49-F238E27FC236}">
                <a16:creationId xmlns:a16="http://schemas.microsoft.com/office/drawing/2014/main" id="{B7D2FEFE-3FFF-4A09-B088-95D65C52B10F}"/>
              </a:ext>
            </a:extLst>
          </p:cNvPr>
          <p:cNvSpPr>
            <a:spLocks noGrp="1"/>
          </p:cNvSpPr>
          <p:nvPr/>
        </p:nvSpPr>
        <p:spPr>
          <a:xfrm>
            <a:off x="6705600" y="2771775"/>
            <a:ext cx="2114550" cy="419100"/>
          </a:xfrm>
          <a:prstGeom prst="rect">
            <a:avLst/>
          </a:prstGeom>
          <a:noFill/>
          <a:ln w="0">
            <a:noFill/>
            <a:prstDash val="solid"/>
          </a:ln>
        </p:spPr>
        <p:txBody>
          <a:bodyPr wrap="square" lIns="0" tIns="0" rIns="0" bIns="0" anchor="t">
            <a:normAutofit/>
          </a:bodyPr>
          <a:lstStyle/>
          <a:p>
            <a:pPr algn="ctr">
              <a:buNone/>
              <a:defRPr sz="1125" b="0" i="0">
                <a:solidFill>
                  <a:srgbClr val="686A66"/>
                </a:solidFill>
                <a:latin typeface="Arial"/>
                <a:ea typeface="Arial"/>
                <a:cs typeface="Arial"/>
              </a:defRPr>
            </a:pPr>
            <a:r>
              <a:rPr sz="1125" b="0" i="0">
                <a:solidFill>
                  <a:srgbClr val="686A66"/>
                </a:solidFill>
                <a:latin typeface="Arial"/>
                <a:ea typeface="Arial"/>
                <a:cs typeface="Arial"/>
              </a:rPr>
              <a:t>bounded incumbent path</a:t>
            </a:r>
          </a:p>
        </p:txBody>
      </p:sp>
      <p:sp>
        <p:nvSpPr>
          <p:cNvPr id="18" name="Rounded Rectangle 17">
            <a:extLst>
              <a:ext uri="{FF2B5EF4-FFF2-40B4-BE49-F238E27FC236}">
                <a16:creationId xmlns:a16="http://schemas.microsoft.com/office/drawing/2014/main" id="{26AD9094-3B7E-4142-ACBD-96EB600C549D}"/>
              </a:ext>
            </a:extLst>
          </p:cNvPr>
          <p:cNvSpPr>
            <a:spLocks noGrp="1"/>
          </p:cNvSpPr>
          <p:nvPr/>
        </p:nvSpPr>
        <p:spPr>
          <a:xfrm>
            <a:off x="6572250" y="3857625"/>
            <a:ext cx="2381250" cy="1047750"/>
          </a:xfrm>
          <a:prstGeom prst="roundRect">
            <a:avLst>
              <a:gd name="adj" fmla="val 7273"/>
            </a:avLst>
          </a:prstGeom>
          <a:solidFill>
            <a:srgbClr val="FFFFFF"/>
          </a:solidFill>
          <a:ln w="14288">
            <a:solidFill>
              <a:srgbClr val="197457"/>
            </a:solidFill>
            <a:prstDash val="solid"/>
          </a:ln>
        </p:spPr>
        <p:txBody>
          <a:bodyPr/>
          <a:lstStyle/>
          <a:p>
            <a:endParaRPr lang="en-US"/>
          </a:p>
        </p:txBody>
      </p:sp>
      <p:sp>
        <p:nvSpPr>
          <p:cNvPr id="19" name="Rectangle 18">
            <a:extLst>
              <a:ext uri="{FF2B5EF4-FFF2-40B4-BE49-F238E27FC236}">
                <a16:creationId xmlns:a16="http://schemas.microsoft.com/office/drawing/2014/main" id="{6E5F8AF5-685C-4276-BAC2-7B26BB6FDEFC}"/>
              </a:ext>
            </a:extLst>
          </p:cNvPr>
          <p:cNvSpPr>
            <a:spLocks noGrp="1"/>
          </p:cNvSpPr>
          <p:nvPr/>
        </p:nvSpPr>
        <p:spPr>
          <a:xfrm>
            <a:off x="6724650" y="3990975"/>
            <a:ext cx="2076450" cy="400050"/>
          </a:xfrm>
          <a:prstGeom prst="rect">
            <a:avLst/>
          </a:prstGeom>
          <a:noFill/>
          <a:ln w="0">
            <a:noFill/>
            <a:prstDash val="solid"/>
          </a:ln>
        </p:spPr>
        <p:txBody>
          <a:bodyPr wrap="square" lIns="0" tIns="0" rIns="0" bIns="0" anchor="t">
            <a:normAutofit/>
          </a:bodyPr>
          <a:lstStyle/>
          <a:p>
            <a:pPr algn="ctr">
              <a:buNone/>
              <a:defRPr sz="1650" b="1" i="0">
                <a:solidFill>
                  <a:srgbClr val="111111"/>
                </a:solidFill>
                <a:latin typeface="Arial"/>
                <a:ea typeface="Arial"/>
                <a:cs typeface="Arial"/>
              </a:defRPr>
            </a:pPr>
            <a:r>
              <a:rPr sz="1650" b="1" i="0">
                <a:solidFill>
                  <a:srgbClr val="111111"/>
                </a:solidFill>
                <a:latin typeface="Arial"/>
                <a:ea typeface="Arial"/>
                <a:cs typeface="Arial"/>
              </a:rPr>
              <a:t>New owned runtime</a:t>
            </a:r>
          </a:p>
        </p:txBody>
      </p:sp>
      <p:sp>
        <p:nvSpPr>
          <p:cNvPr id="20" name="Rectangle 19">
            <a:extLst>
              <a:ext uri="{FF2B5EF4-FFF2-40B4-BE49-F238E27FC236}">
                <a16:creationId xmlns:a16="http://schemas.microsoft.com/office/drawing/2014/main" id="{8DB03DEF-3B4A-4F54-8926-8E756F728DF3}"/>
              </a:ext>
            </a:extLst>
          </p:cNvPr>
          <p:cNvSpPr>
            <a:spLocks noGrp="1"/>
          </p:cNvSpPr>
          <p:nvPr/>
        </p:nvSpPr>
        <p:spPr>
          <a:xfrm>
            <a:off x="6705600" y="4391025"/>
            <a:ext cx="2114550" cy="419100"/>
          </a:xfrm>
          <a:prstGeom prst="rect">
            <a:avLst/>
          </a:prstGeom>
          <a:noFill/>
          <a:ln w="0">
            <a:noFill/>
            <a:prstDash val="solid"/>
          </a:ln>
        </p:spPr>
        <p:txBody>
          <a:bodyPr wrap="square" lIns="0" tIns="0" rIns="0" bIns="0" anchor="t">
            <a:normAutofit/>
          </a:bodyPr>
          <a:lstStyle/>
          <a:p>
            <a:pPr algn="ctr">
              <a:buNone/>
              <a:defRPr sz="1125" b="0" i="0">
                <a:solidFill>
                  <a:srgbClr val="686A66"/>
                </a:solidFill>
                <a:latin typeface="Arial"/>
                <a:ea typeface="Arial"/>
                <a:cs typeface="Arial"/>
              </a:defRPr>
            </a:pPr>
            <a:r>
              <a:rPr sz="1125" b="0" i="0">
                <a:solidFill>
                  <a:srgbClr val="686A66"/>
                </a:solidFill>
                <a:latin typeface="Arial"/>
                <a:ea typeface="Arial"/>
                <a:cs typeface="Arial"/>
              </a:rPr>
              <a:t>Kong + services / platforms</a:t>
            </a:r>
          </a:p>
        </p:txBody>
      </p:sp>
      <p:sp>
        <p:nvSpPr>
          <p:cNvPr id="21" name="Rounded Rectangle 20">
            <a:extLst>
              <a:ext uri="{FF2B5EF4-FFF2-40B4-BE49-F238E27FC236}">
                <a16:creationId xmlns:a16="http://schemas.microsoft.com/office/drawing/2014/main" id="{2908CB2C-291B-4F13-A2B3-10F65A048655}"/>
              </a:ext>
            </a:extLst>
          </p:cNvPr>
          <p:cNvSpPr>
            <a:spLocks noGrp="1"/>
          </p:cNvSpPr>
          <p:nvPr/>
        </p:nvSpPr>
        <p:spPr>
          <a:xfrm>
            <a:off x="9715500" y="3048000"/>
            <a:ext cx="1809750" cy="1047750"/>
          </a:xfrm>
          <a:prstGeom prst="roundRect">
            <a:avLst>
              <a:gd name="adj" fmla="val 7273"/>
            </a:avLst>
          </a:prstGeom>
          <a:solidFill>
            <a:srgbClr val="FFFFFF"/>
          </a:solidFill>
          <a:ln w="14288">
            <a:solidFill>
              <a:srgbClr val="111111"/>
            </a:solidFill>
            <a:prstDash val="solid"/>
          </a:ln>
        </p:spPr>
        <p:txBody>
          <a:bodyPr/>
          <a:lstStyle/>
          <a:p>
            <a:endParaRPr lang="en-US"/>
          </a:p>
        </p:txBody>
      </p:sp>
      <p:sp>
        <p:nvSpPr>
          <p:cNvPr id="22" name="Rectangle 21">
            <a:extLst>
              <a:ext uri="{FF2B5EF4-FFF2-40B4-BE49-F238E27FC236}">
                <a16:creationId xmlns:a16="http://schemas.microsoft.com/office/drawing/2014/main" id="{FEC401AA-8843-4894-A18F-39420AA1C407}"/>
              </a:ext>
            </a:extLst>
          </p:cNvPr>
          <p:cNvSpPr>
            <a:spLocks noGrp="1"/>
          </p:cNvSpPr>
          <p:nvPr/>
        </p:nvSpPr>
        <p:spPr>
          <a:xfrm>
            <a:off x="9867900" y="3181350"/>
            <a:ext cx="1504950" cy="400050"/>
          </a:xfrm>
          <a:prstGeom prst="rect">
            <a:avLst/>
          </a:prstGeom>
          <a:noFill/>
          <a:ln w="0">
            <a:noFill/>
            <a:prstDash val="solid"/>
          </a:ln>
        </p:spPr>
        <p:txBody>
          <a:bodyPr wrap="square" lIns="0" tIns="0" rIns="0" bIns="0" anchor="t">
            <a:normAutofit fontScale="97402"/>
          </a:bodyPr>
          <a:lstStyle/>
          <a:p>
            <a:pPr algn="ctr">
              <a:buNone/>
              <a:defRPr sz="1650" b="1" i="0">
                <a:solidFill>
                  <a:srgbClr val="111111"/>
                </a:solidFill>
                <a:latin typeface="Arial"/>
                <a:ea typeface="Arial"/>
                <a:cs typeface="Arial"/>
              </a:defRPr>
            </a:pPr>
            <a:r>
              <a:rPr sz="1650" b="1" i="0">
                <a:solidFill>
                  <a:srgbClr val="111111"/>
                </a:solidFill>
                <a:latin typeface="Arial"/>
                <a:ea typeface="Arial"/>
                <a:cs typeface="Arial"/>
              </a:rPr>
              <a:t>Parity evidence</a:t>
            </a:r>
          </a:p>
        </p:txBody>
      </p:sp>
      <p:sp>
        <p:nvSpPr>
          <p:cNvPr id="23" name="Rectangle 22">
            <a:extLst>
              <a:ext uri="{FF2B5EF4-FFF2-40B4-BE49-F238E27FC236}">
                <a16:creationId xmlns:a16="http://schemas.microsoft.com/office/drawing/2014/main" id="{C77523C3-80E6-4668-93DC-7428373C6783}"/>
              </a:ext>
            </a:extLst>
          </p:cNvPr>
          <p:cNvSpPr>
            <a:spLocks noGrp="1"/>
          </p:cNvSpPr>
          <p:nvPr/>
        </p:nvSpPr>
        <p:spPr>
          <a:xfrm>
            <a:off x="9848850" y="3581400"/>
            <a:ext cx="1543050" cy="419100"/>
          </a:xfrm>
          <a:prstGeom prst="rect">
            <a:avLst/>
          </a:prstGeom>
          <a:noFill/>
          <a:ln w="0">
            <a:noFill/>
            <a:prstDash val="solid"/>
          </a:ln>
        </p:spPr>
        <p:txBody>
          <a:bodyPr wrap="square" lIns="0" tIns="0" rIns="0" bIns="0" anchor="t">
            <a:normAutofit/>
          </a:bodyPr>
          <a:lstStyle/>
          <a:p>
            <a:pPr algn="ctr">
              <a:buNone/>
              <a:defRPr sz="1125" b="0" i="0">
                <a:solidFill>
                  <a:srgbClr val="686A66"/>
                </a:solidFill>
                <a:latin typeface="Arial"/>
                <a:ea typeface="Arial"/>
                <a:cs typeface="Arial"/>
              </a:defRPr>
            </a:pPr>
            <a:r>
              <a:rPr sz="1125" b="0" i="0">
                <a:solidFill>
                  <a:srgbClr val="686A66"/>
                </a:solidFill>
                <a:latin typeface="Arial"/>
                <a:ea typeface="Arial"/>
                <a:cs typeface="Arial"/>
              </a:rPr>
              <a:t>SLO · semantics · side effects</a:t>
            </a:r>
          </a:p>
        </p:txBody>
      </p:sp>
      <p:cxnSp>
        <p:nvCxnSpPr>
          <p:cNvPr id="447" name="Straight Arrow Connector 446"/>
          <p:cNvCxnSpPr>
            <a:stCxn id="9" idx="3"/>
            <a:endCxn id="12" idx="1"/>
          </p:cNvCxnSpPr>
          <p:nvPr/>
        </p:nvCxnSpPr>
        <p:spPr>
          <a:xfrm flipV="1">
            <a:off x="2381250" y="3524250"/>
            <a:ext cx="762000" cy="19050"/>
          </a:xfrm>
          <a:prstGeom prst="straightConnector1">
            <a:avLst/>
          </a:prstGeom>
          <a:ln w="19050">
            <a:solidFill>
              <a:srgbClr val="111111"/>
            </a:solidFill>
            <a:prstDash val="solid"/>
            <a:tailEnd type="triangle" w="med" len="med"/>
          </a:ln>
        </p:spPr>
      </p:cxnSp>
      <p:cxnSp>
        <p:nvCxnSpPr>
          <p:cNvPr id="448" name="Elbow Connector 447"/>
          <p:cNvCxnSpPr>
            <a:stCxn id="12" idx="3"/>
            <a:endCxn id="15" idx="1"/>
          </p:cNvCxnSpPr>
          <p:nvPr/>
        </p:nvCxnSpPr>
        <p:spPr>
          <a:xfrm flipV="1">
            <a:off x="5429250" y="2762250"/>
            <a:ext cx="1143000" cy="762000"/>
          </a:xfrm>
          <a:prstGeom prst="bentConnector3">
            <a:avLst>
              <a:gd name="adj1" fmla="val 50000"/>
            </a:avLst>
          </a:prstGeom>
          <a:ln w="19050">
            <a:solidFill>
              <a:srgbClr val="A96300"/>
            </a:solidFill>
            <a:prstDash val="solid"/>
            <a:tailEnd type="triangle" w="med" len="med"/>
          </a:ln>
        </p:spPr>
      </p:cxnSp>
      <p:cxnSp>
        <p:nvCxnSpPr>
          <p:cNvPr id="449" name="Elbow Connector 448"/>
          <p:cNvCxnSpPr>
            <a:stCxn id="12" idx="3"/>
            <a:endCxn id="18" idx="1"/>
          </p:cNvCxnSpPr>
          <p:nvPr/>
        </p:nvCxnSpPr>
        <p:spPr>
          <a:xfrm>
            <a:off x="5429250" y="3524250"/>
            <a:ext cx="1143000" cy="857250"/>
          </a:xfrm>
          <a:prstGeom prst="bentConnector3">
            <a:avLst>
              <a:gd name="adj1" fmla="val 50000"/>
            </a:avLst>
          </a:prstGeom>
          <a:ln w="19050">
            <a:solidFill>
              <a:srgbClr val="197457"/>
            </a:solidFill>
            <a:prstDash val="solid"/>
            <a:tailEnd type="triangle" w="med" len="med"/>
          </a:ln>
        </p:spPr>
      </p:cxnSp>
      <p:cxnSp>
        <p:nvCxnSpPr>
          <p:cNvPr id="450" name="Elbow Connector 449"/>
          <p:cNvCxnSpPr>
            <a:stCxn id="15" idx="3"/>
            <a:endCxn id="21" idx="1"/>
          </p:cNvCxnSpPr>
          <p:nvPr/>
        </p:nvCxnSpPr>
        <p:spPr>
          <a:xfrm>
            <a:off x="8953500" y="2762250"/>
            <a:ext cx="762000" cy="809625"/>
          </a:xfrm>
          <a:prstGeom prst="bentConnector3">
            <a:avLst>
              <a:gd name="adj1" fmla="val 50000"/>
            </a:avLst>
          </a:prstGeom>
          <a:ln w="19050">
            <a:solidFill>
              <a:srgbClr val="8A8B86"/>
            </a:solidFill>
            <a:prstDash val="dash"/>
            <a:tailEnd type="triangle" w="med" len="med"/>
          </a:ln>
        </p:spPr>
      </p:cxnSp>
      <p:cxnSp>
        <p:nvCxnSpPr>
          <p:cNvPr id="451" name="Elbow Connector 450"/>
          <p:cNvCxnSpPr>
            <a:stCxn id="18" idx="3"/>
            <a:endCxn id="21" idx="1"/>
          </p:cNvCxnSpPr>
          <p:nvPr/>
        </p:nvCxnSpPr>
        <p:spPr>
          <a:xfrm flipV="1">
            <a:off x="8953500" y="3571875"/>
            <a:ext cx="762000" cy="809625"/>
          </a:xfrm>
          <a:prstGeom prst="bentConnector3">
            <a:avLst>
              <a:gd name="adj1" fmla="val 50000"/>
            </a:avLst>
          </a:prstGeom>
          <a:ln w="19050">
            <a:solidFill>
              <a:srgbClr val="8A8B86"/>
            </a:solidFill>
            <a:prstDash val="dash"/>
            <a:tailEnd type="triangle" w="med" len="med"/>
          </a:ln>
        </p:spPr>
      </p:cxnSp>
      <p:sp>
        <p:nvSpPr>
          <p:cNvPr id="29" name="Rectangle 28">
            <a:extLst>
              <a:ext uri="{FF2B5EF4-FFF2-40B4-BE49-F238E27FC236}">
                <a16:creationId xmlns:a16="http://schemas.microsoft.com/office/drawing/2014/main" id="{DFAFF706-B274-4B2C-8C7B-5EB1D52966D0}"/>
              </a:ext>
            </a:extLst>
          </p:cNvPr>
          <p:cNvSpPr>
            <a:spLocks noGrp="1"/>
          </p:cNvSpPr>
          <p:nvPr/>
        </p:nvSpPr>
        <p:spPr>
          <a:xfrm>
            <a:off x="3905250" y="4533900"/>
            <a:ext cx="1047750" cy="190500"/>
          </a:xfrm>
          <a:prstGeom prst="rect">
            <a:avLst/>
          </a:prstGeom>
          <a:noFill/>
          <a:ln w="0">
            <a:noFill/>
            <a:prstDash val="solid"/>
          </a:ln>
        </p:spPr>
        <p:txBody>
          <a:bodyPr wrap="square" lIns="0" tIns="0" rIns="0" bIns="0" anchor="t">
            <a:normAutofit/>
          </a:bodyPr>
          <a:lstStyle/>
          <a:p>
            <a:pPr algn="ctr">
              <a:buNone/>
              <a:defRPr sz="1050" b="1" i="0">
                <a:solidFill>
                  <a:srgbClr val="5537D6"/>
                </a:solidFill>
                <a:latin typeface="Consolas"/>
                <a:ea typeface="Consolas"/>
                <a:cs typeface="Consolas"/>
              </a:defRPr>
            </a:pPr>
            <a:r>
              <a:rPr sz="1050" b="1" i="0">
                <a:solidFill>
                  <a:srgbClr val="5537D6"/>
                </a:solidFill>
                <a:latin typeface="Consolas"/>
                <a:ea typeface="Consolas"/>
                <a:cs typeface="Consolas"/>
              </a:rPr>
              <a:t>Route back</a:t>
            </a:r>
          </a:p>
        </p:txBody>
      </p:sp>
      <p:sp>
        <p:nvSpPr>
          <p:cNvPr id="30" name="Rectangle 29">
            <a:extLst>
              <a:ext uri="{FF2B5EF4-FFF2-40B4-BE49-F238E27FC236}">
                <a16:creationId xmlns:a16="http://schemas.microsoft.com/office/drawing/2014/main" id="{6C1F5A5C-B019-4FD6-9DC2-A38561569FB7}"/>
              </a:ext>
            </a:extLst>
          </p:cNvPr>
          <p:cNvSpPr>
            <a:spLocks noGrp="1"/>
          </p:cNvSpPr>
          <p:nvPr/>
        </p:nvSpPr>
        <p:spPr>
          <a:xfrm>
            <a:off x="876300" y="5429250"/>
            <a:ext cx="10439400" cy="514350"/>
          </a:xfrm>
          <a:prstGeom prst="rect">
            <a:avLst/>
          </a:prstGeom>
          <a:solidFill>
            <a:srgbClr val="F4F0E7"/>
          </a:solidFill>
          <a:ln w="9525">
            <a:solidFill>
              <a:srgbClr val="8A8B86"/>
            </a:solidFill>
            <a:prstDash val="solid"/>
          </a:ln>
        </p:spPr>
        <p:txBody>
          <a:bodyPr/>
          <a:lstStyle/>
          <a:p>
            <a:endParaRPr lang="en-US"/>
          </a:p>
        </p:txBody>
      </p:sp>
      <p:sp>
        <p:nvSpPr>
          <p:cNvPr id="31" name="Rectangle 30">
            <a:extLst>
              <a:ext uri="{FF2B5EF4-FFF2-40B4-BE49-F238E27FC236}">
                <a16:creationId xmlns:a16="http://schemas.microsoft.com/office/drawing/2014/main" id="{2AE5FC4C-9A54-4FDA-830E-0D3477B71F0D}"/>
              </a:ext>
            </a:extLst>
          </p:cNvPr>
          <p:cNvSpPr>
            <a:spLocks noGrp="1"/>
          </p:cNvSpPr>
          <p:nvPr/>
        </p:nvSpPr>
        <p:spPr>
          <a:xfrm>
            <a:off x="1066800" y="5534025"/>
            <a:ext cx="10058400" cy="285750"/>
          </a:xfrm>
          <a:prstGeom prst="rect">
            <a:avLst/>
          </a:prstGeom>
          <a:noFill/>
          <a:ln w="0">
            <a:noFill/>
            <a:prstDash val="solid"/>
          </a:ln>
        </p:spPr>
        <p:txBody>
          <a:bodyPr wrap="square" lIns="0" tIns="0" rIns="0" bIns="0" anchor="t">
            <a:normAutofit fontScale="87431"/>
          </a:bodyPr>
          <a:lstStyle/>
          <a:p>
            <a:pPr algn="ctr">
              <a:buNone/>
              <a:defRPr sz="1575" b="1" i="0">
                <a:solidFill>
                  <a:srgbClr val="111111"/>
                </a:solidFill>
                <a:latin typeface="Arial"/>
                <a:ea typeface="Arial"/>
                <a:cs typeface="Arial"/>
              </a:defRPr>
            </a:pPr>
            <a:r>
              <a:rPr sz="1575" b="1" i="0">
                <a:solidFill>
                  <a:srgbClr val="111111"/>
                </a:solidFill>
                <a:latin typeface="Arial"/>
                <a:ea typeface="Arial"/>
                <a:cs typeface="Arial"/>
              </a:rPr>
              <a:t>Cut over only a bounded cohort; compare business outcomes; restore the incumbent path when evidence fails.</a:t>
            </a:r>
          </a:p>
        </p:txBody>
      </p:sp>
    </p:spTree>
    <p:extLst>
      <p:ext uri="{BB962C8B-B14F-4D97-AF65-F5344CB8AC3E}">
        <p14:creationId xmlns:p14="http://schemas.microsoft.com/office/powerpoint/2010/main" val="27262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56">
            <a:extLst>
              <a:ext uri="{FF2B5EF4-FFF2-40B4-BE49-F238E27FC236}">
                <a16:creationId xmlns:a16="http://schemas.microsoft.com/office/drawing/2014/main" id="{BB67A754-EB7E-42FD-A7FD-80939EEF1861}"/>
              </a:ext>
            </a:extLst>
          </p:cNvPr>
          <p:cNvSpPr>
            <a:spLocks noGrp="1"/>
          </p:cNvSpPr>
          <p:nvPr/>
        </p:nvSpPr>
        <p:spPr>
          <a:xfrm>
            <a:off x="0" y="0"/>
            <a:ext cx="12192000" cy="266700"/>
          </a:xfrm>
          <a:prstGeom prst="rect">
            <a:avLst/>
          </a:prstGeom>
          <a:solidFill>
            <a:srgbClr val="FFC72C"/>
          </a:solidFill>
          <a:ln w="0">
            <a:noFill/>
            <a:prstDash val="solid"/>
          </a:ln>
        </p:spPr>
        <p:txBody>
          <a:bodyPr/>
          <a:lstStyle/>
          <a:p>
            <a:endParaRPr lang="en-US"/>
          </a:p>
        </p:txBody>
      </p:sp>
      <p:sp>
        <p:nvSpPr>
          <p:cNvPr id="2" name="Rectangle 1">
            <a:extLst>
              <a:ext uri="{FF2B5EF4-FFF2-40B4-BE49-F238E27FC236}">
                <a16:creationId xmlns:a16="http://schemas.microsoft.com/office/drawing/2014/main" id="{2E3150E0-AA5A-4DC0-9956-99B2D79C017C}"/>
              </a:ext>
            </a:extLst>
          </p:cNvPr>
          <p:cNvSpPr>
            <a:spLocks noGrp="1"/>
          </p:cNvSpPr>
          <p:nvPr/>
        </p:nvSpPr>
        <p:spPr>
          <a:xfrm>
            <a:off x="10668000" y="0"/>
            <a:ext cx="1524000" cy="266700"/>
          </a:xfrm>
          <a:prstGeom prst="rect">
            <a:avLst/>
          </a:prstGeom>
          <a:solidFill>
            <a:srgbClr val="5537D6"/>
          </a:solidFill>
          <a:ln w="0">
            <a:noFill/>
            <a:prstDash val="solid"/>
          </a:ln>
        </p:spPr>
        <p:txBody>
          <a:bodyPr/>
          <a:lstStyle/>
          <a:p>
            <a:endParaRPr lang="en-US"/>
          </a:p>
        </p:txBody>
      </p:sp>
      <p:sp>
        <p:nvSpPr>
          <p:cNvPr id="3" name="Rectangle 2">
            <a:extLst>
              <a:ext uri="{FF2B5EF4-FFF2-40B4-BE49-F238E27FC236}">
                <a16:creationId xmlns:a16="http://schemas.microsoft.com/office/drawing/2014/main" id="{58C5A39F-407D-4D49-A616-AC65A189AA38}"/>
              </a:ext>
            </a:extLst>
          </p:cNvPr>
          <p:cNvSpPr>
            <a:spLocks noGrp="1"/>
          </p:cNvSpPr>
          <p:nvPr/>
        </p:nvSpPr>
        <p:spPr>
          <a:xfrm>
            <a:off x="609600" y="38100"/>
            <a:ext cx="3429000" cy="190500"/>
          </a:xfrm>
          <a:prstGeom prst="rect">
            <a:avLst/>
          </a:prstGeom>
          <a:noFill/>
          <a:ln w="0">
            <a:noFill/>
            <a:prstDash val="solid"/>
          </a:ln>
        </p:spPr>
        <p:txBody>
          <a:bodyPr wrap="square" lIns="0" tIns="0" rIns="0" bIns="0" anchor="t">
            <a:normAutofit/>
          </a:bodyPr>
          <a:lstStyle/>
          <a:p>
            <a:pPr algn="l">
              <a:buNone/>
              <a:defRPr sz="975" b="1" i="0">
                <a:solidFill>
                  <a:srgbClr val="111111"/>
                </a:solidFill>
                <a:latin typeface="Consolas"/>
                <a:ea typeface="Consolas"/>
                <a:cs typeface="Consolas"/>
              </a:defRPr>
            </a:pPr>
            <a:r>
              <a:rPr sz="975" b="1" i="0">
                <a:solidFill>
                  <a:srgbClr val="111111"/>
                </a:solidFill>
                <a:latin typeface="Consolas"/>
                <a:ea typeface="Consolas"/>
                <a:cs typeface="Consolas"/>
              </a:rPr>
              <a:t>16 / MIGRATION</a:t>
            </a:r>
          </a:p>
        </p:txBody>
      </p:sp>
      <p:sp>
        <p:nvSpPr>
          <p:cNvPr id="4" name="Rectangle 3">
            <a:extLst>
              <a:ext uri="{FF2B5EF4-FFF2-40B4-BE49-F238E27FC236}">
                <a16:creationId xmlns:a16="http://schemas.microsoft.com/office/drawing/2014/main" id="{99571B06-49C0-4B1C-A468-ECCD212E2AC3}"/>
              </a:ext>
            </a:extLst>
          </p:cNvPr>
          <p:cNvSpPr>
            <a:spLocks noGrp="1"/>
          </p:cNvSpPr>
          <p:nvPr/>
        </p:nvSpPr>
        <p:spPr>
          <a:xfrm>
            <a:off x="609600" y="428625"/>
            <a:ext cx="10572750" cy="1028700"/>
          </a:xfrm>
          <a:prstGeom prst="rect">
            <a:avLst/>
          </a:prstGeom>
          <a:noFill/>
          <a:ln w="0">
            <a:noFill/>
            <a:prstDash val="solid"/>
          </a:ln>
        </p:spPr>
        <p:txBody>
          <a:bodyPr wrap="square" lIns="0" tIns="0" rIns="0" bIns="0" anchor="t">
            <a:noAutofit/>
          </a:bodyPr>
          <a:lstStyle/>
          <a:p>
            <a:pPr algn="l">
              <a:buNone/>
              <a:defRPr sz="3300" b="1" i="0">
                <a:solidFill>
                  <a:srgbClr val="111111"/>
                </a:solidFill>
                <a:latin typeface="Arial"/>
                <a:ea typeface="Arial"/>
                <a:cs typeface="Arial"/>
              </a:defRPr>
            </a:pPr>
            <a:r>
              <a:rPr sz="3300" b="1" i="0">
                <a:solidFill>
                  <a:srgbClr val="111111"/>
                </a:solidFill>
                <a:latin typeface="Arial"/>
                <a:ea typeface="Arial"/>
                <a:cs typeface="Arial"/>
              </a:rPr>
              <a:t>Apigee A0–A6 moves the full object and state graph</a:t>
            </a:r>
          </a:p>
        </p:txBody>
      </p:sp>
      <p:sp>
        <p:nvSpPr>
          <p:cNvPr id="5" name="Rectangle 4">
            <a:extLst>
              <a:ext uri="{FF2B5EF4-FFF2-40B4-BE49-F238E27FC236}">
                <a16:creationId xmlns:a16="http://schemas.microsoft.com/office/drawing/2014/main" id="{A0C09A5F-FC68-42AD-8FF3-E62ECBF112B3}"/>
              </a:ext>
            </a:extLst>
          </p:cNvPr>
          <p:cNvSpPr>
            <a:spLocks noGrp="1"/>
          </p:cNvSpPr>
          <p:nvPr/>
        </p:nvSpPr>
        <p:spPr>
          <a:xfrm>
            <a:off x="628650" y="1514475"/>
            <a:ext cx="10382250" cy="323850"/>
          </a:xfrm>
          <a:prstGeom prst="rect">
            <a:avLst/>
          </a:prstGeom>
          <a:noFill/>
          <a:ln w="0">
            <a:noFill/>
            <a:prstDash val="solid"/>
          </a:ln>
        </p:spPr>
        <p:txBody>
          <a:bodyPr wrap="square" lIns="19050" tIns="9525" rIns="19050" bIns="9525" anchor="ctr">
            <a:normAutofit/>
          </a:bodyPr>
          <a:lstStyle/>
          <a:p>
            <a:pPr algn="l">
              <a:lnSpc>
                <a:spcPct val="100000"/>
              </a:lnSpc>
              <a:buNone/>
              <a:defRPr sz="1500" b="0" i="0">
                <a:solidFill>
                  <a:srgbClr val="686A66"/>
                </a:solidFill>
                <a:latin typeface="Arial"/>
                <a:ea typeface="Arial"/>
                <a:cs typeface="Arial"/>
              </a:defRPr>
            </a:pPr>
            <a:r>
              <a:rPr sz="1500" b="0" i="0">
                <a:solidFill>
                  <a:srgbClr val="686A66"/>
                </a:solidFill>
                <a:latin typeface="Arial"/>
                <a:ea typeface="Arial"/>
                <a:cs typeface="Arial"/>
              </a:rPr>
              <a:t>Seven evidence gates—not proxy-bundle conversion. Mule M0–M5 remains the responsibility/state counterpart.</a:t>
            </a:r>
          </a:p>
        </p:txBody>
      </p:sp>
      <p:sp>
        <p:nvSpPr>
          <p:cNvPr id="6" name="Rectangle 5">
            <a:extLst>
              <a:ext uri="{FF2B5EF4-FFF2-40B4-BE49-F238E27FC236}">
                <a16:creationId xmlns:a16="http://schemas.microsoft.com/office/drawing/2014/main" id="{5D39D3F6-7474-4D92-8C82-388EF1A153FA}"/>
              </a:ext>
            </a:extLst>
          </p:cNvPr>
          <p:cNvSpPr>
            <a:spLocks noGrp="1"/>
          </p:cNvSpPr>
          <p:nvPr/>
        </p:nvSpPr>
        <p:spPr>
          <a:xfrm>
            <a:off x="609600" y="1905000"/>
            <a:ext cx="10972800" cy="9525"/>
          </a:xfrm>
          <a:prstGeom prst="rect">
            <a:avLst/>
          </a:prstGeom>
          <a:solidFill>
            <a:srgbClr val="8A8B86"/>
          </a:solidFill>
          <a:ln w="0">
            <a:noFill/>
            <a:prstDash val="solid"/>
          </a:ln>
        </p:spPr>
        <p:txBody>
          <a:bodyPr/>
          <a:lstStyle/>
          <a:p>
            <a:endParaRPr lang="en-US"/>
          </a:p>
        </p:txBody>
      </p:sp>
      <p:sp>
        <p:nvSpPr>
          <p:cNvPr id="7" name="Rectangle 6">
            <a:extLst>
              <a:ext uri="{FF2B5EF4-FFF2-40B4-BE49-F238E27FC236}">
                <a16:creationId xmlns:a16="http://schemas.microsoft.com/office/drawing/2014/main" id="{3C0A9584-0A08-44FE-866E-B8E341F4439D}"/>
              </a:ext>
            </a:extLst>
          </p:cNvPr>
          <p:cNvSpPr>
            <a:spLocks noGrp="1"/>
          </p:cNvSpPr>
          <p:nvPr/>
        </p:nvSpPr>
        <p:spPr>
          <a:xfrm>
            <a:off x="609600" y="6524625"/>
            <a:ext cx="8858250" cy="180975"/>
          </a:xfrm>
          <a:prstGeom prst="rect">
            <a:avLst/>
          </a:prstGeom>
          <a:noFill/>
          <a:ln w="0">
            <a:noFill/>
            <a:prstDash val="solid"/>
          </a:ln>
        </p:spPr>
        <p:txBody>
          <a:bodyPr wrap="square" lIns="0" tIns="0" rIns="0" bIns="0" anchor="ctr">
            <a:normAutofit/>
          </a:bodyPr>
          <a:lstStyle/>
          <a:p>
            <a:pPr>
              <a:buNone/>
              <a:defRPr sz="825">
                <a:solidFill>
                  <a:srgbClr val="666762"/>
                </a:solidFill>
              </a:defRPr>
            </a:pPr>
            <a:r>
              <a:rPr sz="825" b="1">
                <a:solidFill>
                  <a:srgbClr val="666762"/>
                </a:solidFill>
              </a:rPr>
              <a:t>REFERENCES  </a:t>
            </a:r>
            <a:r>
              <a:rPr sz="825" u="sng">
                <a:solidFill>
                  <a:srgbClr val="666762"/>
                </a:solidFill>
                <a:hlinkClick r:id="rId3"/>
              </a:rPr>
              <a:t>Repo reference</a:t>
            </a:r>
            <a:r>
              <a:rPr sz="825">
                <a:solidFill>
                  <a:srgbClr val="666762"/>
                </a:solidFill>
              </a:rPr>
              <a:t>  ·  </a:t>
            </a:r>
            <a:r>
              <a:rPr sz="825" u="sng">
                <a:solidFill>
                  <a:srgbClr val="666762"/>
                </a:solidFill>
                <a:hlinkClick r:id="rId4"/>
              </a:rPr>
              <a:t>Official docs</a:t>
            </a:r>
          </a:p>
        </p:txBody>
      </p:sp>
      <p:sp>
        <p:nvSpPr>
          <p:cNvPr id="8" name="Rectangle 7">
            <a:extLst>
              <a:ext uri="{FF2B5EF4-FFF2-40B4-BE49-F238E27FC236}">
                <a16:creationId xmlns:a16="http://schemas.microsoft.com/office/drawing/2014/main" id="{F227FDD5-0398-40B2-86AD-0FECE54EE59C}"/>
              </a:ext>
            </a:extLst>
          </p:cNvPr>
          <p:cNvSpPr>
            <a:spLocks noGrp="1"/>
          </p:cNvSpPr>
          <p:nvPr/>
        </p:nvSpPr>
        <p:spPr>
          <a:xfrm>
            <a:off x="10287000" y="6486525"/>
            <a:ext cx="1295400" cy="209550"/>
          </a:xfrm>
          <a:prstGeom prst="rect">
            <a:avLst/>
          </a:prstGeom>
          <a:noFill/>
          <a:ln w="0">
            <a:noFill/>
            <a:prstDash val="solid"/>
          </a:ln>
        </p:spPr>
        <p:txBody>
          <a:bodyPr wrap="square" lIns="0" tIns="0" rIns="0" bIns="0" anchor="t">
            <a:normAutofit/>
          </a:bodyPr>
          <a:lstStyle/>
          <a:p>
            <a:pPr algn="r">
              <a:buNone/>
              <a:defRPr sz="975" b="1" i="0">
                <a:solidFill>
                  <a:srgbClr val="686A66"/>
                </a:solidFill>
                <a:latin typeface="Consolas"/>
                <a:ea typeface="Consolas"/>
                <a:cs typeface="Consolas"/>
              </a:defRPr>
            </a:pPr>
            <a:r>
              <a:rPr sz="975" b="1" i="0">
                <a:solidFill>
                  <a:srgbClr val="686A66"/>
                </a:solidFill>
                <a:latin typeface="Consolas"/>
                <a:ea typeface="Consolas"/>
                <a:cs typeface="Consolas"/>
              </a:rPr>
              <a:t>16 / 25</a:t>
            </a:r>
          </a:p>
        </p:txBody>
      </p:sp>
      <p:sp>
        <p:nvSpPr>
          <p:cNvPr id="58" name="apigee-roadmap-banner">
            <a:extLst>
              <a:ext uri="{FF2B5EF4-FFF2-40B4-BE49-F238E27FC236}">
                <a16:creationId xmlns:a16="http://schemas.microsoft.com/office/drawing/2014/main" id="{8BA9969C-E283-4C80-8496-F237A14FC258}"/>
              </a:ext>
            </a:extLst>
          </p:cNvPr>
          <p:cNvSpPr>
            <a:spLocks noGrp="1"/>
          </p:cNvSpPr>
          <p:nvPr/>
        </p:nvSpPr>
        <p:spPr>
          <a:xfrm>
            <a:off x="609600" y="2095500"/>
            <a:ext cx="10972800" cy="361950"/>
          </a:xfrm>
          <a:prstGeom prst="rect">
            <a:avLst/>
          </a:prstGeom>
          <a:solidFill>
            <a:srgbClr val="5537D6"/>
          </a:solidFill>
          <a:ln w="9525">
            <a:solidFill>
              <a:srgbClr val="5537D6"/>
            </a:solidFill>
            <a:prstDash val="solid"/>
          </a:ln>
        </p:spPr>
        <p:txBody>
          <a:bodyPr/>
          <a:lstStyle/>
          <a:p>
            <a:endParaRPr lang="en-US"/>
          </a:p>
        </p:txBody>
      </p:sp>
      <p:sp>
        <p:nvSpPr>
          <p:cNvPr id="59" name="apigee-roadmap-banner-text">
            <a:extLst>
              <a:ext uri="{FF2B5EF4-FFF2-40B4-BE49-F238E27FC236}">
                <a16:creationId xmlns:a16="http://schemas.microsoft.com/office/drawing/2014/main" id="{A9589A5F-63F9-4F3C-A1A1-62779F1A8065}"/>
              </a:ext>
            </a:extLst>
          </p:cNvPr>
          <p:cNvSpPr>
            <a:spLocks noGrp="1"/>
          </p:cNvSpPr>
          <p:nvPr/>
        </p:nvSpPr>
        <p:spPr>
          <a:xfrm>
            <a:off x="742950" y="2114550"/>
            <a:ext cx="10706100" cy="323850"/>
          </a:xfrm>
          <a:prstGeom prst="rect">
            <a:avLst/>
          </a:prstGeom>
          <a:noFill/>
          <a:ln w="0">
            <a:solidFill>
              <a:srgbClr val="FFFCF5"/>
            </a:solidFill>
            <a:prstDash val="solid"/>
          </a:ln>
        </p:spPr>
        <p:txBody>
          <a:bodyPr lIns="28575" tIns="19050" rIns="28575" bIns="19050" anchor="ctr">
            <a:normAutofit/>
          </a:bodyPr>
          <a:lstStyle/>
          <a:p>
            <a:pPr algn="l">
              <a:lnSpc>
                <a:spcPct val="100000"/>
              </a:lnSpc>
              <a:buNone/>
              <a:defRPr sz="1350" b="1">
                <a:solidFill>
                  <a:srgbClr val="FFFFFF"/>
                </a:solidFill>
                <a:latin typeface="Consolas"/>
                <a:ea typeface="Consolas"/>
                <a:cs typeface="Consolas"/>
              </a:defRPr>
            </a:pPr>
            <a:r>
              <a:rPr sz="1350" b="1">
                <a:solidFill>
                  <a:srgbClr val="FFFFFF"/>
                </a:solidFill>
                <a:latin typeface="Consolas"/>
                <a:ea typeface="Consolas"/>
                <a:cs typeface="Consolas"/>
                <a:hlinkClick r:id="rId5"/>
              </a:rPr>
              <a:t>Apigee A0–A6</a:t>
            </a:r>
            <a:r>
              <a:rPr sz="1350" b="1">
                <a:solidFill>
                  <a:srgbClr val="FFFFFF"/>
                </a:solidFill>
                <a:latin typeface="Consolas"/>
                <a:ea typeface="Consolas"/>
                <a:cs typeface="Consolas"/>
              </a:rPr>
              <a:t> · PROPOSED · NOT RUN     Move the full object/state graph—not only proxy bundles</a:t>
            </a:r>
          </a:p>
        </p:txBody>
      </p:sp>
      <p:sp>
        <p:nvSpPr>
          <p:cNvPr id="60" name="apigee-roadmap-arrow-1">
            <a:extLst>
              <a:ext uri="{FF2B5EF4-FFF2-40B4-BE49-F238E27FC236}">
                <a16:creationId xmlns:a16="http://schemas.microsoft.com/office/drawing/2014/main" id="{B3973590-E2CB-401C-B706-120E13D2115A}"/>
              </a:ext>
            </a:extLst>
          </p:cNvPr>
          <p:cNvSpPr>
            <a:spLocks noGrp="1"/>
          </p:cNvSpPr>
          <p:nvPr/>
        </p:nvSpPr>
        <p:spPr>
          <a:xfrm>
            <a:off x="2095500" y="3638550"/>
            <a:ext cx="95250" cy="171450"/>
          </a:xfrm>
          <a:prstGeom prst="rightArrow">
            <a:avLst/>
          </a:prstGeom>
          <a:solidFill>
            <a:srgbClr val="FFC72C"/>
          </a:solidFill>
          <a:ln w="0">
            <a:solidFill>
              <a:srgbClr val="FFC72C"/>
            </a:solidFill>
            <a:prstDash val="solid"/>
          </a:ln>
        </p:spPr>
        <p:txBody>
          <a:bodyPr/>
          <a:lstStyle/>
          <a:p>
            <a:endParaRPr lang="en-US"/>
          </a:p>
        </p:txBody>
      </p:sp>
      <p:sp>
        <p:nvSpPr>
          <p:cNvPr id="61" name="apigee-roadmap-arrow-2">
            <a:extLst>
              <a:ext uri="{FF2B5EF4-FFF2-40B4-BE49-F238E27FC236}">
                <a16:creationId xmlns:a16="http://schemas.microsoft.com/office/drawing/2014/main" id="{6896B777-CCA0-4A49-9C26-8B343442EAAA}"/>
              </a:ext>
            </a:extLst>
          </p:cNvPr>
          <p:cNvSpPr>
            <a:spLocks noGrp="1"/>
          </p:cNvSpPr>
          <p:nvPr/>
        </p:nvSpPr>
        <p:spPr>
          <a:xfrm>
            <a:off x="3676650" y="3638550"/>
            <a:ext cx="95250" cy="171450"/>
          </a:xfrm>
          <a:prstGeom prst="rightArrow">
            <a:avLst/>
          </a:prstGeom>
          <a:solidFill>
            <a:srgbClr val="FFC72C"/>
          </a:solidFill>
          <a:ln w="0">
            <a:solidFill>
              <a:srgbClr val="FFC72C"/>
            </a:solidFill>
            <a:prstDash val="solid"/>
          </a:ln>
        </p:spPr>
        <p:txBody>
          <a:bodyPr/>
          <a:lstStyle/>
          <a:p>
            <a:endParaRPr lang="en-US"/>
          </a:p>
        </p:txBody>
      </p:sp>
      <p:sp>
        <p:nvSpPr>
          <p:cNvPr id="62" name="apigee-roadmap-arrow-3">
            <a:extLst>
              <a:ext uri="{FF2B5EF4-FFF2-40B4-BE49-F238E27FC236}">
                <a16:creationId xmlns:a16="http://schemas.microsoft.com/office/drawing/2014/main" id="{77BC8F74-C181-46C5-84E4-82C68E670B6E}"/>
              </a:ext>
            </a:extLst>
          </p:cNvPr>
          <p:cNvSpPr>
            <a:spLocks noGrp="1"/>
          </p:cNvSpPr>
          <p:nvPr/>
        </p:nvSpPr>
        <p:spPr>
          <a:xfrm>
            <a:off x="5257800" y="3638550"/>
            <a:ext cx="95250" cy="171450"/>
          </a:xfrm>
          <a:prstGeom prst="rightArrow">
            <a:avLst/>
          </a:prstGeom>
          <a:solidFill>
            <a:srgbClr val="FFC72C"/>
          </a:solidFill>
          <a:ln w="0">
            <a:solidFill>
              <a:srgbClr val="FFC72C"/>
            </a:solidFill>
            <a:prstDash val="solid"/>
          </a:ln>
        </p:spPr>
        <p:txBody>
          <a:bodyPr/>
          <a:lstStyle/>
          <a:p>
            <a:endParaRPr lang="en-US"/>
          </a:p>
        </p:txBody>
      </p:sp>
      <p:sp>
        <p:nvSpPr>
          <p:cNvPr id="63" name="apigee-roadmap-arrow-4">
            <a:extLst>
              <a:ext uri="{FF2B5EF4-FFF2-40B4-BE49-F238E27FC236}">
                <a16:creationId xmlns:a16="http://schemas.microsoft.com/office/drawing/2014/main" id="{6EAF42C7-DDE5-4FCA-A214-59AB4F3AE3BF}"/>
              </a:ext>
            </a:extLst>
          </p:cNvPr>
          <p:cNvSpPr>
            <a:spLocks noGrp="1"/>
          </p:cNvSpPr>
          <p:nvPr/>
        </p:nvSpPr>
        <p:spPr>
          <a:xfrm>
            <a:off x="6838950" y="3638550"/>
            <a:ext cx="95250" cy="171450"/>
          </a:xfrm>
          <a:prstGeom prst="rightArrow">
            <a:avLst/>
          </a:prstGeom>
          <a:solidFill>
            <a:srgbClr val="FFC72C"/>
          </a:solidFill>
          <a:ln w="0">
            <a:solidFill>
              <a:srgbClr val="FFC72C"/>
            </a:solidFill>
            <a:prstDash val="solid"/>
          </a:ln>
        </p:spPr>
        <p:txBody>
          <a:bodyPr/>
          <a:lstStyle/>
          <a:p>
            <a:endParaRPr lang="en-US"/>
          </a:p>
        </p:txBody>
      </p:sp>
      <p:sp>
        <p:nvSpPr>
          <p:cNvPr id="64" name="apigee-roadmap-arrow-5">
            <a:extLst>
              <a:ext uri="{FF2B5EF4-FFF2-40B4-BE49-F238E27FC236}">
                <a16:creationId xmlns:a16="http://schemas.microsoft.com/office/drawing/2014/main" id="{70755A01-663E-44B7-A21A-DC1C3C91219D}"/>
              </a:ext>
            </a:extLst>
          </p:cNvPr>
          <p:cNvSpPr>
            <a:spLocks noGrp="1"/>
          </p:cNvSpPr>
          <p:nvPr/>
        </p:nvSpPr>
        <p:spPr>
          <a:xfrm>
            <a:off x="8420100" y="3638550"/>
            <a:ext cx="95250" cy="171450"/>
          </a:xfrm>
          <a:prstGeom prst="rightArrow">
            <a:avLst/>
          </a:prstGeom>
          <a:solidFill>
            <a:srgbClr val="FFC72C"/>
          </a:solidFill>
          <a:ln w="0">
            <a:solidFill>
              <a:srgbClr val="FFC72C"/>
            </a:solidFill>
            <a:prstDash val="solid"/>
          </a:ln>
        </p:spPr>
        <p:txBody>
          <a:bodyPr/>
          <a:lstStyle/>
          <a:p>
            <a:endParaRPr lang="en-US"/>
          </a:p>
        </p:txBody>
      </p:sp>
      <p:sp>
        <p:nvSpPr>
          <p:cNvPr id="65" name="apigee-roadmap-arrow-6">
            <a:extLst>
              <a:ext uri="{FF2B5EF4-FFF2-40B4-BE49-F238E27FC236}">
                <a16:creationId xmlns:a16="http://schemas.microsoft.com/office/drawing/2014/main" id="{A792491B-C092-4F12-A11A-07DFA300210E}"/>
              </a:ext>
            </a:extLst>
          </p:cNvPr>
          <p:cNvSpPr>
            <a:spLocks noGrp="1"/>
          </p:cNvSpPr>
          <p:nvPr/>
        </p:nvSpPr>
        <p:spPr>
          <a:xfrm>
            <a:off x="10001250" y="3638550"/>
            <a:ext cx="95250" cy="171450"/>
          </a:xfrm>
          <a:prstGeom prst="rightArrow">
            <a:avLst/>
          </a:prstGeom>
          <a:solidFill>
            <a:srgbClr val="FFC72C"/>
          </a:solidFill>
          <a:ln w="0">
            <a:solidFill>
              <a:srgbClr val="FFC72C"/>
            </a:solidFill>
            <a:prstDash val="solid"/>
          </a:ln>
        </p:spPr>
        <p:txBody>
          <a:bodyPr/>
          <a:lstStyle/>
          <a:p>
            <a:endParaRPr lang="en-US"/>
          </a:p>
        </p:txBody>
      </p:sp>
      <p:sp>
        <p:nvSpPr>
          <p:cNvPr id="66" name="apigee-phase-A0">
            <a:extLst>
              <a:ext uri="{FF2B5EF4-FFF2-40B4-BE49-F238E27FC236}">
                <a16:creationId xmlns:a16="http://schemas.microsoft.com/office/drawing/2014/main" id="{16A77128-D551-4CCE-8D17-A5800BE7EF46}"/>
              </a:ext>
            </a:extLst>
          </p:cNvPr>
          <p:cNvSpPr>
            <a:spLocks noGrp="1"/>
          </p:cNvSpPr>
          <p:nvPr/>
        </p:nvSpPr>
        <p:spPr>
          <a:xfrm>
            <a:off x="609600" y="2609850"/>
            <a:ext cx="1485900" cy="2381250"/>
          </a:xfrm>
          <a:prstGeom prst="roundRect">
            <a:avLst>
              <a:gd name="adj" fmla="val 5128"/>
            </a:avLst>
          </a:prstGeom>
          <a:solidFill>
            <a:srgbClr val="FFFFFF"/>
          </a:solidFill>
          <a:ln w="14288">
            <a:solidFill>
              <a:srgbClr val="18765A"/>
            </a:solidFill>
            <a:prstDash val="solid"/>
          </a:ln>
        </p:spPr>
        <p:txBody>
          <a:bodyPr/>
          <a:lstStyle/>
          <a:p>
            <a:endParaRPr lang="en-US"/>
          </a:p>
        </p:txBody>
      </p:sp>
      <p:sp>
        <p:nvSpPr>
          <p:cNvPr id="67" name="apigee-phase-code-A0">
            <a:extLst>
              <a:ext uri="{FF2B5EF4-FFF2-40B4-BE49-F238E27FC236}">
                <a16:creationId xmlns:a16="http://schemas.microsoft.com/office/drawing/2014/main" id="{03F2A802-266F-4F8B-949A-BCADE1412283}"/>
              </a:ext>
            </a:extLst>
          </p:cNvPr>
          <p:cNvSpPr>
            <a:spLocks noGrp="1"/>
          </p:cNvSpPr>
          <p:nvPr/>
        </p:nvSpPr>
        <p:spPr>
          <a:xfrm>
            <a:off x="704850" y="2705100"/>
            <a:ext cx="495300" cy="228600"/>
          </a:xfrm>
          <a:prstGeom prst="rect">
            <a:avLst/>
          </a:prstGeom>
          <a:noFill/>
          <a:ln w="0">
            <a:solidFill>
              <a:srgbClr val="FFFCF5"/>
            </a:solidFill>
            <a:prstDash val="solid"/>
          </a:ln>
        </p:spPr>
        <p:txBody>
          <a:bodyPr lIns="28575" tIns="19050" rIns="28575" bIns="19050" anchor="ctr">
            <a:normAutofit fontScale="92593" lnSpcReduction="10000"/>
          </a:bodyPr>
          <a:lstStyle/>
          <a:p>
            <a:pPr algn="l">
              <a:lnSpc>
                <a:spcPct val="100000"/>
              </a:lnSpc>
              <a:buNone/>
              <a:defRPr sz="1350" b="1">
                <a:solidFill>
                  <a:srgbClr val="5537D6"/>
                </a:solidFill>
                <a:latin typeface="Consolas"/>
                <a:ea typeface="Consolas"/>
                <a:cs typeface="Consolas"/>
              </a:defRPr>
            </a:pPr>
            <a:r>
              <a:rPr sz="1350" b="1">
                <a:solidFill>
                  <a:srgbClr val="5537D6"/>
                </a:solidFill>
                <a:latin typeface="Consolas"/>
                <a:ea typeface="Consolas"/>
                <a:cs typeface="Consolas"/>
              </a:rPr>
              <a:t>A0</a:t>
            </a:r>
          </a:p>
        </p:txBody>
      </p:sp>
      <p:sp>
        <p:nvSpPr>
          <p:cNvPr id="68" name="apigee-phase-label-A0">
            <a:extLst>
              <a:ext uri="{FF2B5EF4-FFF2-40B4-BE49-F238E27FC236}">
                <a16:creationId xmlns:a16="http://schemas.microsoft.com/office/drawing/2014/main" id="{292FB90A-EDD6-4200-9BEB-AC2D07F174E7}"/>
              </a:ext>
            </a:extLst>
          </p:cNvPr>
          <p:cNvSpPr>
            <a:spLocks noGrp="1"/>
          </p:cNvSpPr>
          <p:nvPr/>
        </p:nvSpPr>
        <p:spPr>
          <a:xfrm>
            <a:off x="704850" y="2952750"/>
            <a:ext cx="1295400" cy="457200"/>
          </a:xfrm>
          <a:prstGeom prst="rect">
            <a:avLst/>
          </a:prstGeom>
          <a:noFill/>
          <a:ln w="0">
            <a:solidFill>
              <a:srgbClr val="FFFCF5"/>
            </a:solidFill>
            <a:prstDash val="solid"/>
          </a:ln>
        </p:spPr>
        <p:txBody>
          <a:bodyPr lIns="28575" tIns="19050" rIns="28575" bIns="19050" anchor="t">
            <a:normAutofit fontScale="95174" lnSpcReduction="10000"/>
          </a:bodyPr>
          <a:lstStyle/>
          <a:p>
            <a:pPr algn="l">
              <a:lnSpc>
                <a:spcPct val="100000"/>
              </a:lnSpc>
              <a:buNone/>
              <a:defRPr sz="1575" b="1">
                <a:solidFill>
                  <a:srgbClr val="111111"/>
                </a:solidFill>
                <a:latin typeface="Georgia"/>
                <a:ea typeface="Georgia"/>
                <a:cs typeface="Georgia"/>
              </a:defRPr>
            </a:pPr>
            <a:r>
              <a:rPr sz="1575" b="1">
                <a:solidFill>
                  <a:srgbClr val="111111"/>
                </a:solidFill>
                <a:latin typeface="Georgia"/>
                <a:ea typeface="Georgia"/>
                <a:cs typeface="Georgia"/>
              </a:rPr>
              <a:t>Source truth</a:t>
            </a:r>
          </a:p>
        </p:txBody>
      </p:sp>
      <p:sp>
        <p:nvSpPr>
          <p:cNvPr id="69" name="apigee-phase-rule-A0">
            <a:extLst>
              <a:ext uri="{FF2B5EF4-FFF2-40B4-BE49-F238E27FC236}">
                <a16:creationId xmlns:a16="http://schemas.microsoft.com/office/drawing/2014/main" id="{608E46C0-825C-43FA-9255-53A3AC1784C4}"/>
              </a:ext>
            </a:extLst>
          </p:cNvPr>
          <p:cNvSpPr>
            <a:spLocks noGrp="1"/>
          </p:cNvSpPr>
          <p:nvPr/>
        </p:nvSpPr>
        <p:spPr>
          <a:xfrm>
            <a:off x="704850" y="3486150"/>
            <a:ext cx="1295400" cy="0"/>
          </a:xfrm>
          <a:prstGeom prst="line">
            <a:avLst/>
          </a:prstGeom>
          <a:noFill/>
          <a:ln w="9525">
            <a:solidFill>
              <a:srgbClr val="C9C6BD"/>
            </a:solidFill>
            <a:prstDash val="solid"/>
          </a:ln>
        </p:spPr>
        <p:txBody>
          <a:bodyPr/>
          <a:lstStyle/>
          <a:p>
            <a:endParaRPr lang="en-US"/>
          </a:p>
        </p:txBody>
      </p:sp>
      <p:sp>
        <p:nvSpPr>
          <p:cNvPr id="70" name="apigee-phase-exit-label-A0">
            <a:extLst>
              <a:ext uri="{FF2B5EF4-FFF2-40B4-BE49-F238E27FC236}">
                <a16:creationId xmlns:a16="http://schemas.microsoft.com/office/drawing/2014/main" id="{3897F23A-C4F7-4577-B813-8AA6B869FEA4}"/>
              </a:ext>
            </a:extLst>
          </p:cNvPr>
          <p:cNvSpPr>
            <a:spLocks noGrp="1"/>
          </p:cNvSpPr>
          <p:nvPr/>
        </p:nvSpPr>
        <p:spPr>
          <a:xfrm>
            <a:off x="704850" y="3581400"/>
            <a:ext cx="1295400" cy="171450"/>
          </a:xfrm>
          <a:prstGeom prst="rect">
            <a:avLst/>
          </a:prstGeom>
          <a:noFill/>
          <a:ln w="0">
            <a:solidFill>
              <a:srgbClr val="FFFCF5"/>
            </a:solidFill>
            <a:prstDash val="solid"/>
          </a:ln>
        </p:spPr>
        <p:txBody>
          <a:bodyPr lIns="28575" tIns="19050" rIns="28575" bIns="19050" anchor="ctr">
            <a:normAutofit fontScale="89744" lnSpcReduction="10000"/>
          </a:bodyPr>
          <a:lstStyle/>
          <a:p>
            <a:pPr algn="l">
              <a:lnSpc>
                <a:spcPct val="100000"/>
              </a:lnSpc>
              <a:buNone/>
              <a:defRPr sz="975" b="1">
                <a:solidFill>
                  <a:srgbClr val="5537D6"/>
                </a:solidFill>
                <a:latin typeface="Consolas"/>
                <a:ea typeface="Consolas"/>
                <a:cs typeface="Consolas"/>
              </a:defRPr>
            </a:pPr>
            <a:r>
              <a:rPr sz="975" b="1">
                <a:solidFill>
                  <a:srgbClr val="5537D6"/>
                </a:solidFill>
                <a:latin typeface="Consolas"/>
                <a:ea typeface="Consolas"/>
                <a:cs typeface="Consolas"/>
              </a:rPr>
              <a:t>EXIT EVIDENCE</a:t>
            </a:r>
          </a:p>
        </p:txBody>
      </p:sp>
      <p:sp>
        <p:nvSpPr>
          <p:cNvPr id="71" name="apigee-phase-exit-A0">
            <a:extLst>
              <a:ext uri="{FF2B5EF4-FFF2-40B4-BE49-F238E27FC236}">
                <a16:creationId xmlns:a16="http://schemas.microsoft.com/office/drawing/2014/main" id="{693C6485-B69F-454B-AC61-F1EE21763E04}"/>
              </a:ext>
            </a:extLst>
          </p:cNvPr>
          <p:cNvSpPr>
            <a:spLocks noGrp="1"/>
          </p:cNvSpPr>
          <p:nvPr/>
        </p:nvSpPr>
        <p:spPr>
          <a:xfrm>
            <a:off x="704850" y="3810000"/>
            <a:ext cx="1295400" cy="990600"/>
          </a:xfrm>
          <a:prstGeom prst="rect">
            <a:avLst/>
          </a:prstGeom>
          <a:noFill/>
          <a:ln w="0">
            <a:solidFill>
              <a:srgbClr val="FFFCF5"/>
            </a:solidFill>
            <a:prstDash val="solid"/>
          </a:ln>
        </p:spPr>
        <p:txBody>
          <a:bodyPr lIns="28575" tIns="19050" rIns="28575" bIns="19050" anchor="t">
            <a:normAutofit/>
          </a:bodyPr>
          <a:lstStyle/>
          <a:p>
            <a:pPr algn="l">
              <a:lnSpc>
                <a:spcPct val="100000"/>
              </a:lnSpc>
              <a:buNone/>
              <a:defRPr sz="1200" b="0">
                <a:solidFill>
                  <a:srgbClr val="686A66"/>
                </a:solidFill>
                <a:latin typeface="Arial"/>
                <a:ea typeface="Arial"/>
                <a:cs typeface="Arial"/>
              </a:defRPr>
            </a:pPr>
            <a:r>
              <a:rPr sz="1200" b="0">
                <a:solidFill>
                  <a:srgbClr val="686A66"/>
                </a:solidFill>
                <a:latin typeface="Arial"/>
                <a:ea typeface="Arial"/>
                <a:cs typeface="Arial"/>
              </a:rPr>
              <a:t>Reconciled object, state, traffic and owner denominator</a:t>
            </a:r>
          </a:p>
        </p:txBody>
      </p:sp>
      <p:sp>
        <p:nvSpPr>
          <p:cNvPr id="72" name="apigee-phase-A1">
            <a:extLst>
              <a:ext uri="{FF2B5EF4-FFF2-40B4-BE49-F238E27FC236}">
                <a16:creationId xmlns:a16="http://schemas.microsoft.com/office/drawing/2014/main" id="{E17886CB-6162-4951-92E6-348725F32D30}"/>
              </a:ext>
            </a:extLst>
          </p:cNvPr>
          <p:cNvSpPr>
            <a:spLocks noGrp="1"/>
          </p:cNvSpPr>
          <p:nvPr/>
        </p:nvSpPr>
        <p:spPr>
          <a:xfrm>
            <a:off x="2190750" y="2609850"/>
            <a:ext cx="1485900" cy="2381250"/>
          </a:xfrm>
          <a:prstGeom prst="roundRect">
            <a:avLst>
              <a:gd name="adj" fmla="val 5128"/>
            </a:avLst>
          </a:prstGeom>
          <a:solidFill>
            <a:srgbClr val="FFFFFF"/>
          </a:solidFill>
          <a:ln w="14288">
            <a:solidFill>
              <a:srgbClr val="18765A"/>
            </a:solidFill>
            <a:prstDash val="solid"/>
          </a:ln>
        </p:spPr>
        <p:txBody>
          <a:bodyPr/>
          <a:lstStyle/>
          <a:p>
            <a:endParaRPr lang="en-US"/>
          </a:p>
        </p:txBody>
      </p:sp>
      <p:sp>
        <p:nvSpPr>
          <p:cNvPr id="73" name="apigee-phase-code-A1">
            <a:extLst>
              <a:ext uri="{FF2B5EF4-FFF2-40B4-BE49-F238E27FC236}">
                <a16:creationId xmlns:a16="http://schemas.microsoft.com/office/drawing/2014/main" id="{1907725C-C876-4481-8524-2E6B7D32A698}"/>
              </a:ext>
            </a:extLst>
          </p:cNvPr>
          <p:cNvSpPr>
            <a:spLocks noGrp="1"/>
          </p:cNvSpPr>
          <p:nvPr/>
        </p:nvSpPr>
        <p:spPr>
          <a:xfrm>
            <a:off x="2286000" y="2705100"/>
            <a:ext cx="495300" cy="228600"/>
          </a:xfrm>
          <a:prstGeom prst="rect">
            <a:avLst/>
          </a:prstGeom>
          <a:noFill/>
          <a:ln w="0">
            <a:solidFill>
              <a:srgbClr val="FFFCF5"/>
            </a:solidFill>
            <a:prstDash val="solid"/>
          </a:ln>
        </p:spPr>
        <p:txBody>
          <a:bodyPr lIns="28575" tIns="19050" rIns="28575" bIns="19050" anchor="ctr">
            <a:normAutofit fontScale="92593" lnSpcReduction="10000"/>
          </a:bodyPr>
          <a:lstStyle/>
          <a:p>
            <a:pPr algn="l">
              <a:lnSpc>
                <a:spcPct val="100000"/>
              </a:lnSpc>
              <a:buNone/>
              <a:defRPr sz="1350" b="1">
                <a:solidFill>
                  <a:srgbClr val="5537D6"/>
                </a:solidFill>
                <a:latin typeface="Consolas"/>
                <a:ea typeface="Consolas"/>
                <a:cs typeface="Consolas"/>
              </a:defRPr>
            </a:pPr>
            <a:r>
              <a:rPr sz="1350" b="1">
                <a:solidFill>
                  <a:srgbClr val="5537D6"/>
                </a:solidFill>
                <a:latin typeface="Consolas"/>
                <a:ea typeface="Consolas"/>
                <a:cs typeface="Consolas"/>
              </a:rPr>
              <a:t>A1</a:t>
            </a:r>
          </a:p>
        </p:txBody>
      </p:sp>
      <p:sp>
        <p:nvSpPr>
          <p:cNvPr id="74" name="apigee-phase-label-A1">
            <a:extLst>
              <a:ext uri="{FF2B5EF4-FFF2-40B4-BE49-F238E27FC236}">
                <a16:creationId xmlns:a16="http://schemas.microsoft.com/office/drawing/2014/main" id="{2452B356-061B-483C-95EA-59331B0A5E36}"/>
              </a:ext>
            </a:extLst>
          </p:cNvPr>
          <p:cNvSpPr>
            <a:spLocks noGrp="1"/>
          </p:cNvSpPr>
          <p:nvPr/>
        </p:nvSpPr>
        <p:spPr>
          <a:xfrm>
            <a:off x="2286000" y="2952750"/>
            <a:ext cx="1295400" cy="457200"/>
          </a:xfrm>
          <a:prstGeom prst="rect">
            <a:avLst/>
          </a:prstGeom>
          <a:noFill/>
          <a:ln w="0">
            <a:solidFill>
              <a:srgbClr val="FFFCF5"/>
            </a:solidFill>
            <a:prstDash val="solid"/>
          </a:ln>
        </p:spPr>
        <p:txBody>
          <a:bodyPr lIns="28575" tIns="19050" rIns="28575" bIns="19050" anchor="t">
            <a:normAutofit fontScale="87302" lnSpcReduction="10000"/>
          </a:bodyPr>
          <a:lstStyle/>
          <a:p>
            <a:pPr algn="l">
              <a:lnSpc>
                <a:spcPct val="100000"/>
              </a:lnSpc>
              <a:buNone/>
              <a:defRPr sz="1575" b="1">
                <a:solidFill>
                  <a:srgbClr val="111111"/>
                </a:solidFill>
                <a:latin typeface="Georgia"/>
                <a:ea typeface="Georgia"/>
                <a:cs typeface="Georgia"/>
              </a:defRPr>
            </a:pPr>
            <a:r>
              <a:rPr sz="1575" b="1">
                <a:solidFill>
                  <a:srgbClr val="111111"/>
                </a:solidFill>
                <a:latin typeface="Georgia"/>
                <a:ea typeface="Georgia"/>
                <a:cs typeface="Georgia"/>
              </a:rPr>
              <a:t>Semantic map</a:t>
            </a:r>
          </a:p>
        </p:txBody>
      </p:sp>
      <p:sp>
        <p:nvSpPr>
          <p:cNvPr id="75" name="apigee-phase-rule-A1">
            <a:extLst>
              <a:ext uri="{FF2B5EF4-FFF2-40B4-BE49-F238E27FC236}">
                <a16:creationId xmlns:a16="http://schemas.microsoft.com/office/drawing/2014/main" id="{2F3332AC-247B-439B-BB95-7C31D12BFE09}"/>
              </a:ext>
            </a:extLst>
          </p:cNvPr>
          <p:cNvSpPr>
            <a:spLocks noGrp="1"/>
          </p:cNvSpPr>
          <p:nvPr/>
        </p:nvSpPr>
        <p:spPr>
          <a:xfrm>
            <a:off x="2286000" y="3486150"/>
            <a:ext cx="1295400" cy="0"/>
          </a:xfrm>
          <a:prstGeom prst="line">
            <a:avLst/>
          </a:prstGeom>
          <a:noFill/>
          <a:ln w="9525">
            <a:solidFill>
              <a:srgbClr val="C9C6BD"/>
            </a:solidFill>
            <a:prstDash val="solid"/>
          </a:ln>
        </p:spPr>
        <p:txBody>
          <a:bodyPr/>
          <a:lstStyle/>
          <a:p>
            <a:endParaRPr lang="en-US"/>
          </a:p>
        </p:txBody>
      </p:sp>
      <p:sp>
        <p:nvSpPr>
          <p:cNvPr id="76" name="apigee-phase-exit-label-A1">
            <a:extLst>
              <a:ext uri="{FF2B5EF4-FFF2-40B4-BE49-F238E27FC236}">
                <a16:creationId xmlns:a16="http://schemas.microsoft.com/office/drawing/2014/main" id="{36AF2F0E-13F6-49C0-B5F2-4F53A5060147}"/>
              </a:ext>
            </a:extLst>
          </p:cNvPr>
          <p:cNvSpPr>
            <a:spLocks noGrp="1"/>
          </p:cNvSpPr>
          <p:nvPr/>
        </p:nvSpPr>
        <p:spPr>
          <a:xfrm>
            <a:off x="2286000" y="3581400"/>
            <a:ext cx="1295400" cy="171450"/>
          </a:xfrm>
          <a:prstGeom prst="rect">
            <a:avLst/>
          </a:prstGeom>
          <a:noFill/>
          <a:ln w="0">
            <a:solidFill>
              <a:srgbClr val="FFFCF5"/>
            </a:solidFill>
            <a:prstDash val="solid"/>
          </a:ln>
        </p:spPr>
        <p:txBody>
          <a:bodyPr lIns="28575" tIns="19050" rIns="28575" bIns="19050" anchor="ctr">
            <a:normAutofit fontScale="89744" lnSpcReduction="10000"/>
          </a:bodyPr>
          <a:lstStyle/>
          <a:p>
            <a:pPr algn="l">
              <a:lnSpc>
                <a:spcPct val="100000"/>
              </a:lnSpc>
              <a:buNone/>
              <a:defRPr sz="975" b="1">
                <a:solidFill>
                  <a:srgbClr val="5537D6"/>
                </a:solidFill>
                <a:latin typeface="Consolas"/>
                <a:ea typeface="Consolas"/>
                <a:cs typeface="Consolas"/>
              </a:defRPr>
            </a:pPr>
            <a:r>
              <a:rPr sz="975" b="1">
                <a:solidFill>
                  <a:srgbClr val="5537D6"/>
                </a:solidFill>
                <a:latin typeface="Consolas"/>
                <a:ea typeface="Consolas"/>
                <a:cs typeface="Consolas"/>
              </a:rPr>
              <a:t>EXIT EVIDENCE</a:t>
            </a:r>
          </a:p>
        </p:txBody>
      </p:sp>
      <p:sp>
        <p:nvSpPr>
          <p:cNvPr id="77" name="apigee-phase-exit-A1">
            <a:extLst>
              <a:ext uri="{FF2B5EF4-FFF2-40B4-BE49-F238E27FC236}">
                <a16:creationId xmlns:a16="http://schemas.microsoft.com/office/drawing/2014/main" id="{04116DC8-BF33-4A52-8B66-789775BB4AB4}"/>
              </a:ext>
            </a:extLst>
          </p:cNvPr>
          <p:cNvSpPr>
            <a:spLocks noGrp="1"/>
          </p:cNvSpPr>
          <p:nvPr/>
        </p:nvSpPr>
        <p:spPr>
          <a:xfrm>
            <a:off x="2286000" y="3810000"/>
            <a:ext cx="1295400" cy="990600"/>
          </a:xfrm>
          <a:prstGeom prst="rect">
            <a:avLst/>
          </a:prstGeom>
          <a:noFill/>
          <a:ln w="0">
            <a:solidFill>
              <a:srgbClr val="FFFCF5"/>
            </a:solidFill>
            <a:prstDash val="solid"/>
          </a:ln>
        </p:spPr>
        <p:txBody>
          <a:bodyPr lIns="28575" tIns="19050" rIns="28575" bIns="19050" anchor="t">
            <a:normAutofit/>
          </a:bodyPr>
          <a:lstStyle/>
          <a:p>
            <a:pPr algn="l">
              <a:lnSpc>
                <a:spcPct val="100000"/>
              </a:lnSpc>
              <a:buNone/>
              <a:defRPr sz="1200" b="0">
                <a:solidFill>
                  <a:srgbClr val="686A66"/>
                </a:solidFill>
                <a:latin typeface="Arial"/>
                <a:ea typeface="Arial"/>
                <a:cs typeface="Arial"/>
              </a:defRPr>
            </a:pPr>
            <a:r>
              <a:rPr sz="1200" b="0">
                <a:solidFill>
                  <a:srgbClr val="686A66"/>
                </a:solidFill>
                <a:latin typeface="Arial"/>
                <a:ea typeface="Arial"/>
                <a:cs typeface="Arial"/>
              </a:rPr>
              <a:t>Approved disposition, precedence and state authority</a:t>
            </a:r>
          </a:p>
        </p:txBody>
      </p:sp>
      <p:sp>
        <p:nvSpPr>
          <p:cNvPr id="78" name="apigee-phase-A2">
            <a:extLst>
              <a:ext uri="{FF2B5EF4-FFF2-40B4-BE49-F238E27FC236}">
                <a16:creationId xmlns:a16="http://schemas.microsoft.com/office/drawing/2014/main" id="{A6B40ED8-9590-4917-86DE-7973BC14106B}"/>
              </a:ext>
            </a:extLst>
          </p:cNvPr>
          <p:cNvSpPr>
            <a:spLocks noGrp="1"/>
          </p:cNvSpPr>
          <p:nvPr/>
        </p:nvSpPr>
        <p:spPr>
          <a:xfrm>
            <a:off x="3771900" y="2609850"/>
            <a:ext cx="1485900" cy="2381250"/>
          </a:xfrm>
          <a:prstGeom prst="roundRect">
            <a:avLst>
              <a:gd name="adj" fmla="val 5128"/>
            </a:avLst>
          </a:prstGeom>
          <a:solidFill>
            <a:srgbClr val="FFFFFF"/>
          </a:solidFill>
          <a:ln w="14288">
            <a:solidFill>
              <a:srgbClr val="18765A"/>
            </a:solidFill>
            <a:prstDash val="solid"/>
          </a:ln>
        </p:spPr>
        <p:txBody>
          <a:bodyPr/>
          <a:lstStyle/>
          <a:p>
            <a:endParaRPr lang="en-US"/>
          </a:p>
        </p:txBody>
      </p:sp>
      <p:sp>
        <p:nvSpPr>
          <p:cNvPr id="79" name="apigee-phase-code-A2">
            <a:extLst>
              <a:ext uri="{FF2B5EF4-FFF2-40B4-BE49-F238E27FC236}">
                <a16:creationId xmlns:a16="http://schemas.microsoft.com/office/drawing/2014/main" id="{FA3A13AE-BF99-4E3F-9A24-3E9F51AAA38B}"/>
              </a:ext>
            </a:extLst>
          </p:cNvPr>
          <p:cNvSpPr>
            <a:spLocks noGrp="1"/>
          </p:cNvSpPr>
          <p:nvPr/>
        </p:nvSpPr>
        <p:spPr>
          <a:xfrm>
            <a:off x="3867150" y="2705100"/>
            <a:ext cx="495300" cy="228600"/>
          </a:xfrm>
          <a:prstGeom prst="rect">
            <a:avLst/>
          </a:prstGeom>
          <a:noFill/>
          <a:ln w="0">
            <a:solidFill>
              <a:srgbClr val="FFFCF5"/>
            </a:solidFill>
            <a:prstDash val="solid"/>
          </a:ln>
        </p:spPr>
        <p:txBody>
          <a:bodyPr lIns="28575" tIns="19050" rIns="28575" bIns="19050" anchor="ctr">
            <a:normAutofit fontScale="92593" lnSpcReduction="10000"/>
          </a:bodyPr>
          <a:lstStyle/>
          <a:p>
            <a:pPr algn="l">
              <a:lnSpc>
                <a:spcPct val="100000"/>
              </a:lnSpc>
              <a:buNone/>
              <a:defRPr sz="1350" b="1">
                <a:solidFill>
                  <a:srgbClr val="5537D6"/>
                </a:solidFill>
                <a:latin typeface="Consolas"/>
                <a:ea typeface="Consolas"/>
                <a:cs typeface="Consolas"/>
              </a:defRPr>
            </a:pPr>
            <a:r>
              <a:rPr sz="1350" b="1">
                <a:solidFill>
                  <a:srgbClr val="5537D6"/>
                </a:solidFill>
                <a:latin typeface="Consolas"/>
                <a:ea typeface="Consolas"/>
                <a:cs typeface="Consolas"/>
              </a:rPr>
              <a:t>A2</a:t>
            </a:r>
          </a:p>
        </p:txBody>
      </p:sp>
      <p:sp>
        <p:nvSpPr>
          <p:cNvPr id="80" name="apigee-phase-label-A2">
            <a:extLst>
              <a:ext uri="{FF2B5EF4-FFF2-40B4-BE49-F238E27FC236}">
                <a16:creationId xmlns:a16="http://schemas.microsoft.com/office/drawing/2014/main" id="{081AB4C2-CB0C-4FE3-96C1-BEDD8589AF34}"/>
              </a:ext>
            </a:extLst>
          </p:cNvPr>
          <p:cNvSpPr>
            <a:spLocks noGrp="1"/>
          </p:cNvSpPr>
          <p:nvPr/>
        </p:nvSpPr>
        <p:spPr>
          <a:xfrm>
            <a:off x="3867150" y="2952750"/>
            <a:ext cx="1295400" cy="457200"/>
          </a:xfrm>
          <a:prstGeom prst="rect">
            <a:avLst/>
          </a:prstGeom>
          <a:noFill/>
          <a:ln w="0">
            <a:solidFill>
              <a:srgbClr val="FFFCF5"/>
            </a:solidFill>
            <a:prstDash val="solid"/>
          </a:ln>
        </p:spPr>
        <p:txBody>
          <a:bodyPr lIns="28575" tIns="19050" rIns="28575" bIns="19050" anchor="t">
            <a:normAutofit fontScale="87302" lnSpcReduction="10000"/>
          </a:bodyPr>
          <a:lstStyle/>
          <a:p>
            <a:pPr algn="l">
              <a:lnSpc>
                <a:spcPct val="100000"/>
              </a:lnSpc>
              <a:buNone/>
              <a:defRPr sz="1575" b="1">
                <a:solidFill>
                  <a:srgbClr val="111111"/>
                </a:solidFill>
                <a:latin typeface="Georgia"/>
                <a:ea typeface="Georgia"/>
                <a:cs typeface="Georgia"/>
              </a:defRPr>
            </a:pPr>
            <a:r>
              <a:rPr sz="1575" b="1">
                <a:solidFill>
                  <a:srgbClr val="111111"/>
                </a:solidFill>
                <a:latin typeface="Georgia"/>
                <a:ea typeface="Georgia"/>
                <a:cs typeface="Georgia"/>
              </a:rPr>
              <a:t>Reversible target</a:t>
            </a:r>
          </a:p>
        </p:txBody>
      </p:sp>
      <p:sp>
        <p:nvSpPr>
          <p:cNvPr id="81" name="apigee-phase-rule-A2">
            <a:extLst>
              <a:ext uri="{FF2B5EF4-FFF2-40B4-BE49-F238E27FC236}">
                <a16:creationId xmlns:a16="http://schemas.microsoft.com/office/drawing/2014/main" id="{DA59D1DF-32E6-49A1-AB24-ADFDEC3E896E}"/>
              </a:ext>
            </a:extLst>
          </p:cNvPr>
          <p:cNvSpPr>
            <a:spLocks noGrp="1"/>
          </p:cNvSpPr>
          <p:nvPr/>
        </p:nvSpPr>
        <p:spPr>
          <a:xfrm>
            <a:off x="3867150" y="3486150"/>
            <a:ext cx="1295400" cy="0"/>
          </a:xfrm>
          <a:prstGeom prst="line">
            <a:avLst/>
          </a:prstGeom>
          <a:noFill/>
          <a:ln w="9525">
            <a:solidFill>
              <a:srgbClr val="C9C6BD"/>
            </a:solidFill>
            <a:prstDash val="solid"/>
          </a:ln>
        </p:spPr>
        <p:txBody>
          <a:bodyPr/>
          <a:lstStyle/>
          <a:p>
            <a:endParaRPr lang="en-US"/>
          </a:p>
        </p:txBody>
      </p:sp>
      <p:sp>
        <p:nvSpPr>
          <p:cNvPr id="82" name="apigee-phase-exit-label-A2">
            <a:extLst>
              <a:ext uri="{FF2B5EF4-FFF2-40B4-BE49-F238E27FC236}">
                <a16:creationId xmlns:a16="http://schemas.microsoft.com/office/drawing/2014/main" id="{0584597A-5A55-4920-A3DF-90DB1CFBC632}"/>
              </a:ext>
            </a:extLst>
          </p:cNvPr>
          <p:cNvSpPr>
            <a:spLocks noGrp="1"/>
          </p:cNvSpPr>
          <p:nvPr/>
        </p:nvSpPr>
        <p:spPr>
          <a:xfrm>
            <a:off x="3867150" y="3581400"/>
            <a:ext cx="1295400" cy="171450"/>
          </a:xfrm>
          <a:prstGeom prst="rect">
            <a:avLst/>
          </a:prstGeom>
          <a:noFill/>
          <a:ln w="0">
            <a:solidFill>
              <a:srgbClr val="FFFCF5"/>
            </a:solidFill>
            <a:prstDash val="solid"/>
          </a:ln>
        </p:spPr>
        <p:txBody>
          <a:bodyPr lIns="28575" tIns="19050" rIns="28575" bIns="19050" anchor="ctr">
            <a:normAutofit fontScale="89744" lnSpcReduction="10000"/>
          </a:bodyPr>
          <a:lstStyle/>
          <a:p>
            <a:pPr algn="l">
              <a:lnSpc>
                <a:spcPct val="100000"/>
              </a:lnSpc>
              <a:buNone/>
              <a:defRPr sz="975" b="1">
                <a:solidFill>
                  <a:srgbClr val="5537D6"/>
                </a:solidFill>
                <a:latin typeface="Consolas"/>
                <a:ea typeface="Consolas"/>
                <a:cs typeface="Consolas"/>
              </a:defRPr>
            </a:pPr>
            <a:r>
              <a:rPr sz="975" b="1">
                <a:solidFill>
                  <a:srgbClr val="5537D6"/>
                </a:solidFill>
                <a:latin typeface="Consolas"/>
                <a:ea typeface="Consolas"/>
                <a:cs typeface="Consolas"/>
              </a:rPr>
              <a:t>EXIT EVIDENCE</a:t>
            </a:r>
          </a:p>
        </p:txBody>
      </p:sp>
      <p:sp>
        <p:nvSpPr>
          <p:cNvPr id="83" name="apigee-phase-exit-A2">
            <a:extLst>
              <a:ext uri="{FF2B5EF4-FFF2-40B4-BE49-F238E27FC236}">
                <a16:creationId xmlns:a16="http://schemas.microsoft.com/office/drawing/2014/main" id="{C33121B9-5258-4BDB-AC83-72B584B74A12}"/>
              </a:ext>
            </a:extLst>
          </p:cNvPr>
          <p:cNvSpPr>
            <a:spLocks noGrp="1"/>
          </p:cNvSpPr>
          <p:nvPr/>
        </p:nvSpPr>
        <p:spPr>
          <a:xfrm>
            <a:off x="3867150" y="3810000"/>
            <a:ext cx="1295400" cy="990600"/>
          </a:xfrm>
          <a:prstGeom prst="rect">
            <a:avLst/>
          </a:prstGeom>
          <a:noFill/>
          <a:ln w="0">
            <a:solidFill>
              <a:srgbClr val="FFFCF5"/>
            </a:solidFill>
            <a:prstDash val="solid"/>
          </a:ln>
        </p:spPr>
        <p:txBody>
          <a:bodyPr lIns="28575" tIns="19050" rIns="28575" bIns="19050" anchor="t">
            <a:normAutofit/>
          </a:bodyPr>
          <a:lstStyle/>
          <a:p>
            <a:pPr algn="l">
              <a:lnSpc>
                <a:spcPct val="100000"/>
              </a:lnSpc>
              <a:buNone/>
              <a:defRPr sz="1200" b="0">
                <a:solidFill>
                  <a:srgbClr val="686A66"/>
                </a:solidFill>
                <a:latin typeface="Arial"/>
                <a:ea typeface="Arial"/>
                <a:cs typeface="Arial"/>
              </a:defRPr>
            </a:pPr>
            <a:r>
              <a:rPr sz="1200" b="0">
                <a:solidFill>
                  <a:srgbClr val="686A66"/>
                </a:solidFill>
                <a:latin typeface="Arial"/>
                <a:ea typeface="Arial"/>
                <a:cs typeface="Arial"/>
              </a:rPr>
              <a:t>Terraform + decK, restore result and route-back design</a:t>
            </a:r>
          </a:p>
        </p:txBody>
      </p:sp>
      <p:sp>
        <p:nvSpPr>
          <p:cNvPr id="84" name="apigee-phase-A3">
            <a:extLst>
              <a:ext uri="{FF2B5EF4-FFF2-40B4-BE49-F238E27FC236}">
                <a16:creationId xmlns:a16="http://schemas.microsoft.com/office/drawing/2014/main" id="{F0F17690-DD39-4DB6-941A-42ED1D4406FD}"/>
              </a:ext>
            </a:extLst>
          </p:cNvPr>
          <p:cNvSpPr>
            <a:spLocks noGrp="1"/>
          </p:cNvSpPr>
          <p:nvPr/>
        </p:nvSpPr>
        <p:spPr>
          <a:xfrm>
            <a:off x="5353050" y="2609850"/>
            <a:ext cx="1485900" cy="2381250"/>
          </a:xfrm>
          <a:prstGeom prst="roundRect">
            <a:avLst>
              <a:gd name="adj" fmla="val 5128"/>
            </a:avLst>
          </a:prstGeom>
          <a:solidFill>
            <a:srgbClr val="FFFFFF"/>
          </a:solidFill>
          <a:ln w="14288">
            <a:solidFill>
              <a:srgbClr val="18765A"/>
            </a:solidFill>
            <a:prstDash val="solid"/>
          </a:ln>
        </p:spPr>
        <p:txBody>
          <a:bodyPr/>
          <a:lstStyle/>
          <a:p>
            <a:endParaRPr lang="en-US"/>
          </a:p>
        </p:txBody>
      </p:sp>
      <p:sp>
        <p:nvSpPr>
          <p:cNvPr id="85" name="apigee-phase-code-A3">
            <a:extLst>
              <a:ext uri="{FF2B5EF4-FFF2-40B4-BE49-F238E27FC236}">
                <a16:creationId xmlns:a16="http://schemas.microsoft.com/office/drawing/2014/main" id="{41205086-12AD-4556-ABCA-5434EC2CCADF}"/>
              </a:ext>
            </a:extLst>
          </p:cNvPr>
          <p:cNvSpPr>
            <a:spLocks noGrp="1"/>
          </p:cNvSpPr>
          <p:nvPr/>
        </p:nvSpPr>
        <p:spPr>
          <a:xfrm>
            <a:off x="5448300" y="2705100"/>
            <a:ext cx="495300" cy="228600"/>
          </a:xfrm>
          <a:prstGeom prst="rect">
            <a:avLst/>
          </a:prstGeom>
          <a:noFill/>
          <a:ln w="0">
            <a:solidFill>
              <a:srgbClr val="FFFCF5"/>
            </a:solidFill>
            <a:prstDash val="solid"/>
          </a:ln>
        </p:spPr>
        <p:txBody>
          <a:bodyPr lIns="28575" tIns="19050" rIns="28575" bIns="19050" anchor="ctr">
            <a:normAutofit fontScale="92593" lnSpcReduction="10000"/>
          </a:bodyPr>
          <a:lstStyle/>
          <a:p>
            <a:pPr algn="l">
              <a:lnSpc>
                <a:spcPct val="100000"/>
              </a:lnSpc>
              <a:buNone/>
              <a:defRPr sz="1350" b="1">
                <a:solidFill>
                  <a:srgbClr val="5537D6"/>
                </a:solidFill>
                <a:latin typeface="Consolas"/>
                <a:ea typeface="Consolas"/>
                <a:cs typeface="Consolas"/>
              </a:defRPr>
            </a:pPr>
            <a:r>
              <a:rPr sz="1350" b="1">
                <a:solidFill>
                  <a:srgbClr val="5537D6"/>
                </a:solidFill>
                <a:latin typeface="Consolas"/>
                <a:ea typeface="Consolas"/>
                <a:cs typeface="Consolas"/>
              </a:rPr>
              <a:t>A3</a:t>
            </a:r>
          </a:p>
        </p:txBody>
      </p:sp>
      <p:sp>
        <p:nvSpPr>
          <p:cNvPr id="86" name="apigee-phase-label-A3">
            <a:extLst>
              <a:ext uri="{FF2B5EF4-FFF2-40B4-BE49-F238E27FC236}">
                <a16:creationId xmlns:a16="http://schemas.microsoft.com/office/drawing/2014/main" id="{61306933-1AA5-4F56-AF6D-D29BD6B262B7}"/>
              </a:ext>
            </a:extLst>
          </p:cNvPr>
          <p:cNvSpPr>
            <a:spLocks noGrp="1"/>
          </p:cNvSpPr>
          <p:nvPr/>
        </p:nvSpPr>
        <p:spPr>
          <a:xfrm>
            <a:off x="5448300" y="2952750"/>
            <a:ext cx="1295400" cy="457200"/>
          </a:xfrm>
          <a:prstGeom prst="rect">
            <a:avLst/>
          </a:prstGeom>
          <a:noFill/>
          <a:ln w="0">
            <a:solidFill>
              <a:srgbClr val="FFFCF5"/>
            </a:solidFill>
            <a:prstDash val="solid"/>
          </a:ln>
        </p:spPr>
        <p:txBody>
          <a:bodyPr lIns="28575" tIns="19050" rIns="28575" bIns="19050" anchor="t">
            <a:normAutofit fontScale="87302" lnSpcReduction="10000"/>
          </a:bodyPr>
          <a:lstStyle/>
          <a:p>
            <a:pPr algn="l">
              <a:lnSpc>
                <a:spcPct val="100000"/>
              </a:lnSpc>
              <a:buNone/>
              <a:defRPr sz="1575" b="1">
                <a:solidFill>
                  <a:srgbClr val="111111"/>
                </a:solidFill>
                <a:latin typeface="Georgia"/>
                <a:ea typeface="Georgia"/>
                <a:cs typeface="Georgia"/>
              </a:defRPr>
            </a:pPr>
            <a:r>
              <a:rPr sz="1575" b="1">
                <a:solidFill>
                  <a:srgbClr val="111111"/>
                </a:solidFill>
                <a:latin typeface="Georgia"/>
                <a:ea typeface="Georgia"/>
                <a:cs typeface="Georgia"/>
              </a:rPr>
              <a:t>Hard-slice parity</a:t>
            </a:r>
          </a:p>
        </p:txBody>
      </p:sp>
      <p:sp>
        <p:nvSpPr>
          <p:cNvPr id="87" name="apigee-phase-rule-A3">
            <a:extLst>
              <a:ext uri="{FF2B5EF4-FFF2-40B4-BE49-F238E27FC236}">
                <a16:creationId xmlns:a16="http://schemas.microsoft.com/office/drawing/2014/main" id="{BF6090D7-045B-40AE-80CC-43446AA0101F}"/>
              </a:ext>
            </a:extLst>
          </p:cNvPr>
          <p:cNvSpPr>
            <a:spLocks noGrp="1"/>
          </p:cNvSpPr>
          <p:nvPr/>
        </p:nvSpPr>
        <p:spPr>
          <a:xfrm>
            <a:off x="5448300" y="3486150"/>
            <a:ext cx="1295400" cy="0"/>
          </a:xfrm>
          <a:prstGeom prst="line">
            <a:avLst/>
          </a:prstGeom>
          <a:noFill/>
          <a:ln w="9525">
            <a:solidFill>
              <a:srgbClr val="C9C6BD"/>
            </a:solidFill>
            <a:prstDash val="solid"/>
          </a:ln>
        </p:spPr>
        <p:txBody>
          <a:bodyPr/>
          <a:lstStyle/>
          <a:p>
            <a:endParaRPr lang="en-US"/>
          </a:p>
        </p:txBody>
      </p:sp>
      <p:sp>
        <p:nvSpPr>
          <p:cNvPr id="88" name="apigee-phase-exit-label-A3">
            <a:extLst>
              <a:ext uri="{FF2B5EF4-FFF2-40B4-BE49-F238E27FC236}">
                <a16:creationId xmlns:a16="http://schemas.microsoft.com/office/drawing/2014/main" id="{9781371F-A8F6-42AB-A61F-A2523C292127}"/>
              </a:ext>
            </a:extLst>
          </p:cNvPr>
          <p:cNvSpPr>
            <a:spLocks noGrp="1"/>
          </p:cNvSpPr>
          <p:nvPr/>
        </p:nvSpPr>
        <p:spPr>
          <a:xfrm>
            <a:off x="5448300" y="3581400"/>
            <a:ext cx="1295400" cy="171450"/>
          </a:xfrm>
          <a:prstGeom prst="rect">
            <a:avLst/>
          </a:prstGeom>
          <a:noFill/>
          <a:ln w="0">
            <a:solidFill>
              <a:srgbClr val="FFFCF5"/>
            </a:solidFill>
            <a:prstDash val="solid"/>
          </a:ln>
        </p:spPr>
        <p:txBody>
          <a:bodyPr lIns="28575" tIns="19050" rIns="28575" bIns="19050" anchor="ctr">
            <a:normAutofit fontScale="89744" lnSpcReduction="10000"/>
          </a:bodyPr>
          <a:lstStyle/>
          <a:p>
            <a:pPr algn="l">
              <a:lnSpc>
                <a:spcPct val="100000"/>
              </a:lnSpc>
              <a:buNone/>
              <a:defRPr sz="975" b="1">
                <a:solidFill>
                  <a:srgbClr val="5537D6"/>
                </a:solidFill>
                <a:latin typeface="Consolas"/>
                <a:ea typeface="Consolas"/>
                <a:cs typeface="Consolas"/>
              </a:defRPr>
            </a:pPr>
            <a:r>
              <a:rPr sz="975" b="1">
                <a:solidFill>
                  <a:srgbClr val="5537D6"/>
                </a:solidFill>
                <a:latin typeface="Consolas"/>
                <a:ea typeface="Consolas"/>
                <a:cs typeface="Consolas"/>
              </a:rPr>
              <a:t>EXIT EVIDENCE</a:t>
            </a:r>
          </a:p>
        </p:txBody>
      </p:sp>
      <p:sp>
        <p:nvSpPr>
          <p:cNvPr id="89" name="apigee-phase-exit-A3">
            <a:extLst>
              <a:ext uri="{FF2B5EF4-FFF2-40B4-BE49-F238E27FC236}">
                <a16:creationId xmlns:a16="http://schemas.microsoft.com/office/drawing/2014/main" id="{924A96E0-98F8-4D20-AA2C-9EDB45CC6186}"/>
              </a:ext>
            </a:extLst>
          </p:cNvPr>
          <p:cNvSpPr>
            <a:spLocks noGrp="1"/>
          </p:cNvSpPr>
          <p:nvPr/>
        </p:nvSpPr>
        <p:spPr>
          <a:xfrm>
            <a:off x="5448300" y="3810000"/>
            <a:ext cx="1295400" cy="990600"/>
          </a:xfrm>
          <a:prstGeom prst="rect">
            <a:avLst/>
          </a:prstGeom>
          <a:noFill/>
          <a:ln w="0">
            <a:solidFill>
              <a:srgbClr val="FFFCF5"/>
            </a:solidFill>
            <a:prstDash val="solid"/>
          </a:ln>
        </p:spPr>
        <p:txBody>
          <a:bodyPr lIns="28575" tIns="19050" rIns="28575" bIns="19050" anchor="t">
            <a:normAutofit fontScale="92703"/>
          </a:bodyPr>
          <a:lstStyle/>
          <a:p>
            <a:pPr algn="l">
              <a:lnSpc>
                <a:spcPct val="100000"/>
              </a:lnSpc>
              <a:buNone/>
              <a:defRPr sz="1200" b="0">
                <a:solidFill>
                  <a:srgbClr val="686A66"/>
                </a:solidFill>
                <a:latin typeface="Arial"/>
                <a:ea typeface="Arial"/>
                <a:cs typeface="Arial"/>
              </a:defRPr>
            </a:pPr>
            <a:r>
              <a:rPr sz="1200" b="0">
                <a:solidFill>
                  <a:srgbClr val="686A66"/>
                </a:solidFill>
                <a:latin typeface="Arial"/>
                <a:ea typeface="Arial"/>
                <a:cs typeface="Arial"/>
              </a:rPr>
              <a:t>No critical variance, unauthorized success or unexplained state gap</a:t>
            </a:r>
          </a:p>
        </p:txBody>
      </p:sp>
      <p:sp>
        <p:nvSpPr>
          <p:cNvPr id="90" name="apigee-phase-A4">
            <a:extLst>
              <a:ext uri="{FF2B5EF4-FFF2-40B4-BE49-F238E27FC236}">
                <a16:creationId xmlns:a16="http://schemas.microsoft.com/office/drawing/2014/main" id="{89BAEA33-4F8E-4EC5-B64E-4299863213F4}"/>
              </a:ext>
            </a:extLst>
          </p:cNvPr>
          <p:cNvSpPr>
            <a:spLocks noGrp="1"/>
          </p:cNvSpPr>
          <p:nvPr/>
        </p:nvSpPr>
        <p:spPr>
          <a:xfrm>
            <a:off x="6934200" y="2609850"/>
            <a:ext cx="1485900" cy="2381250"/>
          </a:xfrm>
          <a:prstGeom prst="roundRect">
            <a:avLst>
              <a:gd name="adj" fmla="val 5128"/>
            </a:avLst>
          </a:prstGeom>
          <a:solidFill>
            <a:srgbClr val="FFFFFF"/>
          </a:solidFill>
          <a:ln w="14288">
            <a:solidFill>
              <a:srgbClr val="18765A"/>
            </a:solidFill>
            <a:prstDash val="solid"/>
          </a:ln>
        </p:spPr>
        <p:txBody>
          <a:bodyPr/>
          <a:lstStyle/>
          <a:p>
            <a:endParaRPr lang="en-US"/>
          </a:p>
        </p:txBody>
      </p:sp>
      <p:sp>
        <p:nvSpPr>
          <p:cNvPr id="91" name="apigee-phase-code-A4">
            <a:extLst>
              <a:ext uri="{FF2B5EF4-FFF2-40B4-BE49-F238E27FC236}">
                <a16:creationId xmlns:a16="http://schemas.microsoft.com/office/drawing/2014/main" id="{9B002AEB-F3B7-400F-9DB9-8E3FA5797BD9}"/>
              </a:ext>
            </a:extLst>
          </p:cNvPr>
          <p:cNvSpPr>
            <a:spLocks noGrp="1"/>
          </p:cNvSpPr>
          <p:nvPr/>
        </p:nvSpPr>
        <p:spPr>
          <a:xfrm>
            <a:off x="7029450" y="2705100"/>
            <a:ext cx="495300" cy="228600"/>
          </a:xfrm>
          <a:prstGeom prst="rect">
            <a:avLst/>
          </a:prstGeom>
          <a:noFill/>
          <a:ln w="0">
            <a:solidFill>
              <a:srgbClr val="FFFCF5"/>
            </a:solidFill>
            <a:prstDash val="solid"/>
          </a:ln>
        </p:spPr>
        <p:txBody>
          <a:bodyPr lIns="28575" tIns="19050" rIns="28575" bIns="19050" anchor="ctr">
            <a:normAutofit fontScale="92593" lnSpcReduction="10000"/>
          </a:bodyPr>
          <a:lstStyle/>
          <a:p>
            <a:pPr algn="l">
              <a:lnSpc>
                <a:spcPct val="100000"/>
              </a:lnSpc>
              <a:buNone/>
              <a:defRPr sz="1350" b="1">
                <a:solidFill>
                  <a:srgbClr val="5537D6"/>
                </a:solidFill>
                <a:latin typeface="Consolas"/>
                <a:ea typeface="Consolas"/>
                <a:cs typeface="Consolas"/>
              </a:defRPr>
            </a:pPr>
            <a:r>
              <a:rPr sz="1350" b="1">
                <a:solidFill>
                  <a:srgbClr val="5537D6"/>
                </a:solidFill>
                <a:latin typeface="Consolas"/>
                <a:ea typeface="Consolas"/>
                <a:cs typeface="Consolas"/>
              </a:rPr>
              <a:t>A4</a:t>
            </a:r>
          </a:p>
        </p:txBody>
      </p:sp>
      <p:sp>
        <p:nvSpPr>
          <p:cNvPr id="92" name="apigee-phase-label-A4">
            <a:extLst>
              <a:ext uri="{FF2B5EF4-FFF2-40B4-BE49-F238E27FC236}">
                <a16:creationId xmlns:a16="http://schemas.microsoft.com/office/drawing/2014/main" id="{C039C570-5329-461E-AA7A-D17481022E18}"/>
              </a:ext>
            </a:extLst>
          </p:cNvPr>
          <p:cNvSpPr>
            <a:spLocks noGrp="1"/>
          </p:cNvSpPr>
          <p:nvPr/>
        </p:nvSpPr>
        <p:spPr>
          <a:xfrm>
            <a:off x="7029450" y="2952750"/>
            <a:ext cx="1295400" cy="457200"/>
          </a:xfrm>
          <a:prstGeom prst="rect">
            <a:avLst/>
          </a:prstGeom>
          <a:noFill/>
          <a:ln w="0">
            <a:solidFill>
              <a:srgbClr val="FFFCF5"/>
            </a:solidFill>
            <a:prstDash val="solid"/>
          </a:ln>
        </p:spPr>
        <p:txBody>
          <a:bodyPr lIns="28575" tIns="19050" rIns="28575" bIns="19050" anchor="t">
            <a:normAutofit fontScale="87302" lnSpcReduction="10000"/>
          </a:bodyPr>
          <a:lstStyle/>
          <a:p>
            <a:pPr algn="l">
              <a:lnSpc>
                <a:spcPct val="100000"/>
              </a:lnSpc>
              <a:buNone/>
              <a:defRPr sz="1575" b="1">
                <a:solidFill>
                  <a:srgbClr val="111111"/>
                </a:solidFill>
                <a:latin typeface="Georgia"/>
                <a:ea typeface="Georgia"/>
                <a:cs typeface="Georgia"/>
              </a:defRPr>
            </a:pPr>
            <a:r>
              <a:rPr sz="1575" b="1">
                <a:solidFill>
                  <a:srgbClr val="111111"/>
                </a:solidFill>
                <a:latin typeface="Georgia"/>
                <a:ea typeface="Georgia"/>
                <a:cs typeface="Georgia"/>
              </a:rPr>
              <a:t>Bounded coexistence</a:t>
            </a:r>
          </a:p>
        </p:txBody>
      </p:sp>
      <p:sp>
        <p:nvSpPr>
          <p:cNvPr id="93" name="apigee-phase-rule-A4">
            <a:extLst>
              <a:ext uri="{FF2B5EF4-FFF2-40B4-BE49-F238E27FC236}">
                <a16:creationId xmlns:a16="http://schemas.microsoft.com/office/drawing/2014/main" id="{6BC4CA65-BA88-443A-8FA0-B732A6ECBC46}"/>
              </a:ext>
            </a:extLst>
          </p:cNvPr>
          <p:cNvSpPr>
            <a:spLocks noGrp="1"/>
          </p:cNvSpPr>
          <p:nvPr/>
        </p:nvSpPr>
        <p:spPr>
          <a:xfrm>
            <a:off x="7029450" y="3486150"/>
            <a:ext cx="1295400" cy="0"/>
          </a:xfrm>
          <a:prstGeom prst="line">
            <a:avLst/>
          </a:prstGeom>
          <a:noFill/>
          <a:ln w="9525">
            <a:solidFill>
              <a:srgbClr val="C9C6BD"/>
            </a:solidFill>
            <a:prstDash val="solid"/>
          </a:ln>
        </p:spPr>
        <p:txBody>
          <a:bodyPr/>
          <a:lstStyle/>
          <a:p>
            <a:endParaRPr lang="en-US"/>
          </a:p>
        </p:txBody>
      </p:sp>
      <p:sp>
        <p:nvSpPr>
          <p:cNvPr id="94" name="apigee-phase-exit-label-A4">
            <a:extLst>
              <a:ext uri="{FF2B5EF4-FFF2-40B4-BE49-F238E27FC236}">
                <a16:creationId xmlns:a16="http://schemas.microsoft.com/office/drawing/2014/main" id="{D3F955BB-0AE6-452B-B312-5DCFF297BB37}"/>
              </a:ext>
            </a:extLst>
          </p:cNvPr>
          <p:cNvSpPr>
            <a:spLocks noGrp="1"/>
          </p:cNvSpPr>
          <p:nvPr/>
        </p:nvSpPr>
        <p:spPr>
          <a:xfrm>
            <a:off x="7029450" y="3581400"/>
            <a:ext cx="1295400" cy="171450"/>
          </a:xfrm>
          <a:prstGeom prst="rect">
            <a:avLst/>
          </a:prstGeom>
          <a:noFill/>
          <a:ln w="0">
            <a:solidFill>
              <a:srgbClr val="FFFCF5"/>
            </a:solidFill>
            <a:prstDash val="solid"/>
          </a:ln>
        </p:spPr>
        <p:txBody>
          <a:bodyPr lIns="28575" tIns="19050" rIns="28575" bIns="19050" anchor="ctr">
            <a:normAutofit fontScale="89744" lnSpcReduction="10000"/>
          </a:bodyPr>
          <a:lstStyle/>
          <a:p>
            <a:pPr algn="l">
              <a:lnSpc>
                <a:spcPct val="100000"/>
              </a:lnSpc>
              <a:buNone/>
              <a:defRPr sz="975" b="1">
                <a:solidFill>
                  <a:srgbClr val="5537D6"/>
                </a:solidFill>
                <a:latin typeface="Consolas"/>
                <a:ea typeface="Consolas"/>
                <a:cs typeface="Consolas"/>
              </a:defRPr>
            </a:pPr>
            <a:r>
              <a:rPr sz="975" b="1">
                <a:solidFill>
                  <a:srgbClr val="5537D6"/>
                </a:solidFill>
                <a:latin typeface="Consolas"/>
                <a:ea typeface="Consolas"/>
                <a:cs typeface="Consolas"/>
              </a:rPr>
              <a:t>EXIT EVIDENCE</a:t>
            </a:r>
          </a:p>
        </p:txBody>
      </p:sp>
      <p:sp>
        <p:nvSpPr>
          <p:cNvPr id="95" name="apigee-phase-exit-A4">
            <a:extLst>
              <a:ext uri="{FF2B5EF4-FFF2-40B4-BE49-F238E27FC236}">
                <a16:creationId xmlns:a16="http://schemas.microsoft.com/office/drawing/2014/main" id="{C22C5550-1182-44E0-A049-A0256DDBDA81}"/>
              </a:ext>
            </a:extLst>
          </p:cNvPr>
          <p:cNvSpPr>
            <a:spLocks noGrp="1"/>
          </p:cNvSpPr>
          <p:nvPr/>
        </p:nvSpPr>
        <p:spPr>
          <a:xfrm>
            <a:off x="7029450" y="3810000"/>
            <a:ext cx="1295400" cy="990600"/>
          </a:xfrm>
          <a:prstGeom prst="rect">
            <a:avLst/>
          </a:prstGeom>
          <a:noFill/>
          <a:ln w="0">
            <a:solidFill>
              <a:srgbClr val="FFFCF5"/>
            </a:solidFill>
            <a:prstDash val="solid"/>
          </a:ln>
        </p:spPr>
        <p:txBody>
          <a:bodyPr lIns="28575" tIns="19050" rIns="28575" bIns="19050" anchor="t">
            <a:normAutofit/>
          </a:bodyPr>
          <a:lstStyle/>
          <a:p>
            <a:pPr algn="l">
              <a:lnSpc>
                <a:spcPct val="100000"/>
              </a:lnSpc>
              <a:buNone/>
              <a:defRPr sz="1200" b="0">
                <a:solidFill>
                  <a:srgbClr val="686A66"/>
                </a:solidFill>
                <a:latin typeface="Arial"/>
                <a:ea typeface="Arial"/>
                <a:cs typeface="Arial"/>
              </a:defRPr>
            </a:pPr>
            <a:r>
              <a:rPr sz="1200" b="0">
                <a:solidFill>
                  <a:srgbClr val="686A66"/>
                </a:solidFill>
                <a:latin typeface="Arial"/>
                <a:ea typeface="Arial"/>
                <a:cs typeface="Arial"/>
              </a:rPr>
              <a:t>Cohort ledger, reconciliation and timed route-back</a:t>
            </a:r>
          </a:p>
        </p:txBody>
      </p:sp>
      <p:sp>
        <p:nvSpPr>
          <p:cNvPr id="96" name="apigee-phase-A5">
            <a:extLst>
              <a:ext uri="{FF2B5EF4-FFF2-40B4-BE49-F238E27FC236}">
                <a16:creationId xmlns:a16="http://schemas.microsoft.com/office/drawing/2014/main" id="{2472695A-7894-43C5-A53C-A580F03AB00B}"/>
              </a:ext>
            </a:extLst>
          </p:cNvPr>
          <p:cNvSpPr>
            <a:spLocks noGrp="1"/>
          </p:cNvSpPr>
          <p:nvPr/>
        </p:nvSpPr>
        <p:spPr>
          <a:xfrm>
            <a:off x="8515350" y="2609850"/>
            <a:ext cx="1485900" cy="2381250"/>
          </a:xfrm>
          <a:prstGeom prst="roundRect">
            <a:avLst>
              <a:gd name="adj" fmla="val 5128"/>
            </a:avLst>
          </a:prstGeom>
          <a:solidFill>
            <a:srgbClr val="FFFFFF"/>
          </a:solidFill>
          <a:ln w="14288">
            <a:solidFill>
              <a:srgbClr val="18765A"/>
            </a:solidFill>
            <a:prstDash val="solid"/>
          </a:ln>
        </p:spPr>
        <p:txBody>
          <a:bodyPr/>
          <a:lstStyle/>
          <a:p>
            <a:endParaRPr lang="en-US"/>
          </a:p>
        </p:txBody>
      </p:sp>
      <p:sp>
        <p:nvSpPr>
          <p:cNvPr id="97" name="apigee-phase-code-A5">
            <a:extLst>
              <a:ext uri="{FF2B5EF4-FFF2-40B4-BE49-F238E27FC236}">
                <a16:creationId xmlns:a16="http://schemas.microsoft.com/office/drawing/2014/main" id="{CB405991-A5DD-4A23-BB82-391E65999657}"/>
              </a:ext>
            </a:extLst>
          </p:cNvPr>
          <p:cNvSpPr>
            <a:spLocks noGrp="1"/>
          </p:cNvSpPr>
          <p:nvPr/>
        </p:nvSpPr>
        <p:spPr>
          <a:xfrm>
            <a:off x="8610600" y="2705100"/>
            <a:ext cx="495300" cy="228600"/>
          </a:xfrm>
          <a:prstGeom prst="rect">
            <a:avLst/>
          </a:prstGeom>
          <a:noFill/>
          <a:ln w="0">
            <a:solidFill>
              <a:srgbClr val="FFFCF5"/>
            </a:solidFill>
            <a:prstDash val="solid"/>
          </a:ln>
        </p:spPr>
        <p:txBody>
          <a:bodyPr lIns="28575" tIns="19050" rIns="28575" bIns="19050" anchor="ctr">
            <a:normAutofit fontScale="92593" lnSpcReduction="10000"/>
          </a:bodyPr>
          <a:lstStyle/>
          <a:p>
            <a:pPr algn="l">
              <a:lnSpc>
                <a:spcPct val="100000"/>
              </a:lnSpc>
              <a:buNone/>
              <a:defRPr sz="1350" b="1">
                <a:solidFill>
                  <a:srgbClr val="5537D6"/>
                </a:solidFill>
                <a:latin typeface="Consolas"/>
                <a:ea typeface="Consolas"/>
                <a:cs typeface="Consolas"/>
              </a:defRPr>
            </a:pPr>
            <a:r>
              <a:rPr sz="1350" b="1">
                <a:solidFill>
                  <a:srgbClr val="5537D6"/>
                </a:solidFill>
                <a:latin typeface="Consolas"/>
                <a:ea typeface="Consolas"/>
                <a:cs typeface="Consolas"/>
              </a:rPr>
              <a:t>A5</a:t>
            </a:r>
          </a:p>
        </p:txBody>
      </p:sp>
      <p:sp>
        <p:nvSpPr>
          <p:cNvPr id="98" name="apigee-phase-label-A5">
            <a:extLst>
              <a:ext uri="{FF2B5EF4-FFF2-40B4-BE49-F238E27FC236}">
                <a16:creationId xmlns:a16="http://schemas.microsoft.com/office/drawing/2014/main" id="{04C912B4-B22A-4A44-9EE4-F416F7FF38F3}"/>
              </a:ext>
            </a:extLst>
          </p:cNvPr>
          <p:cNvSpPr>
            <a:spLocks noGrp="1"/>
          </p:cNvSpPr>
          <p:nvPr/>
        </p:nvSpPr>
        <p:spPr>
          <a:xfrm>
            <a:off x="8610600" y="2952750"/>
            <a:ext cx="1295400" cy="457200"/>
          </a:xfrm>
          <a:prstGeom prst="rect">
            <a:avLst/>
          </a:prstGeom>
          <a:noFill/>
          <a:ln w="0">
            <a:solidFill>
              <a:srgbClr val="FFFCF5"/>
            </a:solidFill>
            <a:prstDash val="solid"/>
          </a:ln>
        </p:spPr>
        <p:txBody>
          <a:bodyPr lIns="28575" tIns="19050" rIns="28575" bIns="19050" anchor="t">
            <a:normAutofit fontScale="87302" lnSpcReduction="10000"/>
          </a:bodyPr>
          <a:lstStyle/>
          <a:p>
            <a:pPr algn="l">
              <a:lnSpc>
                <a:spcPct val="100000"/>
              </a:lnSpc>
              <a:buNone/>
              <a:defRPr sz="1575" b="1">
                <a:solidFill>
                  <a:srgbClr val="111111"/>
                </a:solidFill>
                <a:latin typeface="Georgia"/>
                <a:ea typeface="Georgia"/>
                <a:cs typeface="Georgia"/>
              </a:defRPr>
            </a:pPr>
            <a:r>
              <a:rPr sz="1575" b="1">
                <a:solidFill>
                  <a:srgbClr val="111111"/>
                </a:solidFill>
                <a:latin typeface="Georgia"/>
                <a:ea typeface="Georgia"/>
                <a:cs typeface="Georgia"/>
              </a:rPr>
              <a:t>Production canary</a:t>
            </a:r>
          </a:p>
        </p:txBody>
      </p:sp>
      <p:sp>
        <p:nvSpPr>
          <p:cNvPr id="99" name="apigee-phase-rule-A5">
            <a:extLst>
              <a:ext uri="{FF2B5EF4-FFF2-40B4-BE49-F238E27FC236}">
                <a16:creationId xmlns:a16="http://schemas.microsoft.com/office/drawing/2014/main" id="{7B80DF47-C46F-4E89-B5BC-A1B15F233C94}"/>
              </a:ext>
            </a:extLst>
          </p:cNvPr>
          <p:cNvSpPr>
            <a:spLocks noGrp="1"/>
          </p:cNvSpPr>
          <p:nvPr/>
        </p:nvSpPr>
        <p:spPr>
          <a:xfrm>
            <a:off x="8610600" y="3486150"/>
            <a:ext cx="1295400" cy="0"/>
          </a:xfrm>
          <a:prstGeom prst="line">
            <a:avLst/>
          </a:prstGeom>
          <a:noFill/>
          <a:ln w="9525">
            <a:solidFill>
              <a:srgbClr val="C9C6BD"/>
            </a:solidFill>
            <a:prstDash val="solid"/>
          </a:ln>
        </p:spPr>
        <p:txBody>
          <a:bodyPr/>
          <a:lstStyle/>
          <a:p>
            <a:endParaRPr lang="en-US"/>
          </a:p>
        </p:txBody>
      </p:sp>
      <p:sp>
        <p:nvSpPr>
          <p:cNvPr id="100" name="apigee-phase-exit-label-A5">
            <a:extLst>
              <a:ext uri="{FF2B5EF4-FFF2-40B4-BE49-F238E27FC236}">
                <a16:creationId xmlns:a16="http://schemas.microsoft.com/office/drawing/2014/main" id="{9815D87C-C6D8-4AD2-97B2-05C7B7408659}"/>
              </a:ext>
            </a:extLst>
          </p:cNvPr>
          <p:cNvSpPr>
            <a:spLocks noGrp="1"/>
          </p:cNvSpPr>
          <p:nvPr/>
        </p:nvSpPr>
        <p:spPr>
          <a:xfrm>
            <a:off x="8610600" y="3581400"/>
            <a:ext cx="1295400" cy="171450"/>
          </a:xfrm>
          <a:prstGeom prst="rect">
            <a:avLst/>
          </a:prstGeom>
          <a:noFill/>
          <a:ln w="0">
            <a:solidFill>
              <a:srgbClr val="FFFCF5"/>
            </a:solidFill>
            <a:prstDash val="solid"/>
          </a:ln>
        </p:spPr>
        <p:txBody>
          <a:bodyPr lIns="28575" tIns="19050" rIns="28575" bIns="19050" anchor="ctr">
            <a:normAutofit fontScale="89744" lnSpcReduction="10000"/>
          </a:bodyPr>
          <a:lstStyle/>
          <a:p>
            <a:pPr algn="l">
              <a:lnSpc>
                <a:spcPct val="100000"/>
              </a:lnSpc>
              <a:buNone/>
              <a:defRPr sz="975" b="1">
                <a:solidFill>
                  <a:srgbClr val="5537D6"/>
                </a:solidFill>
                <a:latin typeface="Consolas"/>
                <a:ea typeface="Consolas"/>
                <a:cs typeface="Consolas"/>
              </a:defRPr>
            </a:pPr>
            <a:r>
              <a:rPr sz="975" b="1">
                <a:solidFill>
                  <a:srgbClr val="5537D6"/>
                </a:solidFill>
                <a:latin typeface="Consolas"/>
                <a:ea typeface="Consolas"/>
                <a:cs typeface="Consolas"/>
              </a:rPr>
              <a:t>EXIT EVIDENCE</a:t>
            </a:r>
          </a:p>
        </p:txBody>
      </p:sp>
      <p:sp>
        <p:nvSpPr>
          <p:cNvPr id="101" name="apigee-phase-exit-A5">
            <a:extLst>
              <a:ext uri="{FF2B5EF4-FFF2-40B4-BE49-F238E27FC236}">
                <a16:creationId xmlns:a16="http://schemas.microsoft.com/office/drawing/2014/main" id="{0513DFA7-EA68-42FA-8184-C317DB9BB3F6}"/>
              </a:ext>
            </a:extLst>
          </p:cNvPr>
          <p:cNvSpPr>
            <a:spLocks noGrp="1"/>
          </p:cNvSpPr>
          <p:nvPr/>
        </p:nvSpPr>
        <p:spPr>
          <a:xfrm>
            <a:off x="8610600" y="3810000"/>
            <a:ext cx="1295400" cy="990600"/>
          </a:xfrm>
          <a:prstGeom prst="rect">
            <a:avLst/>
          </a:prstGeom>
          <a:noFill/>
          <a:ln w="0">
            <a:solidFill>
              <a:srgbClr val="FFFCF5"/>
            </a:solidFill>
            <a:prstDash val="solid"/>
          </a:ln>
        </p:spPr>
        <p:txBody>
          <a:bodyPr lIns="28575" tIns="19050" rIns="28575" bIns="19050" anchor="t">
            <a:normAutofit/>
          </a:bodyPr>
          <a:lstStyle/>
          <a:p>
            <a:pPr algn="l">
              <a:lnSpc>
                <a:spcPct val="100000"/>
              </a:lnSpc>
              <a:buNone/>
              <a:defRPr sz="1200" b="0">
                <a:solidFill>
                  <a:srgbClr val="686A66"/>
                </a:solidFill>
                <a:latin typeface="Arial"/>
                <a:ea typeface="Arial"/>
                <a:cs typeface="Arial"/>
              </a:defRPr>
            </a:pPr>
            <a:r>
              <a:rPr sz="1200" b="0">
                <a:solidFill>
                  <a:srgbClr val="686A66"/>
                </a:solidFill>
                <a:latin typeface="Arial"/>
                <a:ea typeface="Arial"/>
                <a:cs typeface="Arial"/>
              </a:rPr>
              <a:t>Reviewed E4 service, security, recovery, support and cost evidence</a:t>
            </a:r>
          </a:p>
        </p:txBody>
      </p:sp>
      <p:sp>
        <p:nvSpPr>
          <p:cNvPr id="102" name="apigee-phase-A6">
            <a:extLst>
              <a:ext uri="{FF2B5EF4-FFF2-40B4-BE49-F238E27FC236}">
                <a16:creationId xmlns:a16="http://schemas.microsoft.com/office/drawing/2014/main" id="{A15DF9C9-C863-42F8-B33F-F311030D93C1}"/>
              </a:ext>
            </a:extLst>
          </p:cNvPr>
          <p:cNvSpPr>
            <a:spLocks noGrp="1"/>
          </p:cNvSpPr>
          <p:nvPr/>
        </p:nvSpPr>
        <p:spPr>
          <a:xfrm>
            <a:off x="10096500" y="2609850"/>
            <a:ext cx="1485900" cy="2381250"/>
          </a:xfrm>
          <a:prstGeom prst="roundRect">
            <a:avLst>
              <a:gd name="adj" fmla="val 5128"/>
            </a:avLst>
          </a:prstGeom>
          <a:solidFill>
            <a:srgbClr val="FFFFFF"/>
          </a:solidFill>
          <a:ln w="19050">
            <a:solidFill>
              <a:srgbClr val="5537D6"/>
            </a:solidFill>
            <a:prstDash val="solid"/>
          </a:ln>
        </p:spPr>
        <p:txBody>
          <a:bodyPr/>
          <a:lstStyle/>
          <a:p>
            <a:endParaRPr lang="en-US"/>
          </a:p>
        </p:txBody>
      </p:sp>
      <p:sp>
        <p:nvSpPr>
          <p:cNvPr id="103" name="apigee-phase-code-A6">
            <a:extLst>
              <a:ext uri="{FF2B5EF4-FFF2-40B4-BE49-F238E27FC236}">
                <a16:creationId xmlns:a16="http://schemas.microsoft.com/office/drawing/2014/main" id="{8787DB7E-C57B-44CC-8F54-B36BDF9E7970}"/>
              </a:ext>
            </a:extLst>
          </p:cNvPr>
          <p:cNvSpPr>
            <a:spLocks noGrp="1"/>
          </p:cNvSpPr>
          <p:nvPr/>
        </p:nvSpPr>
        <p:spPr>
          <a:xfrm>
            <a:off x="10191750" y="2705100"/>
            <a:ext cx="495300" cy="228600"/>
          </a:xfrm>
          <a:prstGeom prst="rect">
            <a:avLst/>
          </a:prstGeom>
          <a:noFill/>
          <a:ln w="0">
            <a:solidFill>
              <a:srgbClr val="FFFCF5"/>
            </a:solidFill>
            <a:prstDash val="solid"/>
          </a:ln>
        </p:spPr>
        <p:txBody>
          <a:bodyPr lIns="28575" tIns="19050" rIns="28575" bIns="19050" anchor="ctr">
            <a:normAutofit fontScale="92593" lnSpcReduction="10000"/>
          </a:bodyPr>
          <a:lstStyle/>
          <a:p>
            <a:pPr algn="l">
              <a:lnSpc>
                <a:spcPct val="100000"/>
              </a:lnSpc>
              <a:buNone/>
              <a:defRPr sz="1350" b="1">
                <a:solidFill>
                  <a:srgbClr val="5537D6"/>
                </a:solidFill>
                <a:latin typeface="Consolas"/>
                <a:ea typeface="Consolas"/>
                <a:cs typeface="Consolas"/>
              </a:defRPr>
            </a:pPr>
            <a:r>
              <a:rPr sz="1350" b="1">
                <a:solidFill>
                  <a:srgbClr val="5537D6"/>
                </a:solidFill>
                <a:latin typeface="Consolas"/>
                <a:ea typeface="Consolas"/>
                <a:cs typeface="Consolas"/>
              </a:rPr>
              <a:t>A6</a:t>
            </a:r>
          </a:p>
        </p:txBody>
      </p:sp>
      <p:sp>
        <p:nvSpPr>
          <p:cNvPr id="104" name="apigee-phase-label-A6">
            <a:extLst>
              <a:ext uri="{FF2B5EF4-FFF2-40B4-BE49-F238E27FC236}">
                <a16:creationId xmlns:a16="http://schemas.microsoft.com/office/drawing/2014/main" id="{957D5D87-F5A3-472C-A1FD-40A782CEE236}"/>
              </a:ext>
            </a:extLst>
          </p:cNvPr>
          <p:cNvSpPr>
            <a:spLocks noGrp="1"/>
          </p:cNvSpPr>
          <p:nvPr/>
        </p:nvSpPr>
        <p:spPr>
          <a:xfrm>
            <a:off x="10191750" y="2952750"/>
            <a:ext cx="1295400" cy="457200"/>
          </a:xfrm>
          <a:prstGeom prst="rect">
            <a:avLst/>
          </a:prstGeom>
          <a:noFill/>
          <a:ln w="0">
            <a:solidFill>
              <a:srgbClr val="FFFCF5"/>
            </a:solidFill>
            <a:prstDash val="solid"/>
          </a:ln>
        </p:spPr>
        <p:txBody>
          <a:bodyPr lIns="28575" tIns="19050" rIns="28575" bIns="19050" anchor="t">
            <a:normAutofit fontScale="87302" lnSpcReduction="10000"/>
          </a:bodyPr>
          <a:lstStyle/>
          <a:p>
            <a:pPr algn="l">
              <a:lnSpc>
                <a:spcPct val="100000"/>
              </a:lnSpc>
              <a:buNone/>
              <a:defRPr sz="1575" b="1">
                <a:solidFill>
                  <a:srgbClr val="111111"/>
                </a:solidFill>
                <a:latin typeface="Georgia"/>
                <a:ea typeface="Georgia"/>
                <a:cs typeface="Georgia"/>
              </a:defRPr>
            </a:pPr>
            <a:r>
              <a:rPr sz="1575" b="1">
                <a:solidFill>
                  <a:srgbClr val="111111"/>
                </a:solidFill>
                <a:latin typeface="Georgia"/>
                <a:ea typeface="Georgia"/>
                <a:cs typeface="Georgia"/>
              </a:rPr>
              <a:t>Dependency zero</a:t>
            </a:r>
          </a:p>
        </p:txBody>
      </p:sp>
      <p:sp>
        <p:nvSpPr>
          <p:cNvPr id="105" name="apigee-phase-rule-A6">
            <a:extLst>
              <a:ext uri="{FF2B5EF4-FFF2-40B4-BE49-F238E27FC236}">
                <a16:creationId xmlns:a16="http://schemas.microsoft.com/office/drawing/2014/main" id="{3E48B7B6-8206-41D4-AE8E-7F4B9EBFAA6D}"/>
              </a:ext>
            </a:extLst>
          </p:cNvPr>
          <p:cNvSpPr>
            <a:spLocks noGrp="1"/>
          </p:cNvSpPr>
          <p:nvPr/>
        </p:nvSpPr>
        <p:spPr>
          <a:xfrm>
            <a:off x="10191750" y="3486150"/>
            <a:ext cx="1295400" cy="0"/>
          </a:xfrm>
          <a:prstGeom prst="line">
            <a:avLst/>
          </a:prstGeom>
          <a:noFill/>
          <a:ln w="9525">
            <a:solidFill>
              <a:srgbClr val="C9C6BD"/>
            </a:solidFill>
            <a:prstDash val="solid"/>
          </a:ln>
        </p:spPr>
        <p:txBody>
          <a:bodyPr/>
          <a:lstStyle/>
          <a:p>
            <a:endParaRPr lang="en-US"/>
          </a:p>
        </p:txBody>
      </p:sp>
      <p:sp>
        <p:nvSpPr>
          <p:cNvPr id="106" name="apigee-phase-exit-label-A6">
            <a:extLst>
              <a:ext uri="{FF2B5EF4-FFF2-40B4-BE49-F238E27FC236}">
                <a16:creationId xmlns:a16="http://schemas.microsoft.com/office/drawing/2014/main" id="{BEF704A2-FCFB-40A7-B8E6-350D7D36D39D}"/>
              </a:ext>
            </a:extLst>
          </p:cNvPr>
          <p:cNvSpPr>
            <a:spLocks noGrp="1"/>
          </p:cNvSpPr>
          <p:nvPr/>
        </p:nvSpPr>
        <p:spPr>
          <a:xfrm>
            <a:off x="10191750" y="3581400"/>
            <a:ext cx="1295400" cy="171450"/>
          </a:xfrm>
          <a:prstGeom prst="rect">
            <a:avLst/>
          </a:prstGeom>
          <a:noFill/>
          <a:ln w="0">
            <a:solidFill>
              <a:srgbClr val="FFFCF5"/>
            </a:solidFill>
            <a:prstDash val="solid"/>
          </a:ln>
        </p:spPr>
        <p:txBody>
          <a:bodyPr lIns="28575" tIns="19050" rIns="28575" bIns="19050" anchor="ctr">
            <a:normAutofit fontScale="89744" lnSpcReduction="10000"/>
          </a:bodyPr>
          <a:lstStyle/>
          <a:p>
            <a:pPr algn="l">
              <a:lnSpc>
                <a:spcPct val="100000"/>
              </a:lnSpc>
              <a:buNone/>
              <a:defRPr sz="975" b="1">
                <a:solidFill>
                  <a:srgbClr val="5537D6"/>
                </a:solidFill>
                <a:latin typeface="Consolas"/>
                <a:ea typeface="Consolas"/>
                <a:cs typeface="Consolas"/>
              </a:defRPr>
            </a:pPr>
            <a:r>
              <a:rPr sz="975" b="1">
                <a:solidFill>
                  <a:srgbClr val="5537D6"/>
                </a:solidFill>
                <a:latin typeface="Consolas"/>
                <a:ea typeface="Consolas"/>
                <a:cs typeface="Consolas"/>
              </a:rPr>
              <a:t>EXIT EVIDENCE</a:t>
            </a:r>
          </a:p>
        </p:txBody>
      </p:sp>
      <p:sp>
        <p:nvSpPr>
          <p:cNvPr id="107" name="apigee-phase-exit-A6">
            <a:extLst>
              <a:ext uri="{FF2B5EF4-FFF2-40B4-BE49-F238E27FC236}">
                <a16:creationId xmlns:a16="http://schemas.microsoft.com/office/drawing/2014/main" id="{A8D09B74-8112-497F-9353-4B65A96D32A8}"/>
              </a:ext>
            </a:extLst>
          </p:cNvPr>
          <p:cNvSpPr>
            <a:spLocks noGrp="1"/>
          </p:cNvSpPr>
          <p:nvPr/>
        </p:nvSpPr>
        <p:spPr>
          <a:xfrm>
            <a:off x="10191750" y="3810000"/>
            <a:ext cx="1295400" cy="990600"/>
          </a:xfrm>
          <a:prstGeom prst="rect">
            <a:avLst/>
          </a:prstGeom>
          <a:noFill/>
          <a:ln w="0">
            <a:solidFill>
              <a:srgbClr val="FFFCF5"/>
            </a:solidFill>
            <a:prstDash val="solid"/>
          </a:ln>
        </p:spPr>
        <p:txBody>
          <a:bodyPr lIns="28575" tIns="19050" rIns="28575" bIns="19050" anchor="t">
            <a:normAutofit/>
          </a:bodyPr>
          <a:lstStyle/>
          <a:p>
            <a:pPr algn="l">
              <a:lnSpc>
                <a:spcPct val="100000"/>
              </a:lnSpc>
              <a:buNone/>
              <a:defRPr sz="1200" b="0">
                <a:solidFill>
                  <a:srgbClr val="686A66"/>
                </a:solidFill>
                <a:latin typeface="Arial"/>
                <a:ea typeface="Arial"/>
                <a:cs typeface="Arial"/>
              </a:defRPr>
            </a:pPr>
            <a:r>
              <a:rPr sz="1200" b="0">
                <a:solidFill>
                  <a:srgbClr val="686A66"/>
                </a:solidFill>
                <a:latin typeface="Arial"/>
                <a:ea typeface="Arial"/>
                <a:cs typeface="Arial"/>
              </a:rPr>
              <a:t>No live technical, data, recovery, support or commercial dependency</a:t>
            </a:r>
          </a:p>
        </p:txBody>
      </p:sp>
      <p:sp>
        <p:nvSpPr>
          <p:cNvPr id="108" name="mule-counterpart-card">
            <a:extLst>
              <a:ext uri="{FF2B5EF4-FFF2-40B4-BE49-F238E27FC236}">
                <a16:creationId xmlns:a16="http://schemas.microsoft.com/office/drawing/2014/main" id="{517E94BD-19D5-4A4C-B4BE-55AD69521624}"/>
              </a:ext>
            </a:extLst>
          </p:cNvPr>
          <p:cNvSpPr>
            <a:spLocks noGrp="1"/>
          </p:cNvSpPr>
          <p:nvPr/>
        </p:nvSpPr>
        <p:spPr>
          <a:xfrm>
            <a:off x="609600" y="5162550"/>
            <a:ext cx="4476750" cy="1009650"/>
          </a:xfrm>
          <a:prstGeom prst="rect">
            <a:avLst/>
          </a:prstGeom>
          <a:solidFill>
            <a:srgbClr val="FFFCF5"/>
          </a:solidFill>
          <a:ln w="9525">
            <a:solidFill>
              <a:srgbClr val="C9C6BD"/>
            </a:solidFill>
            <a:prstDash val="solid"/>
          </a:ln>
        </p:spPr>
        <p:txBody>
          <a:bodyPr/>
          <a:lstStyle/>
          <a:p>
            <a:endParaRPr lang="en-US"/>
          </a:p>
        </p:txBody>
      </p:sp>
      <p:sp>
        <p:nvSpPr>
          <p:cNvPr id="109" name="mule-counterpart-text">
            <a:extLst>
              <a:ext uri="{FF2B5EF4-FFF2-40B4-BE49-F238E27FC236}">
                <a16:creationId xmlns:a16="http://schemas.microsoft.com/office/drawing/2014/main" id="{85CB112C-C24E-4F5D-81B8-573BA662CF6F}"/>
              </a:ext>
            </a:extLst>
          </p:cNvPr>
          <p:cNvSpPr>
            <a:spLocks noGrp="1"/>
          </p:cNvSpPr>
          <p:nvPr/>
        </p:nvSpPr>
        <p:spPr>
          <a:xfrm>
            <a:off x="742950" y="5238750"/>
            <a:ext cx="4210050" cy="838200"/>
          </a:xfrm>
          <a:prstGeom prst="rect">
            <a:avLst/>
          </a:prstGeom>
          <a:noFill/>
          <a:ln w="0">
            <a:solidFill>
              <a:srgbClr val="FFFCF5"/>
            </a:solidFill>
            <a:prstDash val="solid"/>
          </a:ln>
        </p:spPr>
        <p:txBody>
          <a:bodyPr lIns="28575" tIns="19050" rIns="28575" bIns="19050" anchor="t">
            <a:normAutofit/>
          </a:bodyPr>
          <a:lstStyle/>
          <a:p>
            <a:pPr algn="l">
              <a:lnSpc>
                <a:spcPct val="100000"/>
              </a:lnSpc>
              <a:buNone/>
              <a:defRPr sz="1200" b="0">
                <a:solidFill>
                  <a:srgbClr val="686A66"/>
                </a:solidFill>
                <a:latin typeface="Arial"/>
                <a:ea typeface="Arial"/>
                <a:cs typeface="Arial"/>
              </a:defRPr>
            </a:pPr>
            <a:r>
              <a:rPr sz="1200" b="1">
                <a:solidFill>
                  <a:srgbClr val="5537D6"/>
                </a:solidFill>
                <a:latin typeface="Arial"/>
                <a:ea typeface="Arial"/>
                <a:cs typeface="Arial"/>
                <a:hlinkClick r:id="rId6"/>
              </a:rPr>
              <a:t>MULE COUNTERPART · M0–M5</a:t>
            </a:r>
          </a:p>
          <a:p>
            <a:pPr algn="l">
              <a:lnSpc>
                <a:spcPct val="100000"/>
              </a:lnSpc>
              <a:buNone/>
              <a:defRPr sz="1200" b="0">
                <a:solidFill>
                  <a:srgbClr val="686A66"/>
                </a:solidFill>
                <a:latin typeface="Arial"/>
                <a:ea typeface="Arial"/>
                <a:cs typeface="Arial"/>
              </a:defRPr>
            </a:pPr>
            <a:r>
              <a:rPr sz="1200" b="0">
                <a:solidFill>
                  <a:srgbClr val="686A66"/>
                </a:solidFill>
                <a:latin typeface="Arial"/>
                <a:ea typeface="Arial"/>
                <a:cs typeface="Arial"/>
              </a:rPr>
              <a:t>Inventory → gateway-dominant → hard integrations → domain factory → connector/batch tail → dependency zero</a:t>
            </a:r>
          </a:p>
        </p:txBody>
      </p:sp>
      <p:sp>
        <p:nvSpPr>
          <p:cNvPr id="110" name="common-gates-card">
            <a:extLst>
              <a:ext uri="{FF2B5EF4-FFF2-40B4-BE49-F238E27FC236}">
                <a16:creationId xmlns:a16="http://schemas.microsoft.com/office/drawing/2014/main" id="{DC77CD76-20DB-4EBC-83D0-ACBDF1986C42}"/>
              </a:ext>
            </a:extLst>
          </p:cNvPr>
          <p:cNvSpPr>
            <a:spLocks noGrp="1"/>
          </p:cNvSpPr>
          <p:nvPr/>
        </p:nvSpPr>
        <p:spPr>
          <a:xfrm>
            <a:off x="5219700" y="5162550"/>
            <a:ext cx="6362700" cy="1009650"/>
          </a:xfrm>
          <a:prstGeom prst="rect">
            <a:avLst/>
          </a:prstGeom>
          <a:solidFill>
            <a:srgbClr val="FFFCF5"/>
          </a:solidFill>
          <a:ln w="9525">
            <a:solidFill>
              <a:srgbClr val="C9C6BD"/>
            </a:solidFill>
            <a:prstDash val="solid"/>
          </a:ln>
        </p:spPr>
        <p:txBody>
          <a:bodyPr/>
          <a:lstStyle/>
          <a:p>
            <a:endParaRPr lang="en-US"/>
          </a:p>
        </p:txBody>
      </p:sp>
      <p:sp>
        <p:nvSpPr>
          <p:cNvPr id="111" name="common-gates-text">
            <a:extLst>
              <a:ext uri="{FF2B5EF4-FFF2-40B4-BE49-F238E27FC236}">
                <a16:creationId xmlns:a16="http://schemas.microsoft.com/office/drawing/2014/main" id="{0DB49931-05A0-4255-9329-EC894CDA13BE}"/>
              </a:ext>
            </a:extLst>
          </p:cNvPr>
          <p:cNvSpPr>
            <a:spLocks noGrp="1"/>
          </p:cNvSpPr>
          <p:nvPr/>
        </p:nvSpPr>
        <p:spPr>
          <a:xfrm>
            <a:off x="5353050" y="5238750"/>
            <a:ext cx="6096000" cy="857250"/>
          </a:xfrm>
          <a:prstGeom prst="rect">
            <a:avLst/>
          </a:prstGeom>
          <a:noFill/>
          <a:ln w="0">
            <a:solidFill>
              <a:srgbClr val="FFFCF5"/>
            </a:solidFill>
            <a:prstDash val="solid"/>
          </a:ln>
        </p:spPr>
        <p:txBody>
          <a:bodyPr lIns="28575" tIns="19050" rIns="28575" bIns="19050" anchor="t">
            <a:normAutofit/>
          </a:bodyPr>
          <a:lstStyle/>
          <a:p>
            <a:pPr algn="l">
              <a:lnSpc>
                <a:spcPct val="100000"/>
              </a:lnSpc>
              <a:buNone/>
              <a:defRPr sz="1200" b="0">
                <a:solidFill>
                  <a:srgbClr val="686A66"/>
                </a:solidFill>
                <a:latin typeface="Arial"/>
                <a:ea typeface="Arial"/>
                <a:cs typeface="Arial"/>
              </a:defRPr>
            </a:pPr>
            <a:r>
              <a:rPr sz="1200" b="1">
                <a:solidFill>
                  <a:srgbClr val="5537D6"/>
                </a:solidFill>
                <a:latin typeface="Arial"/>
                <a:ea typeface="Arial"/>
                <a:cs typeface="Arial"/>
              </a:rPr>
              <a:t>COMMON GATES</a:t>
            </a:r>
          </a:p>
          <a:p>
            <a:pPr algn="l">
              <a:lnSpc>
                <a:spcPct val="100000"/>
              </a:lnSpc>
              <a:buNone/>
              <a:defRPr sz="1200" b="0">
                <a:solidFill>
                  <a:srgbClr val="686A66"/>
                </a:solidFill>
                <a:latin typeface="Arial"/>
                <a:ea typeface="Arial"/>
                <a:cs typeface="Arial"/>
              </a:defRPr>
            </a:pPr>
            <a:r>
              <a:rPr sz="1200" b="0">
                <a:solidFill>
                  <a:srgbClr val="686A66"/>
                </a:solidFill>
                <a:latin typeface="Arial"/>
                <a:ea typeface="Arial"/>
                <a:cs typeface="Arial"/>
              </a:rPr>
              <a:t>Source truth → semantics → reversible foundation → parity → route-back → production evidence → dependency zero</a:t>
            </a:r>
          </a:p>
          <a:p>
            <a:pPr algn="l">
              <a:lnSpc>
                <a:spcPct val="100000"/>
              </a:lnSpc>
              <a:buNone/>
              <a:defRPr sz="1200" b="0">
                <a:solidFill>
                  <a:srgbClr val="686A66"/>
                </a:solidFill>
                <a:latin typeface="Arial"/>
                <a:ea typeface="Arial"/>
                <a:cs typeface="Arial"/>
              </a:defRPr>
            </a:pPr>
            <a:r>
              <a:rPr sz="1200" b="0">
                <a:solidFill>
                  <a:srgbClr val="686A66"/>
                </a:solidFill>
                <a:latin typeface="Arial"/>
                <a:ea typeface="Arial"/>
                <a:cs typeface="Arial"/>
                <a:hlinkClick r:id="rId7"/>
              </a:rPr>
              <a:t>Terminology crosswalk</a:t>
            </a:r>
          </a:p>
        </p:txBody>
      </p:sp>
    </p:spTree>
    <p:extLst>
      <p:ext uri="{BB962C8B-B14F-4D97-AF65-F5344CB8AC3E}">
        <p14:creationId xmlns:p14="http://schemas.microsoft.com/office/powerpoint/2010/main" val="2609421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634CB803-C782-446A-9267-22D570997D76}"/>
              </a:ext>
            </a:extLst>
          </p:cNvPr>
          <p:cNvSpPr>
            <a:spLocks noGrp="1"/>
          </p:cNvSpPr>
          <p:nvPr/>
        </p:nvSpPr>
        <p:spPr>
          <a:xfrm>
            <a:off x="0" y="0"/>
            <a:ext cx="12192000" cy="266700"/>
          </a:xfrm>
          <a:prstGeom prst="rect">
            <a:avLst/>
          </a:prstGeom>
          <a:solidFill>
            <a:srgbClr val="FFC72C"/>
          </a:solidFill>
          <a:ln w="0">
            <a:noFill/>
            <a:prstDash val="solid"/>
          </a:ln>
        </p:spPr>
        <p:txBody>
          <a:bodyPr/>
          <a:lstStyle/>
          <a:p>
            <a:endParaRPr lang="en-US"/>
          </a:p>
        </p:txBody>
      </p:sp>
      <p:sp>
        <p:nvSpPr>
          <p:cNvPr id="2" name="Rectangle 1">
            <a:extLst>
              <a:ext uri="{FF2B5EF4-FFF2-40B4-BE49-F238E27FC236}">
                <a16:creationId xmlns:a16="http://schemas.microsoft.com/office/drawing/2014/main" id="{AAA3E8BA-D722-4007-9DFE-B7F2A50089AE}"/>
              </a:ext>
            </a:extLst>
          </p:cNvPr>
          <p:cNvSpPr>
            <a:spLocks noGrp="1"/>
          </p:cNvSpPr>
          <p:nvPr/>
        </p:nvSpPr>
        <p:spPr>
          <a:xfrm>
            <a:off x="10668000" y="0"/>
            <a:ext cx="1524000" cy="266700"/>
          </a:xfrm>
          <a:prstGeom prst="rect">
            <a:avLst/>
          </a:prstGeom>
          <a:solidFill>
            <a:srgbClr val="5537D6"/>
          </a:solidFill>
          <a:ln w="0">
            <a:noFill/>
            <a:prstDash val="solid"/>
          </a:ln>
        </p:spPr>
        <p:txBody>
          <a:bodyPr/>
          <a:lstStyle/>
          <a:p>
            <a:endParaRPr lang="en-US"/>
          </a:p>
        </p:txBody>
      </p:sp>
      <p:sp>
        <p:nvSpPr>
          <p:cNvPr id="3" name="Rectangle 2">
            <a:extLst>
              <a:ext uri="{FF2B5EF4-FFF2-40B4-BE49-F238E27FC236}">
                <a16:creationId xmlns:a16="http://schemas.microsoft.com/office/drawing/2014/main" id="{211D335C-E2A0-4AEE-BC76-CA98B686D560}"/>
              </a:ext>
            </a:extLst>
          </p:cNvPr>
          <p:cNvSpPr>
            <a:spLocks noGrp="1"/>
          </p:cNvSpPr>
          <p:nvPr/>
        </p:nvSpPr>
        <p:spPr>
          <a:xfrm>
            <a:off x="609600" y="38100"/>
            <a:ext cx="3429000" cy="190500"/>
          </a:xfrm>
          <a:prstGeom prst="rect">
            <a:avLst/>
          </a:prstGeom>
          <a:noFill/>
          <a:ln w="0">
            <a:noFill/>
            <a:prstDash val="solid"/>
          </a:ln>
        </p:spPr>
        <p:txBody>
          <a:bodyPr wrap="square" lIns="0" tIns="0" rIns="0" bIns="0" anchor="t">
            <a:normAutofit/>
          </a:bodyPr>
          <a:lstStyle/>
          <a:p>
            <a:pPr algn="l">
              <a:buNone/>
              <a:defRPr sz="975" b="1" i="0">
                <a:solidFill>
                  <a:srgbClr val="111111"/>
                </a:solidFill>
                <a:latin typeface="Consolas"/>
                <a:ea typeface="Consolas"/>
                <a:cs typeface="Consolas"/>
              </a:defRPr>
            </a:pPr>
            <a:r>
              <a:rPr sz="975" b="1" i="0">
                <a:solidFill>
                  <a:srgbClr val="111111"/>
                </a:solidFill>
                <a:latin typeface="Consolas"/>
                <a:ea typeface="Consolas"/>
                <a:cs typeface="Consolas"/>
              </a:rPr>
              <a:t>17 / PRODUCTION</a:t>
            </a:r>
          </a:p>
        </p:txBody>
      </p:sp>
      <p:sp>
        <p:nvSpPr>
          <p:cNvPr id="4" name="Rectangle 3">
            <a:extLst>
              <a:ext uri="{FF2B5EF4-FFF2-40B4-BE49-F238E27FC236}">
                <a16:creationId xmlns:a16="http://schemas.microsoft.com/office/drawing/2014/main" id="{2B7FCF0F-6E74-4157-8E0A-08D426501971}"/>
              </a:ext>
            </a:extLst>
          </p:cNvPr>
          <p:cNvSpPr>
            <a:spLocks noGrp="1"/>
          </p:cNvSpPr>
          <p:nvPr/>
        </p:nvSpPr>
        <p:spPr>
          <a:xfrm>
            <a:off x="609600" y="428625"/>
            <a:ext cx="10572750" cy="1028700"/>
          </a:xfrm>
          <a:prstGeom prst="rect">
            <a:avLst/>
          </a:prstGeom>
          <a:noFill/>
          <a:ln w="0">
            <a:noFill/>
            <a:prstDash val="solid"/>
          </a:ln>
        </p:spPr>
        <p:txBody>
          <a:bodyPr wrap="square" lIns="0" tIns="0" rIns="0" bIns="0" anchor="t">
            <a:noAutofit/>
          </a:bodyPr>
          <a:lstStyle/>
          <a:p>
            <a:pPr algn="l">
              <a:buNone/>
              <a:defRPr sz="3300" b="1" i="0">
                <a:solidFill>
                  <a:srgbClr val="111111"/>
                </a:solidFill>
                <a:latin typeface="Arial"/>
                <a:ea typeface="Arial"/>
                <a:cs typeface="Arial"/>
              </a:defRPr>
            </a:pPr>
            <a:r>
              <a:rPr sz="3300" b="1" i="0">
                <a:solidFill>
                  <a:srgbClr val="111111"/>
                </a:solidFill>
                <a:latin typeface="Arial"/>
                <a:ea typeface="Arial"/>
                <a:cs typeface="Arial"/>
              </a:rPr>
              <a:t>Current PoC is a functional baseline—not KP-SMH1 proof</a:t>
            </a:r>
          </a:p>
        </p:txBody>
      </p:sp>
      <p:sp>
        <p:nvSpPr>
          <p:cNvPr id="5" name="Rectangle 4">
            <a:extLst>
              <a:ext uri="{FF2B5EF4-FFF2-40B4-BE49-F238E27FC236}">
                <a16:creationId xmlns:a16="http://schemas.microsoft.com/office/drawing/2014/main" id="{24690352-C606-4122-9AB1-DF2AEB1673E0}"/>
              </a:ext>
            </a:extLst>
          </p:cNvPr>
          <p:cNvSpPr>
            <a:spLocks noGrp="1"/>
          </p:cNvSpPr>
          <p:nvPr/>
        </p:nvSpPr>
        <p:spPr>
          <a:xfrm>
            <a:off x="628650" y="1514475"/>
            <a:ext cx="10382250" cy="323850"/>
          </a:xfrm>
          <a:prstGeom prst="rect">
            <a:avLst/>
          </a:prstGeom>
          <a:noFill/>
          <a:ln w="0">
            <a:noFill/>
            <a:prstDash val="solid"/>
          </a:ln>
        </p:spPr>
        <p:txBody>
          <a:bodyPr wrap="square" lIns="0" tIns="0" rIns="0" bIns="0" anchor="t">
            <a:noAutofit/>
          </a:bodyPr>
          <a:lstStyle/>
          <a:p>
            <a:pPr algn="l">
              <a:buNone/>
              <a:defRPr sz="1575" b="0" i="0">
                <a:solidFill>
                  <a:srgbClr val="686A66"/>
                </a:solidFill>
                <a:latin typeface="Arial"/>
                <a:ea typeface="Arial"/>
                <a:cs typeface="Arial"/>
              </a:defRPr>
            </a:pPr>
            <a:r>
              <a:rPr sz="1575" b="0" i="0">
                <a:solidFill>
                  <a:srgbClr val="686A66"/>
                </a:solidFill>
                <a:latin typeface="Arial"/>
                <a:ea typeface="Arial"/>
                <a:cs typeface="Arial"/>
              </a:rPr>
              <a:t>Aggregate register status and atomic comparison protocols are separate, non-additive evidence systems.</a:t>
            </a:r>
          </a:p>
        </p:txBody>
      </p:sp>
      <p:sp>
        <p:nvSpPr>
          <p:cNvPr id="6" name="Rectangle 5">
            <a:extLst>
              <a:ext uri="{FF2B5EF4-FFF2-40B4-BE49-F238E27FC236}">
                <a16:creationId xmlns:a16="http://schemas.microsoft.com/office/drawing/2014/main" id="{5396D5E3-2A3A-4E35-91CD-76640301337F}"/>
              </a:ext>
            </a:extLst>
          </p:cNvPr>
          <p:cNvSpPr>
            <a:spLocks noGrp="1"/>
          </p:cNvSpPr>
          <p:nvPr/>
        </p:nvSpPr>
        <p:spPr>
          <a:xfrm>
            <a:off x="609600" y="1905000"/>
            <a:ext cx="10972800" cy="9525"/>
          </a:xfrm>
          <a:prstGeom prst="rect">
            <a:avLst/>
          </a:prstGeom>
          <a:solidFill>
            <a:srgbClr val="8A8B86"/>
          </a:solidFill>
          <a:ln w="0">
            <a:noFill/>
            <a:prstDash val="solid"/>
          </a:ln>
        </p:spPr>
        <p:txBody>
          <a:bodyPr/>
          <a:lstStyle/>
          <a:p>
            <a:endParaRPr lang="en-US"/>
          </a:p>
        </p:txBody>
      </p:sp>
      <p:sp>
        <p:nvSpPr>
          <p:cNvPr id="7" name="Rectangle 6">
            <a:extLst>
              <a:ext uri="{FF2B5EF4-FFF2-40B4-BE49-F238E27FC236}">
                <a16:creationId xmlns:a16="http://schemas.microsoft.com/office/drawing/2014/main" id="{147DEFFC-6E52-49CA-A718-DBB35877E326}"/>
              </a:ext>
            </a:extLst>
          </p:cNvPr>
          <p:cNvSpPr>
            <a:spLocks noGrp="1"/>
          </p:cNvSpPr>
          <p:nvPr/>
        </p:nvSpPr>
        <p:spPr>
          <a:xfrm>
            <a:off x="609600" y="6524625"/>
            <a:ext cx="8858250" cy="180975"/>
          </a:xfrm>
          <a:prstGeom prst="rect">
            <a:avLst/>
          </a:prstGeom>
          <a:noFill/>
          <a:ln w="0">
            <a:noFill/>
            <a:prstDash val="solid"/>
          </a:ln>
        </p:spPr>
        <p:txBody>
          <a:bodyPr wrap="square" lIns="0" tIns="0" rIns="0" bIns="0" anchor="ctr">
            <a:normAutofit/>
          </a:bodyPr>
          <a:lstStyle/>
          <a:p>
            <a:pPr>
              <a:buNone/>
              <a:defRPr sz="825">
                <a:solidFill>
                  <a:srgbClr val="666762"/>
                </a:solidFill>
              </a:defRPr>
            </a:pPr>
            <a:r>
              <a:rPr sz="825" b="1">
                <a:solidFill>
                  <a:srgbClr val="666762"/>
                </a:solidFill>
              </a:rPr>
              <a:t>REFERENCES  </a:t>
            </a:r>
            <a:r>
              <a:rPr sz="825" u="sng">
                <a:solidFill>
                  <a:srgbClr val="666762"/>
                </a:solidFill>
                <a:hlinkClick r:id="rId3"/>
              </a:rPr>
              <a:t>Repo reference</a:t>
            </a:r>
            <a:r>
              <a:rPr sz="825">
                <a:solidFill>
                  <a:srgbClr val="666762"/>
                </a:solidFill>
              </a:rPr>
              <a:t>  ·  </a:t>
            </a:r>
            <a:r>
              <a:rPr sz="825" u="sng">
                <a:solidFill>
                  <a:srgbClr val="666762"/>
                </a:solidFill>
                <a:hlinkClick r:id="rId4"/>
              </a:rPr>
              <a:t>Official docs</a:t>
            </a:r>
          </a:p>
        </p:txBody>
      </p:sp>
      <p:sp>
        <p:nvSpPr>
          <p:cNvPr id="8" name="Rectangle 7">
            <a:extLst>
              <a:ext uri="{FF2B5EF4-FFF2-40B4-BE49-F238E27FC236}">
                <a16:creationId xmlns:a16="http://schemas.microsoft.com/office/drawing/2014/main" id="{8AD95E7D-67B5-4D6D-94DB-DE59F229ADDF}"/>
              </a:ext>
            </a:extLst>
          </p:cNvPr>
          <p:cNvSpPr>
            <a:spLocks noGrp="1"/>
          </p:cNvSpPr>
          <p:nvPr/>
        </p:nvSpPr>
        <p:spPr>
          <a:xfrm>
            <a:off x="10287000" y="6486525"/>
            <a:ext cx="1295400" cy="209550"/>
          </a:xfrm>
          <a:prstGeom prst="rect">
            <a:avLst/>
          </a:prstGeom>
          <a:noFill/>
          <a:ln w="0">
            <a:noFill/>
            <a:prstDash val="solid"/>
          </a:ln>
        </p:spPr>
        <p:txBody>
          <a:bodyPr wrap="square" lIns="0" tIns="0" rIns="0" bIns="0" anchor="t">
            <a:normAutofit/>
          </a:bodyPr>
          <a:lstStyle/>
          <a:p>
            <a:pPr algn="r">
              <a:buNone/>
              <a:defRPr sz="975" b="1" i="0">
                <a:solidFill>
                  <a:srgbClr val="686A66"/>
                </a:solidFill>
                <a:latin typeface="Consolas"/>
                <a:ea typeface="Consolas"/>
                <a:cs typeface="Consolas"/>
              </a:defRPr>
            </a:pPr>
            <a:r>
              <a:rPr sz="975" b="1" i="0">
                <a:solidFill>
                  <a:srgbClr val="686A66"/>
                </a:solidFill>
                <a:latin typeface="Consolas"/>
                <a:ea typeface="Consolas"/>
                <a:cs typeface="Consolas"/>
              </a:rPr>
              <a:t>17 / 25</a:t>
            </a:r>
          </a:p>
        </p:txBody>
      </p:sp>
      <p:sp>
        <p:nvSpPr>
          <p:cNvPr id="9" name="Rectangle 8">
            <a:extLst>
              <a:ext uri="{FF2B5EF4-FFF2-40B4-BE49-F238E27FC236}">
                <a16:creationId xmlns:a16="http://schemas.microsoft.com/office/drawing/2014/main" id="{DFAE3E54-6DAD-4463-A105-A79DA610CE85}"/>
              </a:ext>
            </a:extLst>
          </p:cNvPr>
          <p:cNvSpPr>
            <a:spLocks noGrp="1"/>
          </p:cNvSpPr>
          <p:nvPr/>
        </p:nvSpPr>
        <p:spPr>
          <a:xfrm>
            <a:off x="685800" y="2238375"/>
            <a:ext cx="2286000" cy="1257300"/>
          </a:xfrm>
          <a:prstGeom prst="rect">
            <a:avLst/>
          </a:prstGeom>
          <a:noFill/>
          <a:ln w="0">
            <a:noFill/>
            <a:prstDash val="solid"/>
          </a:ln>
        </p:spPr>
        <p:txBody>
          <a:bodyPr wrap="square" lIns="0" tIns="0" rIns="0" bIns="0" anchor="t">
            <a:normAutofit/>
          </a:bodyPr>
          <a:lstStyle/>
          <a:p>
            <a:pPr algn="ctr">
              <a:buNone/>
              <a:defRPr sz="7800" b="0" i="0">
                <a:solidFill>
                  <a:srgbClr val="5537D6"/>
                </a:solidFill>
                <a:latin typeface="Georgia"/>
                <a:ea typeface="Georgia"/>
                <a:cs typeface="Georgia"/>
              </a:defRPr>
            </a:pPr>
            <a:r>
              <a:rPr sz="7800" b="0" i="0">
                <a:solidFill>
                  <a:srgbClr val="5537D6"/>
                </a:solidFill>
                <a:latin typeface="Georgia"/>
                <a:ea typeface="Georgia"/>
                <a:cs typeface="Georgia"/>
              </a:rPr>
              <a:t>0</a:t>
            </a:r>
          </a:p>
        </p:txBody>
      </p:sp>
      <p:sp>
        <p:nvSpPr>
          <p:cNvPr id="10" name="Rectangle 9">
            <a:extLst>
              <a:ext uri="{FF2B5EF4-FFF2-40B4-BE49-F238E27FC236}">
                <a16:creationId xmlns:a16="http://schemas.microsoft.com/office/drawing/2014/main" id="{8B12EAF7-5C14-45F3-A54C-3360EC7A3604}"/>
              </a:ext>
            </a:extLst>
          </p:cNvPr>
          <p:cNvSpPr>
            <a:spLocks noGrp="1"/>
          </p:cNvSpPr>
          <p:nvPr/>
        </p:nvSpPr>
        <p:spPr>
          <a:xfrm>
            <a:off x="685800" y="3476625"/>
            <a:ext cx="2286000" cy="704850"/>
          </a:xfrm>
          <a:prstGeom prst="rect">
            <a:avLst/>
          </a:prstGeom>
          <a:noFill/>
          <a:ln w="0">
            <a:noFill/>
            <a:prstDash val="solid"/>
          </a:ln>
        </p:spPr>
        <p:txBody>
          <a:bodyPr wrap="square" lIns="0" tIns="0" rIns="0" bIns="0" anchor="t">
            <a:normAutofit/>
          </a:bodyPr>
          <a:lstStyle/>
          <a:p>
            <a:pPr algn="ctr">
              <a:buNone/>
              <a:defRPr sz="1650" b="1" i="0">
                <a:solidFill>
                  <a:srgbClr val="111111"/>
                </a:solidFill>
                <a:latin typeface="Arial"/>
                <a:ea typeface="Arial"/>
                <a:cs typeface="Arial"/>
              </a:defRPr>
            </a:pPr>
            <a:r>
              <a:rPr sz="1650" b="1" i="0">
                <a:solidFill>
                  <a:srgbClr val="111111"/>
                </a:solidFill>
                <a:latin typeface="Arial"/>
                <a:ea typeface="Arial"/>
                <a:cs typeface="Arial"/>
              </a:rPr>
              <a:t>target-option</a:t>
            </a:r>
          </a:p>
          <a:p>
            <a:pPr algn="ctr">
              <a:buNone/>
              <a:defRPr sz="1650" b="1" i="0">
                <a:solidFill>
                  <a:srgbClr val="111111"/>
                </a:solidFill>
                <a:latin typeface="Arial"/>
                <a:ea typeface="Arial"/>
                <a:cs typeface="Arial"/>
              </a:defRPr>
            </a:pPr>
            <a:r>
              <a:rPr sz="1650" b="1" i="0">
                <a:solidFill>
                  <a:srgbClr val="111111"/>
                </a:solidFill>
                <a:latin typeface="Arial"/>
                <a:ea typeface="Arial"/>
                <a:cs typeface="Arial"/>
              </a:rPr>
              <a:t>E3 / E4 results</a:t>
            </a:r>
          </a:p>
        </p:txBody>
      </p:sp>
      <p:sp>
        <p:nvSpPr>
          <p:cNvPr id="11" name="Rectangle 10">
            <a:extLst>
              <a:ext uri="{FF2B5EF4-FFF2-40B4-BE49-F238E27FC236}">
                <a16:creationId xmlns:a16="http://schemas.microsoft.com/office/drawing/2014/main" id="{3F0DF096-E618-450D-8778-70B89D41616F}"/>
              </a:ext>
            </a:extLst>
          </p:cNvPr>
          <p:cNvSpPr>
            <a:spLocks noGrp="1"/>
          </p:cNvSpPr>
          <p:nvPr/>
        </p:nvSpPr>
        <p:spPr>
          <a:xfrm>
            <a:off x="3524250" y="2381250"/>
            <a:ext cx="2381250" cy="2857500"/>
          </a:xfrm>
          <a:prstGeom prst="rect">
            <a:avLst/>
          </a:prstGeom>
          <a:solidFill>
            <a:srgbClr val="FFFFFF"/>
          </a:solidFill>
          <a:ln w="9525">
            <a:solidFill>
              <a:srgbClr val="8A8B86"/>
            </a:solidFill>
            <a:prstDash val="solid"/>
          </a:ln>
        </p:spPr>
        <p:txBody>
          <a:bodyPr/>
          <a:lstStyle/>
          <a:p>
            <a:endParaRPr lang="en-US"/>
          </a:p>
        </p:txBody>
      </p:sp>
      <p:sp>
        <p:nvSpPr>
          <p:cNvPr id="12" name="Rectangle 11">
            <a:extLst>
              <a:ext uri="{FF2B5EF4-FFF2-40B4-BE49-F238E27FC236}">
                <a16:creationId xmlns:a16="http://schemas.microsoft.com/office/drawing/2014/main" id="{1243CCD7-C651-4001-BF24-CDA4F80B33BA}"/>
              </a:ext>
            </a:extLst>
          </p:cNvPr>
          <p:cNvSpPr>
            <a:spLocks noGrp="1"/>
          </p:cNvSpPr>
          <p:nvPr/>
        </p:nvSpPr>
        <p:spPr>
          <a:xfrm>
            <a:off x="3714750" y="2619375"/>
            <a:ext cx="2000250" cy="590550"/>
          </a:xfrm>
          <a:prstGeom prst="rect">
            <a:avLst/>
          </a:prstGeom>
          <a:noFill/>
          <a:ln w="0">
            <a:noFill/>
            <a:prstDash val="solid"/>
          </a:ln>
        </p:spPr>
        <p:txBody>
          <a:bodyPr wrap="square" lIns="0" tIns="0" rIns="0" bIns="0" anchor="t">
            <a:normAutofit/>
          </a:bodyPr>
          <a:lstStyle/>
          <a:p>
            <a:pPr algn="ctr">
              <a:buNone/>
              <a:defRPr sz="3150" b="1" i="0">
                <a:solidFill>
                  <a:srgbClr val="197457"/>
                </a:solidFill>
                <a:latin typeface="Consolas"/>
                <a:ea typeface="Consolas"/>
                <a:cs typeface="Consolas"/>
              </a:defRPr>
            </a:pPr>
            <a:r>
              <a:rPr sz="3150" b="1" i="0">
                <a:solidFill>
                  <a:srgbClr val="197457"/>
                </a:solidFill>
                <a:latin typeface="Consolas"/>
                <a:ea typeface="Consolas"/>
                <a:cs typeface="Consolas"/>
              </a:rPr>
              <a:t>5 / 16</a:t>
            </a:r>
          </a:p>
        </p:txBody>
      </p:sp>
      <p:sp>
        <p:nvSpPr>
          <p:cNvPr id="13" name="Rectangle 12">
            <a:extLst>
              <a:ext uri="{FF2B5EF4-FFF2-40B4-BE49-F238E27FC236}">
                <a16:creationId xmlns:a16="http://schemas.microsoft.com/office/drawing/2014/main" id="{EA8B9163-D837-4502-9FEA-58AAAF8F74C4}"/>
              </a:ext>
            </a:extLst>
          </p:cNvPr>
          <p:cNvSpPr>
            <a:spLocks noGrp="1"/>
          </p:cNvSpPr>
          <p:nvPr/>
        </p:nvSpPr>
        <p:spPr>
          <a:xfrm>
            <a:off x="3714750" y="3381375"/>
            <a:ext cx="2000250" cy="666750"/>
          </a:xfrm>
          <a:prstGeom prst="rect">
            <a:avLst/>
          </a:prstGeom>
          <a:noFill/>
          <a:ln w="0">
            <a:noFill/>
            <a:prstDash val="solid"/>
          </a:ln>
        </p:spPr>
        <p:txBody>
          <a:bodyPr wrap="square" lIns="0" tIns="0" rIns="0" bIns="0" anchor="t">
            <a:normAutofit fontScale="98202"/>
          </a:bodyPr>
          <a:lstStyle/>
          <a:p>
            <a:pPr algn="ctr">
              <a:buNone/>
              <a:defRPr sz="1725" b="0" i="0">
                <a:solidFill>
                  <a:srgbClr val="111111"/>
                </a:solidFill>
                <a:latin typeface="Georgia"/>
                <a:ea typeface="Georgia"/>
                <a:cs typeface="Georgia"/>
              </a:defRPr>
            </a:pPr>
            <a:r>
              <a:rPr sz="1725" b="0" i="0">
                <a:solidFill>
                  <a:srgbClr val="111111"/>
                </a:solidFill>
                <a:latin typeface="Georgia"/>
                <a:ea typeface="Georgia"/>
                <a:cs typeface="Georgia"/>
              </a:rPr>
              <a:t>Automated local-baseline checks</a:t>
            </a:r>
          </a:p>
        </p:txBody>
      </p:sp>
      <p:sp>
        <p:nvSpPr>
          <p:cNvPr id="14" name="Rectangle 13">
            <a:extLst>
              <a:ext uri="{FF2B5EF4-FFF2-40B4-BE49-F238E27FC236}">
                <a16:creationId xmlns:a16="http://schemas.microsoft.com/office/drawing/2014/main" id="{E2EA90A3-A1A7-4B75-9016-5562B9C4502B}"/>
              </a:ext>
            </a:extLst>
          </p:cNvPr>
          <p:cNvSpPr>
            <a:spLocks noGrp="1"/>
          </p:cNvSpPr>
          <p:nvPr/>
        </p:nvSpPr>
        <p:spPr>
          <a:xfrm>
            <a:off x="3714750" y="4276725"/>
            <a:ext cx="2000250" cy="666750"/>
          </a:xfrm>
          <a:prstGeom prst="rect">
            <a:avLst/>
          </a:prstGeom>
          <a:noFill/>
          <a:ln w="0">
            <a:noFill/>
            <a:prstDash val="solid"/>
          </a:ln>
        </p:spPr>
        <p:txBody>
          <a:bodyPr wrap="square" lIns="0" tIns="0" rIns="0" bIns="0" anchor="t">
            <a:normAutofit fontScale="92126"/>
          </a:bodyPr>
          <a:lstStyle/>
          <a:p>
            <a:pPr algn="ctr">
              <a:buNone/>
              <a:defRPr sz="1275" b="0" i="0">
                <a:solidFill>
                  <a:srgbClr val="686A66"/>
                </a:solidFill>
                <a:latin typeface="Arial"/>
                <a:ea typeface="Arial"/>
                <a:cs typeface="Arial"/>
              </a:defRPr>
            </a:pPr>
            <a:r>
              <a:rPr sz="1275" b="0" i="0">
                <a:solidFill>
                  <a:srgbClr val="686A66"/>
                </a:solidFill>
                <a:latin typeface="Arial"/>
                <a:ea typeface="Arial"/>
                <a:cs typeface="Arial"/>
              </a:rPr>
              <a:t>Useful for harness function—not representative production fit</a:t>
            </a:r>
          </a:p>
        </p:txBody>
      </p:sp>
      <p:sp>
        <p:nvSpPr>
          <p:cNvPr id="15" name="Rectangle 14">
            <a:extLst>
              <a:ext uri="{FF2B5EF4-FFF2-40B4-BE49-F238E27FC236}">
                <a16:creationId xmlns:a16="http://schemas.microsoft.com/office/drawing/2014/main" id="{507805FD-1EFB-46BB-9424-44DECA9EF9AF}"/>
              </a:ext>
            </a:extLst>
          </p:cNvPr>
          <p:cNvSpPr>
            <a:spLocks noGrp="1"/>
          </p:cNvSpPr>
          <p:nvPr/>
        </p:nvSpPr>
        <p:spPr>
          <a:xfrm>
            <a:off x="6153150" y="2381250"/>
            <a:ext cx="2381250" cy="2857500"/>
          </a:xfrm>
          <a:prstGeom prst="rect">
            <a:avLst/>
          </a:prstGeom>
          <a:solidFill>
            <a:srgbClr val="FFFFFF"/>
          </a:solidFill>
          <a:ln w="9525">
            <a:solidFill>
              <a:srgbClr val="8A8B86"/>
            </a:solidFill>
            <a:prstDash val="solid"/>
          </a:ln>
        </p:spPr>
        <p:txBody>
          <a:bodyPr/>
          <a:lstStyle/>
          <a:p>
            <a:endParaRPr lang="en-US"/>
          </a:p>
        </p:txBody>
      </p:sp>
      <p:sp>
        <p:nvSpPr>
          <p:cNvPr id="16" name="Rectangle 15">
            <a:extLst>
              <a:ext uri="{FF2B5EF4-FFF2-40B4-BE49-F238E27FC236}">
                <a16:creationId xmlns:a16="http://schemas.microsoft.com/office/drawing/2014/main" id="{08E96536-E010-4A68-9EDF-7F0AB9AB2069}"/>
              </a:ext>
            </a:extLst>
          </p:cNvPr>
          <p:cNvSpPr>
            <a:spLocks noGrp="1"/>
          </p:cNvSpPr>
          <p:nvPr/>
        </p:nvSpPr>
        <p:spPr>
          <a:xfrm>
            <a:off x="6343650" y="2619375"/>
            <a:ext cx="2000250" cy="590550"/>
          </a:xfrm>
          <a:prstGeom prst="rect">
            <a:avLst/>
          </a:prstGeom>
          <a:noFill/>
          <a:ln w="0">
            <a:noFill/>
            <a:prstDash val="solid"/>
          </a:ln>
        </p:spPr>
        <p:txBody>
          <a:bodyPr wrap="square" lIns="0" tIns="0" rIns="0" bIns="0" anchor="t">
            <a:normAutofit/>
          </a:bodyPr>
          <a:lstStyle/>
          <a:p>
            <a:pPr algn="ctr">
              <a:buNone/>
              <a:defRPr sz="3150" b="1" i="0">
                <a:solidFill>
                  <a:srgbClr val="5537D6"/>
                </a:solidFill>
                <a:latin typeface="Consolas"/>
                <a:ea typeface="Consolas"/>
                <a:cs typeface="Consolas"/>
              </a:defRPr>
            </a:pPr>
            <a:r>
              <a:rPr sz="3150" b="1" i="0">
                <a:solidFill>
                  <a:srgbClr val="5537D6"/>
                </a:solidFill>
                <a:latin typeface="Consolas"/>
                <a:ea typeface="Consolas"/>
                <a:cs typeface="Consolas"/>
              </a:rPr>
              <a:t>11 / 16</a:t>
            </a:r>
          </a:p>
        </p:txBody>
      </p:sp>
      <p:sp>
        <p:nvSpPr>
          <p:cNvPr id="17" name="Rectangle 16">
            <a:extLst>
              <a:ext uri="{FF2B5EF4-FFF2-40B4-BE49-F238E27FC236}">
                <a16:creationId xmlns:a16="http://schemas.microsoft.com/office/drawing/2014/main" id="{44E6A225-9558-4AB4-A5F5-B6395D565E92}"/>
              </a:ext>
            </a:extLst>
          </p:cNvPr>
          <p:cNvSpPr>
            <a:spLocks noGrp="1"/>
          </p:cNvSpPr>
          <p:nvPr/>
        </p:nvSpPr>
        <p:spPr>
          <a:xfrm>
            <a:off x="6343650" y="3381375"/>
            <a:ext cx="2000250" cy="666750"/>
          </a:xfrm>
          <a:prstGeom prst="rect">
            <a:avLst/>
          </a:prstGeom>
          <a:noFill/>
          <a:ln w="0">
            <a:noFill/>
            <a:prstDash val="solid"/>
          </a:ln>
        </p:spPr>
        <p:txBody>
          <a:bodyPr wrap="square" lIns="0" tIns="0" rIns="0" bIns="0" anchor="t">
            <a:normAutofit/>
          </a:bodyPr>
          <a:lstStyle/>
          <a:p>
            <a:pPr algn="ctr">
              <a:buNone/>
              <a:defRPr sz="1725" b="0" i="0">
                <a:solidFill>
                  <a:srgbClr val="111111"/>
                </a:solidFill>
                <a:latin typeface="Georgia"/>
                <a:ea typeface="Georgia"/>
                <a:cs typeface="Georgia"/>
              </a:defRPr>
            </a:pPr>
            <a:r>
              <a:rPr sz="1725" b="0" i="0">
                <a:solidFill>
                  <a:srgbClr val="111111"/>
                </a:solidFill>
                <a:latin typeface="Georgia"/>
                <a:ea typeface="Georgia"/>
                <a:cs typeface="Georgia"/>
              </a:rPr>
              <a:t>Aggregate items not run</a:t>
            </a:r>
          </a:p>
        </p:txBody>
      </p:sp>
      <p:sp>
        <p:nvSpPr>
          <p:cNvPr id="18" name="Rectangle 17">
            <a:extLst>
              <a:ext uri="{FF2B5EF4-FFF2-40B4-BE49-F238E27FC236}">
                <a16:creationId xmlns:a16="http://schemas.microsoft.com/office/drawing/2014/main" id="{DE595F43-72D0-4818-95E1-592D44429148}"/>
              </a:ext>
            </a:extLst>
          </p:cNvPr>
          <p:cNvSpPr>
            <a:spLocks noGrp="1"/>
          </p:cNvSpPr>
          <p:nvPr/>
        </p:nvSpPr>
        <p:spPr>
          <a:xfrm>
            <a:off x="6343650" y="4276725"/>
            <a:ext cx="2000250" cy="666750"/>
          </a:xfrm>
          <a:prstGeom prst="rect">
            <a:avLst/>
          </a:prstGeom>
          <a:noFill/>
          <a:ln w="0">
            <a:noFill/>
            <a:prstDash val="solid"/>
          </a:ln>
        </p:spPr>
        <p:txBody>
          <a:bodyPr wrap="square" lIns="0" tIns="0" rIns="0" bIns="0" anchor="t">
            <a:normAutofit/>
          </a:bodyPr>
          <a:lstStyle/>
          <a:p>
            <a:pPr algn="ctr">
              <a:buNone/>
              <a:defRPr sz="1275" b="0" i="0">
                <a:solidFill>
                  <a:srgbClr val="686A66"/>
                </a:solidFill>
                <a:latin typeface="Arial"/>
                <a:ea typeface="Arial"/>
                <a:cs typeface="Arial"/>
              </a:defRPr>
            </a:pPr>
            <a:r>
              <a:rPr sz="1275" b="0" i="0">
                <a:solidFill>
                  <a:srgbClr val="686A66"/>
                </a:solidFill>
                <a:latin typeface="Arial"/>
                <a:ea typeface="Arial"/>
                <a:cs typeface="Arial"/>
              </a:rPr>
              <a:t>Execution state remains explicit; no inference from scripts</a:t>
            </a:r>
          </a:p>
        </p:txBody>
      </p:sp>
      <p:sp>
        <p:nvSpPr>
          <p:cNvPr id="19" name="Rectangle 18">
            <a:extLst>
              <a:ext uri="{FF2B5EF4-FFF2-40B4-BE49-F238E27FC236}">
                <a16:creationId xmlns:a16="http://schemas.microsoft.com/office/drawing/2014/main" id="{435BE7F8-75C5-4968-A408-C7AB0D414B6A}"/>
              </a:ext>
            </a:extLst>
          </p:cNvPr>
          <p:cNvSpPr>
            <a:spLocks noGrp="1"/>
          </p:cNvSpPr>
          <p:nvPr/>
        </p:nvSpPr>
        <p:spPr>
          <a:xfrm>
            <a:off x="8782050" y="2381250"/>
            <a:ext cx="2381250" cy="2857500"/>
          </a:xfrm>
          <a:prstGeom prst="rect">
            <a:avLst/>
          </a:prstGeom>
          <a:solidFill>
            <a:srgbClr val="FFFFFF"/>
          </a:solidFill>
          <a:ln w="9525">
            <a:solidFill>
              <a:srgbClr val="8A8B86"/>
            </a:solidFill>
            <a:prstDash val="solid"/>
          </a:ln>
        </p:spPr>
        <p:txBody>
          <a:bodyPr/>
          <a:lstStyle/>
          <a:p>
            <a:endParaRPr lang="en-US"/>
          </a:p>
        </p:txBody>
      </p:sp>
      <p:sp>
        <p:nvSpPr>
          <p:cNvPr id="20" name="Rectangle 19">
            <a:extLst>
              <a:ext uri="{FF2B5EF4-FFF2-40B4-BE49-F238E27FC236}">
                <a16:creationId xmlns:a16="http://schemas.microsoft.com/office/drawing/2014/main" id="{47558609-3549-4AF3-97F0-C5AFEF9D6122}"/>
              </a:ext>
            </a:extLst>
          </p:cNvPr>
          <p:cNvSpPr>
            <a:spLocks noGrp="1"/>
          </p:cNvSpPr>
          <p:nvPr/>
        </p:nvSpPr>
        <p:spPr>
          <a:xfrm>
            <a:off x="8972550" y="2619375"/>
            <a:ext cx="2000250" cy="590550"/>
          </a:xfrm>
          <a:prstGeom prst="rect">
            <a:avLst/>
          </a:prstGeom>
          <a:noFill/>
          <a:ln w="0">
            <a:noFill/>
            <a:prstDash val="solid"/>
          </a:ln>
        </p:spPr>
        <p:txBody>
          <a:bodyPr wrap="square" lIns="0" tIns="0" rIns="0" bIns="0" anchor="t">
            <a:normAutofit/>
          </a:bodyPr>
          <a:lstStyle/>
          <a:p>
            <a:pPr algn="ctr">
              <a:buNone/>
              <a:defRPr sz="3150" b="1" i="0">
                <a:solidFill>
                  <a:srgbClr val="5537D6"/>
                </a:solidFill>
                <a:latin typeface="Consolas"/>
                <a:ea typeface="Consolas"/>
                <a:cs typeface="Consolas"/>
              </a:defRPr>
            </a:pPr>
            <a:r>
              <a:rPr sz="3150" b="1" i="0">
                <a:solidFill>
                  <a:srgbClr val="5537D6"/>
                </a:solidFill>
                <a:latin typeface="Consolas"/>
                <a:ea typeface="Consolas"/>
                <a:cs typeface="Consolas"/>
              </a:rPr>
              <a:t>28</a:t>
            </a:r>
          </a:p>
        </p:txBody>
      </p:sp>
      <p:sp>
        <p:nvSpPr>
          <p:cNvPr id="21" name="Rectangle 20">
            <a:extLst>
              <a:ext uri="{FF2B5EF4-FFF2-40B4-BE49-F238E27FC236}">
                <a16:creationId xmlns:a16="http://schemas.microsoft.com/office/drawing/2014/main" id="{A649534B-9ACA-44D1-9930-7636AD1DD220}"/>
              </a:ext>
            </a:extLst>
          </p:cNvPr>
          <p:cNvSpPr>
            <a:spLocks noGrp="1"/>
          </p:cNvSpPr>
          <p:nvPr/>
        </p:nvSpPr>
        <p:spPr>
          <a:xfrm>
            <a:off x="8972550" y="3381375"/>
            <a:ext cx="2000250" cy="666750"/>
          </a:xfrm>
          <a:prstGeom prst="rect">
            <a:avLst/>
          </a:prstGeom>
          <a:noFill/>
          <a:ln w="0">
            <a:noFill/>
            <a:prstDash val="solid"/>
          </a:ln>
        </p:spPr>
        <p:txBody>
          <a:bodyPr wrap="square" lIns="0" tIns="0" rIns="0" bIns="0" anchor="t">
            <a:normAutofit/>
          </a:bodyPr>
          <a:lstStyle/>
          <a:p>
            <a:pPr algn="ctr">
              <a:buNone/>
              <a:defRPr sz="1725" b="0" i="0">
                <a:solidFill>
                  <a:srgbClr val="111111"/>
                </a:solidFill>
                <a:latin typeface="Georgia"/>
                <a:ea typeface="Georgia"/>
                <a:cs typeface="Georgia"/>
              </a:defRPr>
            </a:pPr>
            <a:r>
              <a:rPr sz="1725" b="0" i="0">
                <a:solidFill>
                  <a:srgbClr val="111111"/>
                </a:solidFill>
                <a:latin typeface="Georgia"/>
                <a:ea typeface="Georgia"/>
                <a:cs typeface="Georgia"/>
              </a:rPr>
              <a:t>Atomic protocol cases</a:t>
            </a:r>
          </a:p>
        </p:txBody>
      </p:sp>
      <p:sp>
        <p:nvSpPr>
          <p:cNvPr id="22" name="Rectangle 21">
            <a:extLst>
              <a:ext uri="{FF2B5EF4-FFF2-40B4-BE49-F238E27FC236}">
                <a16:creationId xmlns:a16="http://schemas.microsoft.com/office/drawing/2014/main" id="{F777E87A-9792-403F-B962-75B0D95A4BAD}"/>
              </a:ext>
            </a:extLst>
          </p:cNvPr>
          <p:cNvSpPr>
            <a:spLocks noGrp="1"/>
          </p:cNvSpPr>
          <p:nvPr/>
        </p:nvSpPr>
        <p:spPr>
          <a:xfrm>
            <a:off x="8972550" y="4276725"/>
            <a:ext cx="2000250" cy="666750"/>
          </a:xfrm>
          <a:prstGeom prst="rect">
            <a:avLst/>
          </a:prstGeom>
          <a:noFill/>
          <a:ln w="0">
            <a:noFill/>
            <a:prstDash val="solid"/>
          </a:ln>
        </p:spPr>
        <p:txBody>
          <a:bodyPr wrap="square" lIns="0" tIns="0" rIns="0" bIns="0" anchor="t">
            <a:normAutofit/>
          </a:bodyPr>
          <a:lstStyle/>
          <a:p>
            <a:pPr algn="ctr">
              <a:buNone/>
              <a:defRPr sz="1275" b="0" i="0">
                <a:solidFill>
                  <a:srgbClr val="686A66"/>
                </a:solidFill>
                <a:latin typeface="Arial"/>
                <a:ea typeface="Arial"/>
                <a:cs typeface="Arial"/>
              </a:defRPr>
            </a:pPr>
            <a:r>
              <a:rPr sz="1275" b="0" i="0">
                <a:solidFill>
                  <a:srgbClr val="686A66"/>
                </a:solidFill>
                <a:latin typeface="Arial"/>
                <a:ea typeface="Arial"/>
                <a:cs typeface="Arial"/>
              </a:rPr>
              <a:t>Separate candidate×case matrix; starts not run</a:t>
            </a:r>
          </a:p>
        </p:txBody>
      </p:sp>
      <p:sp>
        <p:nvSpPr>
          <p:cNvPr id="23" name="Rectangle 22">
            <a:extLst>
              <a:ext uri="{FF2B5EF4-FFF2-40B4-BE49-F238E27FC236}">
                <a16:creationId xmlns:a16="http://schemas.microsoft.com/office/drawing/2014/main" id="{7BF51D9C-4FE4-44F2-BC73-12190328DBE2}"/>
              </a:ext>
            </a:extLst>
          </p:cNvPr>
          <p:cNvSpPr>
            <a:spLocks noGrp="1"/>
          </p:cNvSpPr>
          <p:nvPr/>
        </p:nvSpPr>
        <p:spPr>
          <a:xfrm>
            <a:off x="685800" y="5600700"/>
            <a:ext cx="10706100" cy="457200"/>
          </a:xfrm>
          <a:prstGeom prst="rect">
            <a:avLst/>
          </a:prstGeom>
          <a:solidFill>
            <a:srgbClr val="111111"/>
          </a:solidFill>
          <a:ln w="0">
            <a:noFill/>
            <a:prstDash val="solid"/>
          </a:ln>
        </p:spPr>
        <p:txBody>
          <a:bodyPr/>
          <a:lstStyle/>
          <a:p>
            <a:endParaRPr lang="en-US"/>
          </a:p>
        </p:txBody>
      </p:sp>
      <p:sp>
        <p:nvSpPr>
          <p:cNvPr id="24" name="Rectangle 23">
            <a:extLst>
              <a:ext uri="{FF2B5EF4-FFF2-40B4-BE49-F238E27FC236}">
                <a16:creationId xmlns:a16="http://schemas.microsoft.com/office/drawing/2014/main" id="{635894F2-979F-4B41-9961-6701625DCE3D}"/>
              </a:ext>
            </a:extLst>
          </p:cNvPr>
          <p:cNvSpPr>
            <a:spLocks noGrp="1"/>
          </p:cNvSpPr>
          <p:nvPr/>
        </p:nvSpPr>
        <p:spPr>
          <a:xfrm>
            <a:off x="838200" y="5705475"/>
            <a:ext cx="10401300" cy="266700"/>
          </a:xfrm>
          <a:prstGeom prst="rect">
            <a:avLst/>
          </a:prstGeom>
          <a:noFill/>
          <a:ln w="0">
            <a:noFill/>
            <a:prstDash val="solid"/>
          </a:ln>
        </p:spPr>
        <p:txBody>
          <a:bodyPr wrap="square" lIns="0" tIns="0" rIns="0" bIns="0" anchor="t">
            <a:normAutofit fontScale="97369"/>
          </a:bodyPr>
          <a:lstStyle/>
          <a:p>
            <a:pPr algn="ctr">
              <a:buNone/>
              <a:defRPr sz="1350" b="1" i="0">
                <a:solidFill>
                  <a:srgbClr val="FFFFFF"/>
                </a:solidFill>
                <a:latin typeface="Arial"/>
                <a:ea typeface="Arial"/>
                <a:cs typeface="Arial"/>
              </a:defRPr>
            </a:pPr>
            <a:r>
              <a:rPr sz="1350" b="1" i="0">
                <a:solidFill>
                  <a:srgbClr val="FFFFFF"/>
                </a:solidFill>
                <a:latin typeface="Arial"/>
                <a:ea typeface="Arial"/>
                <a:cs typeface="Arial"/>
              </a:rPr>
              <a:t>Every strategic-fit claim becomes a hypothesis: GitOps · CP loss · lifecycle · observability · security · AI policy · performance · TCO</a:t>
            </a:r>
          </a:p>
        </p:txBody>
      </p:sp>
    </p:spTree>
    <p:extLst>
      <p:ext uri="{BB962C8B-B14F-4D97-AF65-F5344CB8AC3E}">
        <p14:creationId xmlns:p14="http://schemas.microsoft.com/office/powerpoint/2010/main" val="3868940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18974FDC-F29B-4E2C-AF84-818480225C1B}"/>
              </a:ext>
            </a:extLst>
          </p:cNvPr>
          <p:cNvSpPr>
            <a:spLocks noGrp="1"/>
          </p:cNvSpPr>
          <p:nvPr/>
        </p:nvSpPr>
        <p:spPr>
          <a:xfrm>
            <a:off x="0" y="0"/>
            <a:ext cx="12192000" cy="266700"/>
          </a:xfrm>
          <a:prstGeom prst="rect">
            <a:avLst/>
          </a:prstGeom>
          <a:solidFill>
            <a:srgbClr val="FFC72C"/>
          </a:solidFill>
          <a:ln w="0">
            <a:noFill/>
            <a:prstDash val="solid"/>
          </a:ln>
        </p:spPr>
        <p:txBody>
          <a:bodyPr/>
          <a:lstStyle/>
          <a:p>
            <a:endParaRPr lang="en-US"/>
          </a:p>
        </p:txBody>
      </p:sp>
      <p:sp>
        <p:nvSpPr>
          <p:cNvPr id="2" name="Rectangle 1">
            <a:extLst>
              <a:ext uri="{FF2B5EF4-FFF2-40B4-BE49-F238E27FC236}">
                <a16:creationId xmlns:a16="http://schemas.microsoft.com/office/drawing/2014/main" id="{A37D46D0-6F11-4433-9039-24E914E96D79}"/>
              </a:ext>
            </a:extLst>
          </p:cNvPr>
          <p:cNvSpPr>
            <a:spLocks noGrp="1"/>
          </p:cNvSpPr>
          <p:nvPr/>
        </p:nvSpPr>
        <p:spPr>
          <a:xfrm>
            <a:off x="10668000" y="0"/>
            <a:ext cx="1524000" cy="266700"/>
          </a:xfrm>
          <a:prstGeom prst="rect">
            <a:avLst/>
          </a:prstGeom>
          <a:solidFill>
            <a:srgbClr val="5537D6"/>
          </a:solidFill>
          <a:ln w="0">
            <a:noFill/>
            <a:prstDash val="solid"/>
          </a:ln>
        </p:spPr>
        <p:txBody>
          <a:bodyPr/>
          <a:lstStyle/>
          <a:p>
            <a:endParaRPr lang="en-US"/>
          </a:p>
        </p:txBody>
      </p:sp>
      <p:sp>
        <p:nvSpPr>
          <p:cNvPr id="3" name="Rectangle 2">
            <a:extLst>
              <a:ext uri="{FF2B5EF4-FFF2-40B4-BE49-F238E27FC236}">
                <a16:creationId xmlns:a16="http://schemas.microsoft.com/office/drawing/2014/main" id="{5ED19CE0-2937-491D-A75F-27CF01D0A229}"/>
              </a:ext>
            </a:extLst>
          </p:cNvPr>
          <p:cNvSpPr>
            <a:spLocks noGrp="1"/>
          </p:cNvSpPr>
          <p:nvPr/>
        </p:nvSpPr>
        <p:spPr>
          <a:xfrm>
            <a:off x="609600" y="38100"/>
            <a:ext cx="3429000" cy="190500"/>
          </a:xfrm>
          <a:prstGeom prst="rect">
            <a:avLst/>
          </a:prstGeom>
          <a:noFill/>
          <a:ln w="0">
            <a:noFill/>
            <a:prstDash val="solid"/>
          </a:ln>
        </p:spPr>
        <p:txBody>
          <a:bodyPr wrap="square" lIns="0" tIns="0" rIns="0" bIns="0" anchor="t">
            <a:normAutofit/>
          </a:bodyPr>
          <a:lstStyle/>
          <a:p>
            <a:pPr algn="l">
              <a:buNone/>
              <a:defRPr sz="975" b="1" i="0">
                <a:solidFill>
                  <a:srgbClr val="111111"/>
                </a:solidFill>
                <a:latin typeface="Consolas"/>
                <a:ea typeface="Consolas"/>
                <a:cs typeface="Consolas"/>
              </a:defRPr>
            </a:pPr>
            <a:r>
              <a:rPr sz="975" b="1" i="0">
                <a:solidFill>
                  <a:srgbClr val="111111"/>
                </a:solidFill>
                <a:latin typeface="Consolas"/>
                <a:ea typeface="Consolas"/>
                <a:cs typeface="Consolas"/>
              </a:rPr>
              <a:t>18 / PRODUCTION</a:t>
            </a:r>
          </a:p>
        </p:txBody>
      </p:sp>
      <p:sp>
        <p:nvSpPr>
          <p:cNvPr id="4" name="Rectangle 3">
            <a:extLst>
              <a:ext uri="{FF2B5EF4-FFF2-40B4-BE49-F238E27FC236}">
                <a16:creationId xmlns:a16="http://schemas.microsoft.com/office/drawing/2014/main" id="{A2CF7392-7736-425E-A718-C7495D60C531}"/>
              </a:ext>
            </a:extLst>
          </p:cNvPr>
          <p:cNvSpPr>
            <a:spLocks noGrp="1"/>
          </p:cNvSpPr>
          <p:nvPr/>
        </p:nvSpPr>
        <p:spPr>
          <a:xfrm>
            <a:off x="609600" y="428625"/>
            <a:ext cx="10572750" cy="1028700"/>
          </a:xfrm>
          <a:prstGeom prst="rect">
            <a:avLst/>
          </a:prstGeom>
          <a:noFill/>
          <a:ln w="0">
            <a:noFill/>
            <a:prstDash val="solid"/>
          </a:ln>
        </p:spPr>
        <p:txBody>
          <a:bodyPr wrap="square" lIns="0" tIns="0" rIns="0" bIns="0" anchor="t">
            <a:noAutofit/>
          </a:bodyPr>
          <a:lstStyle/>
          <a:p>
            <a:pPr algn="l">
              <a:buNone/>
              <a:defRPr sz="3300" b="1" i="0">
                <a:solidFill>
                  <a:srgbClr val="111111"/>
                </a:solidFill>
                <a:latin typeface="Arial"/>
                <a:ea typeface="Arial"/>
                <a:cs typeface="Arial"/>
              </a:defRPr>
            </a:pPr>
            <a:r>
              <a:rPr sz="3300" b="1" i="0">
                <a:solidFill>
                  <a:srgbClr val="111111"/>
                </a:solidFill>
                <a:latin typeface="Arial"/>
                <a:ea typeface="Arial"/>
                <a:cs typeface="Arial"/>
              </a:rPr>
              <a:t>The next PoC must mirror the production target</a:t>
            </a:r>
          </a:p>
        </p:txBody>
      </p:sp>
      <p:sp>
        <p:nvSpPr>
          <p:cNvPr id="5" name="Rectangle 4">
            <a:extLst>
              <a:ext uri="{FF2B5EF4-FFF2-40B4-BE49-F238E27FC236}">
                <a16:creationId xmlns:a16="http://schemas.microsoft.com/office/drawing/2014/main" id="{7FBE64B0-A3FF-4650-B6DC-C2BFD7C35C8F}"/>
              </a:ext>
            </a:extLst>
          </p:cNvPr>
          <p:cNvSpPr>
            <a:spLocks noGrp="1"/>
          </p:cNvSpPr>
          <p:nvPr/>
        </p:nvSpPr>
        <p:spPr>
          <a:xfrm>
            <a:off x="628650" y="1514475"/>
            <a:ext cx="10382250" cy="323850"/>
          </a:xfrm>
          <a:prstGeom prst="rect">
            <a:avLst/>
          </a:prstGeom>
          <a:noFill/>
          <a:ln w="0">
            <a:noFill/>
            <a:prstDash val="solid"/>
          </a:ln>
        </p:spPr>
        <p:txBody>
          <a:bodyPr wrap="square" lIns="0" tIns="0" rIns="0" bIns="0" anchor="t">
            <a:noAutofit/>
          </a:bodyPr>
          <a:lstStyle/>
          <a:p>
            <a:pPr algn="l">
              <a:buNone/>
              <a:defRPr sz="1575" b="0" i="0">
                <a:solidFill>
                  <a:srgbClr val="686A66"/>
                </a:solidFill>
                <a:latin typeface="Arial"/>
                <a:ea typeface="Arial"/>
                <a:cs typeface="Arial"/>
              </a:defRPr>
            </a:pPr>
            <a:r>
              <a:rPr sz="1575" b="0" i="0">
                <a:solidFill>
                  <a:srgbClr val="686A66"/>
                </a:solidFill>
                <a:latin typeface="Arial"/>
                <a:ea typeface="Arial"/>
                <a:cs typeface="Arial"/>
              </a:rPr>
              <a:t>Seven workstreams convert the local baseline into decision-grade target evidence.</a:t>
            </a:r>
          </a:p>
        </p:txBody>
      </p:sp>
      <p:sp>
        <p:nvSpPr>
          <p:cNvPr id="6" name="Rectangle 5">
            <a:extLst>
              <a:ext uri="{FF2B5EF4-FFF2-40B4-BE49-F238E27FC236}">
                <a16:creationId xmlns:a16="http://schemas.microsoft.com/office/drawing/2014/main" id="{72BDA32D-7E79-44C8-8123-F24311A8799F}"/>
              </a:ext>
            </a:extLst>
          </p:cNvPr>
          <p:cNvSpPr>
            <a:spLocks noGrp="1"/>
          </p:cNvSpPr>
          <p:nvPr/>
        </p:nvSpPr>
        <p:spPr>
          <a:xfrm>
            <a:off x="609600" y="1905000"/>
            <a:ext cx="10972800" cy="9525"/>
          </a:xfrm>
          <a:prstGeom prst="rect">
            <a:avLst/>
          </a:prstGeom>
          <a:solidFill>
            <a:srgbClr val="8A8B86"/>
          </a:solidFill>
          <a:ln w="0">
            <a:noFill/>
            <a:prstDash val="solid"/>
          </a:ln>
        </p:spPr>
        <p:txBody>
          <a:bodyPr/>
          <a:lstStyle/>
          <a:p>
            <a:endParaRPr lang="en-US"/>
          </a:p>
        </p:txBody>
      </p:sp>
      <p:sp>
        <p:nvSpPr>
          <p:cNvPr id="7" name="Rectangle 6">
            <a:extLst>
              <a:ext uri="{FF2B5EF4-FFF2-40B4-BE49-F238E27FC236}">
                <a16:creationId xmlns:a16="http://schemas.microsoft.com/office/drawing/2014/main" id="{63BB1822-A84B-4832-AC93-F1CE0E2D54C5}"/>
              </a:ext>
            </a:extLst>
          </p:cNvPr>
          <p:cNvSpPr>
            <a:spLocks noGrp="1"/>
          </p:cNvSpPr>
          <p:nvPr/>
        </p:nvSpPr>
        <p:spPr>
          <a:xfrm>
            <a:off x="609600" y="6524625"/>
            <a:ext cx="8858250" cy="180975"/>
          </a:xfrm>
          <a:prstGeom prst="rect">
            <a:avLst/>
          </a:prstGeom>
          <a:noFill/>
          <a:ln w="0">
            <a:noFill/>
            <a:prstDash val="solid"/>
          </a:ln>
        </p:spPr>
        <p:txBody>
          <a:bodyPr wrap="square" lIns="0" tIns="0" rIns="0" bIns="0" anchor="ctr">
            <a:normAutofit/>
          </a:bodyPr>
          <a:lstStyle/>
          <a:p>
            <a:pPr>
              <a:buNone/>
              <a:defRPr sz="825">
                <a:solidFill>
                  <a:srgbClr val="666762"/>
                </a:solidFill>
              </a:defRPr>
            </a:pPr>
            <a:r>
              <a:rPr sz="825" b="1">
                <a:solidFill>
                  <a:srgbClr val="666762"/>
                </a:solidFill>
              </a:rPr>
              <a:t>REFERENCES  </a:t>
            </a:r>
            <a:r>
              <a:rPr sz="825" u="sng">
                <a:solidFill>
                  <a:srgbClr val="666762"/>
                </a:solidFill>
                <a:hlinkClick r:id="rId3"/>
              </a:rPr>
              <a:t>Repo reference</a:t>
            </a:r>
            <a:r>
              <a:rPr sz="825">
                <a:solidFill>
                  <a:srgbClr val="666762"/>
                </a:solidFill>
              </a:rPr>
              <a:t>  ·  </a:t>
            </a:r>
            <a:r>
              <a:rPr sz="825" u="sng">
                <a:solidFill>
                  <a:srgbClr val="666762"/>
                </a:solidFill>
                <a:hlinkClick r:id="rId4"/>
              </a:rPr>
              <a:t>Official docs</a:t>
            </a:r>
          </a:p>
        </p:txBody>
      </p:sp>
      <p:sp>
        <p:nvSpPr>
          <p:cNvPr id="8" name="Rectangle 7">
            <a:extLst>
              <a:ext uri="{FF2B5EF4-FFF2-40B4-BE49-F238E27FC236}">
                <a16:creationId xmlns:a16="http://schemas.microsoft.com/office/drawing/2014/main" id="{68AB035D-C8CD-46B2-9359-794A2088C9F3}"/>
              </a:ext>
            </a:extLst>
          </p:cNvPr>
          <p:cNvSpPr>
            <a:spLocks noGrp="1"/>
          </p:cNvSpPr>
          <p:nvPr/>
        </p:nvSpPr>
        <p:spPr>
          <a:xfrm>
            <a:off x="10287000" y="6486525"/>
            <a:ext cx="1295400" cy="209550"/>
          </a:xfrm>
          <a:prstGeom prst="rect">
            <a:avLst/>
          </a:prstGeom>
          <a:noFill/>
          <a:ln w="0">
            <a:noFill/>
            <a:prstDash val="solid"/>
          </a:ln>
        </p:spPr>
        <p:txBody>
          <a:bodyPr wrap="square" lIns="0" tIns="0" rIns="0" bIns="0" anchor="t">
            <a:normAutofit/>
          </a:bodyPr>
          <a:lstStyle/>
          <a:p>
            <a:pPr algn="r">
              <a:buNone/>
              <a:defRPr sz="975" b="1" i="0">
                <a:solidFill>
                  <a:srgbClr val="686A66"/>
                </a:solidFill>
                <a:latin typeface="Consolas"/>
                <a:ea typeface="Consolas"/>
                <a:cs typeface="Consolas"/>
              </a:defRPr>
            </a:pPr>
            <a:r>
              <a:rPr sz="975" b="1" i="0">
                <a:solidFill>
                  <a:srgbClr val="686A66"/>
                </a:solidFill>
                <a:latin typeface="Consolas"/>
                <a:ea typeface="Consolas"/>
                <a:cs typeface="Consolas"/>
              </a:rPr>
              <a:t>18 / 25</a:t>
            </a:r>
          </a:p>
        </p:txBody>
      </p:sp>
      <p:sp>
        <p:nvSpPr>
          <p:cNvPr id="9" name="Rectangle 8">
            <a:extLst>
              <a:ext uri="{FF2B5EF4-FFF2-40B4-BE49-F238E27FC236}">
                <a16:creationId xmlns:a16="http://schemas.microsoft.com/office/drawing/2014/main" id="{EBFEB3D6-4926-49B5-8998-2C3BEFB2B425}"/>
              </a:ext>
            </a:extLst>
          </p:cNvPr>
          <p:cNvSpPr>
            <a:spLocks noGrp="1"/>
          </p:cNvSpPr>
          <p:nvPr/>
        </p:nvSpPr>
        <p:spPr>
          <a:xfrm>
            <a:off x="647700" y="2152650"/>
            <a:ext cx="3333750" cy="228600"/>
          </a:xfrm>
          <a:prstGeom prst="rect">
            <a:avLst/>
          </a:prstGeom>
          <a:noFill/>
          <a:ln w="0">
            <a:noFill/>
            <a:prstDash val="solid"/>
          </a:ln>
        </p:spPr>
        <p:txBody>
          <a:bodyPr wrap="square" lIns="0" tIns="0" rIns="0" bIns="0" anchor="t">
            <a:normAutofit/>
          </a:bodyPr>
          <a:lstStyle/>
          <a:p>
            <a:pPr algn="l">
              <a:buNone/>
              <a:defRPr sz="1125" b="1" i="0">
                <a:solidFill>
                  <a:srgbClr val="5537D6"/>
                </a:solidFill>
                <a:latin typeface="Consolas"/>
                <a:ea typeface="Consolas"/>
                <a:cs typeface="Consolas"/>
              </a:defRPr>
            </a:pPr>
            <a:r>
              <a:rPr sz="1125" b="1" i="0">
                <a:solidFill>
                  <a:srgbClr val="5537D6"/>
                </a:solidFill>
                <a:latin typeface="Consolas"/>
                <a:ea typeface="Consolas"/>
                <a:cs typeface="Consolas"/>
              </a:rPr>
              <a:t>TARGET + DELIVERY</a:t>
            </a:r>
          </a:p>
        </p:txBody>
      </p:sp>
      <p:sp>
        <p:nvSpPr>
          <p:cNvPr id="10" name="Rectangle 9">
            <a:extLst>
              <a:ext uri="{FF2B5EF4-FFF2-40B4-BE49-F238E27FC236}">
                <a16:creationId xmlns:a16="http://schemas.microsoft.com/office/drawing/2014/main" id="{E6634319-4892-4BD1-B537-024A0DA17F60}"/>
              </a:ext>
            </a:extLst>
          </p:cNvPr>
          <p:cNvSpPr>
            <a:spLocks noGrp="1"/>
          </p:cNvSpPr>
          <p:nvPr/>
        </p:nvSpPr>
        <p:spPr>
          <a:xfrm>
            <a:off x="647700" y="2466975"/>
            <a:ext cx="3333750" cy="19050"/>
          </a:xfrm>
          <a:prstGeom prst="rect">
            <a:avLst/>
          </a:prstGeom>
          <a:solidFill>
            <a:srgbClr val="8A8B86"/>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A59A718E-7133-4D0E-975E-4C79F5A5A7FF}"/>
              </a:ext>
            </a:extLst>
          </p:cNvPr>
          <p:cNvSpPr>
            <a:spLocks noGrp="1"/>
          </p:cNvSpPr>
          <p:nvPr/>
        </p:nvSpPr>
        <p:spPr>
          <a:xfrm>
            <a:off x="647700" y="2686050"/>
            <a:ext cx="457200" cy="228600"/>
          </a:xfrm>
          <a:prstGeom prst="rect">
            <a:avLst/>
          </a:prstGeom>
          <a:noFill/>
          <a:ln w="0">
            <a:noFill/>
            <a:prstDash val="solid"/>
          </a:ln>
        </p:spPr>
        <p:txBody>
          <a:bodyPr wrap="square" lIns="0" tIns="0" rIns="0" bIns="0" anchor="t">
            <a:normAutofit/>
          </a:bodyPr>
          <a:lstStyle/>
          <a:p>
            <a:pPr algn="l">
              <a:buNone/>
              <a:defRPr sz="1200" b="1" i="0">
                <a:solidFill>
                  <a:srgbClr val="5537D6"/>
                </a:solidFill>
                <a:latin typeface="Consolas"/>
                <a:ea typeface="Consolas"/>
                <a:cs typeface="Consolas"/>
              </a:defRPr>
            </a:pPr>
            <a:r>
              <a:rPr sz="1200" b="1" i="0">
                <a:solidFill>
                  <a:srgbClr val="5537D6"/>
                </a:solidFill>
                <a:latin typeface="Consolas"/>
                <a:ea typeface="Consolas"/>
                <a:cs typeface="Consolas"/>
              </a:rPr>
              <a:t>01</a:t>
            </a:r>
          </a:p>
        </p:txBody>
      </p:sp>
      <p:sp>
        <p:nvSpPr>
          <p:cNvPr id="12" name="Rectangle 11">
            <a:extLst>
              <a:ext uri="{FF2B5EF4-FFF2-40B4-BE49-F238E27FC236}">
                <a16:creationId xmlns:a16="http://schemas.microsoft.com/office/drawing/2014/main" id="{DACF2193-93D3-46F8-B9E7-DDC0A805CB0B}"/>
              </a:ext>
            </a:extLst>
          </p:cNvPr>
          <p:cNvSpPr>
            <a:spLocks noGrp="1"/>
          </p:cNvSpPr>
          <p:nvPr/>
        </p:nvSpPr>
        <p:spPr>
          <a:xfrm>
            <a:off x="1162050" y="2647950"/>
            <a:ext cx="2819400" cy="514350"/>
          </a:xfrm>
          <a:prstGeom prst="rect">
            <a:avLst/>
          </a:prstGeom>
          <a:noFill/>
          <a:ln w="0">
            <a:noFill/>
            <a:prstDash val="solid"/>
          </a:ln>
        </p:spPr>
        <p:txBody>
          <a:bodyPr wrap="square" lIns="0" tIns="0" rIns="0" bIns="0" anchor="t">
            <a:normAutofit/>
          </a:bodyPr>
          <a:lstStyle/>
          <a:p>
            <a:pPr algn="l">
              <a:buNone/>
              <a:defRPr sz="1875" b="0" i="0">
                <a:solidFill>
                  <a:srgbClr val="111111"/>
                </a:solidFill>
                <a:latin typeface="Georgia"/>
                <a:ea typeface="Georgia"/>
                <a:cs typeface="Georgia"/>
              </a:defRPr>
            </a:pPr>
            <a:r>
              <a:rPr sz="1875" b="0" i="0">
                <a:solidFill>
                  <a:srgbClr val="111111"/>
                </a:solidFill>
                <a:latin typeface="Georgia"/>
                <a:ea typeface="Georgia"/>
                <a:cs typeface="Georgia"/>
              </a:rPr>
              <a:t>Target-aligned hybrid</a:t>
            </a:r>
          </a:p>
        </p:txBody>
      </p:sp>
      <p:sp>
        <p:nvSpPr>
          <p:cNvPr id="13" name="Rectangle 12">
            <a:extLst>
              <a:ext uri="{FF2B5EF4-FFF2-40B4-BE49-F238E27FC236}">
                <a16:creationId xmlns:a16="http://schemas.microsoft.com/office/drawing/2014/main" id="{20824502-9332-4B39-BF44-A648E99D3AD9}"/>
              </a:ext>
            </a:extLst>
          </p:cNvPr>
          <p:cNvSpPr>
            <a:spLocks noGrp="1"/>
          </p:cNvSpPr>
          <p:nvPr/>
        </p:nvSpPr>
        <p:spPr>
          <a:xfrm>
            <a:off x="1162050" y="3228975"/>
            <a:ext cx="2819400" cy="990600"/>
          </a:xfrm>
          <a:prstGeom prst="rect">
            <a:avLst/>
          </a:prstGeom>
          <a:noFill/>
          <a:ln w="0">
            <a:noFill/>
            <a:prstDash val="solid"/>
          </a:ln>
        </p:spPr>
        <p:txBody>
          <a:bodyPr wrap="square" lIns="0" tIns="0" rIns="0" bIns="0" anchor="t">
            <a:normAutofit/>
          </a:bodyPr>
          <a:lstStyle/>
          <a:p>
            <a:pPr algn="l">
              <a:buNone/>
              <a:defRPr sz="1275" b="0" i="0">
                <a:solidFill>
                  <a:srgbClr val="686A66"/>
                </a:solidFill>
                <a:latin typeface="Arial"/>
                <a:ea typeface="Arial"/>
                <a:cs typeface="Arial"/>
              </a:defRPr>
            </a:pPr>
            <a:r>
              <a:rPr sz="1275" b="0" i="0">
                <a:solidFill>
                  <a:srgbClr val="686A66"/>
                </a:solidFill>
                <a:latin typeface="Arial"/>
                <a:ea typeface="Arial"/>
                <a:cs typeface="Arial"/>
              </a:rPr>
              <a:t>Run the proposed Kong Enterprise 3.14 hybrid topology with production-like control, trust and evidence paths.</a:t>
            </a:r>
          </a:p>
        </p:txBody>
      </p:sp>
      <p:sp>
        <p:nvSpPr>
          <p:cNvPr id="14" name="Rectangle 13">
            <a:extLst>
              <a:ext uri="{FF2B5EF4-FFF2-40B4-BE49-F238E27FC236}">
                <a16:creationId xmlns:a16="http://schemas.microsoft.com/office/drawing/2014/main" id="{D620E9F9-3444-4F24-8082-881B0D9F228F}"/>
              </a:ext>
            </a:extLst>
          </p:cNvPr>
          <p:cNvSpPr>
            <a:spLocks noGrp="1"/>
          </p:cNvSpPr>
          <p:nvPr/>
        </p:nvSpPr>
        <p:spPr>
          <a:xfrm>
            <a:off x="647700" y="4124325"/>
            <a:ext cx="3333750" cy="9525"/>
          </a:xfrm>
          <a:prstGeom prst="rect">
            <a:avLst/>
          </a:prstGeom>
          <a:solidFill>
            <a:srgbClr val="D9D6CD"/>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6FC79DB5-51AA-4F53-B026-E5BBA03062D9}"/>
              </a:ext>
            </a:extLst>
          </p:cNvPr>
          <p:cNvSpPr>
            <a:spLocks noGrp="1"/>
          </p:cNvSpPr>
          <p:nvPr/>
        </p:nvSpPr>
        <p:spPr>
          <a:xfrm>
            <a:off x="647700" y="4343400"/>
            <a:ext cx="457200" cy="228600"/>
          </a:xfrm>
          <a:prstGeom prst="rect">
            <a:avLst/>
          </a:prstGeom>
          <a:noFill/>
          <a:ln w="0">
            <a:noFill/>
            <a:prstDash val="solid"/>
          </a:ln>
        </p:spPr>
        <p:txBody>
          <a:bodyPr wrap="square" lIns="0" tIns="0" rIns="0" bIns="0" anchor="t">
            <a:normAutofit/>
          </a:bodyPr>
          <a:lstStyle/>
          <a:p>
            <a:pPr algn="l">
              <a:buNone/>
              <a:defRPr sz="1200" b="1" i="0">
                <a:solidFill>
                  <a:srgbClr val="5537D6"/>
                </a:solidFill>
                <a:latin typeface="Consolas"/>
                <a:ea typeface="Consolas"/>
                <a:cs typeface="Consolas"/>
              </a:defRPr>
            </a:pPr>
            <a:r>
              <a:rPr sz="1200" b="1" i="0">
                <a:solidFill>
                  <a:srgbClr val="5537D6"/>
                </a:solidFill>
                <a:latin typeface="Consolas"/>
                <a:ea typeface="Consolas"/>
                <a:cs typeface="Consolas"/>
              </a:rPr>
              <a:t>02</a:t>
            </a:r>
          </a:p>
        </p:txBody>
      </p:sp>
      <p:sp>
        <p:nvSpPr>
          <p:cNvPr id="16" name="Rectangle 15">
            <a:extLst>
              <a:ext uri="{FF2B5EF4-FFF2-40B4-BE49-F238E27FC236}">
                <a16:creationId xmlns:a16="http://schemas.microsoft.com/office/drawing/2014/main" id="{FAE51FA4-8B77-45FC-9A60-3ED609964CCF}"/>
              </a:ext>
            </a:extLst>
          </p:cNvPr>
          <p:cNvSpPr>
            <a:spLocks noGrp="1"/>
          </p:cNvSpPr>
          <p:nvPr/>
        </p:nvSpPr>
        <p:spPr>
          <a:xfrm>
            <a:off x="1162050" y="4305300"/>
            <a:ext cx="2819400" cy="514350"/>
          </a:xfrm>
          <a:prstGeom prst="rect">
            <a:avLst/>
          </a:prstGeom>
          <a:noFill/>
          <a:ln w="0">
            <a:noFill/>
            <a:prstDash val="solid"/>
          </a:ln>
        </p:spPr>
        <p:txBody>
          <a:bodyPr wrap="square" lIns="0" tIns="0" rIns="0" bIns="0" anchor="t">
            <a:normAutofit/>
          </a:bodyPr>
          <a:lstStyle/>
          <a:p>
            <a:pPr algn="l">
              <a:buNone/>
              <a:defRPr sz="1875" b="0" i="0">
                <a:solidFill>
                  <a:srgbClr val="111111"/>
                </a:solidFill>
                <a:latin typeface="Georgia"/>
                <a:ea typeface="Georgia"/>
                <a:cs typeface="Georgia"/>
              </a:defRPr>
            </a:pPr>
            <a:r>
              <a:rPr sz="1875" b="0" i="0">
                <a:solidFill>
                  <a:srgbClr val="111111"/>
                </a:solidFill>
                <a:latin typeface="Georgia"/>
                <a:ea typeface="Georgia"/>
                <a:cs typeface="Georgia"/>
              </a:rPr>
              <a:t>Executable APIOps</a:t>
            </a:r>
          </a:p>
        </p:txBody>
      </p:sp>
      <p:sp>
        <p:nvSpPr>
          <p:cNvPr id="17" name="Rectangle 16">
            <a:extLst>
              <a:ext uri="{FF2B5EF4-FFF2-40B4-BE49-F238E27FC236}">
                <a16:creationId xmlns:a16="http://schemas.microsoft.com/office/drawing/2014/main" id="{81F0BA3F-4126-4752-A380-FA3902C67A87}"/>
              </a:ext>
            </a:extLst>
          </p:cNvPr>
          <p:cNvSpPr>
            <a:spLocks noGrp="1"/>
          </p:cNvSpPr>
          <p:nvPr/>
        </p:nvSpPr>
        <p:spPr>
          <a:xfrm>
            <a:off x="1162050" y="4886325"/>
            <a:ext cx="2819400" cy="990600"/>
          </a:xfrm>
          <a:prstGeom prst="rect">
            <a:avLst/>
          </a:prstGeom>
          <a:noFill/>
          <a:ln w="0">
            <a:noFill/>
            <a:prstDash val="solid"/>
          </a:ln>
        </p:spPr>
        <p:txBody>
          <a:bodyPr wrap="square" lIns="0" tIns="0" rIns="0" bIns="0" anchor="t">
            <a:normAutofit/>
          </a:bodyPr>
          <a:lstStyle/>
          <a:p>
            <a:pPr algn="l">
              <a:buNone/>
              <a:defRPr sz="1275" b="0" i="0">
                <a:solidFill>
                  <a:srgbClr val="686A66"/>
                </a:solidFill>
                <a:latin typeface="Arial"/>
                <a:ea typeface="Arial"/>
                <a:cs typeface="Arial"/>
              </a:defRPr>
            </a:pPr>
            <a:r>
              <a:rPr sz="1275" b="0" i="0">
                <a:solidFill>
                  <a:srgbClr val="686A66"/>
                </a:solidFill>
                <a:latin typeface="Arial"/>
                <a:ea typeface="Arial"/>
                <a:cs typeface="Arial"/>
              </a:rPr>
              <a:t>Terraform provision → decK validate/diff/sync → signed evidence and rollback.</a:t>
            </a:r>
          </a:p>
        </p:txBody>
      </p:sp>
      <p:sp>
        <p:nvSpPr>
          <p:cNvPr id="18" name="Rectangle 17">
            <a:extLst>
              <a:ext uri="{FF2B5EF4-FFF2-40B4-BE49-F238E27FC236}">
                <a16:creationId xmlns:a16="http://schemas.microsoft.com/office/drawing/2014/main" id="{3AF65236-498D-4524-8284-BD1DA227F8C1}"/>
              </a:ext>
            </a:extLst>
          </p:cNvPr>
          <p:cNvSpPr>
            <a:spLocks noGrp="1"/>
          </p:cNvSpPr>
          <p:nvPr/>
        </p:nvSpPr>
        <p:spPr>
          <a:xfrm>
            <a:off x="4400550" y="2152650"/>
            <a:ext cx="3333750" cy="228600"/>
          </a:xfrm>
          <a:prstGeom prst="rect">
            <a:avLst/>
          </a:prstGeom>
          <a:noFill/>
          <a:ln w="0">
            <a:noFill/>
            <a:prstDash val="solid"/>
          </a:ln>
        </p:spPr>
        <p:txBody>
          <a:bodyPr wrap="square" lIns="0" tIns="0" rIns="0" bIns="0" anchor="t">
            <a:normAutofit/>
          </a:bodyPr>
          <a:lstStyle/>
          <a:p>
            <a:pPr algn="l">
              <a:buNone/>
              <a:defRPr sz="1125" b="1" i="0">
                <a:solidFill>
                  <a:srgbClr val="5537D6"/>
                </a:solidFill>
                <a:latin typeface="Consolas"/>
                <a:ea typeface="Consolas"/>
                <a:cs typeface="Consolas"/>
              </a:defRPr>
            </a:pPr>
            <a:r>
              <a:rPr sz="1125" b="1" i="0">
                <a:solidFill>
                  <a:srgbClr val="5537D6"/>
                </a:solidFill>
                <a:latin typeface="Consolas"/>
                <a:ea typeface="Consolas"/>
                <a:cs typeface="Consolas"/>
              </a:rPr>
              <a:t>RESILIENCE + ACCESS</a:t>
            </a:r>
          </a:p>
        </p:txBody>
      </p:sp>
      <p:sp>
        <p:nvSpPr>
          <p:cNvPr id="19" name="Rectangle 18">
            <a:extLst>
              <a:ext uri="{FF2B5EF4-FFF2-40B4-BE49-F238E27FC236}">
                <a16:creationId xmlns:a16="http://schemas.microsoft.com/office/drawing/2014/main" id="{FAC27D34-D8CE-499F-973C-1BADB3E46359}"/>
              </a:ext>
            </a:extLst>
          </p:cNvPr>
          <p:cNvSpPr>
            <a:spLocks noGrp="1"/>
          </p:cNvSpPr>
          <p:nvPr/>
        </p:nvSpPr>
        <p:spPr>
          <a:xfrm>
            <a:off x="4400550" y="2466975"/>
            <a:ext cx="3333750" cy="19050"/>
          </a:xfrm>
          <a:prstGeom prst="rect">
            <a:avLst/>
          </a:prstGeom>
          <a:solidFill>
            <a:srgbClr val="8A8B86"/>
          </a:solidFill>
          <a:ln w="0">
            <a:noFill/>
            <a:prstDash val="solid"/>
          </a:ln>
        </p:spPr>
        <p:txBody>
          <a:bodyPr/>
          <a:lstStyle/>
          <a:p>
            <a:endParaRPr lang="en-US"/>
          </a:p>
        </p:txBody>
      </p:sp>
      <p:sp>
        <p:nvSpPr>
          <p:cNvPr id="20" name="Rectangle 19">
            <a:extLst>
              <a:ext uri="{FF2B5EF4-FFF2-40B4-BE49-F238E27FC236}">
                <a16:creationId xmlns:a16="http://schemas.microsoft.com/office/drawing/2014/main" id="{251BB98A-64A3-430F-8C76-D91F6AD02231}"/>
              </a:ext>
            </a:extLst>
          </p:cNvPr>
          <p:cNvSpPr>
            <a:spLocks noGrp="1"/>
          </p:cNvSpPr>
          <p:nvPr/>
        </p:nvSpPr>
        <p:spPr>
          <a:xfrm>
            <a:off x="4400550" y="2686050"/>
            <a:ext cx="457200" cy="228600"/>
          </a:xfrm>
          <a:prstGeom prst="rect">
            <a:avLst/>
          </a:prstGeom>
          <a:noFill/>
          <a:ln w="0">
            <a:noFill/>
            <a:prstDash val="solid"/>
          </a:ln>
        </p:spPr>
        <p:txBody>
          <a:bodyPr wrap="square" lIns="0" tIns="0" rIns="0" bIns="0" anchor="t">
            <a:normAutofit/>
          </a:bodyPr>
          <a:lstStyle/>
          <a:p>
            <a:pPr algn="l">
              <a:buNone/>
              <a:defRPr sz="1200" b="1" i="0">
                <a:solidFill>
                  <a:srgbClr val="5537D6"/>
                </a:solidFill>
                <a:latin typeface="Consolas"/>
                <a:ea typeface="Consolas"/>
                <a:cs typeface="Consolas"/>
              </a:defRPr>
            </a:pPr>
            <a:r>
              <a:rPr sz="1200" b="1" i="0">
                <a:solidFill>
                  <a:srgbClr val="5537D6"/>
                </a:solidFill>
                <a:latin typeface="Consolas"/>
                <a:ea typeface="Consolas"/>
                <a:cs typeface="Consolas"/>
              </a:rPr>
              <a:t>03</a:t>
            </a:r>
          </a:p>
        </p:txBody>
      </p:sp>
      <p:sp>
        <p:nvSpPr>
          <p:cNvPr id="21" name="Rectangle 20">
            <a:extLst>
              <a:ext uri="{FF2B5EF4-FFF2-40B4-BE49-F238E27FC236}">
                <a16:creationId xmlns:a16="http://schemas.microsoft.com/office/drawing/2014/main" id="{236DAD5C-FDBF-4FD5-A9EE-524E4C7A7281}"/>
              </a:ext>
            </a:extLst>
          </p:cNvPr>
          <p:cNvSpPr>
            <a:spLocks noGrp="1"/>
          </p:cNvSpPr>
          <p:nvPr/>
        </p:nvSpPr>
        <p:spPr>
          <a:xfrm>
            <a:off x="4914900" y="2647950"/>
            <a:ext cx="2819400" cy="514350"/>
          </a:xfrm>
          <a:prstGeom prst="rect">
            <a:avLst/>
          </a:prstGeom>
          <a:noFill/>
          <a:ln w="0">
            <a:noFill/>
            <a:prstDash val="solid"/>
          </a:ln>
        </p:spPr>
        <p:txBody>
          <a:bodyPr wrap="square" lIns="0" tIns="0" rIns="0" bIns="0" anchor="t">
            <a:normAutofit/>
          </a:bodyPr>
          <a:lstStyle/>
          <a:p>
            <a:pPr algn="l">
              <a:buNone/>
              <a:defRPr sz="1875" b="0" i="0">
                <a:solidFill>
                  <a:srgbClr val="111111"/>
                </a:solidFill>
                <a:latin typeface="Georgia"/>
                <a:ea typeface="Georgia"/>
                <a:cs typeface="Georgia"/>
              </a:defRPr>
            </a:pPr>
            <a:r>
              <a:rPr sz="1875" b="0" i="0">
                <a:solidFill>
                  <a:srgbClr val="111111"/>
                </a:solidFill>
                <a:latin typeface="Georgia"/>
                <a:ea typeface="Georgia"/>
                <a:cs typeface="Georgia"/>
              </a:rPr>
              <a:t>Regional resilience</a:t>
            </a:r>
          </a:p>
        </p:txBody>
      </p:sp>
      <p:sp>
        <p:nvSpPr>
          <p:cNvPr id="22" name="Rectangle 21">
            <a:extLst>
              <a:ext uri="{FF2B5EF4-FFF2-40B4-BE49-F238E27FC236}">
                <a16:creationId xmlns:a16="http://schemas.microsoft.com/office/drawing/2014/main" id="{5CD30741-8D4D-4A45-91E7-B7D7060A71A3}"/>
              </a:ext>
            </a:extLst>
          </p:cNvPr>
          <p:cNvSpPr>
            <a:spLocks noGrp="1"/>
          </p:cNvSpPr>
          <p:nvPr/>
        </p:nvSpPr>
        <p:spPr>
          <a:xfrm>
            <a:off x="4914900" y="3228975"/>
            <a:ext cx="2819400" cy="990600"/>
          </a:xfrm>
          <a:prstGeom prst="rect">
            <a:avLst/>
          </a:prstGeom>
          <a:noFill/>
          <a:ln w="0">
            <a:noFill/>
            <a:prstDash val="solid"/>
          </a:ln>
        </p:spPr>
        <p:txBody>
          <a:bodyPr wrap="square" lIns="0" tIns="0" rIns="0" bIns="0" anchor="t">
            <a:normAutofit/>
          </a:bodyPr>
          <a:lstStyle/>
          <a:p>
            <a:pPr algn="l">
              <a:buNone/>
              <a:defRPr sz="1275" b="0" i="0">
                <a:solidFill>
                  <a:srgbClr val="686A66"/>
                </a:solidFill>
                <a:latin typeface="Arial"/>
                <a:ea typeface="Arial"/>
                <a:cs typeface="Arial"/>
              </a:defRPr>
            </a:pPr>
            <a:r>
              <a:rPr sz="1275" b="0" i="0">
                <a:solidFill>
                  <a:srgbClr val="686A66"/>
                </a:solidFill>
                <a:latin typeface="Arial"/>
                <a:ea typeface="Arial"/>
                <a:cs typeface="Arial"/>
              </a:rPr>
              <a:t>Execute multi-region failover, isolated recovery and scaling under representative load.</a:t>
            </a:r>
          </a:p>
        </p:txBody>
      </p:sp>
      <p:sp>
        <p:nvSpPr>
          <p:cNvPr id="23" name="Rectangle 22">
            <a:extLst>
              <a:ext uri="{FF2B5EF4-FFF2-40B4-BE49-F238E27FC236}">
                <a16:creationId xmlns:a16="http://schemas.microsoft.com/office/drawing/2014/main" id="{430E7FD0-60FD-4624-BFFF-D9A1AC50C152}"/>
              </a:ext>
            </a:extLst>
          </p:cNvPr>
          <p:cNvSpPr>
            <a:spLocks noGrp="1"/>
          </p:cNvSpPr>
          <p:nvPr/>
        </p:nvSpPr>
        <p:spPr>
          <a:xfrm>
            <a:off x="4400550" y="4124325"/>
            <a:ext cx="3333750" cy="9525"/>
          </a:xfrm>
          <a:prstGeom prst="rect">
            <a:avLst/>
          </a:prstGeom>
          <a:solidFill>
            <a:srgbClr val="D9D6CD"/>
          </a:solidFill>
          <a:ln w="0">
            <a:noFill/>
            <a:prstDash val="solid"/>
          </a:ln>
        </p:spPr>
        <p:txBody>
          <a:bodyPr/>
          <a:lstStyle/>
          <a:p>
            <a:endParaRPr lang="en-US"/>
          </a:p>
        </p:txBody>
      </p:sp>
      <p:sp>
        <p:nvSpPr>
          <p:cNvPr id="24" name="Rectangle 23">
            <a:extLst>
              <a:ext uri="{FF2B5EF4-FFF2-40B4-BE49-F238E27FC236}">
                <a16:creationId xmlns:a16="http://schemas.microsoft.com/office/drawing/2014/main" id="{D21F19BD-520F-495F-BC93-586459CBD69E}"/>
              </a:ext>
            </a:extLst>
          </p:cNvPr>
          <p:cNvSpPr>
            <a:spLocks noGrp="1"/>
          </p:cNvSpPr>
          <p:nvPr/>
        </p:nvSpPr>
        <p:spPr>
          <a:xfrm>
            <a:off x="4400550" y="4343400"/>
            <a:ext cx="457200" cy="228600"/>
          </a:xfrm>
          <a:prstGeom prst="rect">
            <a:avLst/>
          </a:prstGeom>
          <a:noFill/>
          <a:ln w="0">
            <a:noFill/>
            <a:prstDash val="solid"/>
          </a:ln>
        </p:spPr>
        <p:txBody>
          <a:bodyPr wrap="square" lIns="0" tIns="0" rIns="0" bIns="0" anchor="t">
            <a:normAutofit/>
          </a:bodyPr>
          <a:lstStyle/>
          <a:p>
            <a:pPr algn="l">
              <a:buNone/>
              <a:defRPr sz="1200" b="1" i="0">
                <a:solidFill>
                  <a:srgbClr val="5537D6"/>
                </a:solidFill>
                <a:latin typeface="Consolas"/>
                <a:ea typeface="Consolas"/>
                <a:cs typeface="Consolas"/>
              </a:defRPr>
            </a:pPr>
            <a:r>
              <a:rPr sz="1200" b="1" i="0">
                <a:solidFill>
                  <a:srgbClr val="5537D6"/>
                </a:solidFill>
                <a:latin typeface="Consolas"/>
                <a:ea typeface="Consolas"/>
                <a:cs typeface="Consolas"/>
              </a:rPr>
              <a:t>04</a:t>
            </a:r>
          </a:p>
        </p:txBody>
      </p:sp>
      <p:sp>
        <p:nvSpPr>
          <p:cNvPr id="25" name="Rectangle 24">
            <a:extLst>
              <a:ext uri="{FF2B5EF4-FFF2-40B4-BE49-F238E27FC236}">
                <a16:creationId xmlns:a16="http://schemas.microsoft.com/office/drawing/2014/main" id="{ECC07192-A48D-4472-91B3-9843FD3DE67E}"/>
              </a:ext>
            </a:extLst>
          </p:cNvPr>
          <p:cNvSpPr>
            <a:spLocks noGrp="1"/>
          </p:cNvSpPr>
          <p:nvPr/>
        </p:nvSpPr>
        <p:spPr>
          <a:xfrm>
            <a:off x="4914900" y="4305300"/>
            <a:ext cx="2819400" cy="514350"/>
          </a:xfrm>
          <a:prstGeom prst="rect">
            <a:avLst/>
          </a:prstGeom>
          <a:noFill/>
          <a:ln w="0">
            <a:noFill/>
            <a:prstDash val="solid"/>
          </a:ln>
        </p:spPr>
        <p:txBody>
          <a:bodyPr wrap="square" lIns="0" tIns="0" rIns="0" bIns="0" anchor="t">
            <a:normAutofit/>
          </a:bodyPr>
          <a:lstStyle/>
          <a:p>
            <a:pPr algn="l">
              <a:buNone/>
              <a:defRPr sz="1875" b="0" i="0">
                <a:solidFill>
                  <a:srgbClr val="111111"/>
                </a:solidFill>
                <a:latin typeface="Georgia"/>
                <a:ea typeface="Georgia"/>
                <a:cs typeface="Georgia"/>
              </a:defRPr>
            </a:pPr>
            <a:r>
              <a:rPr sz="1875" b="0" i="0">
                <a:solidFill>
                  <a:srgbClr val="111111"/>
                </a:solidFill>
                <a:latin typeface="Georgia"/>
                <a:ea typeface="Georgia"/>
                <a:cs typeface="Georgia"/>
              </a:rPr>
              <a:t>Enterprise IAM lifecycle</a:t>
            </a:r>
          </a:p>
        </p:txBody>
      </p:sp>
      <p:sp>
        <p:nvSpPr>
          <p:cNvPr id="26" name="Rectangle 25">
            <a:extLst>
              <a:ext uri="{FF2B5EF4-FFF2-40B4-BE49-F238E27FC236}">
                <a16:creationId xmlns:a16="http://schemas.microsoft.com/office/drawing/2014/main" id="{EAC342AE-558D-44D6-BFC5-AA2A09B6C041}"/>
              </a:ext>
            </a:extLst>
          </p:cNvPr>
          <p:cNvSpPr>
            <a:spLocks noGrp="1"/>
          </p:cNvSpPr>
          <p:nvPr/>
        </p:nvSpPr>
        <p:spPr>
          <a:xfrm>
            <a:off x="4914900" y="4886325"/>
            <a:ext cx="2819400" cy="990600"/>
          </a:xfrm>
          <a:prstGeom prst="rect">
            <a:avLst/>
          </a:prstGeom>
          <a:noFill/>
          <a:ln w="0">
            <a:noFill/>
            <a:prstDash val="solid"/>
          </a:ln>
        </p:spPr>
        <p:txBody>
          <a:bodyPr wrap="square" lIns="0" tIns="0" rIns="0" bIns="0" anchor="t">
            <a:normAutofit/>
          </a:bodyPr>
          <a:lstStyle/>
          <a:p>
            <a:pPr algn="l">
              <a:buNone/>
              <a:defRPr sz="1275" b="0" i="0">
                <a:solidFill>
                  <a:srgbClr val="686A66"/>
                </a:solidFill>
                <a:latin typeface="Arial"/>
                <a:ea typeface="Arial"/>
                <a:cs typeface="Arial"/>
              </a:defRPr>
            </a:pPr>
            <a:r>
              <a:rPr sz="1275" b="0" i="0">
                <a:solidFill>
                  <a:srgbClr val="686A66"/>
                </a:solidFill>
                <a:latin typeface="Arial"/>
                <a:ea typeface="Arial"/>
                <a:cs typeface="Arial"/>
              </a:rPr>
              <a:t>Cover people, workloads, consumers and service accounts; test least privilege, join/move/leave, rotation and break-glass.</a:t>
            </a:r>
          </a:p>
        </p:txBody>
      </p:sp>
      <p:sp>
        <p:nvSpPr>
          <p:cNvPr id="27" name="Rectangle 26">
            <a:extLst>
              <a:ext uri="{FF2B5EF4-FFF2-40B4-BE49-F238E27FC236}">
                <a16:creationId xmlns:a16="http://schemas.microsoft.com/office/drawing/2014/main" id="{7EDA2631-DE27-4641-ADFC-A8E4434BBC07}"/>
              </a:ext>
            </a:extLst>
          </p:cNvPr>
          <p:cNvSpPr>
            <a:spLocks noGrp="1"/>
          </p:cNvSpPr>
          <p:nvPr/>
        </p:nvSpPr>
        <p:spPr>
          <a:xfrm>
            <a:off x="8153400" y="2152650"/>
            <a:ext cx="3333750" cy="228600"/>
          </a:xfrm>
          <a:prstGeom prst="rect">
            <a:avLst/>
          </a:prstGeom>
          <a:noFill/>
          <a:ln w="0">
            <a:noFill/>
            <a:prstDash val="solid"/>
          </a:ln>
        </p:spPr>
        <p:txBody>
          <a:bodyPr wrap="square" lIns="0" tIns="0" rIns="0" bIns="0" anchor="t">
            <a:normAutofit/>
          </a:bodyPr>
          <a:lstStyle/>
          <a:p>
            <a:pPr algn="l">
              <a:buNone/>
              <a:defRPr sz="1125" b="1" i="0">
                <a:solidFill>
                  <a:srgbClr val="5537D6"/>
                </a:solidFill>
                <a:latin typeface="Consolas"/>
                <a:ea typeface="Consolas"/>
                <a:cs typeface="Consolas"/>
              </a:defRPr>
            </a:pPr>
            <a:r>
              <a:rPr sz="1125" b="1" i="0">
                <a:solidFill>
                  <a:srgbClr val="5537D6"/>
                </a:solidFill>
                <a:latin typeface="Consolas"/>
                <a:ea typeface="Consolas"/>
                <a:cs typeface="Consolas"/>
              </a:rPr>
              <a:t>AGENTIC + SECURITY + DECISION</a:t>
            </a:r>
          </a:p>
        </p:txBody>
      </p:sp>
      <p:sp>
        <p:nvSpPr>
          <p:cNvPr id="28" name="Rectangle 27">
            <a:extLst>
              <a:ext uri="{FF2B5EF4-FFF2-40B4-BE49-F238E27FC236}">
                <a16:creationId xmlns:a16="http://schemas.microsoft.com/office/drawing/2014/main" id="{39077255-FEB4-4D80-AFBA-A244DF66AE8B}"/>
              </a:ext>
            </a:extLst>
          </p:cNvPr>
          <p:cNvSpPr>
            <a:spLocks noGrp="1"/>
          </p:cNvSpPr>
          <p:nvPr/>
        </p:nvSpPr>
        <p:spPr>
          <a:xfrm>
            <a:off x="8153400" y="2466975"/>
            <a:ext cx="3333750" cy="19050"/>
          </a:xfrm>
          <a:prstGeom prst="rect">
            <a:avLst/>
          </a:prstGeom>
          <a:solidFill>
            <a:srgbClr val="8A8B86"/>
          </a:solidFill>
          <a:ln w="0">
            <a:noFill/>
            <a:prstDash val="solid"/>
          </a:ln>
        </p:spPr>
        <p:txBody>
          <a:bodyPr/>
          <a:lstStyle/>
          <a:p>
            <a:endParaRPr lang="en-US"/>
          </a:p>
        </p:txBody>
      </p:sp>
      <p:sp>
        <p:nvSpPr>
          <p:cNvPr id="29" name="Rectangle 28">
            <a:extLst>
              <a:ext uri="{FF2B5EF4-FFF2-40B4-BE49-F238E27FC236}">
                <a16:creationId xmlns:a16="http://schemas.microsoft.com/office/drawing/2014/main" id="{3B676B0F-494C-4B95-BDB0-E4E7DCB35121}"/>
              </a:ext>
            </a:extLst>
          </p:cNvPr>
          <p:cNvSpPr>
            <a:spLocks noGrp="1"/>
          </p:cNvSpPr>
          <p:nvPr/>
        </p:nvSpPr>
        <p:spPr>
          <a:xfrm>
            <a:off x="8153400" y="2686050"/>
            <a:ext cx="457200" cy="228600"/>
          </a:xfrm>
          <a:prstGeom prst="rect">
            <a:avLst/>
          </a:prstGeom>
          <a:noFill/>
          <a:ln w="0">
            <a:noFill/>
            <a:prstDash val="solid"/>
          </a:ln>
        </p:spPr>
        <p:txBody>
          <a:bodyPr wrap="square" lIns="0" tIns="0" rIns="0" bIns="0" anchor="t">
            <a:normAutofit/>
          </a:bodyPr>
          <a:lstStyle/>
          <a:p>
            <a:pPr algn="l">
              <a:buNone/>
              <a:defRPr sz="1200" b="1" i="0">
                <a:solidFill>
                  <a:srgbClr val="5537D6"/>
                </a:solidFill>
                <a:latin typeface="Consolas"/>
                <a:ea typeface="Consolas"/>
                <a:cs typeface="Consolas"/>
              </a:defRPr>
            </a:pPr>
            <a:r>
              <a:rPr sz="1200" b="1" i="0">
                <a:solidFill>
                  <a:srgbClr val="5537D6"/>
                </a:solidFill>
                <a:latin typeface="Consolas"/>
                <a:ea typeface="Consolas"/>
                <a:cs typeface="Consolas"/>
              </a:rPr>
              <a:t>05</a:t>
            </a:r>
          </a:p>
        </p:txBody>
      </p:sp>
      <p:sp>
        <p:nvSpPr>
          <p:cNvPr id="30" name="Rectangle 29">
            <a:extLst>
              <a:ext uri="{FF2B5EF4-FFF2-40B4-BE49-F238E27FC236}">
                <a16:creationId xmlns:a16="http://schemas.microsoft.com/office/drawing/2014/main" id="{CCB845FA-CC8A-4903-B8E1-5B58429A9546}"/>
              </a:ext>
            </a:extLst>
          </p:cNvPr>
          <p:cNvSpPr>
            <a:spLocks noGrp="1"/>
          </p:cNvSpPr>
          <p:nvPr/>
        </p:nvSpPr>
        <p:spPr>
          <a:xfrm>
            <a:off x="8667750" y="2647950"/>
            <a:ext cx="2819400" cy="514350"/>
          </a:xfrm>
          <a:prstGeom prst="rect">
            <a:avLst/>
          </a:prstGeom>
          <a:noFill/>
          <a:ln w="0">
            <a:noFill/>
            <a:prstDash val="solid"/>
          </a:ln>
        </p:spPr>
        <p:txBody>
          <a:bodyPr wrap="square" lIns="0" tIns="0" rIns="0" bIns="0" anchor="t">
            <a:normAutofit/>
          </a:bodyPr>
          <a:lstStyle/>
          <a:p>
            <a:pPr algn="l">
              <a:buNone/>
              <a:defRPr sz="1875" b="0" i="0">
                <a:solidFill>
                  <a:srgbClr val="111111"/>
                </a:solidFill>
                <a:latin typeface="Georgia"/>
                <a:ea typeface="Georgia"/>
                <a:cs typeface="Georgia"/>
              </a:defRPr>
            </a:pPr>
            <a:r>
              <a:rPr sz="1875" b="0" i="0">
                <a:solidFill>
                  <a:srgbClr val="111111"/>
                </a:solidFill>
                <a:latin typeface="Georgia"/>
                <a:ea typeface="Georgia"/>
                <a:cs typeface="Georgia"/>
              </a:rPr>
              <a:t>Agentic-gateway study</a:t>
            </a:r>
          </a:p>
        </p:txBody>
      </p:sp>
      <p:sp>
        <p:nvSpPr>
          <p:cNvPr id="31" name="Rectangle 30">
            <a:extLst>
              <a:ext uri="{FF2B5EF4-FFF2-40B4-BE49-F238E27FC236}">
                <a16:creationId xmlns:a16="http://schemas.microsoft.com/office/drawing/2014/main" id="{BDDC870C-EE1E-43B8-8CA3-7DD648E587B6}"/>
              </a:ext>
            </a:extLst>
          </p:cNvPr>
          <p:cNvSpPr>
            <a:spLocks noGrp="1"/>
          </p:cNvSpPr>
          <p:nvPr/>
        </p:nvSpPr>
        <p:spPr>
          <a:xfrm>
            <a:off x="8667750" y="3228975"/>
            <a:ext cx="2819400" cy="990600"/>
          </a:xfrm>
          <a:prstGeom prst="rect">
            <a:avLst/>
          </a:prstGeom>
          <a:noFill/>
          <a:ln w="0">
            <a:noFill/>
            <a:prstDash val="solid"/>
          </a:ln>
        </p:spPr>
        <p:txBody>
          <a:bodyPr wrap="square" lIns="0" tIns="0" rIns="0" bIns="0" anchor="t">
            <a:normAutofit/>
          </a:bodyPr>
          <a:lstStyle/>
          <a:p>
            <a:pPr algn="l">
              <a:buNone/>
              <a:defRPr sz="1275" b="0" i="0">
                <a:solidFill>
                  <a:srgbClr val="686A66"/>
                </a:solidFill>
                <a:latin typeface="Arial"/>
                <a:ea typeface="Arial"/>
                <a:cs typeface="Arial"/>
              </a:defRPr>
            </a:pPr>
            <a:r>
              <a:rPr sz="1275" b="0" i="0">
                <a:solidFill>
                  <a:srgbClr val="686A66"/>
                </a:solidFill>
                <a:latin typeface="Arial"/>
                <a:ea typeface="Arial"/>
                <a:cs typeface="Arial"/>
              </a:rPr>
              <a:t>Test MCP, A2A, model routing, semantic caching, content safety and agent/MCP catalogs as a separate evidence stream.</a:t>
            </a:r>
          </a:p>
        </p:txBody>
      </p:sp>
      <p:sp>
        <p:nvSpPr>
          <p:cNvPr id="32" name="Rectangle 31">
            <a:extLst>
              <a:ext uri="{FF2B5EF4-FFF2-40B4-BE49-F238E27FC236}">
                <a16:creationId xmlns:a16="http://schemas.microsoft.com/office/drawing/2014/main" id="{2C72569F-4BCE-45AC-B494-2BA2E0DC7A0C}"/>
              </a:ext>
            </a:extLst>
          </p:cNvPr>
          <p:cNvSpPr>
            <a:spLocks noGrp="1"/>
          </p:cNvSpPr>
          <p:nvPr/>
        </p:nvSpPr>
        <p:spPr>
          <a:xfrm>
            <a:off x="8153400" y="4124325"/>
            <a:ext cx="3333750" cy="9525"/>
          </a:xfrm>
          <a:prstGeom prst="rect">
            <a:avLst/>
          </a:prstGeom>
          <a:solidFill>
            <a:srgbClr val="D9D6CD"/>
          </a:solidFill>
          <a:ln w="0">
            <a:noFill/>
            <a:prstDash val="solid"/>
          </a:ln>
        </p:spPr>
        <p:txBody>
          <a:bodyPr/>
          <a:lstStyle/>
          <a:p>
            <a:endParaRPr lang="en-US"/>
          </a:p>
        </p:txBody>
      </p:sp>
      <p:sp>
        <p:nvSpPr>
          <p:cNvPr id="33" name="Rectangle 32">
            <a:extLst>
              <a:ext uri="{FF2B5EF4-FFF2-40B4-BE49-F238E27FC236}">
                <a16:creationId xmlns:a16="http://schemas.microsoft.com/office/drawing/2014/main" id="{F53FC106-5B1D-4B60-BBA9-984F74C2F3A6}"/>
              </a:ext>
            </a:extLst>
          </p:cNvPr>
          <p:cNvSpPr>
            <a:spLocks noGrp="1"/>
          </p:cNvSpPr>
          <p:nvPr/>
        </p:nvSpPr>
        <p:spPr>
          <a:xfrm>
            <a:off x="8153400" y="4343400"/>
            <a:ext cx="457200" cy="228600"/>
          </a:xfrm>
          <a:prstGeom prst="rect">
            <a:avLst/>
          </a:prstGeom>
          <a:noFill/>
          <a:ln w="0">
            <a:noFill/>
            <a:prstDash val="solid"/>
          </a:ln>
        </p:spPr>
        <p:txBody>
          <a:bodyPr wrap="square" lIns="0" tIns="0" rIns="0" bIns="0" anchor="t">
            <a:normAutofit fontScale="72941" lnSpcReduction="20000"/>
          </a:bodyPr>
          <a:lstStyle/>
          <a:p>
            <a:pPr algn="l">
              <a:buNone/>
              <a:defRPr sz="1200" b="1" i="0">
                <a:solidFill>
                  <a:srgbClr val="5537D6"/>
                </a:solidFill>
                <a:latin typeface="Consolas"/>
                <a:ea typeface="Consolas"/>
                <a:cs typeface="Consolas"/>
              </a:defRPr>
            </a:pPr>
            <a:r>
              <a:rPr sz="1200" b="1" i="0">
                <a:solidFill>
                  <a:srgbClr val="5537D6"/>
                </a:solidFill>
                <a:latin typeface="Consolas"/>
                <a:ea typeface="Consolas"/>
                <a:cs typeface="Consolas"/>
              </a:rPr>
              <a:t>06 / 07</a:t>
            </a:r>
          </a:p>
        </p:txBody>
      </p:sp>
      <p:sp>
        <p:nvSpPr>
          <p:cNvPr id="34" name="Rectangle 33">
            <a:extLst>
              <a:ext uri="{FF2B5EF4-FFF2-40B4-BE49-F238E27FC236}">
                <a16:creationId xmlns:a16="http://schemas.microsoft.com/office/drawing/2014/main" id="{49C3F3B0-7F31-45DB-BAF0-40C499405C79}"/>
              </a:ext>
            </a:extLst>
          </p:cNvPr>
          <p:cNvSpPr>
            <a:spLocks noGrp="1"/>
          </p:cNvSpPr>
          <p:nvPr/>
        </p:nvSpPr>
        <p:spPr>
          <a:xfrm>
            <a:off x="8667750" y="4305300"/>
            <a:ext cx="2819400" cy="514350"/>
          </a:xfrm>
          <a:prstGeom prst="rect">
            <a:avLst/>
          </a:prstGeom>
          <a:noFill/>
          <a:ln w="0">
            <a:noFill/>
            <a:prstDash val="solid"/>
          </a:ln>
        </p:spPr>
        <p:txBody>
          <a:bodyPr wrap="square" lIns="0" tIns="0" rIns="0" bIns="0" anchor="t">
            <a:normAutofit fontScale="90000" lnSpcReduction="10000"/>
          </a:bodyPr>
          <a:lstStyle/>
          <a:p>
            <a:pPr algn="l">
              <a:buNone/>
              <a:defRPr sz="1875" b="0" i="0">
                <a:solidFill>
                  <a:srgbClr val="111111"/>
                </a:solidFill>
                <a:latin typeface="Georgia"/>
                <a:ea typeface="Georgia"/>
                <a:cs typeface="Georgia"/>
              </a:defRPr>
            </a:pPr>
            <a:r>
              <a:rPr sz="1875" b="0" i="0">
                <a:solidFill>
                  <a:srgbClr val="111111"/>
                </a:solidFill>
                <a:latin typeface="Georgia"/>
                <a:ea typeface="Georgia"/>
                <a:cs typeface="Georgia"/>
              </a:rPr>
              <a:t>Decision gate + security adjunct</a:t>
            </a:r>
          </a:p>
        </p:txBody>
      </p:sp>
      <p:sp>
        <p:nvSpPr>
          <p:cNvPr id="35" name="Rectangle 34">
            <a:extLst>
              <a:ext uri="{FF2B5EF4-FFF2-40B4-BE49-F238E27FC236}">
                <a16:creationId xmlns:a16="http://schemas.microsoft.com/office/drawing/2014/main" id="{C19BA977-EA69-452B-8AA8-B182D0F1342B}"/>
              </a:ext>
            </a:extLst>
          </p:cNvPr>
          <p:cNvSpPr>
            <a:spLocks noGrp="1"/>
          </p:cNvSpPr>
          <p:nvPr/>
        </p:nvSpPr>
        <p:spPr>
          <a:xfrm>
            <a:off x="8667750" y="4886325"/>
            <a:ext cx="2819400" cy="990600"/>
          </a:xfrm>
          <a:prstGeom prst="rect">
            <a:avLst/>
          </a:prstGeom>
          <a:noFill/>
          <a:ln w="0">
            <a:noFill/>
            <a:prstDash val="solid"/>
          </a:ln>
        </p:spPr>
        <p:txBody>
          <a:bodyPr wrap="square" lIns="0" tIns="0" rIns="0" bIns="0" anchor="t">
            <a:normAutofit/>
          </a:bodyPr>
          <a:lstStyle/>
          <a:p>
            <a:pPr algn="l">
              <a:buNone/>
              <a:defRPr sz="1275" b="0" i="0">
                <a:solidFill>
                  <a:srgbClr val="686A66"/>
                </a:solidFill>
                <a:latin typeface="Arial"/>
                <a:ea typeface="Arial"/>
                <a:cs typeface="Arial"/>
              </a:defRPr>
            </a:pPr>
            <a:r>
              <a:rPr sz="1275" b="0" i="0">
                <a:solidFill>
                  <a:srgbClr val="686A66"/>
                </a:solidFill>
                <a:latin typeface="Arial"/>
                <a:ea typeface="Arial"/>
                <a:cs typeface="Arial"/>
              </a:rPr>
              <a:t>GEP-06 binds scope to executed evidence. GEP-07 proves Kong + Traceable behavior, overhead, privacy, support and safe uninstall.</a:t>
            </a:r>
          </a:p>
        </p:txBody>
      </p:sp>
      <p:sp>
        <p:nvSpPr>
          <p:cNvPr id="36" name="Rectangle 35">
            <a:extLst>
              <a:ext uri="{FF2B5EF4-FFF2-40B4-BE49-F238E27FC236}">
                <a16:creationId xmlns:a16="http://schemas.microsoft.com/office/drawing/2014/main" id="{FD4E1B57-1F9C-4D6D-883E-0BCCA22B729E}"/>
              </a:ext>
            </a:extLst>
          </p:cNvPr>
          <p:cNvSpPr>
            <a:spLocks noGrp="1"/>
          </p:cNvSpPr>
          <p:nvPr/>
        </p:nvSpPr>
        <p:spPr>
          <a:xfrm>
            <a:off x="1428750" y="5981700"/>
            <a:ext cx="9334500" cy="323850"/>
          </a:xfrm>
          <a:prstGeom prst="rect">
            <a:avLst/>
          </a:prstGeom>
          <a:solidFill>
            <a:srgbClr val="111111"/>
          </a:solidFill>
          <a:ln w="0">
            <a:noFill/>
            <a:prstDash val="solid"/>
          </a:ln>
        </p:spPr>
        <p:txBody>
          <a:bodyPr/>
          <a:lstStyle/>
          <a:p>
            <a:endParaRPr lang="en-US"/>
          </a:p>
        </p:txBody>
      </p:sp>
      <p:sp>
        <p:nvSpPr>
          <p:cNvPr id="37" name="Rectangle 36">
            <a:extLst>
              <a:ext uri="{FF2B5EF4-FFF2-40B4-BE49-F238E27FC236}">
                <a16:creationId xmlns:a16="http://schemas.microsoft.com/office/drawing/2014/main" id="{F2136842-D8B6-44B8-B1BA-7C697CB16BFB}"/>
              </a:ext>
            </a:extLst>
          </p:cNvPr>
          <p:cNvSpPr>
            <a:spLocks noGrp="1"/>
          </p:cNvSpPr>
          <p:nvPr/>
        </p:nvSpPr>
        <p:spPr>
          <a:xfrm>
            <a:off x="1581150" y="6038850"/>
            <a:ext cx="9029700" cy="209550"/>
          </a:xfrm>
          <a:prstGeom prst="rect">
            <a:avLst/>
          </a:prstGeom>
          <a:noFill/>
          <a:ln w="0">
            <a:noFill/>
            <a:prstDash val="solid"/>
          </a:ln>
        </p:spPr>
        <p:txBody>
          <a:bodyPr wrap="square" lIns="0" tIns="0" rIns="0" bIns="0" anchor="t">
            <a:normAutofit/>
          </a:bodyPr>
          <a:lstStyle/>
          <a:p>
            <a:pPr algn="ctr">
              <a:buNone/>
              <a:defRPr sz="1350" b="1" i="0">
                <a:solidFill>
                  <a:srgbClr val="FFFFFF"/>
                </a:solidFill>
                <a:latin typeface="Arial"/>
                <a:ea typeface="Arial"/>
                <a:cs typeface="Arial"/>
              </a:defRPr>
            </a:pPr>
            <a:r>
              <a:rPr sz="1350" b="1" i="0">
                <a:solidFill>
                  <a:srgbClr val="FFFFFF"/>
                </a:solidFill>
                <a:latin typeface="Arial"/>
                <a:ea typeface="Arial"/>
                <a:cs typeface="Arial"/>
              </a:rPr>
              <a:t>Traceable documents a plugin/agent path; only execution can establish production fit.</a:t>
            </a:r>
          </a:p>
        </p:txBody>
      </p:sp>
    </p:spTree>
    <p:extLst>
      <p:ext uri="{BB962C8B-B14F-4D97-AF65-F5344CB8AC3E}">
        <p14:creationId xmlns:p14="http://schemas.microsoft.com/office/powerpoint/2010/main" val="12368897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DB69CF37-57FE-465A-A4B4-52A9A6DC5157}"/>
              </a:ext>
            </a:extLst>
          </p:cNvPr>
          <p:cNvSpPr>
            <a:spLocks noGrp="1"/>
          </p:cNvSpPr>
          <p:nvPr/>
        </p:nvSpPr>
        <p:spPr>
          <a:xfrm>
            <a:off x="0" y="0"/>
            <a:ext cx="12192000" cy="266700"/>
          </a:xfrm>
          <a:prstGeom prst="rect">
            <a:avLst/>
          </a:prstGeom>
          <a:solidFill>
            <a:srgbClr val="FFC72C"/>
          </a:solidFill>
          <a:ln w="0">
            <a:noFill/>
            <a:prstDash val="solid"/>
          </a:ln>
        </p:spPr>
        <p:txBody>
          <a:bodyPr/>
          <a:lstStyle/>
          <a:p>
            <a:endParaRPr lang="en-US"/>
          </a:p>
        </p:txBody>
      </p:sp>
      <p:sp>
        <p:nvSpPr>
          <p:cNvPr id="2" name="Rectangle 1">
            <a:extLst>
              <a:ext uri="{FF2B5EF4-FFF2-40B4-BE49-F238E27FC236}">
                <a16:creationId xmlns:a16="http://schemas.microsoft.com/office/drawing/2014/main" id="{351A7EB2-ABA0-4662-9899-1917022C67A9}"/>
              </a:ext>
            </a:extLst>
          </p:cNvPr>
          <p:cNvSpPr>
            <a:spLocks noGrp="1"/>
          </p:cNvSpPr>
          <p:nvPr/>
        </p:nvSpPr>
        <p:spPr>
          <a:xfrm>
            <a:off x="10668000" y="0"/>
            <a:ext cx="1524000" cy="266700"/>
          </a:xfrm>
          <a:prstGeom prst="rect">
            <a:avLst/>
          </a:prstGeom>
          <a:solidFill>
            <a:srgbClr val="5537D6"/>
          </a:solidFill>
          <a:ln w="0">
            <a:noFill/>
            <a:prstDash val="solid"/>
          </a:ln>
        </p:spPr>
        <p:txBody>
          <a:bodyPr/>
          <a:lstStyle/>
          <a:p>
            <a:endParaRPr lang="en-US"/>
          </a:p>
        </p:txBody>
      </p:sp>
      <p:sp>
        <p:nvSpPr>
          <p:cNvPr id="3" name="Rectangle 2">
            <a:extLst>
              <a:ext uri="{FF2B5EF4-FFF2-40B4-BE49-F238E27FC236}">
                <a16:creationId xmlns:a16="http://schemas.microsoft.com/office/drawing/2014/main" id="{CA2E21FD-1059-4504-BA88-8C33114FFA4A}"/>
              </a:ext>
            </a:extLst>
          </p:cNvPr>
          <p:cNvSpPr>
            <a:spLocks noGrp="1"/>
          </p:cNvSpPr>
          <p:nvPr/>
        </p:nvSpPr>
        <p:spPr>
          <a:xfrm>
            <a:off x="609600" y="38100"/>
            <a:ext cx="3429000" cy="190500"/>
          </a:xfrm>
          <a:prstGeom prst="rect">
            <a:avLst/>
          </a:prstGeom>
          <a:noFill/>
          <a:ln w="0">
            <a:noFill/>
            <a:prstDash val="solid"/>
          </a:ln>
        </p:spPr>
        <p:txBody>
          <a:bodyPr wrap="square" lIns="0" tIns="0" rIns="0" bIns="0" anchor="t">
            <a:normAutofit/>
          </a:bodyPr>
          <a:lstStyle/>
          <a:p>
            <a:pPr algn="l">
              <a:buNone/>
              <a:defRPr sz="975" b="1" i="0">
                <a:solidFill>
                  <a:srgbClr val="111111"/>
                </a:solidFill>
                <a:latin typeface="Consolas"/>
                <a:ea typeface="Consolas"/>
                <a:cs typeface="Consolas"/>
              </a:defRPr>
            </a:pPr>
            <a:r>
              <a:rPr sz="975" b="1" i="0">
                <a:solidFill>
                  <a:srgbClr val="111111"/>
                </a:solidFill>
                <a:latin typeface="Consolas"/>
                <a:ea typeface="Consolas"/>
                <a:cs typeface="Consolas"/>
              </a:rPr>
              <a:t>19 / PRODUCTION</a:t>
            </a:r>
          </a:p>
        </p:txBody>
      </p:sp>
      <p:sp>
        <p:nvSpPr>
          <p:cNvPr id="4" name="Rectangle 3">
            <a:extLst>
              <a:ext uri="{FF2B5EF4-FFF2-40B4-BE49-F238E27FC236}">
                <a16:creationId xmlns:a16="http://schemas.microsoft.com/office/drawing/2014/main" id="{A60366BD-5EF2-40AA-8769-1A2171ABB51B}"/>
              </a:ext>
            </a:extLst>
          </p:cNvPr>
          <p:cNvSpPr>
            <a:spLocks noGrp="1"/>
          </p:cNvSpPr>
          <p:nvPr/>
        </p:nvSpPr>
        <p:spPr>
          <a:xfrm>
            <a:off x="609600" y="428625"/>
            <a:ext cx="10572750" cy="1028700"/>
          </a:xfrm>
          <a:prstGeom prst="rect">
            <a:avLst/>
          </a:prstGeom>
          <a:noFill/>
          <a:ln w="0">
            <a:noFill/>
            <a:prstDash val="solid"/>
          </a:ln>
        </p:spPr>
        <p:txBody>
          <a:bodyPr wrap="square" lIns="0" tIns="0" rIns="0" bIns="0" anchor="t">
            <a:noAutofit/>
          </a:bodyPr>
          <a:lstStyle/>
          <a:p>
            <a:pPr algn="l">
              <a:buNone/>
              <a:defRPr sz="3225" b="1" i="0">
                <a:solidFill>
                  <a:srgbClr val="111111"/>
                </a:solidFill>
                <a:latin typeface="Arial"/>
                <a:ea typeface="Arial"/>
                <a:cs typeface="Arial"/>
              </a:defRPr>
            </a:pPr>
            <a:r>
              <a:rPr sz="3225" b="1" i="0">
                <a:solidFill>
                  <a:srgbClr val="111111"/>
                </a:solidFill>
                <a:latin typeface="Arial"/>
                <a:ea typeface="Arial"/>
                <a:cs typeface="Arial"/>
              </a:rPr>
              <a:t>Five reviewable outcomes anchor production proof</a:t>
            </a:r>
          </a:p>
        </p:txBody>
      </p:sp>
      <p:sp>
        <p:nvSpPr>
          <p:cNvPr id="5" name="Rectangle 4">
            <a:extLst>
              <a:ext uri="{FF2B5EF4-FFF2-40B4-BE49-F238E27FC236}">
                <a16:creationId xmlns:a16="http://schemas.microsoft.com/office/drawing/2014/main" id="{52406543-364B-4B60-A865-859FAE9D73F3}"/>
              </a:ext>
            </a:extLst>
          </p:cNvPr>
          <p:cNvSpPr>
            <a:spLocks noGrp="1"/>
          </p:cNvSpPr>
          <p:nvPr/>
        </p:nvSpPr>
        <p:spPr>
          <a:xfrm>
            <a:off x="628650" y="1514475"/>
            <a:ext cx="10382250" cy="323850"/>
          </a:xfrm>
          <a:prstGeom prst="rect">
            <a:avLst/>
          </a:prstGeom>
          <a:noFill/>
          <a:ln w="0">
            <a:noFill/>
            <a:prstDash val="solid"/>
          </a:ln>
        </p:spPr>
        <p:txBody>
          <a:bodyPr wrap="square" lIns="0" tIns="0" rIns="0" bIns="0" anchor="t">
            <a:noAutofit/>
          </a:bodyPr>
          <a:lstStyle/>
          <a:p>
            <a:pPr algn="l">
              <a:buNone/>
              <a:defRPr sz="1575" b="0" i="0">
                <a:solidFill>
                  <a:srgbClr val="686A66"/>
                </a:solidFill>
                <a:latin typeface="Arial"/>
                <a:ea typeface="Arial"/>
                <a:cs typeface="Arial"/>
              </a:defRPr>
            </a:pPr>
            <a:r>
              <a:rPr sz="1575" b="0" i="0">
                <a:solidFill>
                  <a:srgbClr val="686A66"/>
                </a:solidFill>
                <a:latin typeface="Arial"/>
                <a:ea typeface="Arial"/>
                <a:cs typeface="Arial"/>
              </a:rPr>
              <a:t>The outcome is the measure plus its acceptance artifact—not the mechanism alone.</a:t>
            </a:r>
          </a:p>
        </p:txBody>
      </p:sp>
      <p:sp>
        <p:nvSpPr>
          <p:cNvPr id="6" name="Rectangle 5">
            <a:extLst>
              <a:ext uri="{FF2B5EF4-FFF2-40B4-BE49-F238E27FC236}">
                <a16:creationId xmlns:a16="http://schemas.microsoft.com/office/drawing/2014/main" id="{FE672A5F-5B40-4531-A961-5097A8E9ACAF}"/>
              </a:ext>
            </a:extLst>
          </p:cNvPr>
          <p:cNvSpPr>
            <a:spLocks noGrp="1"/>
          </p:cNvSpPr>
          <p:nvPr/>
        </p:nvSpPr>
        <p:spPr>
          <a:xfrm>
            <a:off x="609600" y="1905000"/>
            <a:ext cx="10972800" cy="9525"/>
          </a:xfrm>
          <a:prstGeom prst="rect">
            <a:avLst/>
          </a:prstGeom>
          <a:solidFill>
            <a:srgbClr val="8A8B86"/>
          </a:solidFill>
          <a:ln w="0">
            <a:noFill/>
            <a:prstDash val="solid"/>
          </a:ln>
        </p:spPr>
        <p:txBody>
          <a:bodyPr/>
          <a:lstStyle/>
          <a:p>
            <a:endParaRPr lang="en-US"/>
          </a:p>
        </p:txBody>
      </p:sp>
      <p:sp>
        <p:nvSpPr>
          <p:cNvPr id="7" name="Rectangle 6">
            <a:extLst>
              <a:ext uri="{FF2B5EF4-FFF2-40B4-BE49-F238E27FC236}">
                <a16:creationId xmlns:a16="http://schemas.microsoft.com/office/drawing/2014/main" id="{C6AD82A4-5823-4542-AFB9-62D6EC459892}"/>
              </a:ext>
            </a:extLst>
          </p:cNvPr>
          <p:cNvSpPr>
            <a:spLocks noGrp="1"/>
          </p:cNvSpPr>
          <p:nvPr/>
        </p:nvSpPr>
        <p:spPr>
          <a:xfrm>
            <a:off x="609600" y="6524625"/>
            <a:ext cx="8858250" cy="180975"/>
          </a:xfrm>
          <a:prstGeom prst="rect">
            <a:avLst/>
          </a:prstGeom>
          <a:noFill/>
          <a:ln w="0">
            <a:noFill/>
            <a:prstDash val="solid"/>
          </a:ln>
        </p:spPr>
        <p:txBody>
          <a:bodyPr wrap="square" lIns="0" tIns="0" rIns="0" bIns="0" anchor="ctr">
            <a:normAutofit/>
          </a:bodyPr>
          <a:lstStyle/>
          <a:p>
            <a:pPr>
              <a:buNone/>
              <a:defRPr sz="825">
                <a:solidFill>
                  <a:srgbClr val="666762"/>
                </a:solidFill>
              </a:defRPr>
            </a:pPr>
            <a:r>
              <a:rPr sz="825" b="1">
                <a:solidFill>
                  <a:srgbClr val="666762"/>
                </a:solidFill>
              </a:rPr>
              <a:t>REFERENCES  </a:t>
            </a:r>
            <a:r>
              <a:rPr sz="825" u="sng">
                <a:solidFill>
                  <a:srgbClr val="666762"/>
                </a:solidFill>
                <a:hlinkClick r:id="rId3"/>
              </a:rPr>
              <a:t>Repo reference</a:t>
            </a:r>
            <a:r>
              <a:rPr sz="825">
                <a:solidFill>
                  <a:srgbClr val="666762"/>
                </a:solidFill>
              </a:rPr>
              <a:t>  ·  </a:t>
            </a:r>
            <a:r>
              <a:rPr sz="825" u="sng">
                <a:solidFill>
                  <a:srgbClr val="666762"/>
                </a:solidFill>
                <a:hlinkClick r:id="rId4"/>
              </a:rPr>
              <a:t>Official docs</a:t>
            </a:r>
          </a:p>
        </p:txBody>
      </p:sp>
      <p:sp>
        <p:nvSpPr>
          <p:cNvPr id="8" name="Rectangle 7">
            <a:extLst>
              <a:ext uri="{FF2B5EF4-FFF2-40B4-BE49-F238E27FC236}">
                <a16:creationId xmlns:a16="http://schemas.microsoft.com/office/drawing/2014/main" id="{2CEF1017-D02F-4A16-B44C-27480572F53E}"/>
              </a:ext>
            </a:extLst>
          </p:cNvPr>
          <p:cNvSpPr>
            <a:spLocks noGrp="1"/>
          </p:cNvSpPr>
          <p:nvPr/>
        </p:nvSpPr>
        <p:spPr>
          <a:xfrm>
            <a:off x="10287000" y="6486525"/>
            <a:ext cx="1295400" cy="209550"/>
          </a:xfrm>
          <a:prstGeom prst="rect">
            <a:avLst/>
          </a:prstGeom>
          <a:noFill/>
          <a:ln w="0">
            <a:noFill/>
            <a:prstDash val="solid"/>
          </a:ln>
        </p:spPr>
        <p:txBody>
          <a:bodyPr wrap="square" lIns="0" tIns="0" rIns="0" bIns="0" anchor="t">
            <a:normAutofit/>
          </a:bodyPr>
          <a:lstStyle/>
          <a:p>
            <a:pPr algn="r">
              <a:buNone/>
              <a:defRPr sz="975" b="1" i="0">
                <a:solidFill>
                  <a:srgbClr val="686A66"/>
                </a:solidFill>
                <a:latin typeface="Consolas"/>
                <a:ea typeface="Consolas"/>
                <a:cs typeface="Consolas"/>
              </a:defRPr>
            </a:pPr>
            <a:r>
              <a:rPr sz="975" b="1" i="0">
                <a:solidFill>
                  <a:srgbClr val="686A66"/>
                </a:solidFill>
                <a:latin typeface="Consolas"/>
                <a:ea typeface="Consolas"/>
                <a:cs typeface="Consolas"/>
              </a:rPr>
              <a:t>19 / 25</a:t>
            </a:r>
          </a:p>
        </p:txBody>
      </p:sp>
      <p:sp>
        <p:nvSpPr>
          <p:cNvPr id="9" name="Rectangle 8">
            <a:extLst>
              <a:ext uri="{FF2B5EF4-FFF2-40B4-BE49-F238E27FC236}">
                <a16:creationId xmlns:a16="http://schemas.microsoft.com/office/drawing/2014/main" id="{A0B9FA3F-BED8-4B7F-9721-A9127C5AE625}"/>
              </a:ext>
            </a:extLst>
          </p:cNvPr>
          <p:cNvSpPr>
            <a:spLocks noGrp="1"/>
          </p:cNvSpPr>
          <p:nvPr/>
        </p:nvSpPr>
        <p:spPr>
          <a:xfrm>
            <a:off x="628650" y="2343150"/>
            <a:ext cx="2019300" cy="3162300"/>
          </a:xfrm>
          <a:prstGeom prst="rect">
            <a:avLst/>
          </a:prstGeom>
          <a:solidFill>
            <a:srgbClr val="FFFFFF"/>
          </a:solidFill>
          <a:ln w="9525">
            <a:solidFill>
              <a:srgbClr val="8A8B86"/>
            </a:solidFill>
            <a:prstDash val="solid"/>
          </a:ln>
        </p:spPr>
        <p:txBody>
          <a:bodyPr/>
          <a:lstStyle/>
          <a:p>
            <a:endParaRPr lang="en-US"/>
          </a:p>
        </p:txBody>
      </p:sp>
      <p:sp>
        <p:nvSpPr>
          <p:cNvPr id="10" name="Rectangle 9">
            <a:extLst>
              <a:ext uri="{FF2B5EF4-FFF2-40B4-BE49-F238E27FC236}">
                <a16:creationId xmlns:a16="http://schemas.microsoft.com/office/drawing/2014/main" id="{6B4951DF-9F06-4DA3-AAD4-2FD4AC63C9D7}"/>
              </a:ext>
            </a:extLst>
          </p:cNvPr>
          <p:cNvSpPr>
            <a:spLocks noGrp="1"/>
          </p:cNvSpPr>
          <p:nvPr/>
        </p:nvSpPr>
        <p:spPr>
          <a:xfrm>
            <a:off x="800100" y="2543175"/>
            <a:ext cx="1676400" cy="228600"/>
          </a:xfrm>
          <a:prstGeom prst="rect">
            <a:avLst/>
          </a:prstGeom>
          <a:noFill/>
          <a:ln w="0">
            <a:noFill/>
            <a:prstDash val="solid"/>
          </a:ln>
        </p:spPr>
        <p:txBody>
          <a:bodyPr wrap="square" lIns="0" tIns="0" rIns="0" bIns="0" anchor="t">
            <a:normAutofit/>
          </a:bodyPr>
          <a:lstStyle/>
          <a:p>
            <a:pPr algn="l">
              <a:buNone/>
              <a:defRPr sz="1125" b="1" i="0">
                <a:solidFill>
                  <a:srgbClr val="5537D6"/>
                </a:solidFill>
                <a:latin typeface="Consolas"/>
                <a:ea typeface="Consolas"/>
                <a:cs typeface="Consolas"/>
              </a:defRPr>
            </a:pPr>
            <a:r>
              <a:rPr sz="1125" b="1" i="0">
                <a:solidFill>
                  <a:srgbClr val="5537D6"/>
                </a:solidFill>
                <a:latin typeface="Consolas"/>
                <a:ea typeface="Consolas"/>
                <a:cs typeface="Consolas"/>
              </a:rPr>
              <a:t>KO-1</a:t>
            </a:r>
          </a:p>
        </p:txBody>
      </p:sp>
      <p:sp>
        <p:nvSpPr>
          <p:cNvPr id="11" name="Rectangle 10">
            <a:extLst>
              <a:ext uri="{FF2B5EF4-FFF2-40B4-BE49-F238E27FC236}">
                <a16:creationId xmlns:a16="http://schemas.microsoft.com/office/drawing/2014/main" id="{675776B0-0B82-4D93-9921-33E7527B814B}"/>
              </a:ext>
            </a:extLst>
          </p:cNvPr>
          <p:cNvSpPr>
            <a:spLocks noGrp="1"/>
          </p:cNvSpPr>
          <p:nvPr/>
        </p:nvSpPr>
        <p:spPr>
          <a:xfrm>
            <a:off x="800100" y="2914650"/>
            <a:ext cx="1676400" cy="647700"/>
          </a:xfrm>
          <a:prstGeom prst="rect">
            <a:avLst/>
          </a:prstGeom>
          <a:noFill/>
          <a:ln w="0">
            <a:noFill/>
            <a:prstDash val="solid"/>
          </a:ln>
        </p:spPr>
        <p:txBody>
          <a:bodyPr wrap="square" lIns="0" tIns="0" rIns="0" bIns="0" anchor="t">
            <a:normAutofit/>
          </a:bodyPr>
          <a:lstStyle/>
          <a:p>
            <a:pPr algn="l">
              <a:buNone/>
              <a:defRPr sz="1950" b="0" i="0">
                <a:solidFill>
                  <a:srgbClr val="111111"/>
                </a:solidFill>
                <a:latin typeface="Georgia"/>
                <a:ea typeface="Georgia"/>
                <a:cs typeface="Georgia"/>
              </a:defRPr>
            </a:pPr>
            <a:r>
              <a:rPr sz="1950" b="0" i="0">
                <a:solidFill>
                  <a:srgbClr val="111111"/>
                </a:solidFill>
                <a:latin typeface="Georgia"/>
                <a:ea typeface="Georgia"/>
                <a:cs typeface="Georgia"/>
              </a:rPr>
              <a:t>State fidelity</a:t>
            </a:r>
          </a:p>
        </p:txBody>
      </p:sp>
      <p:sp>
        <p:nvSpPr>
          <p:cNvPr id="12" name="Rectangle 11">
            <a:extLst>
              <a:ext uri="{FF2B5EF4-FFF2-40B4-BE49-F238E27FC236}">
                <a16:creationId xmlns:a16="http://schemas.microsoft.com/office/drawing/2014/main" id="{E6B32EE0-485A-4626-801D-235091619FC0}"/>
              </a:ext>
            </a:extLst>
          </p:cNvPr>
          <p:cNvSpPr>
            <a:spLocks noGrp="1"/>
          </p:cNvSpPr>
          <p:nvPr/>
        </p:nvSpPr>
        <p:spPr>
          <a:xfrm>
            <a:off x="800100" y="3762375"/>
            <a:ext cx="1676400" cy="171450"/>
          </a:xfrm>
          <a:prstGeom prst="rect">
            <a:avLst/>
          </a:prstGeom>
          <a:noFill/>
          <a:ln w="0">
            <a:noFill/>
            <a:prstDash val="solid"/>
          </a:ln>
        </p:spPr>
        <p:txBody>
          <a:bodyPr wrap="square" lIns="0" tIns="0" rIns="0" bIns="0" anchor="t">
            <a:normAutofit/>
          </a:bodyPr>
          <a:lstStyle/>
          <a:p>
            <a:pPr algn="l">
              <a:buNone/>
              <a:defRPr sz="900" b="1" i="0">
                <a:solidFill>
                  <a:srgbClr val="686A66"/>
                </a:solidFill>
                <a:latin typeface="Consolas"/>
                <a:ea typeface="Consolas"/>
                <a:cs typeface="Consolas"/>
              </a:defRPr>
            </a:pPr>
            <a:r>
              <a:rPr sz="900" b="1" i="0">
                <a:solidFill>
                  <a:srgbClr val="686A66"/>
                </a:solidFill>
                <a:latin typeface="Consolas"/>
                <a:ea typeface="Consolas"/>
                <a:cs typeface="Consolas"/>
              </a:rPr>
              <a:t>MEASURE</a:t>
            </a:r>
          </a:p>
        </p:txBody>
      </p:sp>
      <p:sp>
        <p:nvSpPr>
          <p:cNvPr id="13" name="Rectangle 12">
            <a:extLst>
              <a:ext uri="{FF2B5EF4-FFF2-40B4-BE49-F238E27FC236}">
                <a16:creationId xmlns:a16="http://schemas.microsoft.com/office/drawing/2014/main" id="{7208270D-4652-48E6-920C-E29512BABEC7}"/>
              </a:ext>
            </a:extLst>
          </p:cNvPr>
          <p:cNvSpPr>
            <a:spLocks noGrp="1"/>
          </p:cNvSpPr>
          <p:nvPr/>
        </p:nvSpPr>
        <p:spPr>
          <a:xfrm>
            <a:off x="800100" y="4010025"/>
            <a:ext cx="1676400" cy="552450"/>
          </a:xfrm>
          <a:prstGeom prst="rect">
            <a:avLst/>
          </a:prstGeom>
          <a:noFill/>
          <a:ln w="0">
            <a:noFill/>
            <a:prstDash val="solid"/>
          </a:ln>
        </p:spPr>
        <p:txBody>
          <a:bodyPr wrap="square" lIns="0" tIns="0" rIns="0" bIns="0" anchor="t">
            <a:normAutofit/>
          </a:bodyPr>
          <a:lstStyle/>
          <a:p>
            <a:pPr algn="l">
              <a:buNone/>
              <a:defRPr sz="1350" b="0" i="0">
                <a:solidFill>
                  <a:srgbClr val="111111"/>
                </a:solidFill>
                <a:latin typeface="Arial"/>
                <a:ea typeface="Arial"/>
                <a:cs typeface="Arial"/>
              </a:defRPr>
            </a:pPr>
            <a:r>
              <a:rPr sz="1350" b="0" i="0">
                <a:solidFill>
                  <a:srgbClr val="111111"/>
                </a:solidFill>
                <a:latin typeface="Arial"/>
                <a:ea typeface="Arial"/>
                <a:cs typeface="Arial"/>
              </a:rPr>
              <a:t>desired = effective</a:t>
            </a:r>
          </a:p>
        </p:txBody>
      </p:sp>
      <p:sp>
        <p:nvSpPr>
          <p:cNvPr id="14" name="Rectangle 13">
            <a:extLst>
              <a:ext uri="{FF2B5EF4-FFF2-40B4-BE49-F238E27FC236}">
                <a16:creationId xmlns:a16="http://schemas.microsoft.com/office/drawing/2014/main" id="{B52BC25E-8444-4703-8FB5-46A11C83FCCD}"/>
              </a:ext>
            </a:extLst>
          </p:cNvPr>
          <p:cNvSpPr>
            <a:spLocks noGrp="1"/>
          </p:cNvSpPr>
          <p:nvPr/>
        </p:nvSpPr>
        <p:spPr>
          <a:xfrm>
            <a:off x="800100" y="4743450"/>
            <a:ext cx="1676400" cy="171450"/>
          </a:xfrm>
          <a:prstGeom prst="rect">
            <a:avLst/>
          </a:prstGeom>
          <a:noFill/>
          <a:ln w="0">
            <a:noFill/>
            <a:prstDash val="solid"/>
          </a:ln>
        </p:spPr>
        <p:txBody>
          <a:bodyPr wrap="square" lIns="0" tIns="0" rIns="0" bIns="0" anchor="t">
            <a:normAutofit/>
          </a:bodyPr>
          <a:lstStyle/>
          <a:p>
            <a:pPr algn="l">
              <a:buNone/>
              <a:defRPr sz="900" b="1" i="0">
                <a:solidFill>
                  <a:srgbClr val="5537D6"/>
                </a:solidFill>
                <a:latin typeface="Consolas"/>
                <a:ea typeface="Consolas"/>
                <a:cs typeface="Consolas"/>
              </a:defRPr>
            </a:pPr>
            <a:r>
              <a:rPr sz="900" b="1" i="0">
                <a:solidFill>
                  <a:srgbClr val="5537D6"/>
                </a:solidFill>
                <a:latin typeface="Consolas"/>
                <a:ea typeface="Consolas"/>
                <a:cs typeface="Consolas"/>
              </a:rPr>
              <a:t>ARTIFACT</a:t>
            </a:r>
          </a:p>
        </p:txBody>
      </p:sp>
      <p:sp>
        <p:nvSpPr>
          <p:cNvPr id="15" name="Rectangle 14">
            <a:extLst>
              <a:ext uri="{FF2B5EF4-FFF2-40B4-BE49-F238E27FC236}">
                <a16:creationId xmlns:a16="http://schemas.microsoft.com/office/drawing/2014/main" id="{A1833ED2-CD45-4C77-8594-0E10094B42D0}"/>
              </a:ext>
            </a:extLst>
          </p:cNvPr>
          <p:cNvSpPr>
            <a:spLocks noGrp="1"/>
          </p:cNvSpPr>
          <p:nvPr/>
        </p:nvSpPr>
        <p:spPr>
          <a:xfrm>
            <a:off x="800100" y="4991100"/>
            <a:ext cx="1676400" cy="361950"/>
          </a:xfrm>
          <a:prstGeom prst="rect">
            <a:avLst/>
          </a:prstGeom>
          <a:noFill/>
          <a:ln w="0">
            <a:noFill/>
            <a:prstDash val="solid"/>
          </a:ln>
        </p:spPr>
        <p:txBody>
          <a:bodyPr wrap="square" lIns="0" tIns="0" rIns="0" bIns="0" anchor="t">
            <a:normAutofit fontScale="98958" lnSpcReduction="10000"/>
          </a:bodyPr>
          <a:lstStyle/>
          <a:p>
            <a:pPr algn="l">
              <a:buNone/>
              <a:defRPr sz="1200" b="0" i="0">
                <a:solidFill>
                  <a:srgbClr val="686A66"/>
                </a:solidFill>
                <a:latin typeface="Arial"/>
                <a:ea typeface="Arial"/>
                <a:cs typeface="Arial"/>
              </a:defRPr>
            </a:pPr>
            <a:r>
              <a:rPr sz="1200" b="0" i="0">
                <a:solidFill>
                  <a:srgbClr val="686A66"/>
                </a:solidFill>
                <a:latin typeface="Arial"/>
                <a:ea typeface="Arial"/>
                <a:cs typeface="Arial"/>
              </a:rPr>
              <a:t>signed revision + drift ledger</a:t>
            </a:r>
          </a:p>
        </p:txBody>
      </p:sp>
      <p:sp>
        <p:nvSpPr>
          <p:cNvPr id="16" name="Rectangle 15">
            <a:extLst>
              <a:ext uri="{FF2B5EF4-FFF2-40B4-BE49-F238E27FC236}">
                <a16:creationId xmlns:a16="http://schemas.microsoft.com/office/drawing/2014/main" id="{DDC2362F-390D-4E7A-A653-951C04DC3E20}"/>
              </a:ext>
            </a:extLst>
          </p:cNvPr>
          <p:cNvSpPr>
            <a:spLocks noGrp="1"/>
          </p:cNvSpPr>
          <p:nvPr/>
        </p:nvSpPr>
        <p:spPr>
          <a:xfrm>
            <a:off x="2819400" y="2343150"/>
            <a:ext cx="2019300" cy="3162300"/>
          </a:xfrm>
          <a:prstGeom prst="rect">
            <a:avLst/>
          </a:prstGeom>
          <a:solidFill>
            <a:srgbClr val="FFFFFF"/>
          </a:solidFill>
          <a:ln w="9525">
            <a:solidFill>
              <a:srgbClr val="8A8B86"/>
            </a:solidFill>
            <a:prstDash val="solid"/>
          </a:ln>
        </p:spPr>
        <p:txBody>
          <a:bodyPr/>
          <a:lstStyle/>
          <a:p>
            <a:endParaRPr lang="en-US"/>
          </a:p>
        </p:txBody>
      </p:sp>
      <p:sp>
        <p:nvSpPr>
          <p:cNvPr id="17" name="Rectangle 16">
            <a:extLst>
              <a:ext uri="{FF2B5EF4-FFF2-40B4-BE49-F238E27FC236}">
                <a16:creationId xmlns:a16="http://schemas.microsoft.com/office/drawing/2014/main" id="{0EF284F8-DC5A-4F4C-8850-3CBE8C4A2889}"/>
              </a:ext>
            </a:extLst>
          </p:cNvPr>
          <p:cNvSpPr>
            <a:spLocks noGrp="1"/>
          </p:cNvSpPr>
          <p:nvPr/>
        </p:nvSpPr>
        <p:spPr>
          <a:xfrm>
            <a:off x="2990850" y="2543175"/>
            <a:ext cx="1676400" cy="228600"/>
          </a:xfrm>
          <a:prstGeom prst="rect">
            <a:avLst/>
          </a:prstGeom>
          <a:noFill/>
          <a:ln w="0">
            <a:noFill/>
            <a:prstDash val="solid"/>
          </a:ln>
        </p:spPr>
        <p:txBody>
          <a:bodyPr wrap="square" lIns="0" tIns="0" rIns="0" bIns="0" anchor="t">
            <a:normAutofit/>
          </a:bodyPr>
          <a:lstStyle/>
          <a:p>
            <a:pPr algn="l">
              <a:buNone/>
              <a:defRPr sz="1125" b="1" i="0">
                <a:solidFill>
                  <a:srgbClr val="5537D6"/>
                </a:solidFill>
                <a:latin typeface="Consolas"/>
                <a:ea typeface="Consolas"/>
                <a:cs typeface="Consolas"/>
              </a:defRPr>
            </a:pPr>
            <a:r>
              <a:rPr sz="1125" b="1" i="0">
                <a:solidFill>
                  <a:srgbClr val="5537D6"/>
                </a:solidFill>
                <a:latin typeface="Consolas"/>
                <a:ea typeface="Consolas"/>
                <a:cs typeface="Consolas"/>
              </a:rPr>
              <a:t>KO-2</a:t>
            </a:r>
          </a:p>
        </p:txBody>
      </p:sp>
      <p:sp>
        <p:nvSpPr>
          <p:cNvPr id="18" name="Rectangle 17">
            <a:extLst>
              <a:ext uri="{FF2B5EF4-FFF2-40B4-BE49-F238E27FC236}">
                <a16:creationId xmlns:a16="http://schemas.microsoft.com/office/drawing/2014/main" id="{CEA21C61-68AA-4751-B518-FC02F514D3BA}"/>
              </a:ext>
            </a:extLst>
          </p:cNvPr>
          <p:cNvSpPr>
            <a:spLocks noGrp="1"/>
          </p:cNvSpPr>
          <p:nvPr/>
        </p:nvSpPr>
        <p:spPr>
          <a:xfrm>
            <a:off x="2990850" y="2914650"/>
            <a:ext cx="1676400" cy="647700"/>
          </a:xfrm>
          <a:prstGeom prst="rect">
            <a:avLst/>
          </a:prstGeom>
          <a:noFill/>
          <a:ln w="0">
            <a:noFill/>
            <a:prstDash val="solid"/>
          </a:ln>
        </p:spPr>
        <p:txBody>
          <a:bodyPr wrap="square" lIns="0" tIns="0" rIns="0" bIns="0" anchor="t">
            <a:normAutofit/>
          </a:bodyPr>
          <a:lstStyle/>
          <a:p>
            <a:pPr algn="l">
              <a:buNone/>
              <a:defRPr sz="1950" b="0" i="0">
                <a:solidFill>
                  <a:srgbClr val="111111"/>
                </a:solidFill>
                <a:latin typeface="Georgia"/>
                <a:ea typeface="Georgia"/>
                <a:cs typeface="Georgia"/>
              </a:defRPr>
            </a:pPr>
            <a:r>
              <a:rPr sz="1950" b="0" i="0">
                <a:solidFill>
                  <a:srgbClr val="111111"/>
                </a:solidFill>
                <a:latin typeface="Georgia"/>
                <a:ea typeface="Georgia"/>
                <a:cs typeface="Georgia"/>
              </a:rPr>
              <a:t>Request reliability</a:t>
            </a:r>
          </a:p>
        </p:txBody>
      </p:sp>
      <p:sp>
        <p:nvSpPr>
          <p:cNvPr id="19" name="Rectangle 18">
            <a:extLst>
              <a:ext uri="{FF2B5EF4-FFF2-40B4-BE49-F238E27FC236}">
                <a16:creationId xmlns:a16="http://schemas.microsoft.com/office/drawing/2014/main" id="{83755A0B-09E9-41E1-BD7A-AAAC816AFF76}"/>
              </a:ext>
            </a:extLst>
          </p:cNvPr>
          <p:cNvSpPr>
            <a:spLocks noGrp="1"/>
          </p:cNvSpPr>
          <p:nvPr/>
        </p:nvSpPr>
        <p:spPr>
          <a:xfrm>
            <a:off x="2990850" y="3762375"/>
            <a:ext cx="1676400" cy="171450"/>
          </a:xfrm>
          <a:prstGeom prst="rect">
            <a:avLst/>
          </a:prstGeom>
          <a:noFill/>
          <a:ln w="0">
            <a:noFill/>
            <a:prstDash val="solid"/>
          </a:ln>
        </p:spPr>
        <p:txBody>
          <a:bodyPr wrap="square" lIns="0" tIns="0" rIns="0" bIns="0" anchor="t">
            <a:normAutofit/>
          </a:bodyPr>
          <a:lstStyle/>
          <a:p>
            <a:pPr algn="l">
              <a:buNone/>
              <a:defRPr sz="900" b="1" i="0">
                <a:solidFill>
                  <a:srgbClr val="686A66"/>
                </a:solidFill>
                <a:latin typeface="Consolas"/>
                <a:ea typeface="Consolas"/>
                <a:cs typeface="Consolas"/>
              </a:defRPr>
            </a:pPr>
            <a:r>
              <a:rPr sz="900" b="1" i="0">
                <a:solidFill>
                  <a:srgbClr val="686A66"/>
                </a:solidFill>
                <a:latin typeface="Consolas"/>
                <a:ea typeface="Consolas"/>
                <a:cs typeface="Consolas"/>
              </a:rPr>
              <a:t>MEASURE</a:t>
            </a:r>
          </a:p>
        </p:txBody>
      </p:sp>
      <p:sp>
        <p:nvSpPr>
          <p:cNvPr id="20" name="Rectangle 19">
            <a:extLst>
              <a:ext uri="{FF2B5EF4-FFF2-40B4-BE49-F238E27FC236}">
                <a16:creationId xmlns:a16="http://schemas.microsoft.com/office/drawing/2014/main" id="{C9C8B9DA-17BD-4277-8547-31C721973C12}"/>
              </a:ext>
            </a:extLst>
          </p:cNvPr>
          <p:cNvSpPr>
            <a:spLocks noGrp="1"/>
          </p:cNvSpPr>
          <p:nvPr/>
        </p:nvSpPr>
        <p:spPr>
          <a:xfrm>
            <a:off x="2990850" y="4010025"/>
            <a:ext cx="1676400" cy="552450"/>
          </a:xfrm>
          <a:prstGeom prst="rect">
            <a:avLst/>
          </a:prstGeom>
          <a:noFill/>
          <a:ln w="0">
            <a:noFill/>
            <a:prstDash val="solid"/>
          </a:ln>
        </p:spPr>
        <p:txBody>
          <a:bodyPr wrap="square" lIns="0" tIns="0" rIns="0" bIns="0" anchor="t">
            <a:normAutofit/>
          </a:bodyPr>
          <a:lstStyle/>
          <a:p>
            <a:pPr algn="l">
              <a:buNone/>
              <a:defRPr sz="1350" b="0" i="0">
                <a:solidFill>
                  <a:srgbClr val="111111"/>
                </a:solidFill>
                <a:latin typeface="Arial"/>
                <a:ea typeface="Arial"/>
                <a:cs typeface="Arial"/>
              </a:defRPr>
            </a:pPr>
            <a:r>
              <a:rPr sz="1350" b="0" i="0">
                <a:solidFill>
                  <a:srgbClr val="111111"/>
                </a:solidFill>
                <a:latin typeface="Arial"/>
                <a:ea typeface="Arial"/>
                <a:cs typeface="Arial"/>
              </a:rPr>
              <a:t>SLO under bounded failure</a:t>
            </a:r>
          </a:p>
        </p:txBody>
      </p:sp>
      <p:sp>
        <p:nvSpPr>
          <p:cNvPr id="21" name="Rectangle 20">
            <a:extLst>
              <a:ext uri="{FF2B5EF4-FFF2-40B4-BE49-F238E27FC236}">
                <a16:creationId xmlns:a16="http://schemas.microsoft.com/office/drawing/2014/main" id="{D4A530DB-4957-4A8D-9B3D-5E1BA40C3CA5}"/>
              </a:ext>
            </a:extLst>
          </p:cNvPr>
          <p:cNvSpPr>
            <a:spLocks noGrp="1"/>
          </p:cNvSpPr>
          <p:nvPr/>
        </p:nvSpPr>
        <p:spPr>
          <a:xfrm>
            <a:off x="2990850" y="4743450"/>
            <a:ext cx="1676400" cy="171450"/>
          </a:xfrm>
          <a:prstGeom prst="rect">
            <a:avLst/>
          </a:prstGeom>
          <a:noFill/>
          <a:ln w="0">
            <a:noFill/>
            <a:prstDash val="solid"/>
          </a:ln>
        </p:spPr>
        <p:txBody>
          <a:bodyPr wrap="square" lIns="0" tIns="0" rIns="0" bIns="0" anchor="t">
            <a:normAutofit/>
          </a:bodyPr>
          <a:lstStyle/>
          <a:p>
            <a:pPr algn="l">
              <a:buNone/>
              <a:defRPr sz="900" b="1" i="0">
                <a:solidFill>
                  <a:srgbClr val="5537D6"/>
                </a:solidFill>
                <a:latin typeface="Consolas"/>
                <a:ea typeface="Consolas"/>
                <a:cs typeface="Consolas"/>
              </a:defRPr>
            </a:pPr>
            <a:r>
              <a:rPr sz="900" b="1" i="0">
                <a:solidFill>
                  <a:srgbClr val="5537D6"/>
                </a:solidFill>
                <a:latin typeface="Consolas"/>
                <a:ea typeface="Consolas"/>
                <a:cs typeface="Consolas"/>
              </a:rPr>
              <a:t>ARTIFACT</a:t>
            </a:r>
          </a:p>
        </p:txBody>
      </p:sp>
      <p:sp>
        <p:nvSpPr>
          <p:cNvPr id="22" name="Rectangle 21">
            <a:extLst>
              <a:ext uri="{FF2B5EF4-FFF2-40B4-BE49-F238E27FC236}">
                <a16:creationId xmlns:a16="http://schemas.microsoft.com/office/drawing/2014/main" id="{EE5E07E0-6C8A-4CE5-8A14-4AE783C0E498}"/>
              </a:ext>
            </a:extLst>
          </p:cNvPr>
          <p:cNvSpPr>
            <a:spLocks noGrp="1"/>
          </p:cNvSpPr>
          <p:nvPr/>
        </p:nvSpPr>
        <p:spPr>
          <a:xfrm>
            <a:off x="2990850" y="4991100"/>
            <a:ext cx="1676400" cy="361950"/>
          </a:xfrm>
          <a:prstGeom prst="rect">
            <a:avLst/>
          </a:prstGeom>
          <a:noFill/>
          <a:ln w="0">
            <a:noFill/>
            <a:prstDash val="solid"/>
          </a:ln>
        </p:spPr>
        <p:txBody>
          <a:bodyPr wrap="square" lIns="0" tIns="0" rIns="0" bIns="0" anchor="t">
            <a:normAutofit fontScale="98958" lnSpcReduction="10000"/>
          </a:bodyPr>
          <a:lstStyle/>
          <a:p>
            <a:pPr algn="l">
              <a:buNone/>
              <a:defRPr sz="1200" b="0" i="0">
                <a:solidFill>
                  <a:srgbClr val="686A66"/>
                </a:solidFill>
                <a:latin typeface="Arial"/>
                <a:ea typeface="Arial"/>
                <a:cs typeface="Arial"/>
              </a:defRPr>
            </a:pPr>
            <a:r>
              <a:rPr sz="1200" b="0" i="0">
                <a:solidFill>
                  <a:srgbClr val="686A66"/>
                </a:solidFill>
                <a:latin typeface="Arial"/>
                <a:ea typeface="Arial"/>
                <a:cs typeface="Arial"/>
              </a:rPr>
              <a:t>business probes + traces</a:t>
            </a:r>
          </a:p>
        </p:txBody>
      </p:sp>
      <p:sp>
        <p:nvSpPr>
          <p:cNvPr id="23" name="Rectangle 22">
            <a:extLst>
              <a:ext uri="{FF2B5EF4-FFF2-40B4-BE49-F238E27FC236}">
                <a16:creationId xmlns:a16="http://schemas.microsoft.com/office/drawing/2014/main" id="{1E3AA160-BFBB-4881-9E1F-93956E917C90}"/>
              </a:ext>
            </a:extLst>
          </p:cNvPr>
          <p:cNvSpPr>
            <a:spLocks noGrp="1"/>
          </p:cNvSpPr>
          <p:nvPr/>
        </p:nvSpPr>
        <p:spPr>
          <a:xfrm>
            <a:off x="5010150" y="2343150"/>
            <a:ext cx="2019300" cy="3162300"/>
          </a:xfrm>
          <a:prstGeom prst="rect">
            <a:avLst/>
          </a:prstGeom>
          <a:solidFill>
            <a:srgbClr val="FFFFFF"/>
          </a:solidFill>
          <a:ln w="9525">
            <a:solidFill>
              <a:srgbClr val="8A8B86"/>
            </a:solidFill>
            <a:prstDash val="solid"/>
          </a:ln>
        </p:spPr>
        <p:txBody>
          <a:bodyPr/>
          <a:lstStyle/>
          <a:p>
            <a:endParaRPr lang="en-US"/>
          </a:p>
        </p:txBody>
      </p:sp>
      <p:sp>
        <p:nvSpPr>
          <p:cNvPr id="24" name="Rectangle 23">
            <a:extLst>
              <a:ext uri="{FF2B5EF4-FFF2-40B4-BE49-F238E27FC236}">
                <a16:creationId xmlns:a16="http://schemas.microsoft.com/office/drawing/2014/main" id="{901EA3C7-92D5-4F95-ACB8-C94D4E9B8B56}"/>
              </a:ext>
            </a:extLst>
          </p:cNvPr>
          <p:cNvSpPr>
            <a:spLocks noGrp="1"/>
          </p:cNvSpPr>
          <p:nvPr/>
        </p:nvSpPr>
        <p:spPr>
          <a:xfrm>
            <a:off x="5181600" y="2543175"/>
            <a:ext cx="1676400" cy="228600"/>
          </a:xfrm>
          <a:prstGeom prst="rect">
            <a:avLst/>
          </a:prstGeom>
          <a:noFill/>
          <a:ln w="0">
            <a:noFill/>
            <a:prstDash val="solid"/>
          </a:ln>
        </p:spPr>
        <p:txBody>
          <a:bodyPr wrap="square" lIns="0" tIns="0" rIns="0" bIns="0" anchor="t">
            <a:normAutofit/>
          </a:bodyPr>
          <a:lstStyle/>
          <a:p>
            <a:pPr algn="l">
              <a:buNone/>
              <a:defRPr sz="1125" b="1" i="0">
                <a:solidFill>
                  <a:srgbClr val="5537D6"/>
                </a:solidFill>
                <a:latin typeface="Consolas"/>
                <a:ea typeface="Consolas"/>
                <a:cs typeface="Consolas"/>
              </a:defRPr>
            </a:pPr>
            <a:r>
              <a:rPr sz="1125" b="1" i="0">
                <a:solidFill>
                  <a:srgbClr val="5537D6"/>
                </a:solidFill>
                <a:latin typeface="Consolas"/>
                <a:ea typeface="Consolas"/>
                <a:cs typeface="Consolas"/>
              </a:rPr>
              <a:t>KO-3</a:t>
            </a:r>
          </a:p>
        </p:txBody>
      </p:sp>
      <p:sp>
        <p:nvSpPr>
          <p:cNvPr id="25" name="Rectangle 24">
            <a:extLst>
              <a:ext uri="{FF2B5EF4-FFF2-40B4-BE49-F238E27FC236}">
                <a16:creationId xmlns:a16="http://schemas.microsoft.com/office/drawing/2014/main" id="{A1B0DC4E-6213-4BAF-A2BD-EE80881B13F2}"/>
              </a:ext>
            </a:extLst>
          </p:cNvPr>
          <p:cNvSpPr>
            <a:spLocks noGrp="1"/>
          </p:cNvSpPr>
          <p:nvPr/>
        </p:nvSpPr>
        <p:spPr>
          <a:xfrm>
            <a:off x="5181600" y="2914650"/>
            <a:ext cx="1676400" cy="647700"/>
          </a:xfrm>
          <a:prstGeom prst="rect">
            <a:avLst/>
          </a:prstGeom>
          <a:noFill/>
          <a:ln w="0">
            <a:noFill/>
            <a:prstDash val="solid"/>
          </a:ln>
        </p:spPr>
        <p:txBody>
          <a:bodyPr wrap="square" lIns="0" tIns="0" rIns="0" bIns="0" anchor="t">
            <a:normAutofit/>
          </a:bodyPr>
          <a:lstStyle/>
          <a:p>
            <a:pPr algn="l">
              <a:buNone/>
              <a:defRPr sz="1950" b="0" i="0">
                <a:solidFill>
                  <a:srgbClr val="111111"/>
                </a:solidFill>
                <a:latin typeface="Georgia"/>
                <a:ea typeface="Georgia"/>
                <a:cs typeface="Georgia"/>
              </a:defRPr>
            </a:pPr>
            <a:r>
              <a:rPr sz="1950" b="0" i="0">
                <a:solidFill>
                  <a:srgbClr val="111111"/>
                </a:solidFill>
                <a:latin typeface="Georgia"/>
                <a:ea typeface="Georgia"/>
                <a:cs typeface="Georgia"/>
              </a:rPr>
              <a:t>Trust admission</a:t>
            </a:r>
          </a:p>
        </p:txBody>
      </p:sp>
      <p:sp>
        <p:nvSpPr>
          <p:cNvPr id="26" name="Rectangle 25">
            <a:extLst>
              <a:ext uri="{FF2B5EF4-FFF2-40B4-BE49-F238E27FC236}">
                <a16:creationId xmlns:a16="http://schemas.microsoft.com/office/drawing/2014/main" id="{8A1F8612-D085-4786-B832-2D08972116BB}"/>
              </a:ext>
            </a:extLst>
          </p:cNvPr>
          <p:cNvSpPr>
            <a:spLocks noGrp="1"/>
          </p:cNvSpPr>
          <p:nvPr/>
        </p:nvSpPr>
        <p:spPr>
          <a:xfrm>
            <a:off x="5181600" y="3762375"/>
            <a:ext cx="1676400" cy="171450"/>
          </a:xfrm>
          <a:prstGeom prst="rect">
            <a:avLst/>
          </a:prstGeom>
          <a:noFill/>
          <a:ln w="0">
            <a:noFill/>
            <a:prstDash val="solid"/>
          </a:ln>
        </p:spPr>
        <p:txBody>
          <a:bodyPr wrap="square" lIns="0" tIns="0" rIns="0" bIns="0" anchor="t">
            <a:normAutofit/>
          </a:bodyPr>
          <a:lstStyle/>
          <a:p>
            <a:pPr algn="l">
              <a:buNone/>
              <a:defRPr sz="900" b="1" i="0">
                <a:solidFill>
                  <a:srgbClr val="686A66"/>
                </a:solidFill>
                <a:latin typeface="Consolas"/>
                <a:ea typeface="Consolas"/>
                <a:cs typeface="Consolas"/>
              </a:defRPr>
            </a:pPr>
            <a:r>
              <a:rPr sz="900" b="1" i="0">
                <a:solidFill>
                  <a:srgbClr val="686A66"/>
                </a:solidFill>
                <a:latin typeface="Consolas"/>
                <a:ea typeface="Consolas"/>
                <a:cs typeface="Consolas"/>
              </a:rPr>
              <a:t>MEASURE</a:t>
            </a:r>
          </a:p>
        </p:txBody>
      </p:sp>
      <p:sp>
        <p:nvSpPr>
          <p:cNvPr id="27" name="Rectangle 26">
            <a:extLst>
              <a:ext uri="{FF2B5EF4-FFF2-40B4-BE49-F238E27FC236}">
                <a16:creationId xmlns:a16="http://schemas.microsoft.com/office/drawing/2014/main" id="{E4BF9C81-CD73-4EFA-9A2D-3088C20632C3}"/>
              </a:ext>
            </a:extLst>
          </p:cNvPr>
          <p:cNvSpPr>
            <a:spLocks noGrp="1"/>
          </p:cNvSpPr>
          <p:nvPr/>
        </p:nvSpPr>
        <p:spPr>
          <a:xfrm>
            <a:off x="5181600" y="4010025"/>
            <a:ext cx="1676400" cy="552450"/>
          </a:xfrm>
          <a:prstGeom prst="rect">
            <a:avLst/>
          </a:prstGeom>
          <a:noFill/>
          <a:ln w="0">
            <a:noFill/>
            <a:prstDash val="solid"/>
          </a:ln>
        </p:spPr>
        <p:txBody>
          <a:bodyPr wrap="square" lIns="0" tIns="0" rIns="0" bIns="0" anchor="t">
            <a:normAutofit/>
          </a:bodyPr>
          <a:lstStyle/>
          <a:p>
            <a:pPr algn="l">
              <a:buNone/>
              <a:defRPr sz="1350" b="0" i="0">
                <a:solidFill>
                  <a:srgbClr val="111111"/>
                </a:solidFill>
                <a:latin typeface="Arial"/>
                <a:ea typeface="Arial"/>
                <a:cs typeface="Arial"/>
              </a:defRPr>
            </a:pPr>
            <a:r>
              <a:rPr sz="1350" b="0" i="0">
                <a:solidFill>
                  <a:srgbClr val="111111"/>
                </a:solidFill>
                <a:latin typeface="Arial"/>
                <a:ea typeface="Arial"/>
                <a:cs typeface="Arial"/>
              </a:rPr>
              <a:t>unauthorized node rejected</a:t>
            </a:r>
          </a:p>
        </p:txBody>
      </p:sp>
      <p:sp>
        <p:nvSpPr>
          <p:cNvPr id="28" name="Rectangle 27">
            <a:extLst>
              <a:ext uri="{FF2B5EF4-FFF2-40B4-BE49-F238E27FC236}">
                <a16:creationId xmlns:a16="http://schemas.microsoft.com/office/drawing/2014/main" id="{3574409A-DE47-4B30-901E-F5451239D5F4}"/>
              </a:ext>
            </a:extLst>
          </p:cNvPr>
          <p:cNvSpPr>
            <a:spLocks noGrp="1"/>
          </p:cNvSpPr>
          <p:nvPr/>
        </p:nvSpPr>
        <p:spPr>
          <a:xfrm>
            <a:off x="5181600" y="4743450"/>
            <a:ext cx="1676400" cy="171450"/>
          </a:xfrm>
          <a:prstGeom prst="rect">
            <a:avLst/>
          </a:prstGeom>
          <a:noFill/>
          <a:ln w="0">
            <a:noFill/>
            <a:prstDash val="solid"/>
          </a:ln>
        </p:spPr>
        <p:txBody>
          <a:bodyPr wrap="square" lIns="0" tIns="0" rIns="0" bIns="0" anchor="t">
            <a:normAutofit/>
          </a:bodyPr>
          <a:lstStyle/>
          <a:p>
            <a:pPr algn="l">
              <a:buNone/>
              <a:defRPr sz="900" b="1" i="0">
                <a:solidFill>
                  <a:srgbClr val="5537D6"/>
                </a:solidFill>
                <a:latin typeface="Consolas"/>
                <a:ea typeface="Consolas"/>
                <a:cs typeface="Consolas"/>
              </a:defRPr>
            </a:pPr>
            <a:r>
              <a:rPr sz="900" b="1" i="0">
                <a:solidFill>
                  <a:srgbClr val="5537D6"/>
                </a:solidFill>
                <a:latin typeface="Consolas"/>
                <a:ea typeface="Consolas"/>
                <a:cs typeface="Consolas"/>
              </a:rPr>
              <a:t>ARTIFACT</a:t>
            </a:r>
          </a:p>
        </p:txBody>
      </p:sp>
      <p:sp>
        <p:nvSpPr>
          <p:cNvPr id="29" name="Rectangle 28">
            <a:extLst>
              <a:ext uri="{FF2B5EF4-FFF2-40B4-BE49-F238E27FC236}">
                <a16:creationId xmlns:a16="http://schemas.microsoft.com/office/drawing/2014/main" id="{3CC02F0E-1AD9-4826-93E0-158B099B4D38}"/>
              </a:ext>
            </a:extLst>
          </p:cNvPr>
          <p:cNvSpPr>
            <a:spLocks noGrp="1"/>
          </p:cNvSpPr>
          <p:nvPr/>
        </p:nvSpPr>
        <p:spPr>
          <a:xfrm>
            <a:off x="5181600" y="4991100"/>
            <a:ext cx="1676400" cy="361950"/>
          </a:xfrm>
          <a:prstGeom prst="rect">
            <a:avLst/>
          </a:prstGeom>
          <a:noFill/>
          <a:ln w="0">
            <a:noFill/>
            <a:prstDash val="solid"/>
          </a:ln>
        </p:spPr>
        <p:txBody>
          <a:bodyPr wrap="square" lIns="0" tIns="0" rIns="0" bIns="0" anchor="t">
            <a:normAutofit fontScale="98958" lnSpcReduction="10000"/>
          </a:bodyPr>
          <a:lstStyle/>
          <a:p>
            <a:pPr algn="l">
              <a:buNone/>
              <a:defRPr sz="1200" b="0" i="0">
                <a:solidFill>
                  <a:srgbClr val="686A66"/>
                </a:solidFill>
                <a:latin typeface="Arial"/>
                <a:ea typeface="Arial"/>
                <a:cs typeface="Arial"/>
              </a:defRPr>
            </a:pPr>
            <a:r>
              <a:rPr sz="1200" b="0" i="0">
                <a:solidFill>
                  <a:srgbClr val="686A66"/>
                </a:solidFill>
                <a:latin typeface="Arial"/>
                <a:ea typeface="Arial"/>
                <a:cs typeface="Arial"/>
              </a:rPr>
              <a:t>negative join + quarantine record</a:t>
            </a:r>
          </a:p>
        </p:txBody>
      </p:sp>
      <p:sp>
        <p:nvSpPr>
          <p:cNvPr id="30" name="Rectangle 29">
            <a:extLst>
              <a:ext uri="{FF2B5EF4-FFF2-40B4-BE49-F238E27FC236}">
                <a16:creationId xmlns:a16="http://schemas.microsoft.com/office/drawing/2014/main" id="{50CC5234-7C50-449E-9EAD-D8E23D473419}"/>
              </a:ext>
            </a:extLst>
          </p:cNvPr>
          <p:cNvSpPr>
            <a:spLocks noGrp="1"/>
          </p:cNvSpPr>
          <p:nvPr/>
        </p:nvSpPr>
        <p:spPr>
          <a:xfrm>
            <a:off x="7200900" y="2343150"/>
            <a:ext cx="2019300" cy="3162300"/>
          </a:xfrm>
          <a:prstGeom prst="rect">
            <a:avLst/>
          </a:prstGeom>
          <a:solidFill>
            <a:srgbClr val="FFFFFF"/>
          </a:solidFill>
          <a:ln w="9525">
            <a:solidFill>
              <a:srgbClr val="8A8B86"/>
            </a:solidFill>
            <a:prstDash val="solid"/>
          </a:ln>
        </p:spPr>
        <p:txBody>
          <a:bodyPr/>
          <a:lstStyle/>
          <a:p>
            <a:endParaRPr lang="en-US"/>
          </a:p>
        </p:txBody>
      </p:sp>
      <p:sp>
        <p:nvSpPr>
          <p:cNvPr id="31" name="Rectangle 30">
            <a:extLst>
              <a:ext uri="{FF2B5EF4-FFF2-40B4-BE49-F238E27FC236}">
                <a16:creationId xmlns:a16="http://schemas.microsoft.com/office/drawing/2014/main" id="{B9DAAB50-4938-4226-88B3-6C8DE97FAF33}"/>
              </a:ext>
            </a:extLst>
          </p:cNvPr>
          <p:cNvSpPr>
            <a:spLocks noGrp="1"/>
          </p:cNvSpPr>
          <p:nvPr/>
        </p:nvSpPr>
        <p:spPr>
          <a:xfrm>
            <a:off x="7372350" y="2543175"/>
            <a:ext cx="1676400" cy="228600"/>
          </a:xfrm>
          <a:prstGeom prst="rect">
            <a:avLst/>
          </a:prstGeom>
          <a:noFill/>
          <a:ln w="0">
            <a:noFill/>
            <a:prstDash val="solid"/>
          </a:ln>
        </p:spPr>
        <p:txBody>
          <a:bodyPr wrap="square" lIns="0" tIns="0" rIns="0" bIns="0" anchor="t">
            <a:normAutofit/>
          </a:bodyPr>
          <a:lstStyle/>
          <a:p>
            <a:pPr algn="l">
              <a:buNone/>
              <a:defRPr sz="1125" b="1" i="0">
                <a:solidFill>
                  <a:srgbClr val="5537D6"/>
                </a:solidFill>
                <a:latin typeface="Consolas"/>
                <a:ea typeface="Consolas"/>
                <a:cs typeface="Consolas"/>
              </a:defRPr>
            </a:pPr>
            <a:r>
              <a:rPr sz="1125" b="1" i="0">
                <a:solidFill>
                  <a:srgbClr val="5537D6"/>
                </a:solidFill>
                <a:latin typeface="Consolas"/>
                <a:ea typeface="Consolas"/>
                <a:cs typeface="Consolas"/>
              </a:rPr>
              <a:t>KO-4</a:t>
            </a:r>
          </a:p>
        </p:txBody>
      </p:sp>
      <p:sp>
        <p:nvSpPr>
          <p:cNvPr id="32" name="Rectangle 31">
            <a:extLst>
              <a:ext uri="{FF2B5EF4-FFF2-40B4-BE49-F238E27FC236}">
                <a16:creationId xmlns:a16="http://schemas.microsoft.com/office/drawing/2014/main" id="{7C3A1CCD-9F15-4CDB-AAC2-C42C882F1211}"/>
              </a:ext>
            </a:extLst>
          </p:cNvPr>
          <p:cNvSpPr>
            <a:spLocks noGrp="1"/>
          </p:cNvSpPr>
          <p:nvPr/>
        </p:nvSpPr>
        <p:spPr>
          <a:xfrm>
            <a:off x="7372350" y="2914650"/>
            <a:ext cx="1676400" cy="647700"/>
          </a:xfrm>
          <a:prstGeom prst="rect">
            <a:avLst/>
          </a:prstGeom>
          <a:noFill/>
          <a:ln w="0">
            <a:noFill/>
            <a:prstDash val="solid"/>
          </a:ln>
        </p:spPr>
        <p:txBody>
          <a:bodyPr wrap="square" lIns="0" tIns="0" rIns="0" bIns="0" anchor="t">
            <a:normAutofit/>
          </a:bodyPr>
          <a:lstStyle/>
          <a:p>
            <a:pPr algn="l">
              <a:buNone/>
              <a:defRPr sz="1950" b="0" i="0">
                <a:solidFill>
                  <a:srgbClr val="111111"/>
                </a:solidFill>
                <a:latin typeface="Georgia"/>
                <a:ea typeface="Georgia"/>
                <a:cs typeface="Georgia"/>
              </a:defRPr>
            </a:pPr>
            <a:r>
              <a:rPr sz="1950" b="0" i="0">
                <a:solidFill>
                  <a:srgbClr val="111111"/>
                </a:solidFill>
                <a:latin typeface="Georgia"/>
                <a:ea typeface="Georgia"/>
                <a:cs typeface="Georgia"/>
              </a:rPr>
              <a:t>Recovery</a:t>
            </a:r>
          </a:p>
        </p:txBody>
      </p:sp>
      <p:sp>
        <p:nvSpPr>
          <p:cNvPr id="33" name="Rectangle 32">
            <a:extLst>
              <a:ext uri="{FF2B5EF4-FFF2-40B4-BE49-F238E27FC236}">
                <a16:creationId xmlns:a16="http://schemas.microsoft.com/office/drawing/2014/main" id="{8D7862CF-F495-43D4-B4AC-A6067B598C71}"/>
              </a:ext>
            </a:extLst>
          </p:cNvPr>
          <p:cNvSpPr>
            <a:spLocks noGrp="1"/>
          </p:cNvSpPr>
          <p:nvPr/>
        </p:nvSpPr>
        <p:spPr>
          <a:xfrm>
            <a:off x="7372350" y="3762375"/>
            <a:ext cx="1676400" cy="171450"/>
          </a:xfrm>
          <a:prstGeom prst="rect">
            <a:avLst/>
          </a:prstGeom>
          <a:noFill/>
          <a:ln w="0">
            <a:noFill/>
            <a:prstDash val="solid"/>
          </a:ln>
        </p:spPr>
        <p:txBody>
          <a:bodyPr wrap="square" lIns="0" tIns="0" rIns="0" bIns="0" anchor="t">
            <a:normAutofit/>
          </a:bodyPr>
          <a:lstStyle/>
          <a:p>
            <a:pPr algn="l">
              <a:buNone/>
              <a:defRPr sz="900" b="1" i="0">
                <a:solidFill>
                  <a:srgbClr val="686A66"/>
                </a:solidFill>
                <a:latin typeface="Consolas"/>
                <a:ea typeface="Consolas"/>
                <a:cs typeface="Consolas"/>
              </a:defRPr>
            </a:pPr>
            <a:r>
              <a:rPr sz="900" b="1" i="0">
                <a:solidFill>
                  <a:srgbClr val="686A66"/>
                </a:solidFill>
                <a:latin typeface="Consolas"/>
                <a:ea typeface="Consolas"/>
                <a:cs typeface="Consolas"/>
              </a:rPr>
              <a:t>MEASURE</a:t>
            </a:r>
          </a:p>
        </p:txBody>
      </p:sp>
      <p:sp>
        <p:nvSpPr>
          <p:cNvPr id="34" name="Rectangle 33">
            <a:extLst>
              <a:ext uri="{FF2B5EF4-FFF2-40B4-BE49-F238E27FC236}">
                <a16:creationId xmlns:a16="http://schemas.microsoft.com/office/drawing/2014/main" id="{AC3A8ED3-2A33-41E4-88A9-DF7534E1783A}"/>
              </a:ext>
            </a:extLst>
          </p:cNvPr>
          <p:cNvSpPr>
            <a:spLocks noGrp="1"/>
          </p:cNvSpPr>
          <p:nvPr/>
        </p:nvSpPr>
        <p:spPr>
          <a:xfrm>
            <a:off x="7372350" y="4010025"/>
            <a:ext cx="1676400" cy="552450"/>
          </a:xfrm>
          <a:prstGeom prst="rect">
            <a:avLst/>
          </a:prstGeom>
          <a:noFill/>
          <a:ln w="0">
            <a:noFill/>
            <a:prstDash val="solid"/>
          </a:ln>
        </p:spPr>
        <p:txBody>
          <a:bodyPr wrap="square" lIns="0" tIns="0" rIns="0" bIns="0" anchor="t">
            <a:normAutofit/>
          </a:bodyPr>
          <a:lstStyle/>
          <a:p>
            <a:pPr algn="l">
              <a:buNone/>
              <a:defRPr sz="1350" b="0" i="0">
                <a:solidFill>
                  <a:srgbClr val="111111"/>
                </a:solidFill>
                <a:latin typeface="Arial"/>
                <a:ea typeface="Arial"/>
                <a:cs typeface="Arial"/>
              </a:defRPr>
            </a:pPr>
            <a:r>
              <a:rPr sz="1350" b="0" i="0">
                <a:solidFill>
                  <a:srgbClr val="111111"/>
                </a:solidFill>
                <a:latin typeface="Arial"/>
                <a:ea typeface="Arial"/>
                <a:cs typeface="Arial"/>
              </a:rPr>
              <a:t>restore within agreed form</a:t>
            </a:r>
          </a:p>
        </p:txBody>
      </p:sp>
      <p:sp>
        <p:nvSpPr>
          <p:cNvPr id="35" name="Rectangle 34">
            <a:extLst>
              <a:ext uri="{FF2B5EF4-FFF2-40B4-BE49-F238E27FC236}">
                <a16:creationId xmlns:a16="http://schemas.microsoft.com/office/drawing/2014/main" id="{BDA8C2E1-AB85-40E1-8595-CC1417DFFEBA}"/>
              </a:ext>
            </a:extLst>
          </p:cNvPr>
          <p:cNvSpPr>
            <a:spLocks noGrp="1"/>
          </p:cNvSpPr>
          <p:nvPr/>
        </p:nvSpPr>
        <p:spPr>
          <a:xfrm>
            <a:off x="7372350" y="4743450"/>
            <a:ext cx="1676400" cy="171450"/>
          </a:xfrm>
          <a:prstGeom prst="rect">
            <a:avLst/>
          </a:prstGeom>
          <a:noFill/>
          <a:ln w="0">
            <a:noFill/>
            <a:prstDash val="solid"/>
          </a:ln>
        </p:spPr>
        <p:txBody>
          <a:bodyPr wrap="square" lIns="0" tIns="0" rIns="0" bIns="0" anchor="t">
            <a:normAutofit/>
          </a:bodyPr>
          <a:lstStyle/>
          <a:p>
            <a:pPr algn="l">
              <a:buNone/>
              <a:defRPr sz="900" b="1" i="0">
                <a:solidFill>
                  <a:srgbClr val="5537D6"/>
                </a:solidFill>
                <a:latin typeface="Consolas"/>
                <a:ea typeface="Consolas"/>
                <a:cs typeface="Consolas"/>
              </a:defRPr>
            </a:pPr>
            <a:r>
              <a:rPr sz="900" b="1" i="0">
                <a:solidFill>
                  <a:srgbClr val="5537D6"/>
                </a:solidFill>
                <a:latin typeface="Consolas"/>
                <a:ea typeface="Consolas"/>
                <a:cs typeface="Consolas"/>
              </a:rPr>
              <a:t>ARTIFACT</a:t>
            </a:r>
          </a:p>
        </p:txBody>
      </p:sp>
      <p:sp>
        <p:nvSpPr>
          <p:cNvPr id="36" name="Rectangle 35">
            <a:extLst>
              <a:ext uri="{FF2B5EF4-FFF2-40B4-BE49-F238E27FC236}">
                <a16:creationId xmlns:a16="http://schemas.microsoft.com/office/drawing/2014/main" id="{9AE394B3-8BD5-40A4-B87B-8515E5F804E9}"/>
              </a:ext>
            </a:extLst>
          </p:cNvPr>
          <p:cNvSpPr>
            <a:spLocks noGrp="1"/>
          </p:cNvSpPr>
          <p:nvPr/>
        </p:nvSpPr>
        <p:spPr>
          <a:xfrm>
            <a:off x="7372350" y="4991100"/>
            <a:ext cx="1676400" cy="361950"/>
          </a:xfrm>
          <a:prstGeom prst="rect">
            <a:avLst/>
          </a:prstGeom>
          <a:noFill/>
          <a:ln w="0">
            <a:noFill/>
            <a:prstDash val="solid"/>
          </a:ln>
        </p:spPr>
        <p:txBody>
          <a:bodyPr wrap="square" lIns="0" tIns="0" rIns="0" bIns="0" anchor="t">
            <a:normAutofit fontScale="98958" lnSpcReduction="10000"/>
          </a:bodyPr>
          <a:lstStyle/>
          <a:p>
            <a:pPr algn="l">
              <a:buNone/>
              <a:defRPr sz="1200" b="0" i="0">
                <a:solidFill>
                  <a:srgbClr val="686A66"/>
                </a:solidFill>
                <a:latin typeface="Arial"/>
                <a:ea typeface="Arial"/>
                <a:cs typeface="Arial"/>
              </a:defRPr>
            </a:pPr>
            <a:r>
              <a:rPr sz="1200" b="0" i="0">
                <a:solidFill>
                  <a:srgbClr val="686A66"/>
                </a:solidFill>
                <a:latin typeface="Arial"/>
                <a:ea typeface="Arial"/>
                <a:cs typeface="Arial"/>
              </a:rPr>
              <a:t>isolated restore rehearsal</a:t>
            </a:r>
          </a:p>
        </p:txBody>
      </p:sp>
      <p:sp>
        <p:nvSpPr>
          <p:cNvPr id="37" name="Rectangle 36">
            <a:extLst>
              <a:ext uri="{FF2B5EF4-FFF2-40B4-BE49-F238E27FC236}">
                <a16:creationId xmlns:a16="http://schemas.microsoft.com/office/drawing/2014/main" id="{1F4FF126-94A7-4150-948F-E8BAA22A87CD}"/>
              </a:ext>
            </a:extLst>
          </p:cNvPr>
          <p:cNvSpPr>
            <a:spLocks noGrp="1"/>
          </p:cNvSpPr>
          <p:nvPr/>
        </p:nvSpPr>
        <p:spPr>
          <a:xfrm>
            <a:off x="9391650" y="2343150"/>
            <a:ext cx="2019300" cy="3162300"/>
          </a:xfrm>
          <a:prstGeom prst="rect">
            <a:avLst/>
          </a:prstGeom>
          <a:solidFill>
            <a:srgbClr val="FFFFFF"/>
          </a:solidFill>
          <a:ln w="9525">
            <a:solidFill>
              <a:srgbClr val="8A8B86"/>
            </a:solidFill>
            <a:prstDash val="solid"/>
          </a:ln>
        </p:spPr>
        <p:txBody>
          <a:bodyPr/>
          <a:lstStyle/>
          <a:p>
            <a:endParaRPr lang="en-US"/>
          </a:p>
        </p:txBody>
      </p:sp>
      <p:sp>
        <p:nvSpPr>
          <p:cNvPr id="38" name="Rectangle 37">
            <a:extLst>
              <a:ext uri="{FF2B5EF4-FFF2-40B4-BE49-F238E27FC236}">
                <a16:creationId xmlns:a16="http://schemas.microsoft.com/office/drawing/2014/main" id="{2205E943-814A-4703-925A-BB330AAD8AFC}"/>
              </a:ext>
            </a:extLst>
          </p:cNvPr>
          <p:cNvSpPr>
            <a:spLocks noGrp="1"/>
          </p:cNvSpPr>
          <p:nvPr/>
        </p:nvSpPr>
        <p:spPr>
          <a:xfrm>
            <a:off x="9563100" y="2543175"/>
            <a:ext cx="1676400" cy="228600"/>
          </a:xfrm>
          <a:prstGeom prst="rect">
            <a:avLst/>
          </a:prstGeom>
          <a:noFill/>
          <a:ln w="0">
            <a:noFill/>
            <a:prstDash val="solid"/>
          </a:ln>
        </p:spPr>
        <p:txBody>
          <a:bodyPr wrap="square" lIns="0" tIns="0" rIns="0" bIns="0" anchor="t">
            <a:normAutofit/>
          </a:bodyPr>
          <a:lstStyle/>
          <a:p>
            <a:pPr algn="l">
              <a:buNone/>
              <a:defRPr sz="1125" b="1" i="0">
                <a:solidFill>
                  <a:srgbClr val="5537D6"/>
                </a:solidFill>
                <a:latin typeface="Consolas"/>
                <a:ea typeface="Consolas"/>
                <a:cs typeface="Consolas"/>
              </a:defRPr>
            </a:pPr>
            <a:r>
              <a:rPr sz="1125" b="1" i="0">
                <a:solidFill>
                  <a:srgbClr val="5537D6"/>
                </a:solidFill>
                <a:latin typeface="Consolas"/>
                <a:ea typeface="Consolas"/>
                <a:cs typeface="Consolas"/>
              </a:rPr>
              <a:t>KO-5</a:t>
            </a:r>
          </a:p>
        </p:txBody>
      </p:sp>
      <p:sp>
        <p:nvSpPr>
          <p:cNvPr id="39" name="Rectangle 38">
            <a:extLst>
              <a:ext uri="{FF2B5EF4-FFF2-40B4-BE49-F238E27FC236}">
                <a16:creationId xmlns:a16="http://schemas.microsoft.com/office/drawing/2014/main" id="{5859C5AB-D638-4C80-8512-33E539265544}"/>
              </a:ext>
            </a:extLst>
          </p:cNvPr>
          <p:cNvSpPr>
            <a:spLocks noGrp="1"/>
          </p:cNvSpPr>
          <p:nvPr/>
        </p:nvSpPr>
        <p:spPr>
          <a:xfrm>
            <a:off x="9563100" y="2914650"/>
            <a:ext cx="1676400" cy="647700"/>
          </a:xfrm>
          <a:prstGeom prst="rect">
            <a:avLst/>
          </a:prstGeom>
          <a:noFill/>
          <a:ln w="0">
            <a:noFill/>
            <a:prstDash val="solid"/>
          </a:ln>
        </p:spPr>
        <p:txBody>
          <a:bodyPr wrap="square" lIns="0" tIns="0" rIns="0" bIns="0" anchor="t">
            <a:normAutofit/>
          </a:bodyPr>
          <a:lstStyle/>
          <a:p>
            <a:pPr algn="l">
              <a:buNone/>
              <a:defRPr sz="1950" b="0" i="0">
                <a:solidFill>
                  <a:srgbClr val="111111"/>
                </a:solidFill>
                <a:latin typeface="Georgia"/>
                <a:ea typeface="Georgia"/>
                <a:cs typeface="Georgia"/>
              </a:defRPr>
            </a:pPr>
            <a:r>
              <a:rPr sz="1950" b="0" i="0">
                <a:solidFill>
                  <a:srgbClr val="111111"/>
                </a:solidFill>
                <a:latin typeface="Georgia"/>
                <a:ea typeface="Georgia"/>
                <a:cs typeface="Georgia"/>
              </a:rPr>
              <a:t>Safe change</a:t>
            </a:r>
          </a:p>
        </p:txBody>
      </p:sp>
      <p:sp>
        <p:nvSpPr>
          <p:cNvPr id="40" name="Rectangle 39">
            <a:extLst>
              <a:ext uri="{FF2B5EF4-FFF2-40B4-BE49-F238E27FC236}">
                <a16:creationId xmlns:a16="http://schemas.microsoft.com/office/drawing/2014/main" id="{BA24379C-97F4-4834-BBD9-5365C9A17B7B}"/>
              </a:ext>
            </a:extLst>
          </p:cNvPr>
          <p:cNvSpPr>
            <a:spLocks noGrp="1"/>
          </p:cNvSpPr>
          <p:nvPr/>
        </p:nvSpPr>
        <p:spPr>
          <a:xfrm>
            <a:off x="9563100" y="3762375"/>
            <a:ext cx="1676400" cy="171450"/>
          </a:xfrm>
          <a:prstGeom prst="rect">
            <a:avLst/>
          </a:prstGeom>
          <a:noFill/>
          <a:ln w="0">
            <a:noFill/>
            <a:prstDash val="solid"/>
          </a:ln>
        </p:spPr>
        <p:txBody>
          <a:bodyPr wrap="square" lIns="0" tIns="0" rIns="0" bIns="0" anchor="t">
            <a:normAutofit/>
          </a:bodyPr>
          <a:lstStyle/>
          <a:p>
            <a:pPr algn="l">
              <a:buNone/>
              <a:defRPr sz="900" b="1" i="0">
                <a:solidFill>
                  <a:srgbClr val="686A66"/>
                </a:solidFill>
                <a:latin typeface="Consolas"/>
                <a:ea typeface="Consolas"/>
                <a:cs typeface="Consolas"/>
              </a:defRPr>
            </a:pPr>
            <a:r>
              <a:rPr sz="900" b="1" i="0">
                <a:solidFill>
                  <a:srgbClr val="686A66"/>
                </a:solidFill>
                <a:latin typeface="Consolas"/>
                <a:ea typeface="Consolas"/>
                <a:cs typeface="Consolas"/>
              </a:rPr>
              <a:t>MEASURE</a:t>
            </a:r>
          </a:p>
        </p:txBody>
      </p:sp>
      <p:sp>
        <p:nvSpPr>
          <p:cNvPr id="41" name="Rectangle 40">
            <a:extLst>
              <a:ext uri="{FF2B5EF4-FFF2-40B4-BE49-F238E27FC236}">
                <a16:creationId xmlns:a16="http://schemas.microsoft.com/office/drawing/2014/main" id="{6C199AA3-17E3-491F-9658-9DC61ED45276}"/>
              </a:ext>
            </a:extLst>
          </p:cNvPr>
          <p:cNvSpPr>
            <a:spLocks noGrp="1"/>
          </p:cNvSpPr>
          <p:nvPr/>
        </p:nvSpPr>
        <p:spPr>
          <a:xfrm>
            <a:off x="9563100" y="4010025"/>
            <a:ext cx="1676400" cy="552450"/>
          </a:xfrm>
          <a:prstGeom prst="rect">
            <a:avLst/>
          </a:prstGeom>
          <a:noFill/>
          <a:ln w="0">
            <a:noFill/>
            <a:prstDash val="solid"/>
          </a:ln>
        </p:spPr>
        <p:txBody>
          <a:bodyPr wrap="square" lIns="0" tIns="0" rIns="0" bIns="0" anchor="t">
            <a:normAutofit/>
          </a:bodyPr>
          <a:lstStyle/>
          <a:p>
            <a:pPr algn="l">
              <a:buNone/>
              <a:defRPr sz="1350" b="0" i="0">
                <a:solidFill>
                  <a:srgbClr val="111111"/>
                </a:solidFill>
                <a:latin typeface="Arial"/>
                <a:ea typeface="Arial"/>
                <a:cs typeface="Arial"/>
              </a:defRPr>
            </a:pPr>
            <a:r>
              <a:rPr sz="1350" b="0" i="0">
                <a:solidFill>
                  <a:srgbClr val="111111"/>
                </a:solidFill>
                <a:latin typeface="Arial"/>
                <a:ea typeface="Arial"/>
                <a:cs typeface="Arial"/>
              </a:rPr>
              <a:t>upgrade / rollback boundary</a:t>
            </a:r>
          </a:p>
        </p:txBody>
      </p:sp>
      <p:sp>
        <p:nvSpPr>
          <p:cNvPr id="42" name="Rectangle 41">
            <a:extLst>
              <a:ext uri="{FF2B5EF4-FFF2-40B4-BE49-F238E27FC236}">
                <a16:creationId xmlns:a16="http://schemas.microsoft.com/office/drawing/2014/main" id="{5652B381-FFE5-478B-99A7-636FC16512E0}"/>
              </a:ext>
            </a:extLst>
          </p:cNvPr>
          <p:cNvSpPr>
            <a:spLocks noGrp="1"/>
          </p:cNvSpPr>
          <p:nvPr/>
        </p:nvSpPr>
        <p:spPr>
          <a:xfrm>
            <a:off x="9563100" y="4743450"/>
            <a:ext cx="1676400" cy="171450"/>
          </a:xfrm>
          <a:prstGeom prst="rect">
            <a:avLst/>
          </a:prstGeom>
          <a:noFill/>
          <a:ln w="0">
            <a:noFill/>
            <a:prstDash val="solid"/>
          </a:ln>
        </p:spPr>
        <p:txBody>
          <a:bodyPr wrap="square" lIns="0" tIns="0" rIns="0" bIns="0" anchor="t">
            <a:normAutofit/>
          </a:bodyPr>
          <a:lstStyle/>
          <a:p>
            <a:pPr algn="l">
              <a:buNone/>
              <a:defRPr sz="900" b="1" i="0">
                <a:solidFill>
                  <a:srgbClr val="5537D6"/>
                </a:solidFill>
                <a:latin typeface="Consolas"/>
                <a:ea typeface="Consolas"/>
                <a:cs typeface="Consolas"/>
              </a:defRPr>
            </a:pPr>
            <a:r>
              <a:rPr sz="900" b="1" i="0">
                <a:solidFill>
                  <a:srgbClr val="5537D6"/>
                </a:solidFill>
                <a:latin typeface="Consolas"/>
                <a:ea typeface="Consolas"/>
                <a:cs typeface="Consolas"/>
              </a:rPr>
              <a:t>ARTIFACT</a:t>
            </a:r>
          </a:p>
        </p:txBody>
      </p:sp>
      <p:sp>
        <p:nvSpPr>
          <p:cNvPr id="43" name="Rectangle 42">
            <a:extLst>
              <a:ext uri="{FF2B5EF4-FFF2-40B4-BE49-F238E27FC236}">
                <a16:creationId xmlns:a16="http://schemas.microsoft.com/office/drawing/2014/main" id="{EAE10F13-3C96-4E03-8A18-50E31EB0050B}"/>
              </a:ext>
            </a:extLst>
          </p:cNvPr>
          <p:cNvSpPr>
            <a:spLocks noGrp="1"/>
          </p:cNvSpPr>
          <p:nvPr/>
        </p:nvSpPr>
        <p:spPr>
          <a:xfrm>
            <a:off x="9563100" y="4991100"/>
            <a:ext cx="1676400" cy="361950"/>
          </a:xfrm>
          <a:prstGeom prst="rect">
            <a:avLst/>
          </a:prstGeom>
          <a:noFill/>
          <a:ln w="0">
            <a:noFill/>
            <a:prstDash val="solid"/>
          </a:ln>
        </p:spPr>
        <p:txBody>
          <a:bodyPr wrap="square" lIns="0" tIns="0" rIns="0" bIns="0" anchor="t">
            <a:normAutofit fontScale="98958" lnSpcReduction="10000"/>
          </a:bodyPr>
          <a:lstStyle/>
          <a:p>
            <a:pPr algn="l">
              <a:buNone/>
              <a:defRPr sz="1200" b="0" i="0">
                <a:solidFill>
                  <a:srgbClr val="686A66"/>
                </a:solidFill>
                <a:latin typeface="Arial"/>
                <a:ea typeface="Arial"/>
                <a:cs typeface="Arial"/>
              </a:defRPr>
            </a:pPr>
            <a:r>
              <a:rPr sz="1200" b="0" i="0">
                <a:solidFill>
                  <a:srgbClr val="686A66"/>
                </a:solidFill>
                <a:latin typeface="Arial"/>
                <a:ea typeface="Arial"/>
                <a:cs typeface="Arial"/>
              </a:rPr>
              <a:t>before-after evidence pack</a:t>
            </a:r>
          </a:p>
        </p:txBody>
      </p:sp>
    </p:spTree>
    <p:extLst>
      <p:ext uri="{BB962C8B-B14F-4D97-AF65-F5344CB8AC3E}">
        <p14:creationId xmlns:p14="http://schemas.microsoft.com/office/powerpoint/2010/main" val="4378259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F2C61340-79FE-45FD-B19A-83604940FAE9}"/>
              </a:ext>
            </a:extLst>
          </p:cNvPr>
          <p:cNvSpPr>
            <a:spLocks noGrp="1"/>
          </p:cNvSpPr>
          <p:nvPr/>
        </p:nvSpPr>
        <p:spPr>
          <a:xfrm>
            <a:off x="0" y="0"/>
            <a:ext cx="12192000" cy="266700"/>
          </a:xfrm>
          <a:prstGeom prst="rect">
            <a:avLst/>
          </a:prstGeom>
          <a:solidFill>
            <a:srgbClr val="FFC72C"/>
          </a:solidFill>
          <a:ln w="0">
            <a:noFill/>
            <a:prstDash val="solid"/>
          </a:ln>
        </p:spPr>
        <p:txBody>
          <a:bodyPr/>
          <a:lstStyle/>
          <a:p>
            <a:endParaRPr lang="en-US"/>
          </a:p>
        </p:txBody>
      </p:sp>
      <p:sp>
        <p:nvSpPr>
          <p:cNvPr id="2" name="Rectangle 1">
            <a:extLst>
              <a:ext uri="{FF2B5EF4-FFF2-40B4-BE49-F238E27FC236}">
                <a16:creationId xmlns:a16="http://schemas.microsoft.com/office/drawing/2014/main" id="{E7CF7A21-4FC0-4E3E-B27B-B4C8F6DA8E9C}"/>
              </a:ext>
            </a:extLst>
          </p:cNvPr>
          <p:cNvSpPr>
            <a:spLocks noGrp="1"/>
          </p:cNvSpPr>
          <p:nvPr/>
        </p:nvSpPr>
        <p:spPr>
          <a:xfrm>
            <a:off x="10668000" y="0"/>
            <a:ext cx="1524000" cy="266700"/>
          </a:xfrm>
          <a:prstGeom prst="rect">
            <a:avLst/>
          </a:prstGeom>
          <a:solidFill>
            <a:srgbClr val="5537D6"/>
          </a:solidFill>
          <a:ln w="0">
            <a:noFill/>
            <a:prstDash val="solid"/>
          </a:ln>
        </p:spPr>
        <p:txBody>
          <a:bodyPr/>
          <a:lstStyle/>
          <a:p>
            <a:endParaRPr lang="en-US"/>
          </a:p>
        </p:txBody>
      </p:sp>
      <p:sp>
        <p:nvSpPr>
          <p:cNvPr id="3" name="Rectangle 2">
            <a:extLst>
              <a:ext uri="{FF2B5EF4-FFF2-40B4-BE49-F238E27FC236}">
                <a16:creationId xmlns:a16="http://schemas.microsoft.com/office/drawing/2014/main" id="{214732EF-1BEA-42F9-A924-204EA8605B45}"/>
              </a:ext>
            </a:extLst>
          </p:cNvPr>
          <p:cNvSpPr>
            <a:spLocks noGrp="1"/>
          </p:cNvSpPr>
          <p:nvPr/>
        </p:nvSpPr>
        <p:spPr>
          <a:xfrm>
            <a:off x="609600" y="38100"/>
            <a:ext cx="3429000" cy="190500"/>
          </a:xfrm>
          <a:prstGeom prst="rect">
            <a:avLst/>
          </a:prstGeom>
          <a:noFill/>
          <a:ln w="0">
            <a:noFill/>
            <a:prstDash val="solid"/>
          </a:ln>
        </p:spPr>
        <p:txBody>
          <a:bodyPr wrap="square" lIns="0" tIns="0" rIns="0" bIns="0" anchor="t">
            <a:normAutofit/>
          </a:bodyPr>
          <a:lstStyle/>
          <a:p>
            <a:pPr algn="l">
              <a:buNone/>
              <a:defRPr sz="975" b="1" i="0">
                <a:solidFill>
                  <a:srgbClr val="111111"/>
                </a:solidFill>
                <a:latin typeface="Consolas"/>
                <a:ea typeface="Consolas"/>
                <a:cs typeface="Consolas"/>
              </a:defRPr>
            </a:pPr>
            <a:r>
              <a:rPr sz="975" b="1" i="0">
                <a:solidFill>
                  <a:srgbClr val="111111"/>
                </a:solidFill>
                <a:latin typeface="Consolas"/>
                <a:ea typeface="Consolas"/>
                <a:cs typeface="Consolas"/>
              </a:rPr>
              <a:t>20 / PRODUCTION</a:t>
            </a:r>
          </a:p>
        </p:txBody>
      </p:sp>
      <p:sp>
        <p:nvSpPr>
          <p:cNvPr id="4" name="Rectangle 3">
            <a:extLst>
              <a:ext uri="{FF2B5EF4-FFF2-40B4-BE49-F238E27FC236}">
                <a16:creationId xmlns:a16="http://schemas.microsoft.com/office/drawing/2014/main" id="{6B40F93D-3068-4179-A372-4DAACC8DFB3A}"/>
              </a:ext>
            </a:extLst>
          </p:cNvPr>
          <p:cNvSpPr>
            <a:spLocks noGrp="1"/>
          </p:cNvSpPr>
          <p:nvPr/>
        </p:nvSpPr>
        <p:spPr>
          <a:xfrm>
            <a:off x="609600" y="428625"/>
            <a:ext cx="10572750" cy="1028700"/>
          </a:xfrm>
          <a:prstGeom prst="rect">
            <a:avLst/>
          </a:prstGeom>
          <a:noFill/>
          <a:ln w="0">
            <a:noFill/>
            <a:prstDash val="solid"/>
          </a:ln>
        </p:spPr>
        <p:txBody>
          <a:bodyPr wrap="square" lIns="0" tIns="0" rIns="0" bIns="0" anchor="t">
            <a:noAutofit/>
          </a:bodyPr>
          <a:lstStyle/>
          <a:p>
            <a:pPr algn="l">
              <a:buNone/>
              <a:defRPr sz="3300" b="1" i="0">
                <a:solidFill>
                  <a:srgbClr val="111111"/>
                </a:solidFill>
                <a:latin typeface="Arial"/>
                <a:ea typeface="Arial"/>
                <a:cs typeface="Arial"/>
              </a:defRPr>
            </a:pPr>
            <a:r>
              <a:rPr sz="3300" b="1" i="0">
                <a:solidFill>
                  <a:srgbClr val="111111"/>
                </a:solidFill>
                <a:latin typeface="Arial"/>
                <a:ea typeface="Arial"/>
                <a:cs typeface="Arial"/>
              </a:rPr>
              <a:t>Scale depends on the whole operating system</a:t>
            </a:r>
          </a:p>
        </p:txBody>
      </p:sp>
      <p:sp>
        <p:nvSpPr>
          <p:cNvPr id="5" name="Rectangle 4">
            <a:extLst>
              <a:ext uri="{FF2B5EF4-FFF2-40B4-BE49-F238E27FC236}">
                <a16:creationId xmlns:a16="http://schemas.microsoft.com/office/drawing/2014/main" id="{57BD2814-F813-44F5-8196-C4ABE5854CBF}"/>
              </a:ext>
            </a:extLst>
          </p:cNvPr>
          <p:cNvSpPr>
            <a:spLocks noGrp="1"/>
          </p:cNvSpPr>
          <p:nvPr/>
        </p:nvSpPr>
        <p:spPr>
          <a:xfrm>
            <a:off x="628650" y="1514475"/>
            <a:ext cx="10382250" cy="323850"/>
          </a:xfrm>
          <a:prstGeom prst="rect">
            <a:avLst/>
          </a:prstGeom>
          <a:noFill/>
          <a:ln w="0">
            <a:noFill/>
            <a:prstDash val="solid"/>
          </a:ln>
        </p:spPr>
        <p:txBody>
          <a:bodyPr wrap="square" lIns="0" tIns="0" rIns="0" bIns="0" anchor="t">
            <a:noAutofit/>
          </a:bodyPr>
          <a:lstStyle/>
          <a:p>
            <a:pPr algn="l">
              <a:buNone/>
              <a:defRPr sz="1575" b="0" i="0">
                <a:solidFill>
                  <a:srgbClr val="686A66"/>
                </a:solidFill>
                <a:latin typeface="Arial"/>
                <a:ea typeface="Arial"/>
                <a:cs typeface="Arial"/>
              </a:defRPr>
            </a:pPr>
            <a:r>
              <a:rPr sz="1575" b="0" i="0">
                <a:solidFill>
                  <a:srgbClr val="686A66"/>
                </a:solidFill>
                <a:latin typeface="Arial"/>
                <a:ea typeface="Arial"/>
                <a:cs typeface="Arial"/>
              </a:rPr>
              <a:t>Capacity, security traceability, adoption, toil, exit and estate truth all gate scale.</a:t>
            </a:r>
          </a:p>
        </p:txBody>
      </p:sp>
      <p:sp>
        <p:nvSpPr>
          <p:cNvPr id="6" name="Rectangle 5">
            <a:extLst>
              <a:ext uri="{FF2B5EF4-FFF2-40B4-BE49-F238E27FC236}">
                <a16:creationId xmlns:a16="http://schemas.microsoft.com/office/drawing/2014/main" id="{ED033687-8E2B-45C7-9C2B-2C9417C5248B}"/>
              </a:ext>
            </a:extLst>
          </p:cNvPr>
          <p:cNvSpPr>
            <a:spLocks noGrp="1"/>
          </p:cNvSpPr>
          <p:nvPr/>
        </p:nvSpPr>
        <p:spPr>
          <a:xfrm>
            <a:off x="609600" y="1905000"/>
            <a:ext cx="10972800" cy="9525"/>
          </a:xfrm>
          <a:prstGeom prst="rect">
            <a:avLst/>
          </a:prstGeom>
          <a:solidFill>
            <a:srgbClr val="8A8B86"/>
          </a:solidFill>
          <a:ln w="0">
            <a:noFill/>
            <a:prstDash val="solid"/>
          </a:ln>
        </p:spPr>
        <p:txBody>
          <a:bodyPr/>
          <a:lstStyle/>
          <a:p>
            <a:endParaRPr lang="en-US"/>
          </a:p>
        </p:txBody>
      </p:sp>
      <p:sp>
        <p:nvSpPr>
          <p:cNvPr id="7" name="Rectangle 6">
            <a:extLst>
              <a:ext uri="{FF2B5EF4-FFF2-40B4-BE49-F238E27FC236}">
                <a16:creationId xmlns:a16="http://schemas.microsoft.com/office/drawing/2014/main" id="{18BFC3B0-6C98-44E8-AF08-355EB6CF411D}"/>
              </a:ext>
            </a:extLst>
          </p:cNvPr>
          <p:cNvSpPr>
            <a:spLocks noGrp="1"/>
          </p:cNvSpPr>
          <p:nvPr/>
        </p:nvSpPr>
        <p:spPr>
          <a:xfrm>
            <a:off x="609600" y="6524625"/>
            <a:ext cx="8858250" cy="180975"/>
          </a:xfrm>
          <a:prstGeom prst="rect">
            <a:avLst/>
          </a:prstGeom>
          <a:noFill/>
          <a:ln w="0">
            <a:noFill/>
            <a:prstDash val="solid"/>
          </a:ln>
        </p:spPr>
        <p:txBody>
          <a:bodyPr wrap="square" lIns="0" tIns="0" rIns="0" bIns="0" anchor="ctr">
            <a:normAutofit/>
          </a:bodyPr>
          <a:lstStyle/>
          <a:p>
            <a:pPr>
              <a:buNone/>
              <a:defRPr sz="825">
                <a:solidFill>
                  <a:srgbClr val="666762"/>
                </a:solidFill>
              </a:defRPr>
            </a:pPr>
            <a:r>
              <a:rPr sz="825" b="1">
                <a:solidFill>
                  <a:srgbClr val="666762"/>
                </a:solidFill>
              </a:rPr>
              <a:t>REFERENCES  </a:t>
            </a:r>
            <a:r>
              <a:rPr sz="825" u="sng">
                <a:solidFill>
                  <a:srgbClr val="666762"/>
                </a:solidFill>
                <a:hlinkClick r:id="rId3"/>
              </a:rPr>
              <a:t>Repo reference</a:t>
            </a:r>
            <a:r>
              <a:rPr sz="825">
                <a:solidFill>
                  <a:srgbClr val="666762"/>
                </a:solidFill>
              </a:rPr>
              <a:t>  ·  </a:t>
            </a:r>
            <a:r>
              <a:rPr sz="825" u="sng">
                <a:solidFill>
                  <a:srgbClr val="666762"/>
                </a:solidFill>
                <a:hlinkClick r:id="rId4"/>
              </a:rPr>
              <a:t>Official docs</a:t>
            </a:r>
          </a:p>
        </p:txBody>
      </p:sp>
      <p:sp>
        <p:nvSpPr>
          <p:cNvPr id="8" name="Rectangle 7">
            <a:extLst>
              <a:ext uri="{FF2B5EF4-FFF2-40B4-BE49-F238E27FC236}">
                <a16:creationId xmlns:a16="http://schemas.microsoft.com/office/drawing/2014/main" id="{EB9A0148-2898-4EF9-8E14-4A284666945E}"/>
              </a:ext>
            </a:extLst>
          </p:cNvPr>
          <p:cNvSpPr>
            <a:spLocks noGrp="1"/>
          </p:cNvSpPr>
          <p:nvPr/>
        </p:nvSpPr>
        <p:spPr>
          <a:xfrm>
            <a:off x="10287000" y="6486525"/>
            <a:ext cx="1295400" cy="209550"/>
          </a:xfrm>
          <a:prstGeom prst="rect">
            <a:avLst/>
          </a:prstGeom>
          <a:noFill/>
          <a:ln w="0">
            <a:noFill/>
            <a:prstDash val="solid"/>
          </a:ln>
        </p:spPr>
        <p:txBody>
          <a:bodyPr wrap="square" lIns="0" tIns="0" rIns="0" bIns="0" anchor="t">
            <a:normAutofit/>
          </a:bodyPr>
          <a:lstStyle/>
          <a:p>
            <a:pPr algn="r">
              <a:buNone/>
              <a:defRPr sz="975" b="1" i="0">
                <a:solidFill>
                  <a:srgbClr val="686A66"/>
                </a:solidFill>
                <a:latin typeface="Consolas"/>
                <a:ea typeface="Consolas"/>
                <a:cs typeface="Consolas"/>
              </a:defRPr>
            </a:pPr>
            <a:r>
              <a:rPr sz="975" b="1" i="0">
                <a:solidFill>
                  <a:srgbClr val="686A66"/>
                </a:solidFill>
                <a:latin typeface="Consolas"/>
                <a:ea typeface="Consolas"/>
                <a:cs typeface="Consolas"/>
              </a:rPr>
              <a:t>20 / 25</a:t>
            </a:r>
          </a:p>
        </p:txBody>
      </p:sp>
      <p:sp>
        <p:nvSpPr>
          <p:cNvPr id="9" name="Rectangle 8">
            <a:extLst>
              <a:ext uri="{FF2B5EF4-FFF2-40B4-BE49-F238E27FC236}">
                <a16:creationId xmlns:a16="http://schemas.microsoft.com/office/drawing/2014/main" id="{5025D071-8923-4708-BC51-3D8BAC07DDB6}"/>
              </a:ext>
            </a:extLst>
          </p:cNvPr>
          <p:cNvSpPr>
            <a:spLocks noGrp="1"/>
          </p:cNvSpPr>
          <p:nvPr/>
        </p:nvSpPr>
        <p:spPr>
          <a:xfrm>
            <a:off x="685800" y="2305050"/>
            <a:ext cx="3333750" cy="1390650"/>
          </a:xfrm>
          <a:prstGeom prst="rect">
            <a:avLst/>
          </a:prstGeom>
          <a:solidFill>
            <a:srgbClr val="FFFFFF"/>
          </a:solidFill>
          <a:ln w="9525">
            <a:solidFill>
              <a:srgbClr val="8A8B86"/>
            </a:solidFill>
            <a:prstDash val="solid"/>
          </a:ln>
        </p:spPr>
        <p:txBody>
          <a:bodyPr/>
          <a:lstStyle/>
          <a:p>
            <a:endParaRPr lang="en-US"/>
          </a:p>
        </p:txBody>
      </p:sp>
      <p:sp>
        <p:nvSpPr>
          <p:cNvPr id="10" name="Rectangle 9">
            <a:extLst>
              <a:ext uri="{FF2B5EF4-FFF2-40B4-BE49-F238E27FC236}">
                <a16:creationId xmlns:a16="http://schemas.microsoft.com/office/drawing/2014/main" id="{A4FF6AE3-9DC6-418A-BC95-5EBABBF8A7A6}"/>
              </a:ext>
            </a:extLst>
          </p:cNvPr>
          <p:cNvSpPr>
            <a:spLocks noGrp="1"/>
          </p:cNvSpPr>
          <p:nvPr/>
        </p:nvSpPr>
        <p:spPr>
          <a:xfrm>
            <a:off x="857250" y="2476500"/>
            <a:ext cx="609600" cy="209550"/>
          </a:xfrm>
          <a:prstGeom prst="rect">
            <a:avLst/>
          </a:prstGeom>
          <a:noFill/>
          <a:ln w="0">
            <a:noFill/>
            <a:prstDash val="solid"/>
          </a:ln>
        </p:spPr>
        <p:txBody>
          <a:bodyPr wrap="square" lIns="0" tIns="0" rIns="0" bIns="0" anchor="t">
            <a:normAutofit/>
          </a:bodyPr>
          <a:lstStyle/>
          <a:p>
            <a:pPr algn="l">
              <a:buNone/>
              <a:defRPr sz="1050" b="1" i="0">
                <a:solidFill>
                  <a:srgbClr val="5537D6"/>
                </a:solidFill>
                <a:latin typeface="Consolas"/>
                <a:ea typeface="Consolas"/>
                <a:cs typeface="Consolas"/>
              </a:defRPr>
            </a:pPr>
            <a:r>
              <a:rPr sz="1050" b="1" i="0">
                <a:solidFill>
                  <a:srgbClr val="5537D6"/>
                </a:solidFill>
                <a:latin typeface="Consolas"/>
                <a:ea typeface="Consolas"/>
                <a:cs typeface="Consolas"/>
              </a:rPr>
              <a:t>KO-6</a:t>
            </a:r>
          </a:p>
        </p:txBody>
      </p:sp>
      <p:sp>
        <p:nvSpPr>
          <p:cNvPr id="11" name="Rectangle 10">
            <a:extLst>
              <a:ext uri="{FF2B5EF4-FFF2-40B4-BE49-F238E27FC236}">
                <a16:creationId xmlns:a16="http://schemas.microsoft.com/office/drawing/2014/main" id="{947141A3-584F-4322-A9B4-34B0DB5DF791}"/>
              </a:ext>
            </a:extLst>
          </p:cNvPr>
          <p:cNvSpPr>
            <a:spLocks noGrp="1"/>
          </p:cNvSpPr>
          <p:nvPr/>
        </p:nvSpPr>
        <p:spPr>
          <a:xfrm>
            <a:off x="1543050" y="2447925"/>
            <a:ext cx="2286000" cy="361950"/>
          </a:xfrm>
          <a:prstGeom prst="rect">
            <a:avLst/>
          </a:prstGeom>
          <a:noFill/>
          <a:ln w="0">
            <a:noFill/>
            <a:prstDash val="solid"/>
          </a:ln>
        </p:spPr>
        <p:txBody>
          <a:bodyPr wrap="square" lIns="0" tIns="0" rIns="0" bIns="0" anchor="t">
            <a:normAutofit/>
          </a:bodyPr>
          <a:lstStyle/>
          <a:p>
            <a:pPr algn="l">
              <a:buNone/>
              <a:defRPr sz="2025" b="0" i="0">
                <a:solidFill>
                  <a:srgbClr val="111111"/>
                </a:solidFill>
                <a:latin typeface="Georgia"/>
                <a:ea typeface="Georgia"/>
                <a:cs typeface="Georgia"/>
              </a:defRPr>
            </a:pPr>
            <a:r>
              <a:rPr sz="2025" b="0" i="0">
                <a:solidFill>
                  <a:srgbClr val="111111"/>
                </a:solidFill>
                <a:latin typeface="Georgia"/>
                <a:ea typeface="Georgia"/>
                <a:cs typeface="Georgia"/>
              </a:rPr>
              <a:t>Capacity</a:t>
            </a:r>
          </a:p>
        </p:txBody>
      </p:sp>
      <p:sp>
        <p:nvSpPr>
          <p:cNvPr id="12" name="Rectangle 11">
            <a:extLst>
              <a:ext uri="{FF2B5EF4-FFF2-40B4-BE49-F238E27FC236}">
                <a16:creationId xmlns:a16="http://schemas.microsoft.com/office/drawing/2014/main" id="{4E7B8621-7C20-4F43-A51B-DAE20A215955}"/>
              </a:ext>
            </a:extLst>
          </p:cNvPr>
          <p:cNvSpPr>
            <a:spLocks noGrp="1"/>
          </p:cNvSpPr>
          <p:nvPr/>
        </p:nvSpPr>
        <p:spPr>
          <a:xfrm>
            <a:off x="857250" y="2895600"/>
            <a:ext cx="2990850" cy="9525"/>
          </a:xfrm>
          <a:prstGeom prst="rect">
            <a:avLst/>
          </a:prstGeom>
          <a:solidFill>
            <a:srgbClr val="D9D6CD"/>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9C1EBF61-A6E6-434B-A746-04A1031E6D58}"/>
              </a:ext>
            </a:extLst>
          </p:cNvPr>
          <p:cNvSpPr>
            <a:spLocks noGrp="1"/>
          </p:cNvSpPr>
          <p:nvPr/>
        </p:nvSpPr>
        <p:spPr>
          <a:xfrm>
            <a:off x="857250" y="3057525"/>
            <a:ext cx="2990850" cy="476250"/>
          </a:xfrm>
          <a:prstGeom prst="rect">
            <a:avLst/>
          </a:prstGeom>
          <a:noFill/>
          <a:ln w="0">
            <a:noFill/>
            <a:prstDash val="solid"/>
          </a:ln>
        </p:spPr>
        <p:txBody>
          <a:bodyPr wrap="square" lIns="0" tIns="0" rIns="0" bIns="0" anchor="t">
            <a:normAutofit/>
          </a:bodyPr>
          <a:lstStyle/>
          <a:p>
            <a:pPr algn="l">
              <a:buNone/>
              <a:defRPr sz="1350" b="0" i="0">
                <a:solidFill>
                  <a:srgbClr val="686A66"/>
                </a:solidFill>
                <a:latin typeface="Arial"/>
                <a:ea typeface="Arial"/>
                <a:cs typeface="Arial"/>
              </a:defRPr>
            </a:pPr>
            <a:r>
              <a:rPr sz="1350" b="0" i="0">
                <a:solidFill>
                  <a:srgbClr val="686A66"/>
                </a:solidFill>
                <a:latin typeface="Arial"/>
                <a:ea typeface="Arial"/>
                <a:cs typeface="Arial"/>
              </a:rPr>
              <a:t>representative demand + headroom</a:t>
            </a:r>
          </a:p>
        </p:txBody>
      </p:sp>
      <p:sp>
        <p:nvSpPr>
          <p:cNvPr id="14" name="Rectangle 13">
            <a:extLst>
              <a:ext uri="{FF2B5EF4-FFF2-40B4-BE49-F238E27FC236}">
                <a16:creationId xmlns:a16="http://schemas.microsoft.com/office/drawing/2014/main" id="{E5FE5E68-1318-4164-B1C9-C3A78D4F1CD4}"/>
              </a:ext>
            </a:extLst>
          </p:cNvPr>
          <p:cNvSpPr>
            <a:spLocks noGrp="1"/>
          </p:cNvSpPr>
          <p:nvPr/>
        </p:nvSpPr>
        <p:spPr>
          <a:xfrm>
            <a:off x="4286250" y="2305050"/>
            <a:ext cx="3333750" cy="1390650"/>
          </a:xfrm>
          <a:prstGeom prst="rect">
            <a:avLst/>
          </a:prstGeom>
          <a:solidFill>
            <a:srgbClr val="FFFFFF"/>
          </a:solidFill>
          <a:ln w="9525">
            <a:solidFill>
              <a:srgbClr val="8A8B86"/>
            </a:solidFill>
            <a:prstDash val="solid"/>
          </a:ln>
        </p:spPr>
        <p:txBody>
          <a:bodyPr/>
          <a:lstStyle/>
          <a:p>
            <a:endParaRPr lang="en-US"/>
          </a:p>
        </p:txBody>
      </p:sp>
      <p:sp>
        <p:nvSpPr>
          <p:cNvPr id="15" name="Rectangle 14">
            <a:extLst>
              <a:ext uri="{FF2B5EF4-FFF2-40B4-BE49-F238E27FC236}">
                <a16:creationId xmlns:a16="http://schemas.microsoft.com/office/drawing/2014/main" id="{EE3DEAC8-E32A-47B6-AB63-C3DBE0B3EC2C}"/>
              </a:ext>
            </a:extLst>
          </p:cNvPr>
          <p:cNvSpPr>
            <a:spLocks noGrp="1"/>
          </p:cNvSpPr>
          <p:nvPr/>
        </p:nvSpPr>
        <p:spPr>
          <a:xfrm>
            <a:off x="4457700" y="2476500"/>
            <a:ext cx="609600" cy="209550"/>
          </a:xfrm>
          <a:prstGeom prst="rect">
            <a:avLst/>
          </a:prstGeom>
          <a:noFill/>
          <a:ln w="0">
            <a:noFill/>
            <a:prstDash val="solid"/>
          </a:ln>
        </p:spPr>
        <p:txBody>
          <a:bodyPr wrap="square" lIns="0" tIns="0" rIns="0" bIns="0" anchor="t">
            <a:normAutofit/>
          </a:bodyPr>
          <a:lstStyle/>
          <a:p>
            <a:pPr algn="l">
              <a:buNone/>
              <a:defRPr sz="1050" b="1" i="0">
                <a:solidFill>
                  <a:srgbClr val="5537D6"/>
                </a:solidFill>
                <a:latin typeface="Consolas"/>
                <a:ea typeface="Consolas"/>
                <a:cs typeface="Consolas"/>
              </a:defRPr>
            </a:pPr>
            <a:r>
              <a:rPr sz="1050" b="1" i="0">
                <a:solidFill>
                  <a:srgbClr val="5537D6"/>
                </a:solidFill>
                <a:latin typeface="Consolas"/>
                <a:ea typeface="Consolas"/>
                <a:cs typeface="Consolas"/>
              </a:rPr>
              <a:t>KO-7</a:t>
            </a:r>
          </a:p>
        </p:txBody>
      </p:sp>
      <p:sp>
        <p:nvSpPr>
          <p:cNvPr id="16" name="Rectangle 15">
            <a:extLst>
              <a:ext uri="{FF2B5EF4-FFF2-40B4-BE49-F238E27FC236}">
                <a16:creationId xmlns:a16="http://schemas.microsoft.com/office/drawing/2014/main" id="{64FAA592-A6F8-4310-9D8A-CE8FAB94CE83}"/>
              </a:ext>
            </a:extLst>
          </p:cNvPr>
          <p:cNvSpPr>
            <a:spLocks noGrp="1"/>
          </p:cNvSpPr>
          <p:nvPr/>
        </p:nvSpPr>
        <p:spPr>
          <a:xfrm>
            <a:off x="5143500" y="2447925"/>
            <a:ext cx="2286000" cy="361950"/>
          </a:xfrm>
          <a:prstGeom prst="rect">
            <a:avLst/>
          </a:prstGeom>
          <a:noFill/>
          <a:ln w="0">
            <a:noFill/>
            <a:prstDash val="solid"/>
          </a:ln>
        </p:spPr>
        <p:txBody>
          <a:bodyPr wrap="square" lIns="0" tIns="0" rIns="0" bIns="0" anchor="t">
            <a:normAutofit/>
          </a:bodyPr>
          <a:lstStyle/>
          <a:p>
            <a:pPr algn="l">
              <a:buNone/>
              <a:defRPr sz="2025" b="0" i="0">
                <a:solidFill>
                  <a:srgbClr val="111111"/>
                </a:solidFill>
                <a:latin typeface="Georgia"/>
                <a:ea typeface="Georgia"/>
                <a:cs typeface="Georgia"/>
              </a:defRPr>
            </a:pPr>
            <a:r>
              <a:rPr sz="2025" b="0" i="0">
                <a:solidFill>
                  <a:srgbClr val="111111"/>
                </a:solidFill>
                <a:latin typeface="Georgia"/>
                <a:ea typeface="Georgia"/>
                <a:cs typeface="Georgia"/>
              </a:rPr>
              <a:t>Security traceability</a:t>
            </a:r>
          </a:p>
        </p:txBody>
      </p:sp>
      <p:sp>
        <p:nvSpPr>
          <p:cNvPr id="17" name="Rectangle 16">
            <a:extLst>
              <a:ext uri="{FF2B5EF4-FFF2-40B4-BE49-F238E27FC236}">
                <a16:creationId xmlns:a16="http://schemas.microsoft.com/office/drawing/2014/main" id="{7DCE1003-2B87-4E8C-9C65-4291C7402229}"/>
              </a:ext>
            </a:extLst>
          </p:cNvPr>
          <p:cNvSpPr>
            <a:spLocks noGrp="1"/>
          </p:cNvSpPr>
          <p:nvPr/>
        </p:nvSpPr>
        <p:spPr>
          <a:xfrm>
            <a:off x="4457700" y="2895600"/>
            <a:ext cx="2990850" cy="9525"/>
          </a:xfrm>
          <a:prstGeom prst="rect">
            <a:avLst/>
          </a:prstGeom>
          <a:solidFill>
            <a:srgbClr val="D9D6CD"/>
          </a:solidFill>
          <a:ln w="0">
            <a:noFill/>
            <a:prstDash val="solid"/>
          </a:ln>
        </p:spPr>
        <p:txBody>
          <a:bodyPr/>
          <a:lstStyle/>
          <a:p>
            <a:endParaRPr lang="en-US"/>
          </a:p>
        </p:txBody>
      </p:sp>
      <p:sp>
        <p:nvSpPr>
          <p:cNvPr id="18" name="Rectangle 17">
            <a:extLst>
              <a:ext uri="{FF2B5EF4-FFF2-40B4-BE49-F238E27FC236}">
                <a16:creationId xmlns:a16="http://schemas.microsoft.com/office/drawing/2014/main" id="{76270062-FE82-4B71-B0AA-3939A109BF21}"/>
              </a:ext>
            </a:extLst>
          </p:cNvPr>
          <p:cNvSpPr>
            <a:spLocks noGrp="1"/>
          </p:cNvSpPr>
          <p:nvPr/>
        </p:nvSpPr>
        <p:spPr>
          <a:xfrm>
            <a:off x="4457700" y="3057525"/>
            <a:ext cx="2990850" cy="476250"/>
          </a:xfrm>
          <a:prstGeom prst="rect">
            <a:avLst/>
          </a:prstGeom>
          <a:noFill/>
          <a:ln w="0">
            <a:noFill/>
            <a:prstDash val="solid"/>
          </a:ln>
        </p:spPr>
        <p:txBody>
          <a:bodyPr wrap="square" lIns="0" tIns="0" rIns="0" bIns="0" anchor="t">
            <a:normAutofit/>
          </a:bodyPr>
          <a:lstStyle/>
          <a:p>
            <a:pPr algn="l">
              <a:buNone/>
              <a:defRPr sz="1350" b="0" i="0">
                <a:solidFill>
                  <a:srgbClr val="686A66"/>
                </a:solidFill>
                <a:latin typeface="Arial"/>
                <a:ea typeface="Arial"/>
                <a:cs typeface="Arial"/>
              </a:defRPr>
            </a:pPr>
            <a:r>
              <a:rPr sz="1350" b="0" i="0">
                <a:solidFill>
                  <a:srgbClr val="686A66"/>
                </a:solidFill>
                <a:latin typeface="Arial"/>
                <a:ea typeface="Arial"/>
                <a:cs typeface="Arial"/>
              </a:rPr>
              <a:t>config + request + security correlation · quantified gaps · no prohibited fields</a:t>
            </a:r>
          </a:p>
        </p:txBody>
      </p:sp>
      <p:sp>
        <p:nvSpPr>
          <p:cNvPr id="19" name="Rectangle 18">
            <a:extLst>
              <a:ext uri="{FF2B5EF4-FFF2-40B4-BE49-F238E27FC236}">
                <a16:creationId xmlns:a16="http://schemas.microsoft.com/office/drawing/2014/main" id="{9DE6ACFC-4858-485A-AEB1-F50D4FB3E65D}"/>
              </a:ext>
            </a:extLst>
          </p:cNvPr>
          <p:cNvSpPr>
            <a:spLocks noGrp="1"/>
          </p:cNvSpPr>
          <p:nvPr/>
        </p:nvSpPr>
        <p:spPr>
          <a:xfrm>
            <a:off x="7886700" y="2305050"/>
            <a:ext cx="3333750" cy="1390650"/>
          </a:xfrm>
          <a:prstGeom prst="rect">
            <a:avLst/>
          </a:prstGeom>
          <a:solidFill>
            <a:srgbClr val="FFFFFF"/>
          </a:solidFill>
          <a:ln w="9525">
            <a:solidFill>
              <a:srgbClr val="8A8B86"/>
            </a:solidFill>
            <a:prstDash val="solid"/>
          </a:ln>
        </p:spPr>
        <p:txBody>
          <a:bodyPr/>
          <a:lstStyle/>
          <a:p>
            <a:endParaRPr lang="en-US"/>
          </a:p>
        </p:txBody>
      </p:sp>
      <p:sp>
        <p:nvSpPr>
          <p:cNvPr id="20" name="Rectangle 19">
            <a:extLst>
              <a:ext uri="{FF2B5EF4-FFF2-40B4-BE49-F238E27FC236}">
                <a16:creationId xmlns:a16="http://schemas.microsoft.com/office/drawing/2014/main" id="{EAFB0A55-E6DB-4283-9CE5-99B22618A502}"/>
              </a:ext>
            </a:extLst>
          </p:cNvPr>
          <p:cNvSpPr>
            <a:spLocks noGrp="1"/>
          </p:cNvSpPr>
          <p:nvPr/>
        </p:nvSpPr>
        <p:spPr>
          <a:xfrm>
            <a:off x="8058150" y="2476500"/>
            <a:ext cx="609600" cy="209550"/>
          </a:xfrm>
          <a:prstGeom prst="rect">
            <a:avLst/>
          </a:prstGeom>
          <a:noFill/>
          <a:ln w="0">
            <a:noFill/>
            <a:prstDash val="solid"/>
          </a:ln>
        </p:spPr>
        <p:txBody>
          <a:bodyPr wrap="square" lIns="0" tIns="0" rIns="0" bIns="0" anchor="t">
            <a:normAutofit/>
          </a:bodyPr>
          <a:lstStyle/>
          <a:p>
            <a:pPr algn="l">
              <a:buNone/>
              <a:defRPr sz="1050" b="1" i="0">
                <a:solidFill>
                  <a:srgbClr val="5537D6"/>
                </a:solidFill>
                <a:latin typeface="Consolas"/>
                <a:ea typeface="Consolas"/>
                <a:cs typeface="Consolas"/>
              </a:defRPr>
            </a:pPr>
            <a:r>
              <a:rPr sz="1050" b="1" i="0">
                <a:solidFill>
                  <a:srgbClr val="5537D6"/>
                </a:solidFill>
                <a:latin typeface="Consolas"/>
                <a:ea typeface="Consolas"/>
                <a:cs typeface="Consolas"/>
              </a:rPr>
              <a:t>KO-8</a:t>
            </a:r>
          </a:p>
        </p:txBody>
      </p:sp>
      <p:sp>
        <p:nvSpPr>
          <p:cNvPr id="21" name="Rectangle 20">
            <a:extLst>
              <a:ext uri="{FF2B5EF4-FFF2-40B4-BE49-F238E27FC236}">
                <a16:creationId xmlns:a16="http://schemas.microsoft.com/office/drawing/2014/main" id="{45E9702C-B167-4D1E-9D66-68F7100EFCD6}"/>
              </a:ext>
            </a:extLst>
          </p:cNvPr>
          <p:cNvSpPr>
            <a:spLocks noGrp="1"/>
          </p:cNvSpPr>
          <p:nvPr/>
        </p:nvSpPr>
        <p:spPr>
          <a:xfrm>
            <a:off x="8743950" y="2447925"/>
            <a:ext cx="2286000" cy="361950"/>
          </a:xfrm>
          <a:prstGeom prst="rect">
            <a:avLst/>
          </a:prstGeom>
          <a:noFill/>
          <a:ln w="0">
            <a:noFill/>
            <a:prstDash val="solid"/>
          </a:ln>
        </p:spPr>
        <p:txBody>
          <a:bodyPr wrap="square" lIns="0" tIns="0" rIns="0" bIns="0" anchor="t">
            <a:normAutofit/>
          </a:bodyPr>
          <a:lstStyle/>
          <a:p>
            <a:pPr algn="l">
              <a:buNone/>
              <a:defRPr sz="2025" b="0" i="0">
                <a:solidFill>
                  <a:srgbClr val="111111"/>
                </a:solidFill>
                <a:latin typeface="Georgia"/>
                <a:ea typeface="Georgia"/>
                <a:cs typeface="Georgia"/>
              </a:defRPr>
            </a:pPr>
            <a:r>
              <a:rPr sz="2025" b="0" i="0">
                <a:solidFill>
                  <a:srgbClr val="111111"/>
                </a:solidFill>
                <a:latin typeface="Georgia"/>
                <a:ea typeface="Georgia"/>
                <a:cs typeface="Georgia"/>
              </a:rPr>
              <a:t>Adoption</a:t>
            </a:r>
          </a:p>
        </p:txBody>
      </p:sp>
      <p:sp>
        <p:nvSpPr>
          <p:cNvPr id="22" name="Rectangle 21">
            <a:extLst>
              <a:ext uri="{FF2B5EF4-FFF2-40B4-BE49-F238E27FC236}">
                <a16:creationId xmlns:a16="http://schemas.microsoft.com/office/drawing/2014/main" id="{205D9071-4008-487D-BF2B-C8B4F50247C6}"/>
              </a:ext>
            </a:extLst>
          </p:cNvPr>
          <p:cNvSpPr>
            <a:spLocks noGrp="1"/>
          </p:cNvSpPr>
          <p:nvPr/>
        </p:nvSpPr>
        <p:spPr>
          <a:xfrm>
            <a:off x="8058150" y="2895600"/>
            <a:ext cx="2990850" cy="9525"/>
          </a:xfrm>
          <a:prstGeom prst="rect">
            <a:avLst/>
          </a:prstGeom>
          <a:solidFill>
            <a:srgbClr val="D9D6CD"/>
          </a:solidFill>
          <a:ln w="0">
            <a:noFill/>
            <a:prstDash val="solid"/>
          </a:ln>
        </p:spPr>
        <p:txBody>
          <a:bodyPr/>
          <a:lstStyle/>
          <a:p>
            <a:endParaRPr lang="en-US"/>
          </a:p>
        </p:txBody>
      </p:sp>
      <p:sp>
        <p:nvSpPr>
          <p:cNvPr id="23" name="Rectangle 22">
            <a:extLst>
              <a:ext uri="{FF2B5EF4-FFF2-40B4-BE49-F238E27FC236}">
                <a16:creationId xmlns:a16="http://schemas.microsoft.com/office/drawing/2014/main" id="{3373DAA9-69FF-4931-8E8C-C4D9B38D21DA}"/>
              </a:ext>
            </a:extLst>
          </p:cNvPr>
          <p:cNvSpPr>
            <a:spLocks noGrp="1"/>
          </p:cNvSpPr>
          <p:nvPr/>
        </p:nvSpPr>
        <p:spPr>
          <a:xfrm>
            <a:off x="8058150" y="3057525"/>
            <a:ext cx="2990850" cy="476250"/>
          </a:xfrm>
          <a:prstGeom prst="rect">
            <a:avLst/>
          </a:prstGeom>
          <a:noFill/>
          <a:ln w="0">
            <a:noFill/>
            <a:prstDash val="solid"/>
          </a:ln>
        </p:spPr>
        <p:txBody>
          <a:bodyPr wrap="square" lIns="0" tIns="0" rIns="0" bIns="0" anchor="t">
            <a:normAutofit/>
          </a:bodyPr>
          <a:lstStyle/>
          <a:p>
            <a:pPr algn="l">
              <a:buNone/>
              <a:defRPr sz="1350" b="0" i="0">
                <a:solidFill>
                  <a:srgbClr val="686A66"/>
                </a:solidFill>
                <a:latin typeface="Arial"/>
                <a:ea typeface="Arial"/>
                <a:cs typeface="Arial"/>
              </a:defRPr>
            </a:pPr>
            <a:r>
              <a:rPr sz="1350" b="0" i="0">
                <a:solidFill>
                  <a:srgbClr val="686A66"/>
                </a:solidFill>
                <a:latin typeface="Arial"/>
                <a:ea typeface="Arial"/>
                <a:cs typeface="Arial"/>
              </a:rPr>
              <a:t>paved-road use without exception debt</a:t>
            </a:r>
          </a:p>
        </p:txBody>
      </p:sp>
      <p:sp>
        <p:nvSpPr>
          <p:cNvPr id="24" name="Rectangle 23">
            <a:extLst>
              <a:ext uri="{FF2B5EF4-FFF2-40B4-BE49-F238E27FC236}">
                <a16:creationId xmlns:a16="http://schemas.microsoft.com/office/drawing/2014/main" id="{EC300D96-EE21-48CB-A10D-8C5D032AAF03}"/>
              </a:ext>
            </a:extLst>
          </p:cNvPr>
          <p:cNvSpPr>
            <a:spLocks noGrp="1"/>
          </p:cNvSpPr>
          <p:nvPr/>
        </p:nvSpPr>
        <p:spPr>
          <a:xfrm>
            <a:off x="685800" y="4019550"/>
            <a:ext cx="3333750" cy="1390650"/>
          </a:xfrm>
          <a:prstGeom prst="rect">
            <a:avLst/>
          </a:prstGeom>
          <a:solidFill>
            <a:srgbClr val="F4F0E7"/>
          </a:solidFill>
          <a:ln w="9525">
            <a:solidFill>
              <a:srgbClr val="8A8B86"/>
            </a:solidFill>
            <a:prstDash val="solid"/>
          </a:ln>
        </p:spPr>
        <p:txBody>
          <a:bodyPr/>
          <a:lstStyle/>
          <a:p>
            <a:endParaRPr lang="en-US"/>
          </a:p>
        </p:txBody>
      </p:sp>
      <p:sp>
        <p:nvSpPr>
          <p:cNvPr id="25" name="Rectangle 24">
            <a:extLst>
              <a:ext uri="{FF2B5EF4-FFF2-40B4-BE49-F238E27FC236}">
                <a16:creationId xmlns:a16="http://schemas.microsoft.com/office/drawing/2014/main" id="{8D4EB731-045D-4FB5-A3DE-F75F7664B608}"/>
              </a:ext>
            </a:extLst>
          </p:cNvPr>
          <p:cNvSpPr>
            <a:spLocks noGrp="1"/>
          </p:cNvSpPr>
          <p:nvPr/>
        </p:nvSpPr>
        <p:spPr>
          <a:xfrm>
            <a:off x="857250" y="4191000"/>
            <a:ext cx="609600" cy="209550"/>
          </a:xfrm>
          <a:prstGeom prst="rect">
            <a:avLst/>
          </a:prstGeom>
          <a:noFill/>
          <a:ln w="0">
            <a:noFill/>
            <a:prstDash val="solid"/>
          </a:ln>
        </p:spPr>
        <p:txBody>
          <a:bodyPr wrap="square" lIns="0" tIns="0" rIns="0" bIns="0" anchor="t">
            <a:normAutofit/>
          </a:bodyPr>
          <a:lstStyle/>
          <a:p>
            <a:pPr algn="l">
              <a:buNone/>
              <a:defRPr sz="1050" b="1" i="0">
                <a:solidFill>
                  <a:srgbClr val="5537D6"/>
                </a:solidFill>
                <a:latin typeface="Consolas"/>
                <a:ea typeface="Consolas"/>
                <a:cs typeface="Consolas"/>
              </a:defRPr>
            </a:pPr>
            <a:r>
              <a:rPr sz="1050" b="1" i="0">
                <a:solidFill>
                  <a:srgbClr val="5537D6"/>
                </a:solidFill>
                <a:latin typeface="Consolas"/>
                <a:ea typeface="Consolas"/>
                <a:cs typeface="Consolas"/>
              </a:rPr>
              <a:t>KO-9</a:t>
            </a:r>
          </a:p>
        </p:txBody>
      </p:sp>
      <p:sp>
        <p:nvSpPr>
          <p:cNvPr id="26" name="Rectangle 25">
            <a:extLst>
              <a:ext uri="{FF2B5EF4-FFF2-40B4-BE49-F238E27FC236}">
                <a16:creationId xmlns:a16="http://schemas.microsoft.com/office/drawing/2014/main" id="{C8123BD4-8377-4259-8155-F3CF0237EA07}"/>
              </a:ext>
            </a:extLst>
          </p:cNvPr>
          <p:cNvSpPr>
            <a:spLocks noGrp="1"/>
          </p:cNvSpPr>
          <p:nvPr/>
        </p:nvSpPr>
        <p:spPr>
          <a:xfrm>
            <a:off x="1543050" y="4162425"/>
            <a:ext cx="2286000" cy="361950"/>
          </a:xfrm>
          <a:prstGeom prst="rect">
            <a:avLst/>
          </a:prstGeom>
          <a:noFill/>
          <a:ln w="0">
            <a:noFill/>
            <a:prstDash val="solid"/>
          </a:ln>
        </p:spPr>
        <p:txBody>
          <a:bodyPr wrap="square" lIns="0" tIns="0" rIns="0" bIns="0" anchor="t">
            <a:normAutofit/>
          </a:bodyPr>
          <a:lstStyle/>
          <a:p>
            <a:pPr algn="l">
              <a:buNone/>
              <a:defRPr sz="2025" b="0" i="0">
                <a:solidFill>
                  <a:srgbClr val="111111"/>
                </a:solidFill>
                <a:latin typeface="Georgia"/>
                <a:ea typeface="Georgia"/>
                <a:cs typeface="Georgia"/>
              </a:defRPr>
            </a:pPr>
            <a:r>
              <a:rPr sz="2025" b="0" i="0">
                <a:solidFill>
                  <a:srgbClr val="111111"/>
                </a:solidFill>
                <a:latin typeface="Georgia"/>
                <a:ea typeface="Georgia"/>
                <a:cs typeface="Georgia"/>
              </a:rPr>
              <a:t>Sustainability</a:t>
            </a:r>
          </a:p>
        </p:txBody>
      </p:sp>
      <p:sp>
        <p:nvSpPr>
          <p:cNvPr id="27" name="Rectangle 26">
            <a:extLst>
              <a:ext uri="{FF2B5EF4-FFF2-40B4-BE49-F238E27FC236}">
                <a16:creationId xmlns:a16="http://schemas.microsoft.com/office/drawing/2014/main" id="{60796DAA-7EE3-408B-AC6C-D349AA327E2D}"/>
              </a:ext>
            </a:extLst>
          </p:cNvPr>
          <p:cNvSpPr>
            <a:spLocks noGrp="1"/>
          </p:cNvSpPr>
          <p:nvPr/>
        </p:nvSpPr>
        <p:spPr>
          <a:xfrm>
            <a:off x="857250" y="4610100"/>
            <a:ext cx="2990850" cy="9525"/>
          </a:xfrm>
          <a:prstGeom prst="rect">
            <a:avLst/>
          </a:prstGeom>
          <a:solidFill>
            <a:srgbClr val="D9D6CD"/>
          </a:solidFill>
          <a:ln w="0">
            <a:noFill/>
            <a:prstDash val="solid"/>
          </a:ln>
        </p:spPr>
        <p:txBody>
          <a:bodyPr/>
          <a:lstStyle/>
          <a:p>
            <a:endParaRPr lang="en-US"/>
          </a:p>
        </p:txBody>
      </p:sp>
      <p:sp>
        <p:nvSpPr>
          <p:cNvPr id="28" name="Rectangle 27">
            <a:extLst>
              <a:ext uri="{FF2B5EF4-FFF2-40B4-BE49-F238E27FC236}">
                <a16:creationId xmlns:a16="http://schemas.microsoft.com/office/drawing/2014/main" id="{95F280FA-58A6-42AC-BCC8-998874B12B72}"/>
              </a:ext>
            </a:extLst>
          </p:cNvPr>
          <p:cNvSpPr>
            <a:spLocks noGrp="1"/>
          </p:cNvSpPr>
          <p:nvPr/>
        </p:nvSpPr>
        <p:spPr>
          <a:xfrm>
            <a:off x="857250" y="4772025"/>
            <a:ext cx="2990850" cy="476250"/>
          </a:xfrm>
          <a:prstGeom prst="rect">
            <a:avLst/>
          </a:prstGeom>
          <a:noFill/>
          <a:ln w="0">
            <a:noFill/>
            <a:prstDash val="solid"/>
          </a:ln>
        </p:spPr>
        <p:txBody>
          <a:bodyPr wrap="square" lIns="0" tIns="0" rIns="0" bIns="0" anchor="t">
            <a:normAutofit/>
          </a:bodyPr>
          <a:lstStyle/>
          <a:p>
            <a:pPr algn="l">
              <a:buNone/>
              <a:defRPr sz="1350" b="0" i="0">
                <a:solidFill>
                  <a:srgbClr val="686A66"/>
                </a:solidFill>
                <a:latin typeface="Arial"/>
                <a:ea typeface="Arial"/>
                <a:cs typeface="Arial"/>
              </a:defRPr>
            </a:pPr>
            <a:r>
              <a:rPr sz="1350" b="0" i="0">
                <a:solidFill>
                  <a:srgbClr val="686A66"/>
                </a:solidFill>
                <a:latin typeface="Arial"/>
                <a:ea typeface="Arial"/>
                <a:cs typeface="Arial"/>
              </a:rPr>
              <a:t>on-call and change load within capacity</a:t>
            </a:r>
          </a:p>
        </p:txBody>
      </p:sp>
      <p:sp>
        <p:nvSpPr>
          <p:cNvPr id="29" name="Rectangle 28">
            <a:extLst>
              <a:ext uri="{FF2B5EF4-FFF2-40B4-BE49-F238E27FC236}">
                <a16:creationId xmlns:a16="http://schemas.microsoft.com/office/drawing/2014/main" id="{238810B5-E807-43D1-B1BD-E9E6EF48A5D7}"/>
              </a:ext>
            </a:extLst>
          </p:cNvPr>
          <p:cNvSpPr>
            <a:spLocks noGrp="1"/>
          </p:cNvSpPr>
          <p:nvPr/>
        </p:nvSpPr>
        <p:spPr>
          <a:xfrm>
            <a:off x="4286250" y="4019550"/>
            <a:ext cx="3333750" cy="1390650"/>
          </a:xfrm>
          <a:prstGeom prst="rect">
            <a:avLst/>
          </a:prstGeom>
          <a:solidFill>
            <a:srgbClr val="F4F0E7"/>
          </a:solidFill>
          <a:ln w="9525">
            <a:solidFill>
              <a:srgbClr val="8A8B86"/>
            </a:solidFill>
            <a:prstDash val="solid"/>
          </a:ln>
        </p:spPr>
        <p:txBody>
          <a:bodyPr/>
          <a:lstStyle/>
          <a:p>
            <a:endParaRPr lang="en-US"/>
          </a:p>
        </p:txBody>
      </p:sp>
      <p:sp>
        <p:nvSpPr>
          <p:cNvPr id="30" name="Rectangle 29">
            <a:extLst>
              <a:ext uri="{FF2B5EF4-FFF2-40B4-BE49-F238E27FC236}">
                <a16:creationId xmlns:a16="http://schemas.microsoft.com/office/drawing/2014/main" id="{B5C1431E-487F-4C41-8843-BFA361F8298F}"/>
              </a:ext>
            </a:extLst>
          </p:cNvPr>
          <p:cNvSpPr>
            <a:spLocks noGrp="1"/>
          </p:cNvSpPr>
          <p:nvPr/>
        </p:nvSpPr>
        <p:spPr>
          <a:xfrm>
            <a:off x="4457700" y="4191000"/>
            <a:ext cx="609600" cy="209550"/>
          </a:xfrm>
          <a:prstGeom prst="rect">
            <a:avLst/>
          </a:prstGeom>
          <a:noFill/>
          <a:ln w="0">
            <a:noFill/>
            <a:prstDash val="solid"/>
          </a:ln>
        </p:spPr>
        <p:txBody>
          <a:bodyPr wrap="square" lIns="0" tIns="0" rIns="0" bIns="0" anchor="t">
            <a:normAutofit/>
          </a:bodyPr>
          <a:lstStyle/>
          <a:p>
            <a:pPr algn="l">
              <a:buNone/>
              <a:defRPr sz="1050" b="1" i="0">
                <a:solidFill>
                  <a:srgbClr val="5537D6"/>
                </a:solidFill>
                <a:latin typeface="Consolas"/>
                <a:ea typeface="Consolas"/>
                <a:cs typeface="Consolas"/>
              </a:defRPr>
            </a:pPr>
            <a:r>
              <a:rPr sz="1050" b="1" i="0">
                <a:solidFill>
                  <a:srgbClr val="5537D6"/>
                </a:solidFill>
                <a:latin typeface="Consolas"/>
                <a:ea typeface="Consolas"/>
                <a:cs typeface="Consolas"/>
              </a:rPr>
              <a:t>KO-10</a:t>
            </a:r>
          </a:p>
        </p:txBody>
      </p:sp>
      <p:sp>
        <p:nvSpPr>
          <p:cNvPr id="31" name="Rectangle 30">
            <a:extLst>
              <a:ext uri="{FF2B5EF4-FFF2-40B4-BE49-F238E27FC236}">
                <a16:creationId xmlns:a16="http://schemas.microsoft.com/office/drawing/2014/main" id="{007811DD-9D7A-4F54-BA68-23A61AEDD360}"/>
              </a:ext>
            </a:extLst>
          </p:cNvPr>
          <p:cNvSpPr>
            <a:spLocks noGrp="1"/>
          </p:cNvSpPr>
          <p:nvPr/>
        </p:nvSpPr>
        <p:spPr>
          <a:xfrm>
            <a:off x="5143500" y="4162425"/>
            <a:ext cx="2286000" cy="361950"/>
          </a:xfrm>
          <a:prstGeom prst="rect">
            <a:avLst/>
          </a:prstGeom>
          <a:noFill/>
          <a:ln w="0">
            <a:noFill/>
            <a:prstDash val="solid"/>
          </a:ln>
        </p:spPr>
        <p:txBody>
          <a:bodyPr wrap="square" lIns="0" tIns="0" rIns="0" bIns="0" anchor="t">
            <a:normAutofit/>
          </a:bodyPr>
          <a:lstStyle/>
          <a:p>
            <a:pPr algn="l">
              <a:buNone/>
              <a:defRPr sz="2025" b="0" i="0">
                <a:solidFill>
                  <a:srgbClr val="111111"/>
                </a:solidFill>
                <a:latin typeface="Georgia"/>
                <a:ea typeface="Georgia"/>
                <a:cs typeface="Georgia"/>
              </a:defRPr>
            </a:pPr>
            <a:r>
              <a:rPr sz="2025" b="0" i="0">
                <a:solidFill>
                  <a:srgbClr val="111111"/>
                </a:solidFill>
                <a:latin typeface="Georgia"/>
                <a:ea typeface="Georgia"/>
                <a:cs typeface="Georgia"/>
              </a:rPr>
              <a:t>Exit readiness</a:t>
            </a:r>
          </a:p>
        </p:txBody>
      </p:sp>
      <p:sp>
        <p:nvSpPr>
          <p:cNvPr id="32" name="Rectangle 31">
            <a:extLst>
              <a:ext uri="{FF2B5EF4-FFF2-40B4-BE49-F238E27FC236}">
                <a16:creationId xmlns:a16="http://schemas.microsoft.com/office/drawing/2014/main" id="{AB6DD9E8-1431-4521-B483-D85B3CD4F937}"/>
              </a:ext>
            </a:extLst>
          </p:cNvPr>
          <p:cNvSpPr>
            <a:spLocks noGrp="1"/>
          </p:cNvSpPr>
          <p:nvPr/>
        </p:nvSpPr>
        <p:spPr>
          <a:xfrm>
            <a:off x="4457700" y="4610100"/>
            <a:ext cx="2990850" cy="9525"/>
          </a:xfrm>
          <a:prstGeom prst="rect">
            <a:avLst/>
          </a:prstGeom>
          <a:solidFill>
            <a:srgbClr val="D9D6CD"/>
          </a:solidFill>
          <a:ln w="0">
            <a:noFill/>
            <a:prstDash val="solid"/>
          </a:ln>
        </p:spPr>
        <p:txBody>
          <a:bodyPr/>
          <a:lstStyle/>
          <a:p>
            <a:endParaRPr lang="en-US"/>
          </a:p>
        </p:txBody>
      </p:sp>
      <p:sp>
        <p:nvSpPr>
          <p:cNvPr id="33" name="Rectangle 32">
            <a:extLst>
              <a:ext uri="{FF2B5EF4-FFF2-40B4-BE49-F238E27FC236}">
                <a16:creationId xmlns:a16="http://schemas.microsoft.com/office/drawing/2014/main" id="{9485F650-4837-43C8-A9E9-C08D57EC943B}"/>
              </a:ext>
            </a:extLst>
          </p:cNvPr>
          <p:cNvSpPr>
            <a:spLocks noGrp="1"/>
          </p:cNvSpPr>
          <p:nvPr/>
        </p:nvSpPr>
        <p:spPr>
          <a:xfrm>
            <a:off x="4457700" y="4772025"/>
            <a:ext cx="2990850" cy="476250"/>
          </a:xfrm>
          <a:prstGeom prst="rect">
            <a:avLst/>
          </a:prstGeom>
          <a:noFill/>
          <a:ln w="0">
            <a:noFill/>
            <a:prstDash val="solid"/>
          </a:ln>
        </p:spPr>
        <p:txBody>
          <a:bodyPr wrap="square" lIns="0" tIns="0" rIns="0" bIns="0" anchor="t">
            <a:normAutofit/>
          </a:bodyPr>
          <a:lstStyle/>
          <a:p>
            <a:pPr algn="l">
              <a:buNone/>
              <a:defRPr sz="1350" b="0" i="0">
                <a:solidFill>
                  <a:srgbClr val="686A66"/>
                </a:solidFill>
                <a:latin typeface="Arial"/>
                <a:ea typeface="Arial"/>
                <a:cs typeface="Arial"/>
              </a:defRPr>
            </a:pPr>
            <a:r>
              <a:rPr sz="1350" b="0" i="0">
                <a:solidFill>
                  <a:srgbClr val="686A66"/>
                </a:solidFill>
                <a:latin typeface="Arial"/>
                <a:ea typeface="Arial"/>
                <a:cs typeface="Arial"/>
              </a:rPr>
              <a:t>custody switch + non-Kong route-back</a:t>
            </a:r>
          </a:p>
        </p:txBody>
      </p:sp>
      <p:sp>
        <p:nvSpPr>
          <p:cNvPr id="34" name="Rectangle 33">
            <a:extLst>
              <a:ext uri="{FF2B5EF4-FFF2-40B4-BE49-F238E27FC236}">
                <a16:creationId xmlns:a16="http://schemas.microsoft.com/office/drawing/2014/main" id="{1B6C673B-AFA0-449C-9F5C-0367965B2A38}"/>
              </a:ext>
            </a:extLst>
          </p:cNvPr>
          <p:cNvSpPr>
            <a:spLocks noGrp="1"/>
          </p:cNvSpPr>
          <p:nvPr/>
        </p:nvSpPr>
        <p:spPr>
          <a:xfrm>
            <a:off x="7886700" y="4019550"/>
            <a:ext cx="3333750" cy="1390650"/>
          </a:xfrm>
          <a:prstGeom prst="rect">
            <a:avLst/>
          </a:prstGeom>
          <a:solidFill>
            <a:srgbClr val="F4F0E7"/>
          </a:solidFill>
          <a:ln w="9525">
            <a:solidFill>
              <a:srgbClr val="8A8B86"/>
            </a:solidFill>
            <a:prstDash val="solid"/>
          </a:ln>
        </p:spPr>
        <p:txBody>
          <a:bodyPr/>
          <a:lstStyle/>
          <a:p>
            <a:endParaRPr lang="en-US"/>
          </a:p>
        </p:txBody>
      </p:sp>
      <p:sp>
        <p:nvSpPr>
          <p:cNvPr id="35" name="Rectangle 34">
            <a:extLst>
              <a:ext uri="{FF2B5EF4-FFF2-40B4-BE49-F238E27FC236}">
                <a16:creationId xmlns:a16="http://schemas.microsoft.com/office/drawing/2014/main" id="{64F2E9CC-0079-472A-9B6A-421E2FEE740E}"/>
              </a:ext>
            </a:extLst>
          </p:cNvPr>
          <p:cNvSpPr>
            <a:spLocks noGrp="1"/>
          </p:cNvSpPr>
          <p:nvPr/>
        </p:nvSpPr>
        <p:spPr>
          <a:xfrm>
            <a:off x="8058150" y="4191000"/>
            <a:ext cx="609600" cy="209550"/>
          </a:xfrm>
          <a:prstGeom prst="rect">
            <a:avLst/>
          </a:prstGeom>
          <a:noFill/>
          <a:ln w="0">
            <a:noFill/>
            <a:prstDash val="solid"/>
          </a:ln>
        </p:spPr>
        <p:txBody>
          <a:bodyPr wrap="square" lIns="0" tIns="0" rIns="0" bIns="0" anchor="t">
            <a:normAutofit/>
          </a:bodyPr>
          <a:lstStyle/>
          <a:p>
            <a:pPr algn="l">
              <a:buNone/>
              <a:defRPr sz="1050" b="1" i="0">
                <a:solidFill>
                  <a:srgbClr val="5537D6"/>
                </a:solidFill>
                <a:latin typeface="Consolas"/>
                <a:ea typeface="Consolas"/>
                <a:cs typeface="Consolas"/>
              </a:defRPr>
            </a:pPr>
            <a:r>
              <a:rPr sz="1050" b="1" i="0">
                <a:solidFill>
                  <a:srgbClr val="5537D6"/>
                </a:solidFill>
                <a:latin typeface="Consolas"/>
                <a:ea typeface="Consolas"/>
                <a:cs typeface="Consolas"/>
              </a:rPr>
              <a:t>KO-11</a:t>
            </a:r>
          </a:p>
        </p:txBody>
      </p:sp>
      <p:sp>
        <p:nvSpPr>
          <p:cNvPr id="36" name="Rectangle 35">
            <a:extLst>
              <a:ext uri="{FF2B5EF4-FFF2-40B4-BE49-F238E27FC236}">
                <a16:creationId xmlns:a16="http://schemas.microsoft.com/office/drawing/2014/main" id="{F184BD7C-6D05-4C56-A9F6-B46422CD478F}"/>
              </a:ext>
            </a:extLst>
          </p:cNvPr>
          <p:cNvSpPr>
            <a:spLocks noGrp="1"/>
          </p:cNvSpPr>
          <p:nvPr/>
        </p:nvSpPr>
        <p:spPr>
          <a:xfrm>
            <a:off x="8743950" y="4162425"/>
            <a:ext cx="2286000" cy="361950"/>
          </a:xfrm>
          <a:prstGeom prst="rect">
            <a:avLst/>
          </a:prstGeom>
          <a:noFill/>
          <a:ln w="0">
            <a:noFill/>
            <a:prstDash val="solid"/>
          </a:ln>
        </p:spPr>
        <p:txBody>
          <a:bodyPr wrap="square" lIns="0" tIns="0" rIns="0" bIns="0" anchor="t">
            <a:normAutofit/>
          </a:bodyPr>
          <a:lstStyle/>
          <a:p>
            <a:pPr algn="l">
              <a:buNone/>
              <a:defRPr sz="2025" b="0" i="0">
                <a:solidFill>
                  <a:srgbClr val="111111"/>
                </a:solidFill>
                <a:latin typeface="Georgia"/>
                <a:ea typeface="Georgia"/>
                <a:cs typeface="Georgia"/>
              </a:defRPr>
            </a:pPr>
            <a:r>
              <a:rPr sz="2025" b="0" i="0">
                <a:solidFill>
                  <a:srgbClr val="111111"/>
                </a:solidFill>
                <a:latin typeface="Georgia"/>
                <a:ea typeface="Georgia"/>
                <a:cs typeface="Georgia"/>
              </a:rPr>
              <a:t>Estate truth</a:t>
            </a:r>
          </a:p>
        </p:txBody>
      </p:sp>
      <p:sp>
        <p:nvSpPr>
          <p:cNvPr id="37" name="Rectangle 36">
            <a:extLst>
              <a:ext uri="{FF2B5EF4-FFF2-40B4-BE49-F238E27FC236}">
                <a16:creationId xmlns:a16="http://schemas.microsoft.com/office/drawing/2014/main" id="{27C4476E-CF6A-4F48-B502-7CE081A34B76}"/>
              </a:ext>
            </a:extLst>
          </p:cNvPr>
          <p:cNvSpPr>
            <a:spLocks noGrp="1"/>
          </p:cNvSpPr>
          <p:nvPr/>
        </p:nvSpPr>
        <p:spPr>
          <a:xfrm>
            <a:off x="8058150" y="4610100"/>
            <a:ext cx="2990850" cy="9525"/>
          </a:xfrm>
          <a:prstGeom prst="rect">
            <a:avLst/>
          </a:prstGeom>
          <a:solidFill>
            <a:srgbClr val="D9D6CD"/>
          </a:solidFill>
          <a:ln w="0">
            <a:noFill/>
            <a:prstDash val="solid"/>
          </a:ln>
        </p:spPr>
        <p:txBody>
          <a:bodyPr/>
          <a:lstStyle/>
          <a:p>
            <a:endParaRPr lang="en-US"/>
          </a:p>
        </p:txBody>
      </p:sp>
      <p:sp>
        <p:nvSpPr>
          <p:cNvPr id="38" name="Rectangle 37">
            <a:extLst>
              <a:ext uri="{FF2B5EF4-FFF2-40B4-BE49-F238E27FC236}">
                <a16:creationId xmlns:a16="http://schemas.microsoft.com/office/drawing/2014/main" id="{C63A4987-25CA-4A72-B7B7-CDB795484B95}"/>
              </a:ext>
            </a:extLst>
          </p:cNvPr>
          <p:cNvSpPr>
            <a:spLocks noGrp="1"/>
          </p:cNvSpPr>
          <p:nvPr/>
        </p:nvSpPr>
        <p:spPr>
          <a:xfrm>
            <a:off x="8058150" y="4772025"/>
            <a:ext cx="2990850" cy="476250"/>
          </a:xfrm>
          <a:prstGeom prst="rect">
            <a:avLst/>
          </a:prstGeom>
          <a:noFill/>
          <a:ln w="0">
            <a:noFill/>
            <a:prstDash val="solid"/>
          </a:ln>
        </p:spPr>
        <p:txBody>
          <a:bodyPr wrap="square" lIns="0" tIns="0" rIns="0" bIns="0" anchor="t">
            <a:normAutofit/>
          </a:bodyPr>
          <a:lstStyle/>
          <a:p>
            <a:pPr algn="l">
              <a:buNone/>
              <a:defRPr sz="1350" b="0" i="0">
                <a:solidFill>
                  <a:srgbClr val="686A66"/>
                </a:solidFill>
                <a:latin typeface="Arial"/>
                <a:ea typeface="Arial"/>
                <a:cs typeface="Arial"/>
              </a:defRPr>
            </a:pPr>
            <a:r>
              <a:rPr sz="1350" b="0" i="0">
                <a:solidFill>
                  <a:srgbClr val="686A66"/>
                </a:solidFill>
                <a:latin typeface="Arial"/>
                <a:ea typeface="Arial"/>
                <a:cs typeface="Arial"/>
              </a:rPr>
              <a:t>inventory, owner and migration state current</a:t>
            </a:r>
          </a:p>
        </p:txBody>
      </p:sp>
      <p:sp>
        <p:nvSpPr>
          <p:cNvPr id="39" name="Rectangle 38">
            <a:extLst>
              <a:ext uri="{FF2B5EF4-FFF2-40B4-BE49-F238E27FC236}">
                <a16:creationId xmlns:a16="http://schemas.microsoft.com/office/drawing/2014/main" id="{863E2E71-A98C-478B-931B-D5FC4A5AA0C7}"/>
              </a:ext>
            </a:extLst>
          </p:cNvPr>
          <p:cNvSpPr>
            <a:spLocks noGrp="1"/>
          </p:cNvSpPr>
          <p:nvPr/>
        </p:nvSpPr>
        <p:spPr>
          <a:xfrm>
            <a:off x="1752600" y="5867400"/>
            <a:ext cx="8686800" cy="323850"/>
          </a:xfrm>
          <a:prstGeom prst="rect">
            <a:avLst/>
          </a:prstGeom>
          <a:noFill/>
          <a:ln w="0">
            <a:noFill/>
            <a:prstDash val="solid"/>
          </a:ln>
        </p:spPr>
        <p:txBody>
          <a:bodyPr wrap="square" lIns="0" tIns="0" rIns="0" bIns="0" anchor="t">
            <a:normAutofit/>
          </a:bodyPr>
          <a:lstStyle/>
          <a:p>
            <a:pPr algn="ctr">
              <a:buNone/>
              <a:defRPr sz="1875" b="0" i="0">
                <a:solidFill>
                  <a:srgbClr val="111111"/>
                </a:solidFill>
                <a:latin typeface="Georgia"/>
                <a:ea typeface="Georgia"/>
                <a:cs typeface="Georgia"/>
              </a:defRPr>
            </a:pPr>
            <a:r>
              <a:rPr sz="1875" b="0" i="0">
                <a:solidFill>
                  <a:srgbClr val="111111"/>
                </a:solidFill>
                <a:latin typeface="Georgia"/>
                <a:ea typeface="Georgia"/>
                <a:cs typeface="Georgia"/>
              </a:rPr>
              <a:t>Scale requires the whole operating system to work—not only the proxy.</a:t>
            </a:r>
          </a:p>
        </p:txBody>
      </p:sp>
    </p:spTree>
    <p:extLst>
      <p:ext uri="{BB962C8B-B14F-4D97-AF65-F5344CB8AC3E}">
        <p14:creationId xmlns:p14="http://schemas.microsoft.com/office/powerpoint/2010/main" val="21440661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669CF473-05F9-45A1-B537-73342E4D5AE7}"/>
              </a:ext>
            </a:extLst>
          </p:cNvPr>
          <p:cNvSpPr>
            <a:spLocks noGrp="1"/>
          </p:cNvSpPr>
          <p:nvPr/>
        </p:nvSpPr>
        <p:spPr>
          <a:xfrm>
            <a:off x="0" y="0"/>
            <a:ext cx="12192000" cy="266700"/>
          </a:xfrm>
          <a:prstGeom prst="rect">
            <a:avLst/>
          </a:prstGeom>
          <a:solidFill>
            <a:srgbClr val="FFC72C"/>
          </a:solidFill>
          <a:ln w="0">
            <a:noFill/>
            <a:prstDash val="solid"/>
          </a:ln>
        </p:spPr>
        <p:txBody>
          <a:bodyPr/>
          <a:lstStyle/>
          <a:p>
            <a:endParaRPr lang="en-US"/>
          </a:p>
        </p:txBody>
      </p:sp>
      <p:sp>
        <p:nvSpPr>
          <p:cNvPr id="2" name="Rectangle 1">
            <a:extLst>
              <a:ext uri="{FF2B5EF4-FFF2-40B4-BE49-F238E27FC236}">
                <a16:creationId xmlns:a16="http://schemas.microsoft.com/office/drawing/2014/main" id="{C91BEF9E-975D-4F1D-8DAC-0ACA3E662BD4}"/>
              </a:ext>
            </a:extLst>
          </p:cNvPr>
          <p:cNvSpPr>
            <a:spLocks noGrp="1"/>
          </p:cNvSpPr>
          <p:nvPr/>
        </p:nvSpPr>
        <p:spPr>
          <a:xfrm>
            <a:off x="10668000" y="0"/>
            <a:ext cx="1524000" cy="266700"/>
          </a:xfrm>
          <a:prstGeom prst="rect">
            <a:avLst/>
          </a:prstGeom>
          <a:solidFill>
            <a:srgbClr val="5537D6"/>
          </a:solidFill>
          <a:ln w="0">
            <a:noFill/>
            <a:prstDash val="solid"/>
          </a:ln>
        </p:spPr>
        <p:txBody>
          <a:bodyPr/>
          <a:lstStyle/>
          <a:p>
            <a:endParaRPr lang="en-US"/>
          </a:p>
        </p:txBody>
      </p:sp>
      <p:sp>
        <p:nvSpPr>
          <p:cNvPr id="3" name="Rectangle 2">
            <a:extLst>
              <a:ext uri="{FF2B5EF4-FFF2-40B4-BE49-F238E27FC236}">
                <a16:creationId xmlns:a16="http://schemas.microsoft.com/office/drawing/2014/main" id="{A06BCBC0-1EF1-4C52-95D6-B3B441D7E033}"/>
              </a:ext>
            </a:extLst>
          </p:cNvPr>
          <p:cNvSpPr>
            <a:spLocks noGrp="1"/>
          </p:cNvSpPr>
          <p:nvPr/>
        </p:nvSpPr>
        <p:spPr>
          <a:xfrm>
            <a:off x="609600" y="38100"/>
            <a:ext cx="3429000" cy="190500"/>
          </a:xfrm>
          <a:prstGeom prst="rect">
            <a:avLst/>
          </a:prstGeom>
          <a:noFill/>
          <a:ln w="0">
            <a:noFill/>
            <a:prstDash val="solid"/>
          </a:ln>
        </p:spPr>
        <p:txBody>
          <a:bodyPr wrap="square" lIns="0" tIns="0" rIns="0" bIns="0" anchor="t">
            <a:normAutofit/>
          </a:bodyPr>
          <a:lstStyle/>
          <a:p>
            <a:pPr algn="l">
              <a:buNone/>
              <a:defRPr sz="975" b="1" i="0">
                <a:solidFill>
                  <a:srgbClr val="111111"/>
                </a:solidFill>
                <a:latin typeface="Consolas"/>
                <a:ea typeface="Consolas"/>
                <a:cs typeface="Consolas"/>
              </a:defRPr>
            </a:pPr>
            <a:r>
              <a:rPr sz="975" b="1" i="0">
                <a:solidFill>
                  <a:srgbClr val="111111"/>
                </a:solidFill>
                <a:latin typeface="Consolas"/>
                <a:ea typeface="Consolas"/>
                <a:cs typeface="Consolas"/>
              </a:rPr>
              <a:t>21 / PRODUCTION</a:t>
            </a:r>
          </a:p>
        </p:txBody>
      </p:sp>
      <p:sp>
        <p:nvSpPr>
          <p:cNvPr id="4" name="Rectangle 3">
            <a:extLst>
              <a:ext uri="{FF2B5EF4-FFF2-40B4-BE49-F238E27FC236}">
                <a16:creationId xmlns:a16="http://schemas.microsoft.com/office/drawing/2014/main" id="{38C7EEDE-E82D-4114-B0ED-85E82F36906E}"/>
              </a:ext>
            </a:extLst>
          </p:cNvPr>
          <p:cNvSpPr>
            <a:spLocks noGrp="1"/>
          </p:cNvSpPr>
          <p:nvPr/>
        </p:nvSpPr>
        <p:spPr>
          <a:xfrm>
            <a:off x="609600" y="428625"/>
            <a:ext cx="10572750" cy="1028700"/>
          </a:xfrm>
          <a:prstGeom prst="rect">
            <a:avLst/>
          </a:prstGeom>
          <a:noFill/>
          <a:ln w="0">
            <a:noFill/>
            <a:prstDash val="solid"/>
          </a:ln>
        </p:spPr>
        <p:txBody>
          <a:bodyPr wrap="square" lIns="0" tIns="0" rIns="0" bIns="0" anchor="t">
            <a:noAutofit/>
          </a:bodyPr>
          <a:lstStyle/>
          <a:p>
            <a:pPr algn="l">
              <a:buNone/>
              <a:defRPr sz="3300" b="1" i="0">
                <a:solidFill>
                  <a:srgbClr val="111111"/>
                </a:solidFill>
                <a:latin typeface="Arial"/>
                <a:ea typeface="Arial"/>
                <a:cs typeface="Arial"/>
              </a:defRPr>
            </a:pPr>
            <a:r>
              <a:rPr sz="3300" b="1" i="0">
                <a:solidFill>
                  <a:srgbClr val="111111"/>
                </a:solidFill>
                <a:latin typeface="Arial"/>
                <a:ea typeface="Arial"/>
                <a:cs typeface="Arial"/>
              </a:rPr>
              <a:t>Negative evidence must change the decision</a:t>
            </a:r>
          </a:p>
        </p:txBody>
      </p:sp>
      <p:sp>
        <p:nvSpPr>
          <p:cNvPr id="5" name="Rectangle 4">
            <a:extLst>
              <a:ext uri="{FF2B5EF4-FFF2-40B4-BE49-F238E27FC236}">
                <a16:creationId xmlns:a16="http://schemas.microsoft.com/office/drawing/2014/main" id="{9C4CB54C-CD72-4B11-9174-EC18A9F449F0}"/>
              </a:ext>
            </a:extLst>
          </p:cNvPr>
          <p:cNvSpPr>
            <a:spLocks noGrp="1"/>
          </p:cNvSpPr>
          <p:nvPr/>
        </p:nvSpPr>
        <p:spPr>
          <a:xfrm>
            <a:off x="628650" y="1514475"/>
            <a:ext cx="10382250" cy="323850"/>
          </a:xfrm>
          <a:prstGeom prst="rect">
            <a:avLst/>
          </a:prstGeom>
          <a:noFill/>
          <a:ln w="0">
            <a:noFill/>
            <a:prstDash val="solid"/>
          </a:ln>
        </p:spPr>
        <p:txBody>
          <a:bodyPr wrap="square" lIns="0" tIns="0" rIns="0" bIns="0" anchor="t">
            <a:noAutofit/>
          </a:bodyPr>
          <a:lstStyle/>
          <a:p>
            <a:pPr algn="l">
              <a:buNone/>
              <a:defRPr sz="1575" b="0" i="0">
                <a:solidFill>
                  <a:srgbClr val="686A66"/>
                </a:solidFill>
                <a:latin typeface="Arial"/>
                <a:ea typeface="Arial"/>
                <a:cs typeface="Arial"/>
              </a:defRPr>
            </a:pPr>
            <a:r>
              <a:rPr sz="1575" b="0" i="0">
                <a:solidFill>
                  <a:srgbClr val="686A66"/>
                </a:solidFill>
                <a:latin typeface="Arial"/>
                <a:ea typeface="Arial"/>
                <a:cs typeface="Arial"/>
              </a:rPr>
              <a:t>Pre-commit the decision outcomes before the proof programme starts.</a:t>
            </a:r>
          </a:p>
        </p:txBody>
      </p:sp>
      <p:sp>
        <p:nvSpPr>
          <p:cNvPr id="6" name="Rectangle 5">
            <a:extLst>
              <a:ext uri="{FF2B5EF4-FFF2-40B4-BE49-F238E27FC236}">
                <a16:creationId xmlns:a16="http://schemas.microsoft.com/office/drawing/2014/main" id="{0CCEB940-C8E5-46CE-9BA5-E3459DE262FD}"/>
              </a:ext>
            </a:extLst>
          </p:cNvPr>
          <p:cNvSpPr>
            <a:spLocks noGrp="1"/>
          </p:cNvSpPr>
          <p:nvPr/>
        </p:nvSpPr>
        <p:spPr>
          <a:xfrm>
            <a:off x="609600" y="1905000"/>
            <a:ext cx="10972800" cy="9525"/>
          </a:xfrm>
          <a:prstGeom prst="rect">
            <a:avLst/>
          </a:prstGeom>
          <a:solidFill>
            <a:srgbClr val="8A8B86"/>
          </a:solidFill>
          <a:ln w="0">
            <a:noFill/>
            <a:prstDash val="solid"/>
          </a:ln>
        </p:spPr>
        <p:txBody>
          <a:bodyPr/>
          <a:lstStyle/>
          <a:p>
            <a:endParaRPr lang="en-US"/>
          </a:p>
        </p:txBody>
      </p:sp>
      <p:sp>
        <p:nvSpPr>
          <p:cNvPr id="7" name="Rectangle 6">
            <a:extLst>
              <a:ext uri="{FF2B5EF4-FFF2-40B4-BE49-F238E27FC236}">
                <a16:creationId xmlns:a16="http://schemas.microsoft.com/office/drawing/2014/main" id="{36488A61-8365-4828-881D-03E3404090C8}"/>
              </a:ext>
            </a:extLst>
          </p:cNvPr>
          <p:cNvSpPr>
            <a:spLocks noGrp="1"/>
          </p:cNvSpPr>
          <p:nvPr/>
        </p:nvSpPr>
        <p:spPr>
          <a:xfrm>
            <a:off x="609600" y="6524625"/>
            <a:ext cx="8858250" cy="180975"/>
          </a:xfrm>
          <a:prstGeom prst="rect">
            <a:avLst/>
          </a:prstGeom>
          <a:noFill/>
          <a:ln w="0">
            <a:noFill/>
            <a:prstDash val="solid"/>
          </a:ln>
        </p:spPr>
        <p:txBody>
          <a:bodyPr wrap="square" lIns="0" tIns="0" rIns="0" bIns="0" anchor="ctr">
            <a:normAutofit/>
          </a:bodyPr>
          <a:lstStyle/>
          <a:p>
            <a:pPr>
              <a:buNone/>
              <a:defRPr sz="825">
                <a:solidFill>
                  <a:srgbClr val="666762"/>
                </a:solidFill>
              </a:defRPr>
            </a:pPr>
            <a:r>
              <a:rPr sz="825" b="1">
                <a:solidFill>
                  <a:srgbClr val="666762"/>
                </a:solidFill>
              </a:rPr>
              <a:t>REFERENCES  </a:t>
            </a:r>
            <a:r>
              <a:rPr sz="825" u="sng">
                <a:solidFill>
                  <a:srgbClr val="666762"/>
                </a:solidFill>
                <a:hlinkClick r:id="rId3"/>
              </a:rPr>
              <a:t>Repo reference</a:t>
            </a:r>
            <a:r>
              <a:rPr sz="825">
                <a:solidFill>
                  <a:srgbClr val="666762"/>
                </a:solidFill>
              </a:rPr>
              <a:t>  ·  </a:t>
            </a:r>
            <a:r>
              <a:rPr sz="825" u="sng">
                <a:solidFill>
                  <a:srgbClr val="666762"/>
                </a:solidFill>
                <a:hlinkClick r:id="rId4"/>
              </a:rPr>
              <a:t>Official docs</a:t>
            </a:r>
          </a:p>
        </p:txBody>
      </p:sp>
      <p:sp>
        <p:nvSpPr>
          <p:cNvPr id="8" name="Rectangle 7">
            <a:extLst>
              <a:ext uri="{FF2B5EF4-FFF2-40B4-BE49-F238E27FC236}">
                <a16:creationId xmlns:a16="http://schemas.microsoft.com/office/drawing/2014/main" id="{A4CDD183-F4ED-48F0-88FA-1396A7B7146A}"/>
              </a:ext>
            </a:extLst>
          </p:cNvPr>
          <p:cNvSpPr>
            <a:spLocks noGrp="1"/>
          </p:cNvSpPr>
          <p:nvPr/>
        </p:nvSpPr>
        <p:spPr>
          <a:xfrm>
            <a:off x="10287000" y="6486525"/>
            <a:ext cx="1295400" cy="209550"/>
          </a:xfrm>
          <a:prstGeom prst="rect">
            <a:avLst/>
          </a:prstGeom>
          <a:noFill/>
          <a:ln w="0">
            <a:noFill/>
            <a:prstDash val="solid"/>
          </a:ln>
        </p:spPr>
        <p:txBody>
          <a:bodyPr wrap="square" lIns="0" tIns="0" rIns="0" bIns="0" anchor="t">
            <a:normAutofit/>
          </a:bodyPr>
          <a:lstStyle/>
          <a:p>
            <a:pPr algn="r">
              <a:buNone/>
              <a:defRPr sz="975" b="1" i="0">
                <a:solidFill>
                  <a:srgbClr val="686A66"/>
                </a:solidFill>
                <a:latin typeface="Consolas"/>
                <a:ea typeface="Consolas"/>
                <a:cs typeface="Consolas"/>
              </a:defRPr>
            </a:pPr>
            <a:r>
              <a:rPr sz="975" b="1" i="0">
                <a:solidFill>
                  <a:srgbClr val="686A66"/>
                </a:solidFill>
                <a:latin typeface="Consolas"/>
                <a:ea typeface="Consolas"/>
                <a:cs typeface="Consolas"/>
              </a:rPr>
              <a:t>21 / 25</a:t>
            </a:r>
          </a:p>
        </p:txBody>
      </p:sp>
      <p:sp>
        <p:nvSpPr>
          <p:cNvPr id="9" name="Rounded Rectangle 8">
            <a:extLst>
              <a:ext uri="{FF2B5EF4-FFF2-40B4-BE49-F238E27FC236}">
                <a16:creationId xmlns:a16="http://schemas.microsoft.com/office/drawing/2014/main" id="{2A55BEE9-4983-43DD-AA3F-3EAAF69C4A89}"/>
              </a:ext>
            </a:extLst>
          </p:cNvPr>
          <p:cNvSpPr>
            <a:spLocks noGrp="1"/>
          </p:cNvSpPr>
          <p:nvPr/>
        </p:nvSpPr>
        <p:spPr>
          <a:xfrm>
            <a:off x="4667250" y="2552700"/>
            <a:ext cx="2857500" cy="1123950"/>
          </a:xfrm>
          <a:prstGeom prst="roundRect">
            <a:avLst>
              <a:gd name="adj" fmla="val 6780"/>
            </a:avLst>
          </a:prstGeom>
          <a:solidFill>
            <a:srgbClr val="FFFFFF"/>
          </a:solidFill>
          <a:ln w="14288">
            <a:solidFill>
              <a:srgbClr val="FFC72C"/>
            </a:solidFill>
            <a:prstDash val="solid"/>
          </a:ln>
        </p:spPr>
        <p:txBody>
          <a:bodyPr/>
          <a:lstStyle/>
          <a:p>
            <a:endParaRPr lang="en-US"/>
          </a:p>
        </p:txBody>
      </p:sp>
      <p:sp>
        <p:nvSpPr>
          <p:cNvPr id="10" name="Rectangle 9">
            <a:extLst>
              <a:ext uri="{FF2B5EF4-FFF2-40B4-BE49-F238E27FC236}">
                <a16:creationId xmlns:a16="http://schemas.microsoft.com/office/drawing/2014/main" id="{629D45FF-4D63-4792-900A-4314B30128B4}"/>
              </a:ext>
            </a:extLst>
          </p:cNvPr>
          <p:cNvSpPr>
            <a:spLocks noGrp="1"/>
          </p:cNvSpPr>
          <p:nvPr/>
        </p:nvSpPr>
        <p:spPr>
          <a:xfrm>
            <a:off x="4819650" y="2686050"/>
            <a:ext cx="2552700" cy="400050"/>
          </a:xfrm>
          <a:prstGeom prst="rect">
            <a:avLst/>
          </a:prstGeom>
          <a:noFill/>
          <a:ln w="0">
            <a:noFill/>
            <a:prstDash val="solid"/>
          </a:ln>
        </p:spPr>
        <p:txBody>
          <a:bodyPr wrap="square" lIns="0" tIns="0" rIns="0" bIns="0" anchor="t">
            <a:normAutofit/>
          </a:bodyPr>
          <a:lstStyle/>
          <a:p>
            <a:pPr algn="ctr">
              <a:buNone/>
              <a:defRPr sz="1950" b="1" i="0">
                <a:solidFill>
                  <a:srgbClr val="111111"/>
                </a:solidFill>
                <a:latin typeface="Arial"/>
                <a:ea typeface="Arial"/>
                <a:cs typeface="Arial"/>
              </a:defRPr>
            </a:pPr>
            <a:r>
              <a:rPr sz="1950" b="1" i="0">
                <a:solidFill>
                  <a:srgbClr val="111111"/>
                </a:solidFill>
                <a:latin typeface="Arial"/>
                <a:ea typeface="Arial"/>
                <a:cs typeface="Arial"/>
              </a:rPr>
              <a:t>OUTCOME GATE</a:t>
            </a:r>
          </a:p>
        </p:txBody>
      </p:sp>
      <p:sp>
        <p:nvSpPr>
          <p:cNvPr id="11" name="Rectangle 10">
            <a:extLst>
              <a:ext uri="{FF2B5EF4-FFF2-40B4-BE49-F238E27FC236}">
                <a16:creationId xmlns:a16="http://schemas.microsoft.com/office/drawing/2014/main" id="{F22BAF74-7FC6-4E61-A457-D08E267EFBFB}"/>
              </a:ext>
            </a:extLst>
          </p:cNvPr>
          <p:cNvSpPr>
            <a:spLocks noGrp="1"/>
          </p:cNvSpPr>
          <p:nvPr/>
        </p:nvSpPr>
        <p:spPr>
          <a:xfrm>
            <a:off x="4800600" y="3086100"/>
            <a:ext cx="2590800" cy="495300"/>
          </a:xfrm>
          <a:prstGeom prst="rect">
            <a:avLst/>
          </a:prstGeom>
          <a:noFill/>
          <a:ln w="0">
            <a:noFill/>
            <a:prstDash val="solid"/>
          </a:ln>
        </p:spPr>
        <p:txBody>
          <a:bodyPr wrap="square" lIns="0" tIns="0" rIns="0" bIns="0" anchor="t">
            <a:normAutofit/>
          </a:bodyPr>
          <a:lstStyle/>
          <a:p>
            <a:pPr algn="ctr">
              <a:buNone/>
              <a:defRPr sz="1125" b="0" i="0">
                <a:solidFill>
                  <a:srgbClr val="686A66"/>
                </a:solidFill>
                <a:latin typeface="Arial"/>
                <a:ea typeface="Arial"/>
                <a:cs typeface="Arial"/>
              </a:defRPr>
            </a:pPr>
            <a:r>
              <a:rPr sz="1125" b="0" i="0">
                <a:solidFill>
                  <a:srgbClr val="686A66"/>
                </a:solidFill>
                <a:latin typeface="Arial"/>
                <a:ea typeface="Arial"/>
                <a:cs typeface="Arial"/>
              </a:rPr>
              <a:t>E2 / E3 / E4 evidence</a:t>
            </a:r>
          </a:p>
          <a:p>
            <a:pPr algn="ctr">
              <a:buNone/>
              <a:defRPr sz="1125" b="0" i="0">
                <a:solidFill>
                  <a:srgbClr val="686A66"/>
                </a:solidFill>
                <a:latin typeface="Arial"/>
                <a:ea typeface="Arial"/>
                <a:cs typeface="Arial"/>
              </a:defRPr>
            </a:pPr>
            <a:r>
              <a:rPr sz="1125" b="0" i="0">
                <a:solidFill>
                  <a:srgbClr val="686A66"/>
                </a:solidFill>
                <a:latin typeface="Arial"/>
                <a:ea typeface="Arial"/>
                <a:cs typeface="Arial"/>
              </a:rPr>
              <a:t>measures + artifacts + owners</a:t>
            </a:r>
          </a:p>
        </p:txBody>
      </p:sp>
      <p:sp>
        <p:nvSpPr>
          <p:cNvPr id="12" name="Rounded Rectangle 11">
            <a:extLst>
              <a:ext uri="{FF2B5EF4-FFF2-40B4-BE49-F238E27FC236}">
                <a16:creationId xmlns:a16="http://schemas.microsoft.com/office/drawing/2014/main" id="{105507B5-2F8F-4425-924E-7107B8383C81}"/>
              </a:ext>
            </a:extLst>
          </p:cNvPr>
          <p:cNvSpPr>
            <a:spLocks noGrp="1"/>
          </p:cNvSpPr>
          <p:nvPr/>
        </p:nvSpPr>
        <p:spPr>
          <a:xfrm>
            <a:off x="762000" y="2286000"/>
            <a:ext cx="2857500" cy="1219200"/>
          </a:xfrm>
          <a:prstGeom prst="roundRect">
            <a:avLst>
              <a:gd name="adj" fmla="val 6250"/>
            </a:avLst>
          </a:prstGeom>
          <a:solidFill>
            <a:srgbClr val="FFFFFF"/>
          </a:solidFill>
          <a:ln w="14288">
            <a:solidFill>
              <a:srgbClr val="197457"/>
            </a:solidFill>
            <a:prstDash val="solid"/>
          </a:ln>
        </p:spPr>
        <p:txBody>
          <a:bodyPr/>
          <a:lstStyle/>
          <a:p>
            <a:endParaRPr lang="en-US"/>
          </a:p>
        </p:txBody>
      </p:sp>
      <p:sp>
        <p:nvSpPr>
          <p:cNvPr id="13" name="Rectangle 12">
            <a:extLst>
              <a:ext uri="{FF2B5EF4-FFF2-40B4-BE49-F238E27FC236}">
                <a16:creationId xmlns:a16="http://schemas.microsoft.com/office/drawing/2014/main" id="{03BE2511-C362-4AF9-AC76-EDB39F4E503A}"/>
              </a:ext>
            </a:extLst>
          </p:cNvPr>
          <p:cNvSpPr>
            <a:spLocks noGrp="1"/>
          </p:cNvSpPr>
          <p:nvPr/>
        </p:nvSpPr>
        <p:spPr>
          <a:xfrm>
            <a:off x="914400" y="2419350"/>
            <a:ext cx="2552700" cy="400050"/>
          </a:xfrm>
          <a:prstGeom prst="rect">
            <a:avLst/>
          </a:prstGeom>
          <a:noFill/>
          <a:ln w="0">
            <a:noFill/>
            <a:prstDash val="solid"/>
          </a:ln>
        </p:spPr>
        <p:txBody>
          <a:bodyPr wrap="square" lIns="0" tIns="0" rIns="0" bIns="0" anchor="t">
            <a:normAutofit/>
          </a:bodyPr>
          <a:lstStyle/>
          <a:p>
            <a:pPr algn="ctr">
              <a:buNone/>
              <a:defRPr sz="1800" b="1" i="0">
                <a:solidFill>
                  <a:srgbClr val="111111"/>
                </a:solidFill>
                <a:latin typeface="Arial"/>
                <a:ea typeface="Arial"/>
                <a:cs typeface="Arial"/>
              </a:defRPr>
            </a:pPr>
            <a:r>
              <a:rPr sz="1800" b="1" i="0">
                <a:solidFill>
                  <a:srgbClr val="111111"/>
                </a:solidFill>
                <a:latin typeface="Arial"/>
                <a:ea typeface="Arial"/>
                <a:cs typeface="Arial"/>
              </a:rPr>
              <a:t>SCALE</a:t>
            </a:r>
          </a:p>
        </p:txBody>
      </p:sp>
      <p:sp>
        <p:nvSpPr>
          <p:cNvPr id="14" name="Rectangle 13">
            <a:extLst>
              <a:ext uri="{FF2B5EF4-FFF2-40B4-BE49-F238E27FC236}">
                <a16:creationId xmlns:a16="http://schemas.microsoft.com/office/drawing/2014/main" id="{9B689A3A-539A-4521-802A-6E982513220D}"/>
              </a:ext>
            </a:extLst>
          </p:cNvPr>
          <p:cNvSpPr>
            <a:spLocks noGrp="1"/>
          </p:cNvSpPr>
          <p:nvPr/>
        </p:nvSpPr>
        <p:spPr>
          <a:xfrm>
            <a:off x="895350" y="2819400"/>
            <a:ext cx="2590800" cy="590550"/>
          </a:xfrm>
          <a:prstGeom prst="rect">
            <a:avLst/>
          </a:prstGeom>
          <a:noFill/>
          <a:ln w="0">
            <a:noFill/>
            <a:prstDash val="solid"/>
          </a:ln>
        </p:spPr>
        <p:txBody>
          <a:bodyPr wrap="square" lIns="0" tIns="0" rIns="0" bIns="0" anchor="t">
            <a:normAutofit/>
          </a:bodyPr>
          <a:lstStyle/>
          <a:p>
            <a:pPr algn="ctr">
              <a:buNone/>
              <a:defRPr sz="1125" b="0" i="0">
                <a:solidFill>
                  <a:srgbClr val="686A66"/>
                </a:solidFill>
                <a:latin typeface="Arial"/>
                <a:ea typeface="Arial"/>
                <a:cs typeface="Arial"/>
              </a:defRPr>
            </a:pPr>
            <a:r>
              <a:rPr sz="1125" b="0" i="0">
                <a:solidFill>
                  <a:srgbClr val="686A66"/>
                </a:solidFill>
                <a:latin typeface="Arial"/>
                <a:ea typeface="Arial"/>
                <a:cs typeface="Arial"/>
              </a:rPr>
              <a:t>outcomes pass</a:t>
            </a:r>
          </a:p>
          <a:p>
            <a:pPr algn="ctr">
              <a:buNone/>
              <a:defRPr sz="1125" b="0" i="0">
                <a:solidFill>
                  <a:srgbClr val="686A66"/>
                </a:solidFill>
                <a:latin typeface="Arial"/>
                <a:ea typeface="Arial"/>
                <a:cs typeface="Arial"/>
              </a:defRPr>
            </a:pPr>
            <a:r>
              <a:rPr sz="1125" b="0" i="0">
                <a:solidFill>
                  <a:srgbClr val="686A66"/>
                </a:solidFill>
                <a:latin typeface="Arial"/>
                <a:ea typeface="Arial"/>
                <a:cs typeface="Arial"/>
              </a:rPr>
              <a:t>capacity + sustainability close</a:t>
            </a:r>
          </a:p>
        </p:txBody>
      </p:sp>
      <p:cxnSp>
        <p:nvCxnSpPr>
          <p:cNvPr id="421" name="Elbow Connector 420"/>
          <p:cNvCxnSpPr>
            <a:stCxn id="9" idx="1"/>
            <a:endCxn id="12" idx="3"/>
          </p:cNvCxnSpPr>
          <p:nvPr/>
        </p:nvCxnSpPr>
        <p:spPr>
          <a:xfrm flipH="1" flipV="1">
            <a:off x="3619500" y="2895600"/>
            <a:ext cx="1047750" cy="219075"/>
          </a:xfrm>
          <a:prstGeom prst="bentConnector3">
            <a:avLst>
              <a:gd name="adj1" fmla="val 50000"/>
            </a:avLst>
          </a:prstGeom>
          <a:ln w="19050">
            <a:solidFill>
              <a:srgbClr val="197457"/>
            </a:solidFill>
            <a:prstDash val="solid"/>
            <a:tailEnd type="triangle" w="med" len="med"/>
          </a:ln>
        </p:spPr>
      </p:cxnSp>
      <p:sp>
        <p:nvSpPr>
          <p:cNvPr id="16" name="Rounded Rectangle 15">
            <a:extLst>
              <a:ext uri="{FF2B5EF4-FFF2-40B4-BE49-F238E27FC236}">
                <a16:creationId xmlns:a16="http://schemas.microsoft.com/office/drawing/2014/main" id="{13B65A35-3EE8-46AC-8BCC-9B81C1E49C71}"/>
              </a:ext>
            </a:extLst>
          </p:cNvPr>
          <p:cNvSpPr>
            <a:spLocks noGrp="1"/>
          </p:cNvSpPr>
          <p:nvPr/>
        </p:nvSpPr>
        <p:spPr>
          <a:xfrm>
            <a:off x="762000" y="4438650"/>
            <a:ext cx="2857500" cy="1219200"/>
          </a:xfrm>
          <a:prstGeom prst="roundRect">
            <a:avLst>
              <a:gd name="adj" fmla="val 6250"/>
            </a:avLst>
          </a:prstGeom>
          <a:solidFill>
            <a:srgbClr val="FFFFFF"/>
          </a:solidFill>
          <a:ln w="14288">
            <a:solidFill>
              <a:srgbClr val="A96300"/>
            </a:solidFill>
            <a:prstDash val="solid"/>
          </a:ln>
        </p:spPr>
        <p:txBody>
          <a:bodyPr/>
          <a:lstStyle/>
          <a:p>
            <a:endParaRPr lang="en-US"/>
          </a:p>
        </p:txBody>
      </p:sp>
      <p:sp>
        <p:nvSpPr>
          <p:cNvPr id="17" name="Rectangle 16">
            <a:extLst>
              <a:ext uri="{FF2B5EF4-FFF2-40B4-BE49-F238E27FC236}">
                <a16:creationId xmlns:a16="http://schemas.microsoft.com/office/drawing/2014/main" id="{227459FE-5B4B-462D-9202-C984C16470C5}"/>
              </a:ext>
            </a:extLst>
          </p:cNvPr>
          <p:cNvSpPr>
            <a:spLocks noGrp="1"/>
          </p:cNvSpPr>
          <p:nvPr/>
        </p:nvSpPr>
        <p:spPr>
          <a:xfrm>
            <a:off x="914400" y="4572000"/>
            <a:ext cx="2552700" cy="400050"/>
          </a:xfrm>
          <a:prstGeom prst="rect">
            <a:avLst/>
          </a:prstGeom>
          <a:noFill/>
          <a:ln w="0">
            <a:noFill/>
            <a:prstDash val="solid"/>
          </a:ln>
        </p:spPr>
        <p:txBody>
          <a:bodyPr wrap="square" lIns="0" tIns="0" rIns="0" bIns="0" anchor="t">
            <a:normAutofit/>
          </a:bodyPr>
          <a:lstStyle/>
          <a:p>
            <a:pPr algn="ctr">
              <a:buNone/>
              <a:defRPr sz="1800" b="1" i="0">
                <a:solidFill>
                  <a:srgbClr val="111111"/>
                </a:solidFill>
                <a:latin typeface="Arial"/>
                <a:ea typeface="Arial"/>
                <a:cs typeface="Arial"/>
              </a:defRPr>
            </a:pPr>
            <a:r>
              <a:rPr sz="1800" b="1" i="0">
                <a:solidFill>
                  <a:srgbClr val="111111"/>
                </a:solidFill>
                <a:latin typeface="Arial"/>
                <a:ea typeface="Arial"/>
                <a:cs typeface="Arial"/>
              </a:rPr>
              <a:t>NARROW</a:t>
            </a:r>
          </a:p>
        </p:txBody>
      </p:sp>
      <p:sp>
        <p:nvSpPr>
          <p:cNvPr id="18" name="Rectangle 17">
            <a:extLst>
              <a:ext uri="{FF2B5EF4-FFF2-40B4-BE49-F238E27FC236}">
                <a16:creationId xmlns:a16="http://schemas.microsoft.com/office/drawing/2014/main" id="{22C79D52-6589-4576-90C4-D12C02DBD20A}"/>
              </a:ext>
            </a:extLst>
          </p:cNvPr>
          <p:cNvSpPr>
            <a:spLocks noGrp="1"/>
          </p:cNvSpPr>
          <p:nvPr/>
        </p:nvSpPr>
        <p:spPr>
          <a:xfrm>
            <a:off x="895350" y="4972050"/>
            <a:ext cx="2590800" cy="590550"/>
          </a:xfrm>
          <a:prstGeom prst="rect">
            <a:avLst/>
          </a:prstGeom>
          <a:noFill/>
          <a:ln w="0">
            <a:noFill/>
            <a:prstDash val="solid"/>
          </a:ln>
        </p:spPr>
        <p:txBody>
          <a:bodyPr wrap="square" lIns="0" tIns="0" rIns="0" bIns="0" anchor="t">
            <a:normAutofit/>
          </a:bodyPr>
          <a:lstStyle/>
          <a:p>
            <a:pPr algn="ctr">
              <a:buNone/>
              <a:defRPr sz="1125" b="0" i="0">
                <a:solidFill>
                  <a:srgbClr val="686A66"/>
                </a:solidFill>
                <a:latin typeface="Arial"/>
                <a:ea typeface="Arial"/>
                <a:cs typeface="Arial"/>
              </a:defRPr>
            </a:pPr>
            <a:r>
              <a:rPr sz="1125" b="0" i="0">
                <a:solidFill>
                  <a:srgbClr val="686A66"/>
                </a:solidFill>
                <a:latin typeface="Arial"/>
                <a:ea typeface="Arial"/>
                <a:cs typeface="Arial"/>
              </a:rPr>
              <a:t>fit holds only for bounded workloads</a:t>
            </a:r>
          </a:p>
          <a:p>
            <a:pPr algn="ctr">
              <a:buNone/>
              <a:defRPr sz="1125" b="0" i="0">
                <a:solidFill>
                  <a:srgbClr val="686A66"/>
                </a:solidFill>
                <a:latin typeface="Arial"/>
                <a:ea typeface="Arial"/>
                <a:cs typeface="Arial"/>
              </a:defRPr>
            </a:pPr>
            <a:r>
              <a:rPr sz="1125" b="0" i="0">
                <a:solidFill>
                  <a:srgbClr val="686A66"/>
                </a:solidFill>
                <a:latin typeface="Arial"/>
                <a:ea typeface="Arial"/>
                <a:cs typeface="Arial"/>
              </a:rPr>
              <a:t>reduce scope</a:t>
            </a:r>
          </a:p>
        </p:txBody>
      </p:sp>
      <p:cxnSp>
        <p:nvCxnSpPr>
          <p:cNvPr id="425" name="Elbow Connector 424"/>
          <p:cNvCxnSpPr>
            <a:stCxn id="9" idx="1"/>
            <a:endCxn id="16" idx="3"/>
          </p:cNvCxnSpPr>
          <p:nvPr/>
        </p:nvCxnSpPr>
        <p:spPr>
          <a:xfrm flipH="1">
            <a:off x="3619500" y="3114675"/>
            <a:ext cx="1047750" cy="1933575"/>
          </a:xfrm>
          <a:prstGeom prst="bentConnector3">
            <a:avLst>
              <a:gd name="adj1" fmla="val 50000"/>
            </a:avLst>
          </a:prstGeom>
          <a:ln w="19050">
            <a:solidFill>
              <a:srgbClr val="A96300"/>
            </a:solidFill>
            <a:prstDash val="solid"/>
            <a:tailEnd type="triangle" w="med" len="med"/>
          </a:ln>
        </p:spPr>
      </p:cxnSp>
      <p:sp>
        <p:nvSpPr>
          <p:cNvPr id="20" name="Rounded Rectangle 19">
            <a:extLst>
              <a:ext uri="{FF2B5EF4-FFF2-40B4-BE49-F238E27FC236}">
                <a16:creationId xmlns:a16="http://schemas.microsoft.com/office/drawing/2014/main" id="{9DFA1147-B063-405E-A0E9-DB4097F9994A}"/>
              </a:ext>
            </a:extLst>
          </p:cNvPr>
          <p:cNvSpPr>
            <a:spLocks noGrp="1"/>
          </p:cNvSpPr>
          <p:nvPr/>
        </p:nvSpPr>
        <p:spPr>
          <a:xfrm>
            <a:off x="8572500" y="2286000"/>
            <a:ext cx="2857500" cy="1219200"/>
          </a:xfrm>
          <a:prstGeom prst="roundRect">
            <a:avLst>
              <a:gd name="adj" fmla="val 6250"/>
            </a:avLst>
          </a:prstGeom>
          <a:solidFill>
            <a:srgbClr val="FFFFFF"/>
          </a:solidFill>
          <a:ln w="14288">
            <a:solidFill>
              <a:srgbClr val="111111"/>
            </a:solidFill>
            <a:prstDash val="solid"/>
          </a:ln>
        </p:spPr>
        <p:txBody>
          <a:bodyPr/>
          <a:lstStyle/>
          <a:p>
            <a:endParaRPr lang="en-US"/>
          </a:p>
        </p:txBody>
      </p:sp>
      <p:sp>
        <p:nvSpPr>
          <p:cNvPr id="21" name="Rectangle 20">
            <a:extLst>
              <a:ext uri="{FF2B5EF4-FFF2-40B4-BE49-F238E27FC236}">
                <a16:creationId xmlns:a16="http://schemas.microsoft.com/office/drawing/2014/main" id="{A4164E14-6641-4280-80F5-37E11ED4EB56}"/>
              </a:ext>
            </a:extLst>
          </p:cNvPr>
          <p:cNvSpPr>
            <a:spLocks noGrp="1"/>
          </p:cNvSpPr>
          <p:nvPr/>
        </p:nvSpPr>
        <p:spPr>
          <a:xfrm>
            <a:off x="8724900" y="2419350"/>
            <a:ext cx="2552700" cy="400050"/>
          </a:xfrm>
          <a:prstGeom prst="rect">
            <a:avLst/>
          </a:prstGeom>
          <a:noFill/>
          <a:ln w="0">
            <a:noFill/>
            <a:prstDash val="solid"/>
          </a:ln>
        </p:spPr>
        <p:txBody>
          <a:bodyPr wrap="square" lIns="0" tIns="0" rIns="0" bIns="0" anchor="t">
            <a:normAutofit/>
          </a:bodyPr>
          <a:lstStyle/>
          <a:p>
            <a:pPr algn="ctr">
              <a:buNone/>
              <a:defRPr sz="1800" b="1" i="0">
                <a:solidFill>
                  <a:srgbClr val="111111"/>
                </a:solidFill>
                <a:latin typeface="Arial"/>
                <a:ea typeface="Arial"/>
                <a:cs typeface="Arial"/>
              </a:defRPr>
            </a:pPr>
            <a:r>
              <a:rPr sz="1800" b="1" i="0">
                <a:solidFill>
                  <a:srgbClr val="111111"/>
                </a:solidFill>
                <a:latin typeface="Arial"/>
                <a:ea typeface="Arial"/>
                <a:cs typeface="Arial"/>
              </a:rPr>
              <a:t>SWITCH CUSTODY</a:t>
            </a:r>
          </a:p>
        </p:txBody>
      </p:sp>
      <p:sp>
        <p:nvSpPr>
          <p:cNvPr id="22" name="Rectangle 21">
            <a:extLst>
              <a:ext uri="{FF2B5EF4-FFF2-40B4-BE49-F238E27FC236}">
                <a16:creationId xmlns:a16="http://schemas.microsoft.com/office/drawing/2014/main" id="{6C5F379A-5FF5-44AB-AF71-BE5766AF863C}"/>
              </a:ext>
            </a:extLst>
          </p:cNvPr>
          <p:cNvSpPr>
            <a:spLocks noGrp="1"/>
          </p:cNvSpPr>
          <p:nvPr/>
        </p:nvSpPr>
        <p:spPr>
          <a:xfrm>
            <a:off x="8705850" y="2819400"/>
            <a:ext cx="2590800" cy="590550"/>
          </a:xfrm>
          <a:prstGeom prst="rect">
            <a:avLst/>
          </a:prstGeom>
          <a:noFill/>
          <a:ln w="0">
            <a:noFill/>
            <a:prstDash val="solid"/>
          </a:ln>
        </p:spPr>
        <p:txBody>
          <a:bodyPr wrap="square" lIns="0" tIns="0" rIns="0" bIns="0" anchor="t">
            <a:normAutofit/>
          </a:bodyPr>
          <a:lstStyle/>
          <a:p>
            <a:pPr algn="ctr">
              <a:buNone/>
              <a:defRPr sz="1125" b="0" i="0">
                <a:solidFill>
                  <a:srgbClr val="686A66"/>
                </a:solidFill>
                <a:latin typeface="Arial"/>
                <a:ea typeface="Arial"/>
                <a:cs typeface="Arial"/>
              </a:defRPr>
            </a:pPr>
            <a:r>
              <a:rPr sz="1125" b="0" i="0">
                <a:solidFill>
                  <a:srgbClr val="686A66"/>
                </a:solidFill>
                <a:latin typeface="Arial"/>
                <a:ea typeface="Arial"/>
                <a:cs typeface="Arial"/>
              </a:rPr>
              <a:t>Konnect benchmark wins</a:t>
            </a:r>
          </a:p>
          <a:p>
            <a:pPr algn="ctr">
              <a:buNone/>
              <a:defRPr sz="1125" b="0" i="0">
                <a:solidFill>
                  <a:srgbClr val="686A66"/>
                </a:solidFill>
                <a:latin typeface="Arial"/>
                <a:ea typeface="Arial"/>
                <a:cs typeface="Arial"/>
              </a:defRPr>
            </a:pPr>
            <a:r>
              <a:rPr sz="1125" b="0" i="0">
                <a:solidFill>
                  <a:srgbClr val="686A66"/>
                </a:solidFill>
                <a:latin typeface="Arial"/>
                <a:ea typeface="Arial"/>
                <a:cs typeface="Arial"/>
              </a:rPr>
              <a:t>route back within same vendor</a:t>
            </a:r>
          </a:p>
        </p:txBody>
      </p:sp>
      <p:cxnSp>
        <p:nvCxnSpPr>
          <p:cNvPr id="429" name="Elbow Connector 428"/>
          <p:cNvCxnSpPr>
            <a:stCxn id="9" idx="3"/>
            <a:endCxn id="20" idx="1"/>
          </p:cNvCxnSpPr>
          <p:nvPr/>
        </p:nvCxnSpPr>
        <p:spPr>
          <a:xfrm flipV="1">
            <a:off x="7524750" y="2895600"/>
            <a:ext cx="1047750" cy="219075"/>
          </a:xfrm>
          <a:prstGeom prst="bentConnector3">
            <a:avLst>
              <a:gd name="adj1" fmla="val 50000"/>
            </a:avLst>
          </a:prstGeom>
          <a:ln w="19050">
            <a:solidFill>
              <a:srgbClr val="111111"/>
            </a:solidFill>
            <a:prstDash val="solid"/>
            <a:tailEnd type="triangle" w="med" len="med"/>
          </a:ln>
        </p:spPr>
      </p:cxnSp>
      <p:sp>
        <p:nvSpPr>
          <p:cNvPr id="24" name="Rounded Rectangle 23">
            <a:extLst>
              <a:ext uri="{FF2B5EF4-FFF2-40B4-BE49-F238E27FC236}">
                <a16:creationId xmlns:a16="http://schemas.microsoft.com/office/drawing/2014/main" id="{9239FC58-7B34-47CE-AECC-DCEAF05F6FEC}"/>
              </a:ext>
            </a:extLst>
          </p:cNvPr>
          <p:cNvSpPr>
            <a:spLocks noGrp="1"/>
          </p:cNvSpPr>
          <p:nvPr/>
        </p:nvSpPr>
        <p:spPr>
          <a:xfrm>
            <a:off x="8572500" y="4438650"/>
            <a:ext cx="2857500" cy="1219200"/>
          </a:xfrm>
          <a:prstGeom prst="roundRect">
            <a:avLst>
              <a:gd name="adj" fmla="val 6250"/>
            </a:avLst>
          </a:prstGeom>
          <a:solidFill>
            <a:srgbClr val="FFFFFF"/>
          </a:solidFill>
          <a:ln w="14288">
            <a:solidFill>
              <a:srgbClr val="FFC72C"/>
            </a:solidFill>
            <a:prstDash val="solid"/>
          </a:ln>
        </p:spPr>
        <p:txBody>
          <a:bodyPr/>
          <a:lstStyle/>
          <a:p>
            <a:endParaRPr lang="en-US"/>
          </a:p>
        </p:txBody>
      </p:sp>
      <p:sp>
        <p:nvSpPr>
          <p:cNvPr id="25" name="Rectangle 24">
            <a:extLst>
              <a:ext uri="{FF2B5EF4-FFF2-40B4-BE49-F238E27FC236}">
                <a16:creationId xmlns:a16="http://schemas.microsoft.com/office/drawing/2014/main" id="{B316BD01-CB6D-4005-84F2-DA7CF8067DA2}"/>
              </a:ext>
            </a:extLst>
          </p:cNvPr>
          <p:cNvSpPr>
            <a:spLocks noGrp="1"/>
          </p:cNvSpPr>
          <p:nvPr/>
        </p:nvSpPr>
        <p:spPr>
          <a:xfrm>
            <a:off x="8724900" y="4572000"/>
            <a:ext cx="2552700" cy="400050"/>
          </a:xfrm>
          <a:prstGeom prst="rect">
            <a:avLst/>
          </a:prstGeom>
          <a:noFill/>
          <a:ln w="0">
            <a:noFill/>
            <a:prstDash val="solid"/>
          </a:ln>
        </p:spPr>
        <p:txBody>
          <a:bodyPr wrap="square" lIns="0" tIns="0" rIns="0" bIns="0" anchor="t">
            <a:normAutofit/>
          </a:bodyPr>
          <a:lstStyle/>
          <a:p>
            <a:pPr algn="ctr">
              <a:buNone/>
              <a:defRPr sz="1800" b="1" i="0">
                <a:solidFill>
                  <a:srgbClr val="111111"/>
                </a:solidFill>
                <a:latin typeface="Arial"/>
                <a:ea typeface="Arial"/>
                <a:cs typeface="Arial"/>
              </a:defRPr>
            </a:pPr>
            <a:r>
              <a:rPr sz="1800" b="1" i="0">
                <a:solidFill>
                  <a:srgbClr val="111111"/>
                </a:solidFill>
                <a:latin typeface="Arial"/>
                <a:ea typeface="Arial"/>
                <a:cs typeface="Arial"/>
              </a:rPr>
              <a:t>EXIT PLATFORM</a:t>
            </a:r>
          </a:p>
        </p:txBody>
      </p:sp>
      <p:sp>
        <p:nvSpPr>
          <p:cNvPr id="26" name="Rectangle 25">
            <a:extLst>
              <a:ext uri="{FF2B5EF4-FFF2-40B4-BE49-F238E27FC236}">
                <a16:creationId xmlns:a16="http://schemas.microsoft.com/office/drawing/2014/main" id="{84B9A03D-487F-4956-BC84-06C7C3CB6A9C}"/>
              </a:ext>
            </a:extLst>
          </p:cNvPr>
          <p:cNvSpPr>
            <a:spLocks noGrp="1"/>
          </p:cNvSpPr>
          <p:nvPr/>
        </p:nvSpPr>
        <p:spPr>
          <a:xfrm>
            <a:off x="8705850" y="4972050"/>
            <a:ext cx="2590800" cy="590550"/>
          </a:xfrm>
          <a:prstGeom prst="rect">
            <a:avLst/>
          </a:prstGeom>
          <a:noFill/>
          <a:ln w="0">
            <a:noFill/>
            <a:prstDash val="solid"/>
          </a:ln>
        </p:spPr>
        <p:txBody>
          <a:bodyPr wrap="square" lIns="0" tIns="0" rIns="0" bIns="0" anchor="t">
            <a:normAutofit/>
          </a:bodyPr>
          <a:lstStyle/>
          <a:p>
            <a:pPr algn="ctr">
              <a:buNone/>
              <a:defRPr sz="1125" b="0" i="0">
                <a:solidFill>
                  <a:srgbClr val="686A66"/>
                </a:solidFill>
                <a:latin typeface="Arial"/>
                <a:ea typeface="Arial"/>
                <a:cs typeface="Arial"/>
              </a:defRPr>
            </a:pPr>
            <a:r>
              <a:rPr sz="1125" b="0" i="0">
                <a:solidFill>
                  <a:srgbClr val="686A66"/>
                </a:solidFill>
                <a:latin typeface="Arial"/>
                <a:ea typeface="Arial"/>
                <a:cs typeface="Arial"/>
              </a:rPr>
              <a:t>counterfactual or economics wins</a:t>
            </a:r>
          </a:p>
          <a:p>
            <a:pPr algn="ctr">
              <a:buNone/>
              <a:defRPr sz="1125" b="0" i="0">
                <a:solidFill>
                  <a:srgbClr val="686A66"/>
                </a:solidFill>
                <a:latin typeface="Arial"/>
                <a:ea typeface="Arial"/>
                <a:cs typeface="Arial"/>
              </a:defRPr>
            </a:pPr>
            <a:r>
              <a:rPr sz="1125" b="0" i="0">
                <a:solidFill>
                  <a:srgbClr val="686A66"/>
                </a:solidFill>
                <a:latin typeface="Arial"/>
                <a:ea typeface="Arial"/>
                <a:cs typeface="Arial"/>
              </a:rPr>
              <a:t>move to non-Kong target</a:t>
            </a:r>
          </a:p>
        </p:txBody>
      </p:sp>
      <p:cxnSp>
        <p:nvCxnSpPr>
          <p:cNvPr id="433" name="Elbow Connector 432"/>
          <p:cNvCxnSpPr>
            <a:stCxn id="9" idx="3"/>
            <a:endCxn id="24" idx="1"/>
          </p:cNvCxnSpPr>
          <p:nvPr/>
        </p:nvCxnSpPr>
        <p:spPr>
          <a:xfrm>
            <a:off x="7524750" y="3114675"/>
            <a:ext cx="1047750" cy="1933575"/>
          </a:xfrm>
          <a:prstGeom prst="bentConnector3">
            <a:avLst>
              <a:gd name="adj1" fmla="val 50000"/>
            </a:avLst>
          </a:prstGeom>
          <a:ln w="19050">
            <a:solidFill>
              <a:srgbClr val="FFC72C"/>
            </a:solidFill>
            <a:prstDash val="solid"/>
            <a:tailEnd type="triangle" w="med" len="med"/>
          </a:ln>
        </p:spPr>
      </p:cxnSp>
      <p:sp>
        <p:nvSpPr>
          <p:cNvPr id="28" name="Rectangle 27">
            <a:extLst>
              <a:ext uri="{FF2B5EF4-FFF2-40B4-BE49-F238E27FC236}">
                <a16:creationId xmlns:a16="http://schemas.microsoft.com/office/drawing/2014/main" id="{C8B46574-21A8-4842-8982-DC8588C60631}"/>
              </a:ext>
            </a:extLst>
          </p:cNvPr>
          <p:cNvSpPr>
            <a:spLocks noGrp="1"/>
          </p:cNvSpPr>
          <p:nvPr/>
        </p:nvSpPr>
        <p:spPr>
          <a:xfrm>
            <a:off x="2038350" y="5943600"/>
            <a:ext cx="8115300" cy="323850"/>
          </a:xfrm>
          <a:prstGeom prst="rect">
            <a:avLst/>
          </a:prstGeom>
          <a:noFill/>
          <a:ln w="0">
            <a:noFill/>
            <a:prstDash val="solid"/>
          </a:ln>
        </p:spPr>
        <p:txBody>
          <a:bodyPr wrap="square" lIns="0" tIns="0" rIns="0" bIns="0" anchor="t">
            <a:normAutofit fontScale="91930"/>
          </a:bodyPr>
          <a:lstStyle/>
          <a:p>
            <a:pPr algn="ctr">
              <a:buNone/>
              <a:defRPr sz="1875" b="0" i="0">
                <a:solidFill>
                  <a:srgbClr val="111111"/>
                </a:solidFill>
                <a:latin typeface="Georgia"/>
                <a:ea typeface="Georgia"/>
                <a:cs typeface="Georgia"/>
              </a:defRPr>
            </a:pPr>
            <a:r>
              <a:rPr sz="1875" b="0" i="0">
                <a:solidFill>
                  <a:srgbClr val="111111"/>
                </a:solidFill>
                <a:latin typeface="Georgia"/>
                <a:ea typeface="Georgia"/>
                <a:cs typeface="Georgia"/>
              </a:rPr>
              <a:t>Approve the bounded direction and proof programme—not critical production scale.</a:t>
            </a:r>
          </a:p>
        </p:txBody>
      </p:sp>
    </p:spTree>
    <p:extLst>
      <p:ext uri="{BB962C8B-B14F-4D97-AF65-F5344CB8AC3E}">
        <p14:creationId xmlns:p14="http://schemas.microsoft.com/office/powerpoint/2010/main" val="9180691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BD97F51-AD4E-4A12-AABC-A60FE3D2F74E}"/>
              </a:ext>
            </a:extLst>
          </p:cNvPr>
          <p:cNvSpPr>
            <a:spLocks noGrp="1"/>
          </p:cNvSpPr>
          <p:nvPr/>
        </p:nvSpPr>
        <p:spPr>
          <a:xfrm>
            <a:off x="0" y="0"/>
            <a:ext cx="12192000" cy="266700"/>
          </a:xfrm>
          <a:prstGeom prst="rect">
            <a:avLst/>
          </a:prstGeom>
          <a:solidFill>
            <a:srgbClr val="FFC72C"/>
          </a:solidFill>
          <a:ln w="0">
            <a:noFill/>
            <a:prstDash val="solid"/>
          </a:ln>
        </p:spPr>
        <p:txBody>
          <a:bodyPr/>
          <a:lstStyle/>
          <a:p>
            <a:endParaRPr lang="en-US"/>
          </a:p>
        </p:txBody>
      </p:sp>
      <p:sp>
        <p:nvSpPr>
          <p:cNvPr id="2" name="Rectangle 1">
            <a:extLst>
              <a:ext uri="{FF2B5EF4-FFF2-40B4-BE49-F238E27FC236}">
                <a16:creationId xmlns:a16="http://schemas.microsoft.com/office/drawing/2014/main" id="{CF21F2D9-A100-431C-8143-FA0E630FA74F}"/>
              </a:ext>
            </a:extLst>
          </p:cNvPr>
          <p:cNvSpPr>
            <a:spLocks noGrp="1"/>
          </p:cNvSpPr>
          <p:nvPr/>
        </p:nvSpPr>
        <p:spPr>
          <a:xfrm>
            <a:off x="10668000" y="0"/>
            <a:ext cx="1524000" cy="266700"/>
          </a:xfrm>
          <a:prstGeom prst="rect">
            <a:avLst/>
          </a:prstGeom>
          <a:solidFill>
            <a:srgbClr val="5537D6"/>
          </a:solidFill>
          <a:ln w="0">
            <a:noFill/>
            <a:prstDash val="solid"/>
          </a:ln>
        </p:spPr>
        <p:txBody>
          <a:bodyPr/>
          <a:lstStyle/>
          <a:p>
            <a:endParaRPr lang="en-US"/>
          </a:p>
        </p:txBody>
      </p:sp>
      <p:sp>
        <p:nvSpPr>
          <p:cNvPr id="3" name="Rectangle 2">
            <a:extLst>
              <a:ext uri="{FF2B5EF4-FFF2-40B4-BE49-F238E27FC236}">
                <a16:creationId xmlns:a16="http://schemas.microsoft.com/office/drawing/2014/main" id="{43200EAA-050D-4A70-A989-B7A32197CA08}"/>
              </a:ext>
            </a:extLst>
          </p:cNvPr>
          <p:cNvSpPr>
            <a:spLocks noGrp="1"/>
          </p:cNvSpPr>
          <p:nvPr/>
        </p:nvSpPr>
        <p:spPr>
          <a:xfrm>
            <a:off x="609600" y="38100"/>
            <a:ext cx="3429000" cy="190500"/>
          </a:xfrm>
          <a:prstGeom prst="rect">
            <a:avLst/>
          </a:prstGeom>
          <a:noFill/>
          <a:ln w="0">
            <a:noFill/>
            <a:prstDash val="solid"/>
          </a:ln>
        </p:spPr>
        <p:txBody>
          <a:bodyPr wrap="square" lIns="0" tIns="0" rIns="0" bIns="0" anchor="t">
            <a:normAutofit/>
          </a:bodyPr>
          <a:lstStyle/>
          <a:p>
            <a:pPr algn="l">
              <a:buNone/>
              <a:defRPr sz="975" b="1" i="0">
                <a:solidFill>
                  <a:srgbClr val="111111"/>
                </a:solidFill>
                <a:latin typeface="Consolas"/>
                <a:ea typeface="Consolas"/>
                <a:cs typeface="Consolas"/>
              </a:defRPr>
            </a:pPr>
            <a:r>
              <a:rPr sz="975" b="1" i="0">
                <a:solidFill>
                  <a:srgbClr val="111111"/>
                </a:solidFill>
                <a:latin typeface="Consolas"/>
                <a:ea typeface="Consolas"/>
                <a:cs typeface="Consolas"/>
              </a:rPr>
              <a:t>22 / APPENDIX</a:t>
            </a:r>
          </a:p>
        </p:txBody>
      </p:sp>
      <p:sp>
        <p:nvSpPr>
          <p:cNvPr id="4" name="Rectangle 3">
            <a:extLst>
              <a:ext uri="{FF2B5EF4-FFF2-40B4-BE49-F238E27FC236}">
                <a16:creationId xmlns:a16="http://schemas.microsoft.com/office/drawing/2014/main" id="{C19F3FAC-60D7-430A-AF10-674197BAC8A4}"/>
              </a:ext>
            </a:extLst>
          </p:cNvPr>
          <p:cNvSpPr>
            <a:spLocks noGrp="1"/>
          </p:cNvSpPr>
          <p:nvPr/>
        </p:nvSpPr>
        <p:spPr>
          <a:xfrm>
            <a:off x="609600" y="428625"/>
            <a:ext cx="10572750" cy="1028700"/>
          </a:xfrm>
          <a:prstGeom prst="rect">
            <a:avLst/>
          </a:prstGeom>
          <a:noFill/>
          <a:ln w="0">
            <a:noFill/>
            <a:prstDash val="solid"/>
          </a:ln>
        </p:spPr>
        <p:txBody>
          <a:bodyPr wrap="square" lIns="0" tIns="0" rIns="0" bIns="0" anchor="t">
            <a:noAutofit/>
          </a:bodyPr>
          <a:lstStyle/>
          <a:p>
            <a:pPr algn="l">
              <a:buNone/>
              <a:defRPr sz="3225" b="1" i="0">
                <a:solidFill>
                  <a:srgbClr val="111111"/>
                </a:solidFill>
                <a:latin typeface="Arial"/>
                <a:ea typeface="Arial"/>
                <a:cs typeface="Arial"/>
              </a:defRPr>
            </a:pPr>
            <a:r>
              <a:rPr sz="3225" b="1" i="0">
                <a:solidFill>
                  <a:srgbClr val="111111"/>
                </a:solidFill>
                <a:latin typeface="Arial"/>
                <a:ea typeface="Arial"/>
                <a:cs typeface="Arial"/>
              </a:rPr>
              <a:t>Comparison input — architecture, multicloud and robustness</a:t>
            </a:r>
          </a:p>
        </p:txBody>
      </p:sp>
      <p:sp>
        <p:nvSpPr>
          <p:cNvPr id="5" name="Rectangle 4">
            <a:extLst>
              <a:ext uri="{FF2B5EF4-FFF2-40B4-BE49-F238E27FC236}">
                <a16:creationId xmlns:a16="http://schemas.microsoft.com/office/drawing/2014/main" id="{0771C010-B3EF-41F0-85D7-C5F652D0E19B}"/>
              </a:ext>
            </a:extLst>
          </p:cNvPr>
          <p:cNvSpPr>
            <a:spLocks noGrp="1"/>
          </p:cNvSpPr>
          <p:nvPr/>
        </p:nvSpPr>
        <p:spPr>
          <a:xfrm>
            <a:off x="628650" y="1514475"/>
            <a:ext cx="10382250" cy="323850"/>
          </a:xfrm>
          <a:prstGeom prst="rect">
            <a:avLst/>
          </a:prstGeom>
          <a:noFill/>
          <a:ln w="0">
            <a:noFill/>
            <a:prstDash val="solid"/>
          </a:ln>
        </p:spPr>
        <p:txBody>
          <a:bodyPr wrap="square" lIns="0" tIns="0" rIns="0" bIns="0" anchor="t">
            <a:noAutofit/>
          </a:bodyPr>
          <a:lstStyle/>
          <a:p>
            <a:pPr algn="l">
              <a:buNone/>
              <a:defRPr sz="1575" b="0" i="0">
                <a:solidFill>
                  <a:srgbClr val="686A66"/>
                </a:solidFill>
                <a:latin typeface="Arial"/>
                <a:ea typeface="Arial"/>
                <a:cs typeface="Arial"/>
              </a:defRPr>
            </a:pPr>
            <a:r>
              <a:rPr sz="1575" b="0" i="0">
                <a:solidFill>
                  <a:srgbClr val="686A66"/>
                </a:solidFill>
                <a:latin typeface="Arial"/>
                <a:ea typeface="Arial"/>
                <a:cs typeface="Arial"/>
              </a:rPr>
              <a:t>Supplied labels stay visible; scalability and recovery remain unscored until equivalent execution.</a:t>
            </a:r>
          </a:p>
        </p:txBody>
      </p:sp>
      <p:sp>
        <p:nvSpPr>
          <p:cNvPr id="6" name="Rectangle 5">
            <a:extLst>
              <a:ext uri="{FF2B5EF4-FFF2-40B4-BE49-F238E27FC236}">
                <a16:creationId xmlns:a16="http://schemas.microsoft.com/office/drawing/2014/main" id="{123F730E-9053-4114-8D08-B6E3BA7AC53A}"/>
              </a:ext>
            </a:extLst>
          </p:cNvPr>
          <p:cNvSpPr>
            <a:spLocks noGrp="1"/>
          </p:cNvSpPr>
          <p:nvPr/>
        </p:nvSpPr>
        <p:spPr>
          <a:xfrm>
            <a:off x="609600" y="1905000"/>
            <a:ext cx="10972800" cy="9525"/>
          </a:xfrm>
          <a:prstGeom prst="rect">
            <a:avLst/>
          </a:prstGeom>
          <a:solidFill>
            <a:srgbClr val="8A8B86"/>
          </a:solidFill>
          <a:ln w="0">
            <a:noFill/>
            <a:prstDash val="solid"/>
          </a:ln>
        </p:spPr>
        <p:txBody>
          <a:bodyPr/>
          <a:lstStyle/>
          <a:p>
            <a:endParaRPr lang="en-US"/>
          </a:p>
        </p:txBody>
      </p:sp>
      <p:sp>
        <p:nvSpPr>
          <p:cNvPr id="7" name="Rectangle 6">
            <a:extLst>
              <a:ext uri="{FF2B5EF4-FFF2-40B4-BE49-F238E27FC236}">
                <a16:creationId xmlns:a16="http://schemas.microsoft.com/office/drawing/2014/main" id="{D2D6F5C8-5897-4ADE-88C1-D4DDA58D0EBB}"/>
              </a:ext>
            </a:extLst>
          </p:cNvPr>
          <p:cNvSpPr>
            <a:spLocks noGrp="1"/>
          </p:cNvSpPr>
          <p:nvPr/>
        </p:nvSpPr>
        <p:spPr>
          <a:xfrm>
            <a:off x="609600" y="6524625"/>
            <a:ext cx="8858250" cy="180975"/>
          </a:xfrm>
          <a:prstGeom prst="rect">
            <a:avLst/>
          </a:prstGeom>
          <a:noFill/>
          <a:ln w="0">
            <a:noFill/>
            <a:prstDash val="solid"/>
          </a:ln>
        </p:spPr>
        <p:txBody>
          <a:bodyPr wrap="square" lIns="0" tIns="0" rIns="0" bIns="0" anchor="ctr">
            <a:normAutofit/>
          </a:bodyPr>
          <a:lstStyle/>
          <a:p>
            <a:pPr>
              <a:buNone/>
              <a:defRPr sz="825">
                <a:solidFill>
                  <a:srgbClr val="666762"/>
                </a:solidFill>
              </a:defRPr>
            </a:pPr>
            <a:r>
              <a:rPr sz="825" b="1">
                <a:solidFill>
                  <a:srgbClr val="666762"/>
                </a:solidFill>
              </a:rPr>
              <a:t>REFERENCES  </a:t>
            </a:r>
            <a:r>
              <a:rPr sz="825" u="sng">
                <a:solidFill>
                  <a:srgbClr val="666762"/>
                </a:solidFill>
                <a:hlinkClick r:id="rId3"/>
              </a:rPr>
              <a:t>Repo reference</a:t>
            </a:r>
            <a:r>
              <a:rPr sz="825">
                <a:solidFill>
                  <a:srgbClr val="666762"/>
                </a:solidFill>
              </a:rPr>
              <a:t>  ·  </a:t>
            </a:r>
            <a:r>
              <a:rPr sz="825" u="sng">
                <a:solidFill>
                  <a:srgbClr val="666762"/>
                </a:solidFill>
                <a:hlinkClick r:id="rId4"/>
              </a:rPr>
              <a:t>Official docs</a:t>
            </a:r>
          </a:p>
        </p:txBody>
      </p:sp>
      <p:sp>
        <p:nvSpPr>
          <p:cNvPr id="8" name="Rectangle 7">
            <a:extLst>
              <a:ext uri="{FF2B5EF4-FFF2-40B4-BE49-F238E27FC236}">
                <a16:creationId xmlns:a16="http://schemas.microsoft.com/office/drawing/2014/main" id="{668BC524-91EE-4C97-9D18-05C4786CD6F8}"/>
              </a:ext>
            </a:extLst>
          </p:cNvPr>
          <p:cNvSpPr>
            <a:spLocks noGrp="1"/>
          </p:cNvSpPr>
          <p:nvPr/>
        </p:nvSpPr>
        <p:spPr>
          <a:xfrm>
            <a:off x="10287000" y="6486525"/>
            <a:ext cx="1295400" cy="209550"/>
          </a:xfrm>
          <a:prstGeom prst="rect">
            <a:avLst/>
          </a:prstGeom>
          <a:noFill/>
          <a:ln w="0">
            <a:noFill/>
            <a:prstDash val="solid"/>
          </a:ln>
        </p:spPr>
        <p:txBody>
          <a:bodyPr wrap="square" lIns="0" tIns="0" rIns="0" bIns="0" anchor="t">
            <a:normAutofit/>
          </a:bodyPr>
          <a:lstStyle/>
          <a:p>
            <a:pPr algn="r">
              <a:buNone/>
              <a:defRPr sz="975" b="1" i="0">
                <a:solidFill>
                  <a:srgbClr val="686A66"/>
                </a:solidFill>
                <a:latin typeface="Consolas"/>
                <a:ea typeface="Consolas"/>
                <a:cs typeface="Consolas"/>
              </a:defRPr>
            </a:pPr>
            <a:r>
              <a:rPr sz="975" b="1" i="0">
                <a:solidFill>
                  <a:srgbClr val="686A66"/>
                </a:solidFill>
                <a:latin typeface="Consolas"/>
                <a:ea typeface="Consolas"/>
                <a:cs typeface="Consolas"/>
              </a:rPr>
              <a:t>22 / 25</a:t>
            </a:r>
          </a:p>
        </p:txBody>
      </p:sp>
      <p:graphicFrame>
        <p:nvGraphicFramePr>
          <p:cNvPr id="20" name="Table 19"/>
          <p:cNvGraphicFramePr/>
          <p:nvPr/>
        </p:nvGraphicFramePr>
        <p:xfrm>
          <a:off x="609600" y="2057400"/>
          <a:ext cx="10972800" cy="3771900"/>
        </p:xfrm>
        <a:graphic>
          <a:graphicData uri="http://schemas.openxmlformats.org/drawingml/2006/table">
            <a:tbl>
              <a:tblPr/>
              <a:tblGrid>
                <a:gridCol w="1714500">
                  <a:extLst>
                    <a:ext uri="{9D8B030D-6E8A-4147-A177-3AD203B41FA5}">
                      <a16:colId xmlns:a16="http://schemas.microsoft.com/office/drawing/2014/main" val="20000"/>
                    </a:ext>
                  </a:extLst>
                </a:gridCol>
                <a:gridCol w="2095500">
                  <a:extLst>
                    <a:ext uri="{9D8B030D-6E8A-4147-A177-3AD203B41FA5}">
                      <a16:colId xmlns:a16="http://schemas.microsoft.com/office/drawing/2014/main" val="20001"/>
                    </a:ext>
                  </a:extLst>
                </a:gridCol>
                <a:gridCol w="2095500">
                  <a:extLst>
                    <a:ext uri="{9D8B030D-6E8A-4147-A177-3AD203B41FA5}">
                      <a16:colId xmlns:a16="http://schemas.microsoft.com/office/drawing/2014/main" val="20002"/>
                    </a:ext>
                  </a:extLst>
                </a:gridCol>
                <a:gridCol w="2095500">
                  <a:extLst>
                    <a:ext uri="{9D8B030D-6E8A-4147-A177-3AD203B41FA5}">
                      <a16:colId xmlns:a16="http://schemas.microsoft.com/office/drawing/2014/main" val="20003"/>
                    </a:ext>
                  </a:extLst>
                </a:gridCol>
                <a:gridCol w="2971800">
                  <a:extLst>
                    <a:ext uri="{9D8B030D-6E8A-4147-A177-3AD203B41FA5}">
                      <a16:colId xmlns:a16="http://schemas.microsoft.com/office/drawing/2014/main" val="20004"/>
                    </a:ext>
                  </a:extLst>
                </a:gridCol>
              </a:tblGrid>
              <a:tr h="538843">
                <a:tc>
                  <a:txBody>
                    <a:bodyPr/>
                    <a:lstStyle/>
                    <a:p>
                      <a:r>
                        <a:t>Dimension</a:t>
                      </a:r>
                    </a:p>
                  </a:txBody>
                  <a:tcPr/>
                </a:tc>
                <a:tc>
                  <a:txBody>
                    <a:bodyPr/>
                    <a:lstStyle/>
                    <a:p>
                      <a:r>
                        <a:t>Kong</a:t>
                      </a:r>
                    </a:p>
                  </a:txBody>
                  <a:tcPr/>
                </a:tc>
                <a:tc>
                  <a:txBody>
                    <a:bodyPr/>
                    <a:lstStyle/>
                    <a:p>
                      <a:r>
                        <a:t>Apigee</a:t>
                      </a:r>
                    </a:p>
                  </a:txBody>
                  <a:tcPr/>
                </a:tc>
                <a:tc>
                  <a:txBody>
                    <a:bodyPr/>
                    <a:lstStyle/>
                    <a:p>
                      <a:r>
                        <a:t>MuleSoft</a:t>
                      </a:r>
                    </a:p>
                  </a:txBody>
                  <a:tcPr/>
                </a:tc>
                <a:tc>
                  <a:txBody>
                    <a:bodyPr/>
                    <a:lstStyle/>
                    <a:p>
                      <a:r>
                        <a:t>Decision use</a:t>
                      </a:r>
                    </a:p>
                  </a:txBody>
                  <a:tcPr/>
                </a:tc>
                <a:extLst>
                  <a:ext uri="{0D108BD9-81ED-4DB2-BD59-A6C34878D82A}">
                    <a16:rowId xmlns:a16="http://schemas.microsoft.com/office/drawing/2014/main" val="10000"/>
                  </a:ext>
                </a:extLst>
              </a:tr>
              <a:tr h="538843">
                <a:tc>
                  <a:txBody>
                    <a:bodyPr/>
                    <a:lstStyle/>
                    <a:p>
                      <a:r>
                        <a:t>Primary focus</a:t>
                      </a:r>
                    </a:p>
                  </a:txBody>
                  <a:tcPr/>
                </a:tc>
                <a:tc>
                  <a:txBody>
                    <a:bodyPr/>
                    <a:lstStyle/>
                    <a:p>
                      <a:r>
                        <a:t>Connectivity platform</a:t>
                      </a:r>
                    </a:p>
                  </a:txBody>
                  <a:tcPr/>
                </a:tc>
                <a:tc>
                  <a:txBody>
                    <a:bodyPr/>
                    <a:lstStyle/>
                    <a:p>
                      <a:r>
                        <a:t>Enterprise API management</a:t>
                      </a:r>
                    </a:p>
                  </a:txBody>
                  <a:tcPr/>
                </a:tc>
                <a:tc>
                  <a:txBody>
                    <a:bodyPr/>
                    <a:lstStyle/>
                    <a:p>
                      <a:r>
                        <a:t>API mgmt in Anypoint</a:t>
                      </a:r>
                    </a:p>
                  </a:txBody>
                  <a:tcPr/>
                </a:tc>
                <a:tc>
                  <a:txBody>
                    <a:bodyPr/>
                    <a:lstStyle/>
                    <a:p>
                      <a:r>
                        <a:t>Operating model</a:t>
                      </a:r>
                    </a:p>
                  </a:txBody>
                  <a:tcPr/>
                </a:tc>
                <a:extLst>
                  <a:ext uri="{0D108BD9-81ED-4DB2-BD59-A6C34878D82A}">
                    <a16:rowId xmlns:a16="http://schemas.microsoft.com/office/drawing/2014/main" val="10001"/>
                  </a:ext>
                </a:extLst>
              </a:tr>
              <a:tr h="538843">
                <a:tc>
                  <a:txBody>
                    <a:bodyPr/>
                    <a:lstStyle/>
                    <a:p>
                      <a:r>
                        <a:t>Control / runtime</a:t>
                      </a:r>
                    </a:p>
                  </a:txBody>
                  <a:tcPr/>
                </a:tc>
                <a:tc>
                  <a:txBody>
                    <a:bodyPr/>
                    <a:lstStyle/>
                    <a:p>
                      <a:r>
                        <a:t>Hybrid CP / DP</a:t>
                      </a:r>
                    </a:p>
                  </a:txBody>
                  <a:tcPr/>
                </a:tc>
                <a:tc>
                  <a:txBody>
                    <a:bodyPr/>
                    <a:lstStyle/>
                    <a:p>
                      <a:r>
                        <a:t>Google mgmt + K8s runtime</a:t>
                      </a:r>
                    </a:p>
                  </a:txBody>
                  <a:tcPr/>
                </a:tc>
                <a:tc>
                  <a:txBody>
                    <a:bodyPr/>
                    <a:lstStyle/>
                    <a:p>
                      <a:r>
                        <a:t>Managed or self-managed gateway</a:t>
                      </a:r>
                    </a:p>
                  </a:txBody>
                  <a:tcPr/>
                </a:tc>
                <a:tc>
                  <a:txBody>
                    <a:bodyPr/>
                    <a:lstStyle/>
                    <a:p>
                      <a:r>
                        <a:t>Custody + duty</a:t>
                      </a:r>
                    </a:p>
                  </a:txBody>
                  <a:tcPr/>
                </a:tc>
                <a:extLst>
                  <a:ext uri="{0D108BD9-81ED-4DB2-BD59-A6C34878D82A}">
                    <a16:rowId xmlns:a16="http://schemas.microsoft.com/office/drawing/2014/main" val="10002"/>
                  </a:ext>
                </a:extLst>
              </a:tr>
              <a:tr h="538843">
                <a:tc>
                  <a:txBody>
                    <a:bodyPr/>
                    <a:lstStyle/>
                    <a:p>
                      <a:r>
                        <a:t>Kubernetes / GitOps</a:t>
                      </a:r>
                    </a:p>
                  </a:txBody>
                  <a:tcPr/>
                </a:tc>
                <a:tc>
                  <a:txBody>
                    <a:bodyPr/>
                    <a:lstStyle/>
                    <a:p>
                      <a:r>
                        <a:t>Supplied: Excellent</a:t>
                      </a:r>
                    </a:p>
                  </a:txBody>
                  <a:tcPr/>
                </a:tc>
                <a:tc>
                  <a:txBody>
                    <a:bodyPr/>
                    <a:lstStyle/>
                    <a:p>
                      <a:r>
                        <a:t>Hybrid runtime / tools</a:t>
                      </a:r>
                    </a:p>
                  </a:txBody>
                  <a:tcPr/>
                </a:tc>
                <a:tc>
                  <a:txBody>
                    <a:bodyPr/>
                    <a:lstStyle/>
                    <a:p>
                      <a:r>
                        <a:t>Supplied: Good / Moderate</a:t>
                      </a:r>
                    </a:p>
                  </a:txBody>
                  <a:tcPr/>
                </a:tc>
                <a:tc>
                  <a:txBody>
                    <a:bodyPr/>
                    <a:lstStyle/>
                    <a:p>
                      <a:r>
                        <a:t>Versioned delivery proof</a:t>
                      </a:r>
                    </a:p>
                  </a:txBody>
                  <a:tcPr/>
                </a:tc>
                <a:extLst>
                  <a:ext uri="{0D108BD9-81ED-4DB2-BD59-A6C34878D82A}">
                    <a16:rowId xmlns:a16="http://schemas.microsoft.com/office/drawing/2014/main" val="10003"/>
                  </a:ext>
                </a:extLst>
              </a:tr>
              <a:tr h="538843">
                <a:tc>
                  <a:txBody>
                    <a:bodyPr/>
                    <a:lstStyle/>
                    <a:p>
                      <a:r>
                        <a:t>Observability</a:t>
                      </a:r>
                    </a:p>
                  </a:txBody>
                  <a:tcPr/>
                </a:tc>
                <a:tc>
                  <a:txBody>
                    <a:bodyPr/>
                    <a:lstStyle/>
                    <a:p>
                      <a:r>
                        <a:t>OTel / Prometheus</a:t>
                      </a:r>
                    </a:p>
                  </a:txBody>
                  <a:tcPr/>
                </a:tc>
                <a:tc>
                  <a:txBody>
                    <a:bodyPr/>
                    <a:lstStyle/>
                    <a:p>
                      <a:r>
                        <a:t>Analytics + monitoring</a:t>
                      </a:r>
                    </a:p>
                  </a:txBody>
                  <a:tcPr/>
                </a:tc>
                <a:tc>
                  <a:txBody>
                    <a:bodyPr/>
                    <a:lstStyle/>
                    <a:p>
                      <a:r>
                        <a:t>Anypoint monitoring</a:t>
                      </a:r>
                    </a:p>
                  </a:txBody>
                  <a:tcPr/>
                </a:tc>
                <a:tc>
                  <a:txBody>
                    <a:bodyPr/>
                    <a:lstStyle/>
                    <a:p>
                      <a:r>
                        <a:t>Export + custody test</a:t>
                      </a:r>
                    </a:p>
                  </a:txBody>
                  <a:tcPr/>
                </a:tc>
                <a:extLst>
                  <a:ext uri="{0D108BD9-81ED-4DB2-BD59-A6C34878D82A}">
                    <a16:rowId xmlns:a16="http://schemas.microsoft.com/office/drawing/2014/main" val="10004"/>
                  </a:ext>
                </a:extLst>
              </a:tr>
              <a:tr h="538843">
                <a:tc>
                  <a:txBody>
                    <a:bodyPr/>
                    <a:lstStyle/>
                    <a:p>
                      <a:r>
                        <a:t>Multicloud</a:t>
                      </a:r>
                    </a:p>
                  </a:txBody>
                  <a:tcPr/>
                </a:tc>
                <a:tc>
                  <a:txBody>
                    <a:bodyPr/>
                    <a:lstStyle/>
                    <a:p>
                      <a:r>
                        <a:t>Supplied: Excellent</a:t>
                      </a:r>
                    </a:p>
                  </a:txBody>
                  <a:tcPr/>
                </a:tc>
                <a:tc>
                  <a:txBody>
                    <a:bodyPr/>
                    <a:lstStyle/>
                    <a:p>
                      <a:r>
                        <a:t>Hybrid runtime</a:t>
                      </a:r>
                    </a:p>
                  </a:txBody>
                  <a:tcPr/>
                </a:tc>
                <a:tc>
                  <a:txBody>
                    <a:bodyPr/>
                    <a:lstStyle/>
                    <a:p>
                      <a:r>
                        <a:t>Supplied: Good</a:t>
                      </a:r>
                    </a:p>
                  </a:txBody>
                  <a:tcPr/>
                </a:tc>
                <a:tc>
                  <a:txBody>
                    <a:bodyPr/>
                    <a:lstStyle/>
                    <a:p>
                      <a:r>
                        <a:t>Placement + sovereignty</a:t>
                      </a:r>
                    </a:p>
                  </a:txBody>
                  <a:tcPr/>
                </a:tc>
                <a:extLst>
                  <a:ext uri="{0D108BD9-81ED-4DB2-BD59-A6C34878D82A}">
                    <a16:rowId xmlns:a16="http://schemas.microsoft.com/office/drawing/2014/main" val="10005"/>
                  </a:ext>
                </a:extLst>
              </a:tr>
              <a:tr h="538843">
                <a:tc>
                  <a:txBody>
                    <a:bodyPr/>
                    <a:lstStyle/>
                    <a:p>
                      <a:r>
                        <a:t>Scalability / robustness</a:t>
                      </a:r>
                    </a:p>
                  </a:txBody>
                  <a:tcPr/>
                </a:tc>
                <a:tc>
                  <a:txBody>
                    <a:bodyPr/>
                    <a:lstStyle/>
                    <a:p>
                      <a:r>
                        <a:t>Not supplied</a:t>
                      </a:r>
                    </a:p>
                  </a:txBody>
                  <a:tcPr/>
                </a:tc>
                <a:tc>
                  <a:txBody>
                    <a:bodyPr/>
                    <a:lstStyle/>
                    <a:p>
                      <a:r>
                        <a:t>Not supplied</a:t>
                      </a:r>
                    </a:p>
                  </a:txBody>
                  <a:tcPr/>
                </a:tc>
                <a:tc>
                  <a:txBody>
                    <a:bodyPr/>
                    <a:lstStyle/>
                    <a:p>
                      <a:r>
                        <a:t>Not supplied</a:t>
                      </a:r>
                    </a:p>
                  </a:txBody>
                  <a:tcPr/>
                </a:tc>
                <a:tc>
                  <a:txBody>
                    <a:bodyPr/>
                    <a:lstStyle/>
                    <a:p>
                      <a:r>
                        <a:t>Load + failure + recovery</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2076615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3DB5640-DD75-4E1A-9EF1-E961F02473FB}"/>
              </a:ext>
            </a:extLst>
          </p:cNvPr>
          <p:cNvSpPr>
            <a:spLocks noGrp="1"/>
          </p:cNvSpPr>
          <p:nvPr/>
        </p:nvSpPr>
        <p:spPr>
          <a:xfrm>
            <a:off x="0" y="0"/>
            <a:ext cx="12192000" cy="266700"/>
          </a:xfrm>
          <a:prstGeom prst="rect">
            <a:avLst/>
          </a:prstGeom>
          <a:solidFill>
            <a:srgbClr val="FFC72C"/>
          </a:solidFill>
          <a:ln w="0">
            <a:noFill/>
            <a:prstDash val="solid"/>
          </a:ln>
        </p:spPr>
        <p:txBody>
          <a:bodyPr/>
          <a:lstStyle/>
          <a:p>
            <a:endParaRPr lang="en-US"/>
          </a:p>
        </p:txBody>
      </p:sp>
      <p:sp>
        <p:nvSpPr>
          <p:cNvPr id="2" name="Rectangle 1">
            <a:extLst>
              <a:ext uri="{FF2B5EF4-FFF2-40B4-BE49-F238E27FC236}">
                <a16:creationId xmlns:a16="http://schemas.microsoft.com/office/drawing/2014/main" id="{71ED668A-9FED-495A-9F4A-699C82936A00}"/>
              </a:ext>
            </a:extLst>
          </p:cNvPr>
          <p:cNvSpPr>
            <a:spLocks noGrp="1"/>
          </p:cNvSpPr>
          <p:nvPr/>
        </p:nvSpPr>
        <p:spPr>
          <a:xfrm>
            <a:off x="10668000" y="0"/>
            <a:ext cx="1524000" cy="266700"/>
          </a:xfrm>
          <a:prstGeom prst="rect">
            <a:avLst/>
          </a:prstGeom>
          <a:solidFill>
            <a:srgbClr val="5537D6"/>
          </a:solidFill>
          <a:ln w="0">
            <a:noFill/>
            <a:prstDash val="solid"/>
          </a:ln>
        </p:spPr>
        <p:txBody>
          <a:bodyPr/>
          <a:lstStyle/>
          <a:p>
            <a:endParaRPr lang="en-US"/>
          </a:p>
        </p:txBody>
      </p:sp>
      <p:sp>
        <p:nvSpPr>
          <p:cNvPr id="3" name="Rectangle 2">
            <a:extLst>
              <a:ext uri="{FF2B5EF4-FFF2-40B4-BE49-F238E27FC236}">
                <a16:creationId xmlns:a16="http://schemas.microsoft.com/office/drawing/2014/main" id="{6E4BEA66-2546-4FDC-B88E-E39AF2E8B993}"/>
              </a:ext>
            </a:extLst>
          </p:cNvPr>
          <p:cNvSpPr>
            <a:spLocks noGrp="1"/>
          </p:cNvSpPr>
          <p:nvPr/>
        </p:nvSpPr>
        <p:spPr>
          <a:xfrm>
            <a:off x="609600" y="38100"/>
            <a:ext cx="3429000" cy="190500"/>
          </a:xfrm>
          <a:prstGeom prst="rect">
            <a:avLst/>
          </a:prstGeom>
          <a:noFill/>
          <a:ln w="0">
            <a:noFill/>
            <a:prstDash val="solid"/>
          </a:ln>
        </p:spPr>
        <p:txBody>
          <a:bodyPr wrap="square" lIns="0" tIns="0" rIns="0" bIns="0" anchor="t">
            <a:normAutofit/>
          </a:bodyPr>
          <a:lstStyle/>
          <a:p>
            <a:pPr algn="l">
              <a:buNone/>
              <a:defRPr sz="975" b="1" i="0">
                <a:solidFill>
                  <a:srgbClr val="111111"/>
                </a:solidFill>
                <a:latin typeface="Consolas"/>
                <a:ea typeface="Consolas"/>
                <a:cs typeface="Consolas"/>
              </a:defRPr>
            </a:pPr>
            <a:r>
              <a:rPr sz="975" b="1" i="0">
                <a:solidFill>
                  <a:srgbClr val="111111"/>
                </a:solidFill>
                <a:latin typeface="Consolas"/>
                <a:ea typeface="Consolas"/>
                <a:cs typeface="Consolas"/>
              </a:rPr>
              <a:t>23 / APPENDIX</a:t>
            </a:r>
          </a:p>
        </p:txBody>
      </p:sp>
      <p:sp>
        <p:nvSpPr>
          <p:cNvPr id="4" name="Rectangle 3">
            <a:extLst>
              <a:ext uri="{FF2B5EF4-FFF2-40B4-BE49-F238E27FC236}">
                <a16:creationId xmlns:a16="http://schemas.microsoft.com/office/drawing/2014/main" id="{B829ED92-DD7D-4471-86ED-F9FB06281F4A}"/>
              </a:ext>
            </a:extLst>
          </p:cNvPr>
          <p:cNvSpPr>
            <a:spLocks noGrp="1"/>
          </p:cNvSpPr>
          <p:nvPr/>
        </p:nvSpPr>
        <p:spPr>
          <a:xfrm>
            <a:off x="609600" y="428625"/>
            <a:ext cx="10572750" cy="1028700"/>
          </a:xfrm>
          <a:prstGeom prst="rect">
            <a:avLst/>
          </a:prstGeom>
          <a:noFill/>
          <a:ln w="0">
            <a:noFill/>
            <a:prstDash val="solid"/>
          </a:ln>
        </p:spPr>
        <p:txBody>
          <a:bodyPr wrap="square" lIns="0" tIns="0" rIns="0" bIns="0" anchor="t">
            <a:noAutofit/>
          </a:bodyPr>
          <a:lstStyle/>
          <a:p>
            <a:pPr algn="l">
              <a:buNone/>
              <a:defRPr sz="3150" b="1" i="0">
                <a:solidFill>
                  <a:srgbClr val="111111"/>
                </a:solidFill>
                <a:latin typeface="Arial"/>
                <a:ea typeface="Arial"/>
                <a:cs typeface="Arial"/>
              </a:defRPr>
            </a:pPr>
            <a:r>
              <a:rPr sz="3150" b="1" i="0">
                <a:solidFill>
                  <a:srgbClr val="111111"/>
                </a:solidFill>
                <a:latin typeface="Arial"/>
                <a:ea typeface="Arial"/>
                <a:cs typeface="Arial"/>
              </a:rPr>
              <a:t>Comparison input — management, AI and security traceability</a:t>
            </a:r>
          </a:p>
        </p:txBody>
      </p:sp>
      <p:sp>
        <p:nvSpPr>
          <p:cNvPr id="5" name="Rectangle 4">
            <a:extLst>
              <a:ext uri="{FF2B5EF4-FFF2-40B4-BE49-F238E27FC236}">
                <a16:creationId xmlns:a16="http://schemas.microsoft.com/office/drawing/2014/main" id="{D6EB387B-FFF0-4D2D-97A2-9498382110A3}"/>
              </a:ext>
            </a:extLst>
          </p:cNvPr>
          <p:cNvSpPr>
            <a:spLocks noGrp="1"/>
          </p:cNvSpPr>
          <p:nvPr/>
        </p:nvSpPr>
        <p:spPr>
          <a:xfrm>
            <a:off x="628650" y="1514475"/>
            <a:ext cx="10382250" cy="323850"/>
          </a:xfrm>
          <a:prstGeom prst="rect">
            <a:avLst/>
          </a:prstGeom>
          <a:noFill/>
          <a:ln w="0">
            <a:noFill/>
            <a:prstDash val="solid"/>
          </a:ln>
        </p:spPr>
        <p:txBody>
          <a:bodyPr wrap="square" lIns="0" tIns="0" rIns="0" bIns="0" anchor="t">
            <a:noAutofit/>
          </a:bodyPr>
          <a:lstStyle/>
          <a:p>
            <a:pPr algn="l">
              <a:buNone/>
              <a:defRPr sz="1575" b="0" i="0">
                <a:solidFill>
                  <a:srgbClr val="686A66"/>
                </a:solidFill>
                <a:latin typeface="Arial"/>
                <a:ea typeface="Arial"/>
                <a:cs typeface="Arial"/>
              </a:defRPr>
            </a:pPr>
            <a:r>
              <a:rPr sz="1575" b="0" i="0">
                <a:solidFill>
                  <a:srgbClr val="686A66"/>
                </a:solidFill>
                <a:latin typeface="Arial"/>
                <a:ea typeface="Arial"/>
                <a:cs typeface="Arial"/>
              </a:rPr>
              <a:t>Traceable is a documented third-party path—not proven Kong 3.14 production fit.</a:t>
            </a:r>
          </a:p>
        </p:txBody>
      </p:sp>
      <p:sp>
        <p:nvSpPr>
          <p:cNvPr id="6" name="Rectangle 5">
            <a:extLst>
              <a:ext uri="{FF2B5EF4-FFF2-40B4-BE49-F238E27FC236}">
                <a16:creationId xmlns:a16="http://schemas.microsoft.com/office/drawing/2014/main" id="{0E4D178F-15A3-4510-982D-F44A3686EE80}"/>
              </a:ext>
            </a:extLst>
          </p:cNvPr>
          <p:cNvSpPr>
            <a:spLocks noGrp="1"/>
          </p:cNvSpPr>
          <p:nvPr/>
        </p:nvSpPr>
        <p:spPr>
          <a:xfrm>
            <a:off x="609600" y="1905000"/>
            <a:ext cx="10972800" cy="9525"/>
          </a:xfrm>
          <a:prstGeom prst="rect">
            <a:avLst/>
          </a:prstGeom>
          <a:solidFill>
            <a:srgbClr val="8A8B86"/>
          </a:solidFill>
          <a:ln w="0">
            <a:noFill/>
            <a:prstDash val="solid"/>
          </a:ln>
        </p:spPr>
        <p:txBody>
          <a:bodyPr/>
          <a:lstStyle/>
          <a:p>
            <a:endParaRPr lang="en-US"/>
          </a:p>
        </p:txBody>
      </p:sp>
      <p:sp>
        <p:nvSpPr>
          <p:cNvPr id="7" name="Rectangle 6">
            <a:extLst>
              <a:ext uri="{FF2B5EF4-FFF2-40B4-BE49-F238E27FC236}">
                <a16:creationId xmlns:a16="http://schemas.microsoft.com/office/drawing/2014/main" id="{68C1CF90-644D-4235-9B8B-5EA3A3639309}"/>
              </a:ext>
            </a:extLst>
          </p:cNvPr>
          <p:cNvSpPr>
            <a:spLocks noGrp="1"/>
          </p:cNvSpPr>
          <p:nvPr/>
        </p:nvSpPr>
        <p:spPr>
          <a:xfrm>
            <a:off x="609600" y="6524625"/>
            <a:ext cx="8858250" cy="180975"/>
          </a:xfrm>
          <a:prstGeom prst="rect">
            <a:avLst/>
          </a:prstGeom>
          <a:noFill/>
          <a:ln w="0">
            <a:noFill/>
            <a:prstDash val="solid"/>
          </a:ln>
        </p:spPr>
        <p:txBody>
          <a:bodyPr wrap="square" lIns="0" tIns="0" rIns="0" bIns="0" anchor="ctr">
            <a:normAutofit/>
          </a:bodyPr>
          <a:lstStyle/>
          <a:p>
            <a:pPr>
              <a:buNone/>
              <a:defRPr sz="825">
                <a:solidFill>
                  <a:srgbClr val="666762"/>
                </a:solidFill>
              </a:defRPr>
            </a:pPr>
            <a:r>
              <a:rPr sz="825" b="1">
                <a:solidFill>
                  <a:srgbClr val="666762"/>
                </a:solidFill>
              </a:rPr>
              <a:t>REFERENCES  </a:t>
            </a:r>
            <a:r>
              <a:rPr sz="825" u="sng">
                <a:solidFill>
                  <a:srgbClr val="666762"/>
                </a:solidFill>
                <a:hlinkClick r:id="rId3"/>
              </a:rPr>
              <a:t>Repo reference</a:t>
            </a:r>
            <a:r>
              <a:rPr sz="825">
                <a:solidFill>
                  <a:srgbClr val="666762"/>
                </a:solidFill>
              </a:rPr>
              <a:t>  ·  </a:t>
            </a:r>
            <a:r>
              <a:rPr sz="825" u="sng">
                <a:solidFill>
                  <a:srgbClr val="666762"/>
                </a:solidFill>
                <a:hlinkClick r:id="rId4"/>
              </a:rPr>
              <a:t>Official docs</a:t>
            </a:r>
          </a:p>
        </p:txBody>
      </p:sp>
      <p:sp>
        <p:nvSpPr>
          <p:cNvPr id="8" name="Rectangle 7">
            <a:extLst>
              <a:ext uri="{FF2B5EF4-FFF2-40B4-BE49-F238E27FC236}">
                <a16:creationId xmlns:a16="http://schemas.microsoft.com/office/drawing/2014/main" id="{842C8E08-6D8B-4C92-8093-0DAB8FA22C7E}"/>
              </a:ext>
            </a:extLst>
          </p:cNvPr>
          <p:cNvSpPr>
            <a:spLocks noGrp="1"/>
          </p:cNvSpPr>
          <p:nvPr/>
        </p:nvSpPr>
        <p:spPr>
          <a:xfrm>
            <a:off x="10287000" y="6486525"/>
            <a:ext cx="1295400" cy="209550"/>
          </a:xfrm>
          <a:prstGeom prst="rect">
            <a:avLst/>
          </a:prstGeom>
          <a:noFill/>
          <a:ln w="0">
            <a:noFill/>
            <a:prstDash val="solid"/>
          </a:ln>
        </p:spPr>
        <p:txBody>
          <a:bodyPr wrap="square" lIns="0" tIns="0" rIns="0" bIns="0" anchor="t">
            <a:normAutofit/>
          </a:bodyPr>
          <a:lstStyle/>
          <a:p>
            <a:pPr algn="r">
              <a:buNone/>
              <a:defRPr sz="975" b="1" i="0">
                <a:solidFill>
                  <a:srgbClr val="686A66"/>
                </a:solidFill>
                <a:latin typeface="Consolas"/>
                <a:ea typeface="Consolas"/>
                <a:cs typeface="Consolas"/>
              </a:defRPr>
            </a:pPr>
            <a:r>
              <a:rPr sz="975" b="1" i="0">
                <a:solidFill>
                  <a:srgbClr val="686A66"/>
                </a:solidFill>
                <a:latin typeface="Consolas"/>
                <a:ea typeface="Consolas"/>
                <a:cs typeface="Consolas"/>
              </a:rPr>
              <a:t>23 / 25</a:t>
            </a:r>
          </a:p>
        </p:txBody>
      </p:sp>
      <p:graphicFrame>
        <p:nvGraphicFramePr>
          <p:cNvPr id="20" name="Table 19"/>
          <p:cNvGraphicFramePr/>
          <p:nvPr/>
        </p:nvGraphicFramePr>
        <p:xfrm>
          <a:off x="609600" y="2057400"/>
          <a:ext cx="10972800" cy="3771900"/>
        </p:xfrm>
        <a:graphic>
          <a:graphicData uri="http://schemas.openxmlformats.org/drawingml/2006/table">
            <a:tbl>
              <a:tblPr/>
              <a:tblGrid>
                <a:gridCol w="1714500">
                  <a:extLst>
                    <a:ext uri="{9D8B030D-6E8A-4147-A177-3AD203B41FA5}">
                      <a16:colId xmlns:a16="http://schemas.microsoft.com/office/drawing/2014/main" val="20000"/>
                    </a:ext>
                  </a:extLst>
                </a:gridCol>
                <a:gridCol w="2095500">
                  <a:extLst>
                    <a:ext uri="{9D8B030D-6E8A-4147-A177-3AD203B41FA5}">
                      <a16:colId xmlns:a16="http://schemas.microsoft.com/office/drawing/2014/main" val="20001"/>
                    </a:ext>
                  </a:extLst>
                </a:gridCol>
                <a:gridCol w="2095500">
                  <a:extLst>
                    <a:ext uri="{9D8B030D-6E8A-4147-A177-3AD203B41FA5}">
                      <a16:colId xmlns:a16="http://schemas.microsoft.com/office/drawing/2014/main" val="20002"/>
                    </a:ext>
                  </a:extLst>
                </a:gridCol>
                <a:gridCol w="2095500">
                  <a:extLst>
                    <a:ext uri="{9D8B030D-6E8A-4147-A177-3AD203B41FA5}">
                      <a16:colId xmlns:a16="http://schemas.microsoft.com/office/drawing/2014/main" val="20003"/>
                    </a:ext>
                  </a:extLst>
                </a:gridCol>
                <a:gridCol w="2971800">
                  <a:extLst>
                    <a:ext uri="{9D8B030D-6E8A-4147-A177-3AD203B41FA5}">
                      <a16:colId xmlns:a16="http://schemas.microsoft.com/office/drawing/2014/main" val="20004"/>
                    </a:ext>
                  </a:extLst>
                </a:gridCol>
              </a:tblGrid>
              <a:tr h="538843">
                <a:tc>
                  <a:txBody>
                    <a:bodyPr/>
                    <a:lstStyle/>
                    <a:p>
                      <a:r>
                        <a:t>Dimension</a:t>
                      </a:r>
                    </a:p>
                  </a:txBody>
                  <a:tcPr/>
                </a:tc>
                <a:tc>
                  <a:txBody>
                    <a:bodyPr/>
                    <a:lstStyle/>
                    <a:p>
                      <a:r>
                        <a:t>Kong</a:t>
                      </a:r>
                    </a:p>
                  </a:txBody>
                  <a:tcPr/>
                </a:tc>
                <a:tc>
                  <a:txBody>
                    <a:bodyPr/>
                    <a:lstStyle/>
                    <a:p>
                      <a:r>
                        <a:t>Apigee</a:t>
                      </a:r>
                    </a:p>
                  </a:txBody>
                  <a:tcPr/>
                </a:tc>
                <a:tc>
                  <a:txBody>
                    <a:bodyPr/>
                    <a:lstStyle/>
                    <a:p>
                      <a:r>
                        <a:t>MuleSoft</a:t>
                      </a:r>
                    </a:p>
                  </a:txBody>
                  <a:tcPr/>
                </a:tc>
                <a:tc>
                  <a:txBody>
                    <a:bodyPr/>
                    <a:lstStyle/>
                    <a:p>
                      <a:r>
                        <a:t>Evidence required</a:t>
                      </a:r>
                    </a:p>
                  </a:txBody>
                  <a:tcPr/>
                </a:tc>
                <a:extLst>
                  <a:ext uri="{0D108BD9-81ED-4DB2-BD59-A6C34878D82A}">
                    <a16:rowId xmlns:a16="http://schemas.microsoft.com/office/drawing/2014/main" val="10000"/>
                  </a:ext>
                </a:extLst>
              </a:tr>
              <a:tr h="538843">
                <a:tc>
                  <a:txBody>
                    <a:bodyPr/>
                    <a:lstStyle/>
                    <a:p>
                      <a:r>
                        <a:t>Lifecycle / governance</a:t>
                      </a:r>
                    </a:p>
                  </a:txBody>
                  <a:tcPr/>
                </a:tc>
                <a:tc>
                  <a:txBody>
                    <a:bodyPr/>
                    <a:lstStyle/>
                    <a:p>
                      <a:r>
                        <a:t>Supplied: Good</a:t>
                      </a:r>
                    </a:p>
                  </a:txBody>
                  <a:tcPr/>
                </a:tc>
                <a:tc>
                  <a:txBody>
                    <a:bodyPr/>
                    <a:lstStyle/>
                    <a:p>
                      <a:r>
                        <a:t>Supplied: Excellent</a:t>
                      </a:r>
                    </a:p>
                  </a:txBody>
                  <a:tcPr/>
                </a:tc>
                <a:tc>
                  <a:txBody>
                    <a:bodyPr/>
                    <a:lstStyle/>
                    <a:p>
                      <a:r>
                        <a:t>Supplied: Excellent</a:t>
                      </a:r>
                    </a:p>
                  </a:txBody>
                  <a:tcPr/>
                </a:tc>
                <a:tc>
                  <a:txBody>
                    <a:bodyPr/>
                    <a:lstStyle/>
                    <a:p>
                      <a:r>
                        <a:t>Required product use cases</a:t>
                      </a:r>
                    </a:p>
                  </a:txBody>
                  <a:tcPr/>
                </a:tc>
                <a:extLst>
                  <a:ext uri="{0D108BD9-81ED-4DB2-BD59-A6C34878D82A}">
                    <a16:rowId xmlns:a16="http://schemas.microsoft.com/office/drawing/2014/main" val="10001"/>
                  </a:ext>
                </a:extLst>
              </a:tr>
              <a:tr h="538843">
                <a:tc>
                  <a:txBody>
                    <a:bodyPr/>
                    <a:lstStyle/>
                    <a:p>
                      <a:r>
                        <a:t>Portal / product</a:t>
                      </a:r>
                    </a:p>
                  </a:txBody>
                  <a:tcPr/>
                </a:tc>
                <a:tc>
                  <a:txBody>
                    <a:bodyPr/>
                    <a:lstStyle/>
                    <a:p>
                      <a:r>
                        <a:t>Supplied: Good</a:t>
                      </a:r>
                    </a:p>
                  </a:txBody>
                  <a:tcPr/>
                </a:tc>
                <a:tc>
                  <a:txBody>
                    <a:bodyPr/>
                    <a:lstStyle/>
                    <a:p>
                      <a:r>
                        <a:t>Supplied: Excellent</a:t>
                      </a:r>
                    </a:p>
                  </a:txBody>
                  <a:tcPr/>
                </a:tc>
                <a:tc>
                  <a:txBody>
                    <a:bodyPr/>
                    <a:lstStyle/>
                    <a:p>
                      <a:r>
                        <a:t>Supplied: Excellent</a:t>
                      </a:r>
                    </a:p>
                  </a:txBody>
                  <a:tcPr/>
                </a:tc>
                <a:tc>
                  <a:txBody>
                    <a:bodyPr/>
                    <a:lstStyle/>
                    <a:p>
                      <a:r>
                        <a:t>Adjacent tooling map</a:t>
                      </a:r>
                    </a:p>
                  </a:txBody>
                  <a:tcPr/>
                </a:tc>
                <a:extLst>
                  <a:ext uri="{0D108BD9-81ED-4DB2-BD59-A6C34878D82A}">
                    <a16:rowId xmlns:a16="http://schemas.microsoft.com/office/drawing/2014/main" val="10002"/>
                  </a:ext>
                </a:extLst>
              </a:tr>
              <a:tr h="538843">
                <a:tc>
                  <a:txBody>
                    <a:bodyPr/>
                    <a:lstStyle/>
                    <a:p>
                      <a:r>
                        <a:t>Developer experience</a:t>
                      </a:r>
                    </a:p>
                  </a:txBody>
                  <a:tcPr/>
                </a:tc>
                <a:tc>
                  <a:txBody>
                    <a:bodyPr/>
                    <a:lstStyle/>
                    <a:p>
                      <a:r>
                        <a:t>Supplied: Good</a:t>
                      </a:r>
                    </a:p>
                  </a:txBody>
                  <a:tcPr/>
                </a:tc>
                <a:tc>
                  <a:txBody>
                    <a:bodyPr/>
                    <a:lstStyle/>
                    <a:p>
                      <a:r>
                        <a:t>Supplied: Very Strong</a:t>
                      </a:r>
                    </a:p>
                  </a:txBody>
                  <a:tcPr/>
                </a:tc>
                <a:tc>
                  <a:txBody>
                    <a:bodyPr/>
                    <a:lstStyle/>
                    <a:p>
                      <a:r>
                        <a:t>Supplied: Very Strong</a:t>
                      </a:r>
                    </a:p>
                  </a:txBody>
                  <a:tcPr/>
                </a:tc>
                <a:tc>
                  <a:txBody>
                    <a:bodyPr/>
                    <a:lstStyle/>
                    <a:p>
                      <a:r>
                        <a:t>Paved-road usability</a:t>
                      </a:r>
                    </a:p>
                  </a:txBody>
                  <a:tcPr/>
                </a:tc>
                <a:extLst>
                  <a:ext uri="{0D108BD9-81ED-4DB2-BD59-A6C34878D82A}">
                    <a16:rowId xmlns:a16="http://schemas.microsoft.com/office/drawing/2014/main" val="10003"/>
                  </a:ext>
                </a:extLst>
              </a:tr>
              <a:tr h="538843">
                <a:tc>
                  <a:txBody>
                    <a:bodyPr/>
                    <a:lstStyle/>
                    <a:p>
                      <a:r>
                        <a:t>AI traffic</a:t>
                      </a:r>
                    </a:p>
                  </a:txBody>
                  <a:tcPr/>
                </a:tc>
                <a:tc>
                  <a:txBody>
                    <a:bodyPr/>
                    <a:lstStyle/>
                    <a:p>
                      <a:r>
                        <a:t>AI Gateway incl. MCP/A2A</a:t>
                      </a:r>
                    </a:p>
                  </a:txBody>
                  <a:tcPr/>
                </a:tc>
                <a:tc>
                  <a:txBody>
                    <a:bodyPr/>
                    <a:lstStyle/>
                    <a:p>
                      <a:r>
                        <a:t>AI policy / GenAI features</a:t>
                      </a:r>
                    </a:p>
                  </a:txBody>
                  <a:tcPr/>
                </a:tc>
                <a:tc>
                  <a:txBody>
                    <a:bodyPr/>
                    <a:lstStyle/>
                    <a:p>
                      <a:r>
                        <a:t>MCP/A2A gateway traffic</a:t>
                      </a:r>
                    </a:p>
                  </a:txBody>
                  <a:tcPr/>
                </a:tc>
                <a:tc>
                  <a:txBody>
                    <a:bodyPr/>
                    <a:lstStyle/>
                    <a:p>
                      <a:r>
                        <a:t>Versioned use case</a:t>
                      </a:r>
                    </a:p>
                  </a:txBody>
                  <a:tcPr/>
                </a:tc>
                <a:extLst>
                  <a:ext uri="{0D108BD9-81ED-4DB2-BD59-A6C34878D82A}">
                    <a16:rowId xmlns:a16="http://schemas.microsoft.com/office/drawing/2014/main" val="10004"/>
                  </a:ext>
                </a:extLst>
              </a:tr>
              <a:tr h="538843">
                <a:tc>
                  <a:txBody>
                    <a:bodyPr/>
                    <a:lstStyle/>
                    <a:p>
                      <a:r>
                        <a:t>Customization</a:t>
                      </a:r>
                    </a:p>
                  </a:txBody>
                  <a:tcPr/>
                </a:tc>
                <a:tc>
                  <a:txBody>
                    <a:bodyPr/>
                    <a:lstStyle/>
                    <a:p>
                      <a:r>
                        <a:t>Plugin framework</a:t>
                      </a:r>
                    </a:p>
                  </a:txBody>
                  <a:tcPr/>
                </a:tc>
                <a:tc>
                  <a:txBody>
                    <a:bodyPr/>
                    <a:lstStyle/>
                    <a:p>
                      <a:r>
                        <a:t>Policy framework</a:t>
                      </a:r>
                    </a:p>
                  </a:txBody>
                  <a:tcPr/>
                </a:tc>
                <a:tc>
                  <a:txBody>
                    <a:bodyPr/>
                    <a:lstStyle/>
                    <a:p>
                      <a:r>
                        <a:t>Supplied: Moderate</a:t>
                      </a:r>
                    </a:p>
                  </a:txBody>
                  <a:tcPr/>
                </a:tc>
                <a:tc>
                  <a:txBody>
                    <a:bodyPr/>
                    <a:lstStyle/>
                    <a:p>
                      <a:r>
                        <a:t>Support + upgrade path</a:t>
                      </a:r>
                    </a:p>
                  </a:txBody>
                  <a:tcPr/>
                </a:tc>
                <a:extLst>
                  <a:ext uri="{0D108BD9-81ED-4DB2-BD59-A6C34878D82A}">
                    <a16:rowId xmlns:a16="http://schemas.microsoft.com/office/drawing/2014/main" val="10005"/>
                  </a:ext>
                </a:extLst>
              </a:tr>
              <a:tr h="538843">
                <a:tc>
                  <a:txBody>
                    <a:bodyPr/>
                    <a:lstStyle/>
                    <a:p>
                      <a:r>
                        <a:t>Traceable adjunct</a:t>
                      </a:r>
                    </a:p>
                  </a:txBody>
                  <a:tcPr/>
                </a:tc>
                <a:tc>
                  <a:txBody>
                    <a:bodyPr/>
                    <a:lstStyle/>
                    <a:p>
                      <a:r>
                        <a:t>Plugin → Platform Agent</a:t>
                      </a:r>
                    </a:p>
                  </a:txBody>
                  <a:tcPr/>
                </a:tc>
                <a:tc>
                  <a:txBody>
                    <a:bodyPr/>
                    <a:lstStyle/>
                    <a:p>
                      <a:r>
                        <a:t>Not assessed</a:t>
                      </a:r>
                    </a:p>
                  </a:txBody>
                  <a:tcPr/>
                </a:tc>
                <a:tc>
                  <a:txBody>
                    <a:bodyPr/>
                    <a:lstStyle/>
                    <a:p>
                      <a:r>
                        <a:t>Custom-policy baseline</a:t>
                      </a:r>
                    </a:p>
                  </a:txBody>
                  <a:tcPr/>
                </a:tc>
                <a:tc>
                  <a:txBody>
                    <a:bodyPr/>
                    <a:lstStyle/>
                    <a:p>
                      <a:r>
                        <a:t>Run GEP-07; do not score</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6104874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BBB8278-363F-426E-A77F-6CDE3FC7CBA0}"/>
              </a:ext>
            </a:extLst>
          </p:cNvPr>
          <p:cNvSpPr>
            <a:spLocks noGrp="1"/>
          </p:cNvSpPr>
          <p:nvPr/>
        </p:nvSpPr>
        <p:spPr>
          <a:xfrm>
            <a:off x="0" y="0"/>
            <a:ext cx="12192000" cy="266700"/>
          </a:xfrm>
          <a:prstGeom prst="rect">
            <a:avLst/>
          </a:prstGeom>
          <a:solidFill>
            <a:srgbClr val="FFC72C"/>
          </a:solidFill>
          <a:ln w="0">
            <a:noFill/>
            <a:prstDash val="solid"/>
          </a:ln>
        </p:spPr>
        <p:txBody>
          <a:bodyPr/>
          <a:lstStyle/>
          <a:p>
            <a:endParaRPr lang="en-US"/>
          </a:p>
        </p:txBody>
      </p:sp>
      <p:sp>
        <p:nvSpPr>
          <p:cNvPr id="2" name="Rectangle 1">
            <a:extLst>
              <a:ext uri="{FF2B5EF4-FFF2-40B4-BE49-F238E27FC236}">
                <a16:creationId xmlns:a16="http://schemas.microsoft.com/office/drawing/2014/main" id="{E4BFE34A-A2A2-4E4B-AA48-329DDEF31E96}"/>
              </a:ext>
            </a:extLst>
          </p:cNvPr>
          <p:cNvSpPr>
            <a:spLocks noGrp="1"/>
          </p:cNvSpPr>
          <p:nvPr/>
        </p:nvSpPr>
        <p:spPr>
          <a:xfrm>
            <a:off x="10668000" y="0"/>
            <a:ext cx="1524000" cy="266700"/>
          </a:xfrm>
          <a:prstGeom prst="rect">
            <a:avLst/>
          </a:prstGeom>
          <a:solidFill>
            <a:srgbClr val="5537D6"/>
          </a:solidFill>
          <a:ln w="0">
            <a:noFill/>
            <a:prstDash val="solid"/>
          </a:ln>
        </p:spPr>
        <p:txBody>
          <a:bodyPr/>
          <a:lstStyle/>
          <a:p>
            <a:endParaRPr lang="en-US"/>
          </a:p>
        </p:txBody>
      </p:sp>
      <p:sp>
        <p:nvSpPr>
          <p:cNvPr id="3" name="Rectangle 2">
            <a:extLst>
              <a:ext uri="{FF2B5EF4-FFF2-40B4-BE49-F238E27FC236}">
                <a16:creationId xmlns:a16="http://schemas.microsoft.com/office/drawing/2014/main" id="{18742105-CC8F-412C-BDE6-F6530E4C435D}"/>
              </a:ext>
            </a:extLst>
          </p:cNvPr>
          <p:cNvSpPr>
            <a:spLocks noGrp="1"/>
          </p:cNvSpPr>
          <p:nvPr/>
        </p:nvSpPr>
        <p:spPr>
          <a:xfrm>
            <a:off x="609600" y="38100"/>
            <a:ext cx="3429000" cy="190500"/>
          </a:xfrm>
          <a:prstGeom prst="rect">
            <a:avLst/>
          </a:prstGeom>
          <a:noFill/>
          <a:ln w="0">
            <a:noFill/>
            <a:prstDash val="solid"/>
          </a:ln>
        </p:spPr>
        <p:txBody>
          <a:bodyPr wrap="square" lIns="0" tIns="0" rIns="0" bIns="0" anchor="t">
            <a:normAutofit/>
          </a:bodyPr>
          <a:lstStyle/>
          <a:p>
            <a:pPr algn="l">
              <a:buNone/>
              <a:defRPr sz="975" b="1" i="0">
                <a:solidFill>
                  <a:srgbClr val="111111"/>
                </a:solidFill>
                <a:latin typeface="Consolas"/>
                <a:ea typeface="Consolas"/>
                <a:cs typeface="Consolas"/>
              </a:defRPr>
            </a:pPr>
            <a:r>
              <a:rPr sz="975" b="1" i="0">
                <a:solidFill>
                  <a:srgbClr val="111111"/>
                </a:solidFill>
                <a:latin typeface="Consolas"/>
                <a:ea typeface="Consolas"/>
                <a:cs typeface="Consolas"/>
              </a:rPr>
              <a:t>24 / APPENDIX</a:t>
            </a:r>
          </a:p>
        </p:txBody>
      </p:sp>
      <p:sp>
        <p:nvSpPr>
          <p:cNvPr id="4" name="Rectangle 3">
            <a:extLst>
              <a:ext uri="{FF2B5EF4-FFF2-40B4-BE49-F238E27FC236}">
                <a16:creationId xmlns:a16="http://schemas.microsoft.com/office/drawing/2014/main" id="{DE0D2739-FF2B-4CEF-9CE9-5022F288662D}"/>
              </a:ext>
            </a:extLst>
          </p:cNvPr>
          <p:cNvSpPr>
            <a:spLocks noGrp="1"/>
          </p:cNvSpPr>
          <p:nvPr/>
        </p:nvSpPr>
        <p:spPr>
          <a:xfrm>
            <a:off x="609600" y="428625"/>
            <a:ext cx="10572750" cy="1028700"/>
          </a:xfrm>
          <a:prstGeom prst="rect">
            <a:avLst/>
          </a:prstGeom>
          <a:noFill/>
          <a:ln w="0">
            <a:noFill/>
            <a:prstDash val="solid"/>
          </a:ln>
        </p:spPr>
        <p:txBody>
          <a:bodyPr wrap="square" lIns="0" tIns="0" rIns="0" bIns="0" anchor="t">
            <a:noAutofit/>
          </a:bodyPr>
          <a:lstStyle/>
          <a:p>
            <a:pPr algn="l">
              <a:buNone/>
              <a:defRPr sz="3000" b="1" i="0">
                <a:solidFill>
                  <a:srgbClr val="111111"/>
                </a:solidFill>
                <a:latin typeface="Arial"/>
                <a:ea typeface="Arial"/>
                <a:cs typeface="Arial"/>
              </a:defRPr>
            </a:pPr>
            <a:r>
              <a:rPr sz="3000" b="1" i="0">
                <a:solidFill>
                  <a:srgbClr val="111111"/>
                </a:solidFill>
                <a:latin typeface="Arial"/>
                <a:ea typeface="Arial"/>
                <a:cs typeface="Arial"/>
              </a:rPr>
              <a:t>Comparison input — pricing, lock-in and operating duty</a:t>
            </a:r>
          </a:p>
        </p:txBody>
      </p:sp>
      <p:sp>
        <p:nvSpPr>
          <p:cNvPr id="5" name="Rectangle 4">
            <a:extLst>
              <a:ext uri="{FF2B5EF4-FFF2-40B4-BE49-F238E27FC236}">
                <a16:creationId xmlns:a16="http://schemas.microsoft.com/office/drawing/2014/main" id="{DFA915ED-D129-4625-8989-C59E78590202}"/>
              </a:ext>
            </a:extLst>
          </p:cNvPr>
          <p:cNvSpPr>
            <a:spLocks noGrp="1"/>
          </p:cNvSpPr>
          <p:nvPr/>
        </p:nvSpPr>
        <p:spPr>
          <a:xfrm>
            <a:off x="628650" y="1514475"/>
            <a:ext cx="10382250" cy="323850"/>
          </a:xfrm>
          <a:prstGeom prst="rect">
            <a:avLst/>
          </a:prstGeom>
          <a:noFill/>
          <a:ln w="0">
            <a:noFill/>
            <a:prstDash val="solid"/>
          </a:ln>
        </p:spPr>
        <p:txBody>
          <a:bodyPr wrap="square" lIns="0" tIns="0" rIns="0" bIns="0" anchor="t">
            <a:noAutofit/>
          </a:bodyPr>
          <a:lstStyle/>
          <a:p>
            <a:pPr algn="l">
              <a:buNone/>
              <a:defRPr sz="1575" b="0" i="0">
                <a:solidFill>
                  <a:srgbClr val="686A66"/>
                </a:solidFill>
                <a:latin typeface="Arial"/>
                <a:ea typeface="Arial"/>
                <a:cs typeface="Arial"/>
              </a:defRPr>
            </a:pPr>
            <a:r>
              <a:rPr sz="1575" b="0" i="0">
                <a:solidFill>
                  <a:srgbClr val="686A66"/>
                </a:solidFill>
                <a:latin typeface="Arial"/>
                <a:ea typeface="Arial"/>
                <a:cs typeface="Arial"/>
              </a:rPr>
              <a:t>Normalize exact meters, full operating cost, reversibility and control duty—do not rank from public pages.</a:t>
            </a:r>
          </a:p>
        </p:txBody>
      </p:sp>
      <p:sp>
        <p:nvSpPr>
          <p:cNvPr id="6" name="Rectangle 5">
            <a:extLst>
              <a:ext uri="{FF2B5EF4-FFF2-40B4-BE49-F238E27FC236}">
                <a16:creationId xmlns:a16="http://schemas.microsoft.com/office/drawing/2014/main" id="{A010B7EB-A56C-4E5B-9B02-92204A288DD5}"/>
              </a:ext>
            </a:extLst>
          </p:cNvPr>
          <p:cNvSpPr>
            <a:spLocks noGrp="1"/>
          </p:cNvSpPr>
          <p:nvPr/>
        </p:nvSpPr>
        <p:spPr>
          <a:xfrm>
            <a:off x="609600" y="1905000"/>
            <a:ext cx="10972800" cy="9525"/>
          </a:xfrm>
          <a:prstGeom prst="rect">
            <a:avLst/>
          </a:prstGeom>
          <a:solidFill>
            <a:srgbClr val="8A8B86"/>
          </a:solidFill>
          <a:ln w="0">
            <a:noFill/>
            <a:prstDash val="solid"/>
          </a:ln>
        </p:spPr>
        <p:txBody>
          <a:bodyPr/>
          <a:lstStyle/>
          <a:p>
            <a:endParaRPr lang="en-US"/>
          </a:p>
        </p:txBody>
      </p:sp>
      <p:sp>
        <p:nvSpPr>
          <p:cNvPr id="7" name="Rectangle 6">
            <a:extLst>
              <a:ext uri="{FF2B5EF4-FFF2-40B4-BE49-F238E27FC236}">
                <a16:creationId xmlns:a16="http://schemas.microsoft.com/office/drawing/2014/main" id="{ABE67E3B-0B35-4876-A6EA-1D8102E84BFF}"/>
              </a:ext>
            </a:extLst>
          </p:cNvPr>
          <p:cNvSpPr>
            <a:spLocks noGrp="1"/>
          </p:cNvSpPr>
          <p:nvPr/>
        </p:nvSpPr>
        <p:spPr>
          <a:xfrm>
            <a:off x="609600" y="6524625"/>
            <a:ext cx="8858250" cy="180975"/>
          </a:xfrm>
          <a:prstGeom prst="rect">
            <a:avLst/>
          </a:prstGeom>
          <a:noFill/>
          <a:ln w="0">
            <a:noFill/>
            <a:prstDash val="solid"/>
          </a:ln>
        </p:spPr>
        <p:txBody>
          <a:bodyPr wrap="square" lIns="0" tIns="0" rIns="0" bIns="0" anchor="ctr">
            <a:normAutofit/>
          </a:bodyPr>
          <a:lstStyle/>
          <a:p>
            <a:pPr>
              <a:buNone/>
              <a:defRPr sz="825">
                <a:solidFill>
                  <a:srgbClr val="666762"/>
                </a:solidFill>
              </a:defRPr>
            </a:pPr>
            <a:r>
              <a:rPr sz="825" b="1">
                <a:solidFill>
                  <a:srgbClr val="666762"/>
                </a:solidFill>
              </a:rPr>
              <a:t>REFERENCES  </a:t>
            </a:r>
            <a:r>
              <a:rPr sz="825" u="sng">
                <a:solidFill>
                  <a:srgbClr val="666762"/>
                </a:solidFill>
                <a:hlinkClick r:id="rId3"/>
              </a:rPr>
              <a:t>Repo reference</a:t>
            </a:r>
            <a:r>
              <a:rPr sz="825">
                <a:solidFill>
                  <a:srgbClr val="666762"/>
                </a:solidFill>
              </a:rPr>
              <a:t>  ·  </a:t>
            </a:r>
            <a:r>
              <a:rPr sz="825" u="sng">
                <a:solidFill>
                  <a:srgbClr val="666762"/>
                </a:solidFill>
                <a:hlinkClick r:id="rId4"/>
              </a:rPr>
              <a:t>Official docs</a:t>
            </a:r>
          </a:p>
        </p:txBody>
      </p:sp>
      <p:sp>
        <p:nvSpPr>
          <p:cNvPr id="8" name="Rectangle 7">
            <a:extLst>
              <a:ext uri="{FF2B5EF4-FFF2-40B4-BE49-F238E27FC236}">
                <a16:creationId xmlns:a16="http://schemas.microsoft.com/office/drawing/2014/main" id="{9CCDA7C6-B445-41C7-AB19-5C9C07EB07B9}"/>
              </a:ext>
            </a:extLst>
          </p:cNvPr>
          <p:cNvSpPr>
            <a:spLocks noGrp="1"/>
          </p:cNvSpPr>
          <p:nvPr/>
        </p:nvSpPr>
        <p:spPr>
          <a:xfrm>
            <a:off x="10287000" y="6486525"/>
            <a:ext cx="1295400" cy="209550"/>
          </a:xfrm>
          <a:prstGeom prst="rect">
            <a:avLst/>
          </a:prstGeom>
          <a:noFill/>
          <a:ln w="0">
            <a:noFill/>
            <a:prstDash val="solid"/>
          </a:ln>
        </p:spPr>
        <p:txBody>
          <a:bodyPr wrap="square" lIns="0" tIns="0" rIns="0" bIns="0" anchor="t">
            <a:normAutofit/>
          </a:bodyPr>
          <a:lstStyle/>
          <a:p>
            <a:pPr algn="r">
              <a:buNone/>
              <a:defRPr sz="975" b="1" i="0">
                <a:solidFill>
                  <a:srgbClr val="686A66"/>
                </a:solidFill>
                <a:latin typeface="Consolas"/>
                <a:ea typeface="Consolas"/>
                <a:cs typeface="Consolas"/>
              </a:defRPr>
            </a:pPr>
            <a:r>
              <a:rPr sz="975" b="1" i="0">
                <a:solidFill>
                  <a:srgbClr val="686A66"/>
                </a:solidFill>
                <a:latin typeface="Consolas"/>
                <a:ea typeface="Consolas"/>
                <a:cs typeface="Consolas"/>
              </a:rPr>
              <a:t>24 / 25</a:t>
            </a:r>
          </a:p>
        </p:txBody>
      </p:sp>
      <p:graphicFrame>
        <p:nvGraphicFramePr>
          <p:cNvPr id="22" name="Table 21"/>
          <p:cNvGraphicFramePr/>
          <p:nvPr/>
        </p:nvGraphicFramePr>
        <p:xfrm>
          <a:off x="609600" y="2057400"/>
          <a:ext cx="10972800" cy="3333750"/>
        </p:xfrm>
        <a:graphic>
          <a:graphicData uri="http://schemas.openxmlformats.org/drawingml/2006/table">
            <a:tbl>
              <a:tblPr/>
              <a:tblGrid>
                <a:gridCol w="1714500">
                  <a:extLst>
                    <a:ext uri="{9D8B030D-6E8A-4147-A177-3AD203B41FA5}">
                      <a16:colId xmlns:a16="http://schemas.microsoft.com/office/drawing/2014/main" val="20000"/>
                    </a:ext>
                  </a:extLst>
                </a:gridCol>
                <a:gridCol w="2095500">
                  <a:extLst>
                    <a:ext uri="{9D8B030D-6E8A-4147-A177-3AD203B41FA5}">
                      <a16:colId xmlns:a16="http://schemas.microsoft.com/office/drawing/2014/main" val="20001"/>
                    </a:ext>
                  </a:extLst>
                </a:gridCol>
                <a:gridCol w="2095500">
                  <a:extLst>
                    <a:ext uri="{9D8B030D-6E8A-4147-A177-3AD203B41FA5}">
                      <a16:colId xmlns:a16="http://schemas.microsoft.com/office/drawing/2014/main" val="20002"/>
                    </a:ext>
                  </a:extLst>
                </a:gridCol>
                <a:gridCol w="2095500">
                  <a:extLst>
                    <a:ext uri="{9D8B030D-6E8A-4147-A177-3AD203B41FA5}">
                      <a16:colId xmlns:a16="http://schemas.microsoft.com/office/drawing/2014/main" val="20003"/>
                    </a:ext>
                  </a:extLst>
                </a:gridCol>
                <a:gridCol w="2971800">
                  <a:extLst>
                    <a:ext uri="{9D8B030D-6E8A-4147-A177-3AD203B41FA5}">
                      <a16:colId xmlns:a16="http://schemas.microsoft.com/office/drawing/2014/main" val="20004"/>
                    </a:ext>
                  </a:extLst>
                </a:gridCol>
              </a:tblGrid>
              <a:tr h="833438">
                <a:tc>
                  <a:txBody>
                    <a:bodyPr/>
                    <a:lstStyle/>
                    <a:p>
                      <a:r>
                        <a:rPr>
                          <a:solidFill>
                            <a:srgbClr val="111111"/>
                          </a:solidFill>
                        </a:rPr>
                        <a:t>Dimension</a:t>
                      </a:r>
                    </a:p>
                  </a:txBody>
                  <a:tcPr/>
                </a:tc>
                <a:tc>
                  <a:txBody>
                    <a:bodyPr/>
                    <a:lstStyle/>
                    <a:p>
                      <a:r>
                        <a:rPr>
                          <a:solidFill>
                            <a:srgbClr val="111111"/>
                          </a:solidFill>
                        </a:rPr>
                        <a:t>Kong</a:t>
                      </a:r>
                    </a:p>
                  </a:txBody>
                  <a:tcPr/>
                </a:tc>
                <a:tc>
                  <a:txBody>
                    <a:bodyPr/>
                    <a:lstStyle/>
                    <a:p>
                      <a:r>
                        <a:rPr>
                          <a:solidFill>
                            <a:srgbClr val="111111"/>
                          </a:solidFill>
                        </a:rPr>
                        <a:t>Apigee</a:t>
                      </a:r>
                    </a:p>
                  </a:txBody>
                  <a:tcPr/>
                </a:tc>
                <a:tc>
                  <a:txBody>
                    <a:bodyPr/>
                    <a:lstStyle/>
                    <a:p>
                      <a:r>
                        <a:rPr>
                          <a:solidFill>
                            <a:srgbClr val="111111"/>
                          </a:solidFill>
                        </a:rPr>
                        <a:t>MuleSoft</a:t>
                      </a:r>
                    </a:p>
                  </a:txBody>
                  <a:tcPr/>
                </a:tc>
                <a:tc>
                  <a:txBody>
                    <a:bodyPr/>
                    <a:lstStyle/>
                    <a:p>
                      <a:r>
                        <a:rPr>
                          <a:solidFill>
                            <a:srgbClr val="111111"/>
                          </a:solidFill>
                        </a:rPr>
                        <a:t>Evidence required</a:t>
                      </a:r>
                    </a:p>
                  </a:txBody>
                  <a:tcPr/>
                </a:tc>
                <a:extLst>
                  <a:ext uri="{0D108BD9-81ED-4DB2-BD59-A6C34878D82A}">
                    <a16:rowId xmlns:a16="http://schemas.microsoft.com/office/drawing/2014/main" val="10000"/>
                  </a:ext>
                </a:extLst>
              </a:tr>
              <a:tr h="833438">
                <a:tc>
                  <a:txBody>
                    <a:bodyPr/>
                    <a:lstStyle/>
                    <a:p>
                      <a:r>
                        <a:t>Reversibility / lock-in</a:t>
                      </a:r>
                    </a:p>
                  </a:txBody>
                  <a:tcPr/>
                </a:tc>
                <a:tc>
                  <a:txBody>
                    <a:bodyPr/>
                    <a:lstStyle/>
                    <a:p>
                      <a:r>
                        <a:t>Supplied: Low</a:t>
                      </a:r>
                    </a:p>
                  </a:txBody>
                  <a:tcPr/>
                </a:tc>
                <a:tc>
                  <a:txBody>
                    <a:bodyPr/>
                    <a:lstStyle/>
                    <a:p>
                      <a:r>
                        <a:t>Supplied: Medium</a:t>
                      </a:r>
                    </a:p>
                  </a:txBody>
                  <a:tcPr/>
                </a:tc>
                <a:tc>
                  <a:txBody>
                    <a:bodyPr/>
                    <a:lstStyle/>
                    <a:p>
                      <a:r>
                        <a:t>Supplied: High</a:t>
                      </a:r>
                    </a:p>
                  </a:txBody>
                  <a:tcPr/>
                </a:tc>
                <a:tc>
                  <a:txBody>
                    <a:bodyPr/>
                    <a:lstStyle/>
                    <a:p>
                      <a:r>
                        <a:t>Timed rebuild + route-back</a:t>
                      </a:r>
                    </a:p>
                  </a:txBody>
                  <a:tcPr/>
                </a:tc>
                <a:extLst>
                  <a:ext uri="{0D108BD9-81ED-4DB2-BD59-A6C34878D82A}">
                    <a16:rowId xmlns:a16="http://schemas.microsoft.com/office/drawing/2014/main" val="10001"/>
                  </a:ext>
                </a:extLst>
              </a:tr>
              <a:tr h="833438">
                <a:tc>
                  <a:txBody>
                    <a:bodyPr/>
                    <a:lstStyle/>
                    <a:p>
                      <a:r>
                        <a:t>Full TCO / pricing</a:t>
                      </a:r>
                    </a:p>
                  </a:txBody>
                  <a:tcPr/>
                </a:tc>
                <a:tc>
                  <a:txBody>
                    <a:bodyPr/>
                    <a:lstStyle/>
                    <a:p>
                      <a:r>
                        <a:t>Custom quote</a:t>
                      </a:r>
                    </a:p>
                  </a:txBody>
                  <a:tcPr/>
                </a:tc>
                <a:tc>
                  <a:txBody>
                    <a:bodyPr/>
                    <a:lstStyle/>
                    <a:p>
                      <a:r>
                        <a:t>Managed PAYG ≠ Hybrid</a:t>
                      </a:r>
                    </a:p>
                  </a:txBody>
                  <a:tcPr/>
                </a:tc>
                <a:tc>
                  <a:txBody>
                    <a:bodyPr/>
                    <a:lstStyle/>
                    <a:p>
                      <a:r>
                        <a:t>Contact sales</a:t>
                      </a:r>
                    </a:p>
                  </a:txBody>
                  <a:tcPr/>
                </a:tc>
                <a:tc>
                  <a:txBody>
                    <a:bodyPr/>
                    <a:lstStyle/>
                    <a:p>
                      <a:r>
                        <a:t>Quote + labor + infra + HA/DR + adjunct + exit</a:t>
                      </a:r>
                    </a:p>
                  </a:txBody>
                  <a:tcPr/>
                </a:tc>
                <a:extLst>
                  <a:ext uri="{0D108BD9-81ED-4DB2-BD59-A6C34878D82A}">
                    <a16:rowId xmlns:a16="http://schemas.microsoft.com/office/drawing/2014/main" val="10002"/>
                  </a:ext>
                </a:extLst>
              </a:tr>
              <a:tr h="833438">
                <a:tc>
                  <a:txBody>
                    <a:bodyPr/>
                    <a:lstStyle/>
                    <a:p>
                      <a:r>
                        <a:t>Control-plane duty</a:t>
                      </a:r>
                    </a:p>
                  </a:txBody>
                  <a:tcPr/>
                </a:tc>
                <a:tc>
                  <a:txBody>
                    <a:bodyPr/>
                    <a:lstStyle/>
                    <a:p>
                      <a:r>
                        <a:t>Enterprise CP + Postgres</a:t>
                      </a:r>
                    </a:p>
                  </a:txBody>
                  <a:tcPr/>
                </a:tc>
                <a:tc>
                  <a:txBody>
                    <a:bodyPr/>
                    <a:lstStyle/>
                    <a:p>
                      <a:r>
                        <a:t>Google mgmt + own runtime</a:t>
                      </a:r>
                    </a:p>
                  </a:txBody>
                  <a:tcPr/>
                </a:tc>
                <a:tc>
                  <a:txBody>
                    <a:bodyPr/>
                    <a:lstStyle/>
                    <a:p>
                      <a:r>
                        <a:t>Boundary-dependent</a:t>
                      </a:r>
                    </a:p>
                  </a:txBody>
                  <a:tcPr/>
                </a:tc>
                <a:tc>
                  <a:txBody>
                    <a:bodyPr/>
                    <a:lstStyle/>
                    <a:p>
                      <a:r>
                        <a:t>Funded RACI + support + recovery + on-call</a:t>
                      </a:r>
                    </a:p>
                  </a:txBody>
                  <a:tcPr/>
                </a:tc>
                <a:extLst>
                  <a:ext uri="{0D108BD9-81ED-4DB2-BD59-A6C34878D82A}">
                    <a16:rowId xmlns:a16="http://schemas.microsoft.com/office/drawing/2014/main" val="10003"/>
                  </a:ext>
                </a:extLst>
              </a:tr>
            </a:tbl>
          </a:graphicData>
        </a:graphic>
      </p:graphicFrame>
      <p:sp>
        <p:nvSpPr>
          <p:cNvPr id="10" name="Rectangle 9">
            <a:extLst>
              <a:ext uri="{FF2B5EF4-FFF2-40B4-BE49-F238E27FC236}">
                <a16:creationId xmlns:a16="http://schemas.microsoft.com/office/drawing/2014/main" id="{7AEA6238-AA59-4924-B711-5CB8EA6EFC02}"/>
              </a:ext>
            </a:extLst>
          </p:cNvPr>
          <p:cNvSpPr>
            <a:spLocks noGrp="1"/>
          </p:cNvSpPr>
          <p:nvPr/>
        </p:nvSpPr>
        <p:spPr>
          <a:xfrm>
            <a:off x="1524000" y="5895975"/>
            <a:ext cx="9144000" cy="323850"/>
          </a:xfrm>
          <a:prstGeom prst="rect">
            <a:avLst/>
          </a:prstGeom>
          <a:solidFill>
            <a:srgbClr val="111111"/>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AAC469BF-A811-4422-8C07-2B139118F75D}"/>
              </a:ext>
            </a:extLst>
          </p:cNvPr>
          <p:cNvSpPr>
            <a:spLocks noGrp="1"/>
          </p:cNvSpPr>
          <p:nvPr/>
        </p:nvSpPr>
        <p:spPr>
          <a:xfrm>
            <a:off x="1657350" y="5953125"/>
            <a:ext cx="8877300" cy="209550"/>
          </a:xfrm>
          <a:prstGeom prst="rect">
            <a:avLst/>
          </a:prstGeom>
          <a:noFill/>
          <a:ln w="0">
            <a:noFill/>
            <a:prstDash val="solid"/>
          </a:ln>
        </p:spPr>
        <p:txBody>
          <a:bodyPr wrap="square" lIns="0" tIns="0" rIns="0" bIns="0" anchor="t">
            <a:normAutofit/>
          </a:bodyPr>
          <a:lstStyle/>
          <a:p>
            <a:pPr algn="ctr">
              <a:buNone/>
              <a:defRPr sz="1350" b="1" i="0">
                <a:solidFill>
                  <a:srgbClr val="FFFFFF"/>
                </a:solidFill>
                <a:latin typeface="Arial"/>
                <a:ea typeface="Arial"/>
                <a:cs typeface="Arial"/>
              </a:defRPr>
            </a:pPr>
            <a:r>
              <a:rPr sz="1350" b="1" i="0">
                <a:solidFill>
                  <a:srgbClr val="FFFFFF"/>
                </a:solidFill>
                <a:latin typeface="Arial"/>
                <a:ea typeface="Arial"/>
                <a:cs typeface="Arial"/>
              </a:rPr>
              <a:t>No price, lock-in or control-duty claim is decision-grade until equivalent evidence exists.</a:t>
            </a:r>
          </a:p>
        </p:txBody>
      </p:sp>
    </p:spTree>
    <p:extLst>
      <p:ext uri="{BB962C8B-B14F-4D97-AF65-F5344CB8AC3E}">
        <p14:creationId xmlns:p14="http://schemas.microsoft.com/office/powerpoint/2010/main" val="5868806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53482B3E-C708-4C67-A6C1-0FCDDF840564}"/>
              </a:ext>
            </a:extLst>
          </p:cNvPr>
          <p:cNvSpPr>
            <a:spLocks noGrp="1"/>
          </p:cNvSpPr>
          <p:nvPr/>
        </p:nvSpPr>
        <p:spPr>
          <a:xfrm>
            <a:off x="0" y="0"/>
            <a:ext cx="12192000" cy="266700"/>
          </a:xfrm>
          <a:prstGeom prst="rect">
            <a:avLst/>
          </a:prstGeom>
          <a:solidFill>
            <a:srgbClr val="FFC72C"/>
          </a:solidFill>
          <a:ln w="0">
            <a:noFill/>
            <a:prstDash val="solid"/>
          </a:ln>
        </p:spPr>
        <p:txBody>
          <a:bodyPr/>
          <a:lstStyle/>
          <a:p>
            <a:endParaRPr lang="en-US"/>
          </a:p>
        </p:txBody>
      </p:sp>
      <p:sp>
        <p:nvSpPr>
          <p:cNvPr id="2" name="Rectangle 1">
            <a:extLst>
              <a:ext uri="{FF2B5EF4-FFF2-40B4-BE49-F238E27FC236}">
                <a16:creationId xmlns:a16="http://schemas.microsoft.com/office/drawing/2014/main" id="{A5B6C093-89B5-4C74-9AC8-5DE5FE71FD73}"/>
              </a:ext>
            </a:extLst>
          </p:cNvPr>
          <p:cNvSpPr>
            <a:spLocks noGrp="1"/>
          </p:cNvSpPr>
          <p:nvPr/>
        </p:nvSpPr>
        <p:spPr>
          <a:xfrm>
            <a:off x="10668000" y="0"/>
            <a:ext cx="1524000" cy="266700"/>
          </a:xfrm>
          <a:prstGeom prst="rect">
            <a:avLst/>
          </a:prstGeom>
          <a:solidFill>
            <a:srgbClr val="5537D6"/>
          </a:solidFill>
          <a:ln w="0">
            <a:noFill/>
            <a:prstDash val="solid"/>
          </a:ln>
        </p:spPr>
        <p:txBody>
          <a:bodyPr/>
          <a:lstStyle/>
          <a:p>
            <a:endParaRPr lang="en-US"/>
          </a:p>
        </p:txBody>
      </p:sp>
      <p:sp>
        <p:nvSpPr>
          <p:cNvPr id="3" name="Rectangle 2">
            <a:extLst>
              <a:ext uri="{FF2B5EF4-FFF2-40B4-BE49-F238E27FC236}">
                <a16:creationId xmlns:a16="http://schemas.microsoft.com/office/drawing/2014/main" id="{A483005A-BA9C-4F6A-B142-930E9CE19B3F}"/>
              </a:ext>
            </a:extLst>
          </p:cNvPr>
          <p:cNvSpPr>
            <a:spLocks noGrp="1"/>
          </p:cNvSpPr>
          <p:nvPr/>
        </p:nvSpPr>
        <p:spPr>
          <a:xfrm>
            <a:off x="609600" y="38100"/>
            <a:ext cx="3429000" cy="190500"/>
          </a:xfrm>
          <a:prstGeom prst="rect">
            <a:avLst/>
          </a:prstGeom>
          <a:noFill/>
          <a:ln w="0">
            <a:noFill/>
            <a:prstDash val="solid"/>
          </a:ln>
        </p:spPr>
        <p:txBody>
          <a:bodyPr wrap="square" lIns="0" tIns="0" rIns="0" bIns="0" anchor="t">
            <a:normAutofit/>
          </a:bodyPr>
          <a:lstStyle/>
          <a:p>
            <a:pPr algn="l">
              <a:buNone/>
              <a:defRPr sz="975" b="1" i="0">
                <a:solidFill>
                  <a:srgbClr val="111111"/>
                </a:solidFill>
                <a:latin typeface="Consolas"/>
                <a:ea typeface="Consolas"/>
                <a:cs typeface="Consolas"/>
              </a:defRPr>
            </a:pPr>
            <a:r>
              <a:rPr sz="975" b="1" i="0">
                <a:solidFill>
                  <a:srgbClr val="111111"/>
                </a:solidFill>
                <a:latin typeface="Consolas"/>
                <a:ea typeface="Consolas"/>
                <a:cs typeface="Consolas"/>
              </a:rPr>
              <a:t>25 / APPENDIX</a:t>
            </a:r>
          </a:p>
        </p:txBody>
      </p:sp>
      <p:sp>
        <p:nvSpPr>
          <p:cNvPr id="4" name="Rectangle 3">
            <a:extLst>
              <a:ext uri="{FF2B5EF4-FFF2-40B4-BE49-F238E27FC236}">
                <a16:creationId xmlns:a16="http://schemas.microsoft.com/office/drawing/2014/main" id="{1E752009-6BE1-4D0F-A0C4-8CE4FAC4BEB5}"/>
              </a:ext>
            </a:extLst>
          </p:cNvPr>
          <p:cNvSpPr>
            <a:spLocks noGrp="1"/>
          </p:cNvSpPr>
          <p:nvPr/>
        </p:nvSpPr>
        <p:spPr>
          <a:xfrm>
            <a:off x="609600" y="428625"/>
            <a:ext cx="10572750" cy="1028700"/>
          </a:xfrm>
          <a:prstGeom prst="rect">
            <a:avLst/>
          </a:prstGeom>
          <a:noFill/>
          <a:ln w="0">
            <a:noFill/>
            <a:prstDash val="solid"/>
          </a:ln>
        </p:spPr>
        <p:txBody>
          <a:bodyPr wrap="square" lIns="0" tIns="0" rIns="0" bIns="0" anchor="t">
            <a:noAutofit/>
          </a:bodyPr>
          <a:lstStyle/>
          <a:p>
            <a:pPr algn="l">
              <a:buNone/>
              <a:defRPr sz="3150" b="1" i="0">
                <a:solidFill>
                  <a:srgbClr val="111111"/>
                </a:solidFill>
                <a:latin typeface="Arial"/>
                <a:ea typeface="Arial"/>
                <a:cs typeface="Arial"/>
              </a:defRPr>
            </a:pPr>
            <a:r>
              <a:rPr sz="3150" b="1" i="0">
                <a:solidFill>
                  <a:srgbClr val="111111"/>
                </a:solidFill>
                <a:latin typeface="Arial"/>
                <a:ea typeface="Arial"/>
                <a:cs typeface="Arial"/>
              </a:rPr>
              <a:t>Historical audit; provisional uncertainty envelope</a:t>
            </a:r>
          </a:p>
        </p:txBody>
      </p:sp>
      <p:sp>
        <p:nvSpPr>
          <p:cNvPr id="5" name="Rectangle 4">
            <a:extLst>
              <a:ext uri="{FF2B5EF4-FFF2-40B4-BE49-F238E27FC236}">
                <a16:creationId xmlns:a16="http://schemas.microsoft.com/office/drawing/2014/main" id="{FC467C8B-6BD0-4EFF-BA32-DD4460F0405E}"/>
              </a:ext>
            </a:extLst>
          </p:cNvPr>
          <p:cNvSpPr>
            <a:spLocks noGrp="1"/>
          </p:cNvSpPr>
          <p:nvPr/>
        </p:nvSpPr>
        <p:spPr>
          <a:xfrm>
            <a:off x="628650" y="1514475"/>
            <a:ext cx="10382250" cy="323850"/>
          </a:xfrm>
          <a:prstGeom prst="rect">
            <a:avLst/>
          </a:prstGeom>
          <a:noFill/>
          <a:ln w="0">
            <a:noFill/>
            <a:prstDash val="solid"/>
          </a:ln>
        </p:spPr>
        <p:txBody>
          <a:bodyPr wrap="square" lIns="0" tIns="0" rIns="0" bIns="0" anchor="t">
            <a:noAutofit/>
          </a:bodyPr>
          <a:lstStyle/>
          <a:p>
            <a:pPr algn="l">
              <a:buNone/>
              <a:defRPr sz="1575" b="0" i="0">
                <a:solidFill>
                  <a:srgbClr val="686A66"/>
                </a:solidFill>
                <a:latin typeface="Arial"/>
                <a:ea typeface="Arial"/>
                <a:cs typeface="Arial"/>
              </a:defRPr>
            </a:pPr>
            <a:r>
              <a:rPr sz="1575" b="0" i="0">
                <a:solidFill>
                  <a:srgbClr val="686A66"/>
                </a:solidFill>
                <a:latin typeface="Arial"/>
                <a:ea typeface="Arial"/>
                <a:cs typeface="Arial"/>
              </a:rPr>
              <a:t>Historical ratings remain E0 input; the added 40% stays Unknown [0,10], so the overlapping ranges force HOLD.</a:t>
            </a:r>
          </a:p>
        </p:txBody>
      </p:sp>
      <p:sp>
        <p:nvSpPr>
          <p:cNvPr id="6" name="Rectangle 5">
            <a:extLst>
              <a:ext uri="{FF2B5EF4-FFF2-40B4-BE49-F238E27FC236}">
                <a16:creationId xmlns:a16="http://schemas.microsoft.com/office/drawing/2014/main" id="{460D1FEE-EC8B-441D-A5EF-0B5BAE3A61AB}"/>
              </a:ext>
            </a:extLst>
          </p:cNvPr>
          <p:cNvSpPr>
            <a:spLocks noGrp="1"/>
          </p:cNvSpPr>
          <p:nvPr/>
        </p:nvSpPr>
        <p:spPr>
          <a:xfrm>
            <a:off x="609600" y="1905000"/>
            <a:ext cx="10972800" cy="9525"/>
          </a:xfrm>
          <a:prstGeom prst="rect">
            <a:avLst/>
          </a:prstGeom>
          <a:solidFill>
            <a:srgbClr val="8A8B86"/>
          </a:solidFill>
          <a:ln w="0">
            <a:noFill/>
            <a:prstDash val="solid"/>
          </a:ln>
        </p:spPr>
        <p:txBody>
          <a:bodyPr/>
          <a:lstStyle/>
          <a:p>
            <a:endParaRPr lang="en-US"/>
          </a:p>
        </p:txBody>
      </p:sp>
      <p:sp>
        <p:nvSpPr>
          <p:cNvPr id="7" name="Rectangle 6">
            <a:extLst>
              <a:ext uri="{FF2B5EF4-FFF2-40B4-BE49-F238E27FC236}">
                <a16:creationId xmlns:a16="http://schemas.microsoft.com/office/drawing/2014/main" id="{3E7A2196-6277-4529-8051-69984BA32A35}"/>
              </a:ext>
            </a:extLst>
          </p:cNvPr>
          <p:cNvSpPr>
            <a:spLocks noGrp="1"/>
          </p:cNvSpPr>
          <p:nvPr/>
        </p:nvSpPr>
        <p:spPr>
          <a:xfrm>
            <a:off x="609600" y="6524625"/>
            <a:ext cx="8858250" cy="180975"/>
          </a:xfrm>
          <a:prstGeom prst="rect">
            <a:avLst/>
          </a:prstGeom>
          <a:noFill/>
          <a:ln w="0">
            <a:noFill/>
            <a:prstDash val="solid"/>
          </a:ln>
        </p:spPr>
        <p:txBody>
          <a:bodyPr wrap="square" lIns="0" tIns="0" rIns="0" bIns="0" anchor="ctr">
            <a:normAutofit/>
          </a:bodyPr>
          <a:lstStyle/>
          <a:p>
            <a:pPr>
              <a:buNone/>
              <a:defRPr sz="825">
                <a:solidFill>
                  <a:srgbClr val="666762"/>
                </a:solidFill>
              </a:defRPr>
            </a:pPr>
            <a:r>
              <a:rPr sz="825" b="1">
                <a:solidFill>
                  <a:srgbClr val="666762"/>
                </a:solidFill>
              </a:rPr>
              <a:t>REFERENCES  </a:t>
            </a:r>
            <a:r>
              <a:rPr sz="825" b="1">
                <a:solidFill>
                  <a:srgbClr val="666762"/>
                </a:solidFill>
                <a:hlinkClick r:id="rId3"/>
              </a:rPr>
              <a:t>Repo reference</a:t>
            </a:r>
            <a:r>
              <a:rPr sz="825" b="1">
                <a:solidFill>
                  <a:srgbClr val="666762"/>
                </a:solidFill>
              </a:rPr>
              <a:t>  ·  </a:t>
            </a:r>
            <a:r>
              <a:rPr sz="825" b="1">
                <a:solidFill>
                  <a:srgbClr val="666762"/>
                </a:solidFill>
                <a:hlinkClick r:id="rId4"/>
              </a:rPr>
              <a:t>Official docs</a:t>
            </a:r>
          </a:p>
        </p:txBody>
      </p:sp>
      <p:sp>
        <p:nvSpPr>
          <p:cNvPr id="8" name="Rectangle 7">
            <a:extLst>
              <a:ext uri="{FF2B5EF4-FFF2-40B4-BE49-F238E27FC236}">
                <a16:creationId xmlns:a16="http://schemas.microsoft.com/office/drawing/2014/main" id="{4C64BC4D-3899-4EF8-86D8-FA80A3481B93}"/>
              </a:ext>
            </a:extLst>
          </p:cNvPr>
          <p:cNvSpPr>
            <a:spLocks noGrp="1"/>
          </p:cNvSpPr>
          <p:nvPr/>
        </p:nvSpPr>
        <p:spPr>
          <a:xfrm>
            <a:off x="10287000" y="6486525"/>
            <a:ext cx="1295400" cy="209550"/>
          </a:xfrm>
          <a:prstGeom prst="rect">
            <a:avLst/>
          </a:prstGeom>
          <a:noFill/>
          <a:ln w="0">
            <a:noFill/>
            <a:prstDash val="solid"/>
          </a:ln>
        </p:spPr>
        <p:txBody>
          <a:bodyPr wrap="square" lIns="0" tIns="0" rIns="0" bIns="0" anchor="t">
            <a:normAutofit/>
          </a:bodyPr>
          <a:lstStyle/>
          <a:p>
            <a:pPr algn="r">
              <a:buNone/>
              <a:defRPr sz="975" b="1" i="0">
                <a:solidFill>
                  <a:srgbClr val="686A66"/>
                </a:solidFill>
                <a:latin typeface="Consolas"/>
                <a:ea typeface="Consolas"/>
                <a:cs typeface="Consolas"/>
              </a:defRPr>
            </a:pPr>
            <a:r>
              <a:rPr sz="975" b="1" i="0">
                <a:solidFill>
                  <a:srgbClr val="686A66"/>
                </a:solidFill>
                <a:latin typeface="Consolas"/>
                <a:ea typeface="Consolas"/>
                <a:cs typeface="Consolas"/>
              </a:rPr>
              <a:t>25 / 25</a:t>
            </a:r>
          </a:p>
        </p:txBody>
      </p:sp>
      <p:graphicFrame>
        <p:nvGraphicFramePr>
          <p:cNvPr id="66" name="Table 65"/>
          <p:cNvGraphicFramePr/>
          <p:nvPr/>
        </p:nvGraphicFramePr>
        <p:xfrm>
          <a:off x="609600" y="2076450"/>
          <a:ext cx="6858000" cy="4095750"/>
        </p:xfrm>
        <a:graphic>
          <a:graphicData uri="http://schemas.openxmlformats.org/drawingml/2006/table">
            <a:tbl>
              <a:tblPr/>
              <a:tblGrid>
                <a:gridCol w="2762250">
                  <a:extLst>
                    <a:ext uri="{9D8B030D-6E8A-4147-A177-3AD203B41FA5}">
                      <a16:colId xmlns:a16="http://schemas.microsoft.com/office/drawing/2014/main" val="20000"/>
                    </a:ext>
                  </a:extLst>
                </a:gridCol>
                <a:gridCol w="1000125">
                  <a:extLst>
                    <a:ext uri="{9D8B030D-6E8A-4147-A177-3AD203B41FA5}">
                      <a16:colId xmlns:a16="http://schemas.microsoft.com/office/drawing/2014/main" val="20001"/>
                    </a:ext>
                  </a:extLst>
                </a:gridCol>
                <a:gridCol w="952500">
                  <a:extLst>
                    <a:ext uri="{9D8B030D-6E8A-4147-A177-3AD203B41FA5}">
                      <a16:colId xmlns:a16="http://schemas.microsoft.com/office/drawing/2014/main" val="20002"/>
                    </a:ext>
                  </a:extLst>
                </a:gridCol>
                <a:gridCol w="1000125">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tblGrid>
              <a:tr h="409575">
                <a:tc>
                  <a:txBody>
                    <a:bodyPr/>
                    <a:lstStyle/>
                    <a:p>
                      <a:r>
                        <a:t>Category</a:t>
                      </a:r>
                    </a:p>
                  </a:txBody>
                  <a:tcPr/>
                </a:tc>
                <a:tc>
                  <a:txBody>
                    <a:bodyPr/>
                    <a:lstStyle/>
                    <a:p>
                      <a:r>
                        <a:t>Weight</a:t>
                      </a:r>
                    </a:p>
                  </a:txBody>
                  <a:tcPr/>
                </a:tc>
                <a:tc>
                  <a:txBody>
                    <a:bodyPr/>
                    <a:lstStyle/>
                    <a:p>
                      <a:r>
                        <a:t>Kong</a:t>
                      </a:r>
                    </a:p>
                  </a:txBody>
                  <a:tcPr/>
                </a:tc>
                <a:tc>
                  <a:txBody>
                    <a:bodyPr/>
                    <a:lstStyle/>
                    <a:p>
                      <a:r>
                        <a:t>Apigee</a:t>
                      </a:r>
                    </a:p>
                  </a:txBody>
                  <a:tcPr/>
                </a:tc>
                <a:tc>
                  <a:txBody>
                    <a:bodyPr/>
                    <a:lstStyle/>
                    <a:p>
                      <a:r>
                        <a:t>MuleSoft</a:t>
                      </a:r>
                    </a:p>
                  </a:txBody>
                  <a:tcPr/>
                </a:tc>
                <a:extLst>
                  <a:ext uri="{0D108BD9-81ED-4DB2-BD59-A6C34878D82A}">
                    <a16:rowId xmlns:a16="http://schemas.microsoft.com/office/drawing/2014/main" val="10000"/>
                  </a:ext>
                </a:extLst>
              </a:tr>
              <a:tr h="409575">
                <a:tc>
                  <a:txBody>
                    <a:bodyPr/>
                    <a:lstStyle/>
                    <a:p>
                      <a:r>
                        <a:t>Kubernetes &amp; cloud native</a:t>
                      </a:r>
                    </a:p>
                  </a:txBody>
                  <a:tcPr/>
                </a:tc>
                <a:tc>
                  <a:txBody>
                    <a:bodyPr/>
                    <a:lstStyle/>
                    <a:p>
                      <a:r>
                        <a:t>20%</a:t>
                      </a:r>
                    </a:p>
                  </a:txBody>
                  <a:tcPr/>
                </a:tc>
                <a:tc>
                  <a:txBody>
                    <a:bodyPr/>
                    <a:lstStyle/>
                    <a:p>
                      <a:r>
                        <a:t>10</a:t>
                      </a:r>
                    </a:p>
                  </a:txBody>
                  <a:tcPr/>
                </a:tc>
                <a:tc>
                  <a:txBody>
                    <a:bodyPr/>
                    <a:lstStyle/>
                    <a:p>
                      <a:r>
                        <a:t>8</a:t>
                      </a:r>
                    </a:p>
                  </a:txBody>
                  <a:tcPr/>
                </a:tc>
                <a:tc>
                  <a:txBody>
                    <a:bodyPr/>
                    <a:lstStyle/>
                    <a:p>
                      <a:r>
                        <a:t>7</a:t>
                      </a:r>
                    </a:p>
                  </a:txBody>
                  <a:tcPr/>
                </a:tc>
                <a:extLst>
                  <a:ext uri="{0D108BD9-81ED-4DB2-BD59-A6C34878D82A}">
                    <a16:rowId xmlns:a16="http://schemas.microsoft.com/office/drawing/2014/main" val="10001"/>
                  </a:ext>
                </a:extLst>
              </a:tr>
              <a:tr h="409575">
                <a:tc>
                  <a:txBody>
                    <a:bodyPr/>
                    <a:lstStyle/>
                    <a:p>
                      <a:r>
                        <a:t>GitOps &amp; DevOps</a:t>
                      </a:r>
                    </a:p>
                  </a:txBody>
                  <a:tcPr/>
                </a:tc>
                <a:tc>
                  <a:txBody>
                    <a:bodyPr/>
                    <a:lstStyle/>
                    <a:p>
                      <a:r>
                        <a:t>15%</a:t>
                      </a:r>
                    </a:p>
                  </a:txBody>
                  <a:tcPr/>
                </a:tc>
                <a:tc>
                  <a:txBody>
                    <a:bodyPr/>
                    <a:lstStyle/>
                    <a:p>
                      <a:r>
                        <a:t>10</a:t>
                      </a:r>
                    </a:p>
                  </a:txBody>
                  <a:tcPr/>
                </a:tc>
                <a:tc>
                  <a:txBody>
                    <a:bodyPr/>
                    <a:lstStyle/>
                    <a:p>
                      <a:r>
                        <a:t>7</a:t>
                      </a:r>
                    </a:p>
                  </a:txBody>
                  <a:tcPr/>
                </a:tc>
                <a:tc>
                  <a:txBody>
                    <a:bodyPr/>
                    <a:lstStyle/>
                    <a:p>
                      <a:r>
                        <a:t>6</a:t>
                      </a:r>
                    </a:p>
                  </a:txBody>
                  <a:tcPr/>
                </a:tc>
                <a:extLst>
                  <a:ext uri="{0D108BD9-81ED-4DB2-BD59-A6C34878D82A}">
                    <a16:rowId xmlns:a16="http://schemas.microsoft.com/office/drawing/2014/main" val="10002"/>
                  </a:ext>
                </a:extLst>
              </a:tr>
              <a:tr h="409575">
                <a:tc>
                  <a:txBody>
                    <a:bodyPr/>
                    <a:lstStyle/>
                    <a:p>
                      <a:r>
                        <a:t>API management</a:t>
                      </a:r>
                    </a:p>
                  </a:txBody>
                  <a:tcPr/>
                </a:tc>
                <a:tc>
                  <a:txBody>
                    <a:bodyPr/>
                    <a:lstStyle/>
                    <a:p>
                      <a:r>
                        <a:t>15%</a:t>
                      </a:r>
                    </a:p>
                  </a:txBody>
                  <a:tcPr/>
                </a:tc>
                <a:tc>
                  <a:txBody>
                    <a:bodyPr/>
                    <a:lstStyle/>
                    <a:p>
                      <a:r>
                        <a:t>8</a:t>
                      </a:r>
                    </a:p>
                  </a:txBody>
                  <a:tcPr/>
                </a:tc>
                <a:tc>
                  <a:txBody>
                    <a:bodyPr/>
                    <a:lstStyle/>
                    <a:p>
                      <a:r>
                        <a:t>10</a:t>
                      </a:r>
                    </a:p>
                  </a:txBody>
                  <a:tcPr/>
                </a:tc>
                <a:tc>
                  <a:txBody>
                    <a:bodyPr/>
                    <a:lstStyle/>
                    <a:p>
                      <a:r>
                        <a:t>10</a:t>
                      </a:r>
                    </a:p>
                  </a:txBody>
                  <a:tcPr/>
                </a:tc>
                <a:extLst>
                  <a:ext uri="{0D108BD9-81ED-4DB2-BD59-A6C34878D82A}">
                    <a16:rowId xmlns:a16="http://schemas.microsoft.com/office/drawing/2014/main" val="10003"/>
                  </a:ext>
                </a:extLst>
              </a:tr>
              <a:tr h="409575">
                <a:tc>
                  <a:txBody>
                    <a:bodyPr/>
                    <a:lstStyle/>
                    <a:p>
                      <a:r>
                        <a:t>API governance</a:t>
                      </a:r>
                    </a:p>
                  </a:txBody>
                  <a:tcPr/>
                </a:tc>
                <a:tc>
                  <a:txBody>
                    <a:bodyPr/>
                    <a:lstStyle/>
                    <a:p>
                      <a:r>
                        <a:t>10%</a:t>
                      </a:r>
                    </a:p>
                  </a:txBody>
                  <a:tcPr/>
                </a:tc>
                <a:tc>
                  <a:txBody>
                    <a:bodyPr/>
                    <a:lstStyle/>
                    <a:p>
                      <a:r>
                        <a:t>8</a:t>
                      </a:r>
                    </a:p>
                  </a:txBody>
                  <a:tcPr/>
                </a:tc>
                <a:tc>
                  <a:txBody>
                    <a:bodyPr/>
                    <a:lstStyle/>
                    <a:p>
                      <a:r>
                        <a:t>10</a:t>
                      </a:r>
                    </a:p>
                  </a:txBody>
                  <a:tcPr/>
                </a:tc>
                <a:tc>
                  <a:txBody>
                    <a:bodyPr/>
                    <a:lstStyle/>
                    <a:p>
                      <a:r>
                        <a:t>10</a:t>
                      </a:r>
                    </a:p>
                  </a:txBody>
                  <a:tcPr/>
                </a:tc>
                <a:extLst>
                  <a:ext uri="{0D108BD9-81ED-4DB2-BD59-A6C34878D82A}">
                    <a16:rowId xmlns:a16="http://schemas.microsoft.com/office/drawing/2014/main" val="10004"/>
                  </a:ext>
                </a:extLst>
              </a:tr>
              <a:tr h="409575">
                <a:tc>
                  <a:txBody>
                    <a:bodyPr/>
                    <a:lstStyle/>
                    <a:p>
                      <a:r>
                        <a:t>Security &amp; compliance</a:t>
                      </a:r>
                    </a:p>
                  </a:txBody>
                  <a:tcPr/>
                </a:tc>
                <a:tc>
                  <a:txBody>
                    <a:bodyPr/>
                    <a:lstStyle/>
                    <a:p>
                      <a:r>
                        <a:t>10%</a:t>
                      </a:r>
                    </a:p>
                  </a:txBody>
                  <a:tcPr/>
                </a:tc>
                <a:tc>
                  <a:txBody>
                    <a:bodyPr/>
                    <a:lstStyle/>
                    <a:p>
                      <a:r>
                        <a:t>9</a:t>
                      </a:r>
                    </a:p>
                  </a:txBody>
                  <a:tcPr/>
                </a:tc>
                <a:tc>
                  <a:txBody>
                    <a:bodyPr/>
                    <a:lstStyle/>
                    <a:p>
                      <a:r>
                        <a:t>10</a:t>
                      </a:r>
                    </a:p>
                  </a:txBody>
                  <a:tcPr/>
                </a:tc>
                <a:tc>
                  <a:txBody>
                    <a:bodyPr/>
                    <a:lstStyle/>
                    <a:p>
                      <a:r>
                        <a:t>9</a:t>
                      </a:r>
                    </a:p>
                  </a:txBody>
                  <a:tcPr/>
                </a:tc>
                <a:extLst>
                  <a:ext uri="{0D108BD9-81ED-4DB2-BD59-A6C34878D82A}">
                    <a16:rowId xmlns:a16="http://schemas.microsoft.com/office/drawing/2014/main" val="10005"/>
                  </a:ext>
                </a:extLst>
              </a:tr>
              <a:tr h="409575">
                <a:tc>
                  <a:txBody>
                    <a:bodyPr/>
                    <a:lstStyle/>
                    <a:p>
                      <a:r>
                        <a:t>Observability</a:t>
                      </a:r>
                    </a:p>
                  </a:txBody>
                  <a:tcPr/>
                </a:tc>
                <a:tc>
                  <a:txBody>
                    <a:bodyPr/>
                    <a:lstStyle/>
                    <a:p>
                      <a:r>
                        <a:t>10%</a:t>
                      </a:r>
                    </a:p>
                  </a:txBody>
                  <a:tcPr/>
                </a:tc>
                <a:tc>
                  <a:txBody>
                    <a:bodyPr/>
                    <a:lstStyle/>
                    <a:p>
                      <a:r>
                        <a:t>9</a:t>
                      </a:r>
                    </a:p>
                  </a:txBody>
                  <a:tcPr/>
                </a:tc>
                <a:tc>
                  <a:txBody>
                    <a:bodyPr/>
                    <a:lstStyle/>
                    <a:p>
                      <a:r>
                        <a:t>9</a:t>
                      </a:r>
                    </a:p>
                  </a:txBody>
                  <a:tcPr/>
                </a:tc>
                <a:tc>
                  <a:txBody>
                    <a:bodyPr/>
                    <a:lstStyle/>
                    <a:p>
                      <a:r>
                        <a:t>8</a:t>
                      </a:r>
                    </a:p>
                  </a:txBody>
                  <a:tcPr/>
                </a:tc>
                <a:extLst>
                  <a:ext uri="{0D108BD9-81ED-4DB2-BD59-A6C34878D82A}">
                    <a16:rowId xmlns:a16="http://schemas.microsoft.com/office/drawing/2014/main" val="10006"/>
                  </a:ext>
                </a:extLst>
              </a:tr>
              <a:tr h="409575">
                <a:tc>
                  <a:txBody>
                    <a:bodyPr/>
                    <a:lstStyle/>
                    <a:p>
                      <a:r>
                        <a:t>AI gateway readiness</a:t>
                      </a:r>
                    </a:p>
                  </a:txBody>
                  <a:tcPr/>
                </a:tc>
                <a:tc>
                  <a:txBody>
                    <a:bodyPr/>
                    <a:lstStyle/>
                    <a:p>
                      <a:r>
                        <a:t>10%</a:t>
                      </a:r>
                    </a:p>
                  </a:txBody>
                  <a:tcPr/>
                </a:tc>
                <a:tc>
                  <a:txBody>
                    <a:bodyPr/>
                    <a:lstStyle/>
                    <a:p>
                      <a:r>
                        <a:t>10</a:t>
                      </a:r>
                    </a:p>
                  </a:txBody>
                  <a:tcPr/>
                </a:tc>
                <a:tc>
                  <a:txBody>
                    <a:bodyPr/>
                    <a:lstStyle/>
                    <a:p>
                      <a:r>
                        <a:t>8</a:t>
                      </a:r>
                    </a:p>
                  </a:txBody>
                  <a:tcPr/>
                </a:tc>
                <a:tc>
                  <a:txBody>
                    <a:bodyPr/>
                    <a:lstStyle/>
                    <a:p>
                      <a:r>
                        <a:t>7</a:t>
                      </a:r>
                    </a:p>
                  </a:txBody>
                  <a:tcPr/>
                </a:tc>
                <a:extLst>
                  <a:ext uri="{0D108BD9-81ED-4DB2-BD59-A6C34878D82A}">
                    <a16:rowId xmlns:a16="http://schemas.microsoft.com/office/drawing/2014/main" val="10007"/>
                  </a:ext>
                </a:extLst>
              </a:tr>
              <a:tr h="409575">
                <a:tc>
                  <a:txBody>
                    <a:bodyPr/>
                    <a:lstStyle/>
                    <a:p>
                      <a:r>
                        <a:t>Cost efficiency</a:t>
                      </a:r>
                    </a:p>
                  </a:txBody>
                  <a:tcPr/>
                </a:tc>
                <a:tc>
                  <a:txBody>
                    <a:bodyPr/>
                    <a:lstStyle/>
                    <a:p>
                      <a:r>
                        <a:t>10%</a:t>
                      </a:r>
                    </a:p>
                  </a:txBody>
                  <a:tcPr/>
                </a:tc>
                <a:tc>
                  <a:txBody>
                    <a:bodyPr/>
                    <a:lstStyle/>
                    <a:p>
                      <a:r>
                        <a:t>10</a:t>
                      </a:r>
                    </a:p>
                  </a:txBody>
                  <a:tcPr/>
                </a:tc>
                <a:tc>
                  <a:txBody>
                    <a:bodyPr/>
                    <a:lstStyle/>
                    <a:p>
                      <a:r>
                        <a:t>7</a:t>
                      </a:r>
                    </a:p>
                  </a:txBody>
                  <a:tcPr/>
                </a:tc>
                <a:tc>
                  <a:txBody>
                    <a:bodyPr/>
                    <a:lstStyle/>
                    <a:p>
                      <a:r>
                        <a:t>5</a:t>
                      </a:r>
                    </a:p>
                  </a:txBody>
                  <a:tcPr/>
                </a:tc>
                <a:extLst>
                  <a:ext uri="{0D108BD9-81ED-4DB2-BD59-A6C34878D82A}">
                    <a16:rowId xmlns:a16="http://schemas.microsoft.com/office/drawing/2014/main" val="10008"/>
                  </a:ext>
                </a:extLst>
              </a:tr>
              <a:tr h="409575">
                <a:tc>
                  <a:txBody>
                    <a:bodyPr/>
                    <a:lstStyle/>
                    <a:p>
                      <a:pPr algn="l">
                        <a:buNone/>
                      </a:pPr>
                      <a:r>
                        <a:rPr sz="1200" b="1">
                          <a:solidFill>
                            <a:srgbClr val="FFFFFF"/>
                          </a:solidFill>
                          <a:latin typeface="Arial"/>
                          <a:ea typeface="Arial"/>
                          <a:cs typeface="Arial"/>
                        </a:rPr>
                        <a:t>WEIGHTED TOTAL</a:t>
                      </a:r>
                    </a:p>
                  </a:txBody>
                  <a:tcPr anchor="ctr">
                    <a:solidFill>
                      <a:srgbClr val="111111"/>
                    </a:solidFill>
                  </a:tcPr>
                </a:tc>
                <a:tc>
                  <a:txBody>
                    <a:bodyPr/>
                    <a:lstStyle/>
                    <a:p>
                      <a:pPr algn="l">
                        <a:buNone/>
                      </a:pPr>
                      <a:r>
                        <a:rPr sz="1200" b="1">
                          <a:solidFill>
                            <a:srgbClr val="FFFFFF"/>
                          </a:solidFill>
                          <a:latin typeface="Arial"/>
                          <a:ea typeface="Arial"/>
                          <a:cs typeface="Arial"/>
                        </a:rPr>
                        <a:t>100%</a:t>
                      </a:r>
                    </a:p>
                  </a:txBody>
                  <a:tcPr anchor="ctr">
                    <a:solidFill>
                      <a:srgbClr val="111111"/>
                    </a:solidFill>
                  </a:tcPr>
                </a:tc>
                <a:tc>
                  <a:txBody>
                    <a:bodyPr/>
                    <a:lstStyle/>
                    <a:p>
                      <a:pPr algn="ctr">
                        <a:buNone/>
                      </a:pPr>
                      <a:r>
                        <a:rPr sz="1200" b="1">
                          <a:solidFill>
                            <a:srgbClr val="FFFFFF"/>
                          </a:solidFill>
                          <a:latin typeface="Arial"/>
                          <a:ea typeface="Arial"/>
                          <a:cs typeface="Arial"/>
                        </a:rPr>
                        <a:t>93</a:t>
                      </a:r>
                    </a:p>
                  </a:txBody>
                  <a:tcPr anchor="ctr">
                    <a:solidFill>
                      <a:srgbClr val="FFC72C"/>
                    </a:solidFill>
                  </a:tcPr>
                </a:tc>
                <a:tc>
                  <a:txBody>
                    <a:bodyPr/>
                    <a:lstStyle/>
                    <a:p>
                      <a:pPr algn="ctr">
                        <a:buNone/>
                      </a:pPr>
                      <a:r>
                        <a:rPr sz="1200" b="1">
                          <a:solidFill>
                            <a:srgbClr val="FFFFFF"/>
                          </a:solidFill>
                          <a:latin typeface="Arial"/>
                          <a:ea typeface="Arial"/>
                          <a:cs typeface="Arial"/>
                        </a:rPr>
                        <a:t>85.5</a:t>
                      </a:r>
                    </a:p>
                  </a:txBody>
                  <a:tcPr anchor="ctr">
                    <a:solidFill>
                      <a:srgbClr val="111111"/>
                    </a:solidFill>
                  </a:tcPr>
                </a:tc>
                <a:tc>
                  <a:txBody>
                    <a:bodyPr/>
                    <a:lstStyle/>
                    <a:p>
                      <a:pPr algn="ctr">
                        <a:buNone/>
                      </a:pPr>
                      <a:r>
                        <a:rPr sz="1200" b="1">
                          <a:solidFill>
                            <a:srgbClr val="FFFFFF"/>
                          </a:solidFill>
                          <a:latin typeface="Arial"/>
                          <a:ea typeface="Arial"/>
                          <a:cs typeface="Arial"/>
                        </a:rPr>
                        <a:t>77</a:t>
                      </a:r>
                    </a:p>
                  </a:txBody>
                  <a:tcPr anchor="ctr">
                    <a:solidFill>
                      <a:srgbClr val="111111"/>
                    </a:solidFill>
                  </a:tcPr>
                </a:tc>
                <a:extLst>
                  <a:ext uri="{0D108BD9-81ED-4DB2-BD59-A6C34878D82A}">
                    <a16:rowId xmlns:a16="http://schemas.microsoft.com/office/drawing/2014/main" val="10009"/>
                  </a:ext>
                </a:extLst>
              </a:tr>
            </a:tbl>
          </a:graphicData>
        </a:graphic>
      </p:graphicFrame>
      <p:sp>
        <p:nvSpPr>
          <p:cNvPr id="22" name="scenario-audit-panel">
            <a:extLst>
              <a:ext uri="{FF2B5EF4-FFF2-40B4-BE49-F238E27FC236}">
                <a16:creationId xmlns:a16="http://schemas.microsoft.com/office/drawing/2014/main" id="{90C9E701-AEB8-4410-AB80-4D09B9755F52}"/>
              </a:ext>
            </a:extLst>
          </p:cNvPr>
          <p:cNvSpPr>
            <a:spLocks noGrp="1"/>
          </p:cNvSpPr>
          <p:nvPr/>
        </p:nvSpPr>
        <p:spPr>
          <a:xfrm>
            <a:off x="7848600" y="2076450"/>
            <a:ext cx="3733800" cy="4095750"/>
          </a:xfrm>
          <a:prstGeom prst="rect">
            <a:avLst/>
          </a:prstGeom>
          <a:solidFill>
            <a:srgbClr val="FFFFFF"/>
          </a:solidFill>
          <a:ln w="9525">
            <a:solidFill>
              <a:srgbClr val="111111"/>
            </a:solidFill>
            <a:prstDash val="solid"/>
          </a:ln>
        </p:spPr>
        <p:txBody>
          <a:bodyPr/>
          <a:lstStyle/>
          <a:p>
            <a:endParaRPr lang="en-US"/>
          </a:p>
        </p:txBody>
      </p:sp>
      <p:sp>
        <p:nvSpPr>
          <p:cNvPr id="23" name="scenario-audit-header">
            <a:extLst>
              <a:ext uri="{FF2B5EF4-FFF2-40B4-BE49-F238E27FC236}">
                <a16:creationId xmlns:a16="http://schemas.microsoft.com/office/drawing/2014/main" id="{1ECCEB7D-D65E-482A-B92F-CFFC281C73AC}"/>
              </a:ext>
            </a:extLst>
          </p:cNvPr>
          <p:cNvSpPr>
            <a:spLocks noGrp="1"/>
          </p:cNvSpPr>
          <p:nvPr/>
        </p:nvSpPr>
        <p:spPr>
          <a:xfrm>
            <a:off x="7848600" y="2076450"/>
            <a:ext cx="3733800" cy="476250"/>
          </a:xfrm>
          <a:prstGeom prst="rect">
            <a:avLst/>
          </a:prstGeom>
          <a:solidFill>
            <a:srgbClr val="5537D6"/>
          </a:solidFill>
          <a:ln w="9525">
            <a:solidFill>
              <a:srgbClr val="5537D6"/>
            </a:solidFill>
            <a:prstDash val="solid"/>
          </a:ln>
        </p:spPr>
        <p:txBody>
          <a:bodyPr/>
          <a:lstStyle/>
          <a:p>
            <a:endParaRPr lang="en-US"/>
          </a:p>
        </p:txBody>
      </p:sp>
      <p:sp>
        <p:nvSpPr>
          <p:cNvPr id="24" name="scenario-audit-header-text">
            <a:extLst>
              <a:ext uri="{FF2B5EF4-FFF2-40B4-BE49-F238E27FC236}">
                <a16:creationId xmlns:a16="http://schemas.microsoft.com/office/drawing/2014/main" id="{1CE06F0C-F2CD-45DD-B0D5-0039DF0C0454}"/>
              </a:ext>
            </a:extLst>
          </p:cNvPr>
          <p:cNvSpPr>
            <a:spLocks noGrp="1"/>
          </p:cNvSpPr>
          <p:nvPr/>
        </p:nvSpPr>
        <p:spPr>
          <a:xfrm>
            <a:off x="7981950" y="2114550"/>
            <a:ext cx="3467100" cy="400050"/>
          </a:xfrm>
          <a:prstGeom prst="rect">
            <a:avLst/>
          </a:prstGeom>
          <a:noFill/>
          <a:ln w="0">
            <a:solidFill>
              <a:srgbClr val="FFFCF5"/>
            </a:solidFill>
            <a:prstDash val="solid"/>
          </a:ln>
        </p:spPr>
        <p:txBody>
          <a:bodyPr lIns="28575" tIns="19050" rIns="28575" bIns="19050" anchor="ctr">
            <a:normAutofit fontScale="93137" lnSpcReduction="10000"/>
          </a:bodyPr>
          <a:lstStyle/>
          <a:p>
            <a:pPr algn="l">
              <a:lnSpc>
                <a:spcPct val="100000"/>
              </a:lnSpc>
              <a:buNone/>
              <a:defRPr sz="1275" b="1">
                <a:solidFill>
                  <a:srgbClr val="FFFFFF"/>
                </a:solidFill>
                <a:latin typeface="Consolas"/>
                <a:ea typeface="Consolas"/>
                <a:cs typeface="Consolas"/>
              </a:defRPr>
            </a:pPr>
            <a:r>
              <a:rPr sz="1275" b="1">
                <a:solidFill>
                  <a:srgbClr val="FFFFFF"/>
                </a:solidFill>
                <a:latin typeface="Consolas"/>
                <a:ea typeface="Consolas"/>
                <a:cs typeface="Consolas"/>
              </a:rPr>
              <a:t>PROVISIONAL 60/40 SCENARIO</a:t>
            </a:r>
          </a:p>
          <a:p>
            <a:pPr algn="l">
              <a:lnSpc>
                <a:spcPct val="100000"/>
              </a:lnSpc>
              <a:buNone/>
              <a:defRPr sz="1275" b="1">
                <a:solidFill>
                  <a:srgbClr val="FFFFFF"/>
                </a:solidFill>
                <a:latin typeface="Consolas"/>
                <a:ea typeface="Consolas"/>
                <a:cs typeface="Consolas"/>
              </a:defRPr>
            </a:pPr>
            <a:r>
              <a:rPr sz="1275" b="1">
                <a:solidFill>
                  <a:srgbClr val="FFFFFF"/>
                </a:solidFill>
                <a:latin typeface="Consolas"/>
                <a:ea typeface="Consolas"/>
                <a:cs typeface="Consolas"/>
              </a:rPr>
              <a:t>NOT DECISION EVIDENCE</a:t>
            </a:r>
          </a:p>
        </p:txBody>
      </p:sp>
      <p:sp>
        <p:nvSpPr>
          <p:cNvPr id="25" name="scenario-row-code-0">
            <a:extLst>
              <a:ext uri="{FF2B5EF4-FFF2-40B4-BE49-F238E27FC236}">
                <a16:creationId xmlns:a16="http://schemas.microsoft.com/office/drawing/2014/main" id="{81B31317-B2AB-4FB3-86A2-030F671E990F}"/>
              </a:ext>
            </a:extLst>
          </p:cNvPr>
          <p:cNvSpPr>
            <a:spLocks noGrp="1"/>
          </p:cNvSpPr>
          <p:nvPr/>
        </p:nvSpPr>
        <p:spPr>
          <a:xfrm>
            <a:off x="7962900" y="2609850"/>
            <a:ext cx="647700" cy="266700"/>
          </a:xfrm>
          <a:prstGeom prst="rect">
            <a:avLst/>
          </a:prstGeom>
          <a:noFill/>
          <a:ln w="0">
            <a:solidFill>
              <a:srgbClr val="FFFCF5"/>
            </a:solidFill>
            <a:prstDash val="solid"/>
          </a:ln>
        </p:spPr>
        <p:txBody>
          <a:bodyPr lIns="28575" tIns="19050" rIns="28575" bIns="19050" anchor="ctr">
            <a:normAutofit/>
          </a:bodyPr>
          <a:lstStyle/>
          <a:p>
            <a:pPr algn="l">
              <a:lnSpc>
                <a:spcPct val="100000"/>
              </a:lnSpc>
              <a:buNone/>
              <a:defRPr sz="1050" b="1">
                <a:solidFill>
                  <a:srgbClr val="5537D6"/>
                </a:solidFill>
                <a:latin typeface="Consolas"/>
                <a:ea typeface="Consolas"/>
                <a:cs typeface="Consolas"/>
              </a:defRPr>
            </a:pPr>
            <a:r>
              <a:rPr sz="1050" b="1">
                <a:solidFill>
                  <a:srgbClr val="5537D6"/>
                </a:solidFill>
                <a:latin typeface="Consolas"/>
                <a:ea typeface="Consolas"/>
                <a:cs typeface="Consolas"/>
              </a:rPr>
              <a:t>GRS-01</a:t>
            </a:r>
          </a:p>
        </p:txBody>
      </p:sp>
      <p:sp>
        <p:nvSpPr>
          <p:cNvPr id="26" name="scenario-row-label-0">
            <a:extLst>
              <a:ext uri="{FF2B5EF4-FFF2-40B4-BE49-F238E27FC236}">
                <a16:creationId xmlns:a16="http://schemas.microsoft.com/office/drawing/2014/main" id="{E8C04EEA-AD8A-42C7-88AD-07521EC593F5}"/>
              </a:ext>
            </a:extLst>
          </p:cNvPr>
          <p:cNvSpPr>
            <a:spLocks noGrp="1"/>
          </p:cNvSpPr>
          <p:nvPr/>
        </p:nvSpPr>
        <p:spPr>
          <a:xfrm>
            <a:off x="8629650" y="2609850"/>
            <a:ext cx="1771650" cy="266700"/>
          </a:xfrm>
          <a:prstGeom prst="rect">
            <a:avLst/>
          </a:prstGeom>
          <a:noFill/>
          <a:ln w="0">
            <a:solidFill>
              <a:srgbClr val="FFFCF5"/>
            </a:solidFill>
            <a:prstDash val="solid"/>
          </a:ln>
        </p:spPr>
        <p:txBody>
          <a:bodyPr lIns="28575" tIns="19050" rIns="28575" bIns="19050" anchor="ctr">
            <a:normAutofit/>
          </a:bodyPr>
          <a:lstStyle/>
          <a:p>
            <a:pPr algn="l">
              <a:lnSpc>
                <a:spcPct val="100000"/>
              </a:lnSpc>
              <a:buNone/>
              <a:defRPr sz="1200" b="0">
                <a:solidFill>
                  <a:srgbClr val="111111"/>
                </a:solidFill>
                <a:latin typeface="Arial"/>
                <a:ea typeface="Arial"/>
                <a:cs typeface="Arial"/>
              </a:defRPr>
            </a:pPr>
            <a:r>
              <a:rPr sz="1200" b="0">
                <a:solidFill>
                  <a:srgbClr val="111111"/>
                </a:solidFill>
                <a:latin typeface="Arial"/>
                <a:ea typeface="Arial"/>
                <a:cs typeface="Arial"/>
              </a:rPr>
              <a:t>Multicloud</a:t>
            </a:r>
          </a:p>
        </p:txBody>
      </p:sp>
      <p:sp>
        <p:nvSpPr>
          <p:cNvPr id="27" name="scenario-row-weight-0">
            <a:extLst>
              <a:ext uri="{FF2B5EF4-FFF2-40B4-BE49-F238E27FC236}">
                <a16:creationId xmlns:a16="http://schemas.microsoft.com/office/drawing/2014/main" id="{A739B5D5-602B-4E61-9069-163ED998D858}"/>
              </a:ext>
            </a:extLst>
          </p:cNvPr>
          <p:cNvSpPr>
            <a:spLocks noGrp="1"/>
          </p:cNvSpPr>
          <p:nvPr/>
        </p:nvSpPr>
        <p:spPr>
          <a:xfrm>
            <a:off x="10420350" y="2609850"/>
            <a:ext cx="419100" cy="266700"/>
          </a:xfrm>
          <a:prstGeom prst="rect">
            <a:avLst/>
          </a:prstGeom>
          <a:noFill/>
          <a:ln w="0">
            <a:solidFill>
              <a:srgbClr val="FFFCF5"/>
            </a:solidFill>
            <a:prstDash val="solid"/>
          </a:ln>
        </p:spPr>
        <p:txBody>
          <a:bodyPr lIns="28575" tIns="19050" rIns="28575" bIns="19050" anchor="ctr">
            <a:normAutofit/>
          </a:bodyPr>
          <a:lstStyle/>
          <a:p>
            <a:pPr algn="r">
              <a:lnSpc>
                <a:spcPct val="100000"/>
              </a:lnSpc>
              <a:buNone/>
              <a:defRPr sz="1200" b="1">
                <a:solidFill>
                  <a:srgbClr val="111111"/>
                </a:solidFill>
                <a:latin typeface="Arial"/>
                <a:ea typeface="Arial"/>
                <a:cs typeface="Arial"/>
              </a:defRPr>
            </a:pPr>
            <a:r>
              <a:rPr sz="1200" b="1">
                <a:solidFill>
                  <a:srgbClr val="111111"/>
                </a:solidFill>
                <a:latin typeface="Arial"/>
                <a:ea typeface="Arial"/>
                <a:cs typeface="Arial"/>
              </a:rPr>
              <a:t>8%</a:t>
            </a:r>
          </a:p>
        </p:txBody>
      </p:sp>
      <p:sp>
        <p:nvSpPr>
          <p:cNvPr id="28" name="scenario-row-state-0">
            <a:extLst>
              <a:ext uri="{FF2B5EF4-FFF2-40B4-BE49-F238E27FC236}">
                <a16:creationId xmlns:a16="http://schemas.microsoft.com/office/drawing/2014/main" id="{5125E0F7-3548-4076-A464-F88A45052A09}"/>
              </a:ext>
            </a:extLst>
          </p:cNvPr>
          <p:cNvSpPr>
            <a:spLocks noGrp="1"/>
          </p:cNvSpPr>
          <p:nvPr/>
        </p:nvSpPr>
        <p:spPr>
          <a:xfrm>
            <a:off x="10858500" y="2609850"/>
            <a:ext cx="609600" cy="266700"/>
          </a:xfrm>
          <a:prstGeom prst="rect">
            <a:avLst/>
          </a:prstGeom>
          <a:noFill/>
          <a:ln w="0">
            <a:solidFill>
              <a:srgbClr val="FFFCF5"/>
            </a:solidFill>
            <a:prstDash val="solid"/>
          </a:ln>
        </p:spPr>
        <p:txBody>
          <a:bodyPr lIns="0" tIns="0" rIns="0" bIns="0" anchor="ctr">
            <a:normAutofit/>
          </a:bodyPr>
          <a:lstStyle/>
          <a:p>
            <a:pPr algn="r">
              <a:lnSpc>
                <a:spcPct val="100000"/>
              </a:lnSpc>
              <a:buNone/>
              <a:defRPr sz="675" b="1">
                <a:solidFill>
                  <a:srgbClr val="686A66"/>
                </a:solidFill>
                <a:latin typeface="Consolas"/>
                <a:ea typeface="Consolas"/>
                <a:cs typeface="Consolas"/>
              </a:defRPr>
            </a:pPr>
            <a:r>
              <a:rPr sz="675" b="1">
                <a:solidFill>
                  <a:srgbClr val="686A66"/>
                </a:solidFill>
                <a:latin typeface="Consolas"/>
                <a:ea typeface="Consolas"/>
                <a:cs typeface="Consolas"/>
              </a:rPr>
              <a:t>UNKNOWN</a:t>
            </a:r>
          </a:p>
        </p:txBody>
      </p:sp>
      <p:sp>
        <p:nvSpPr>
          <p:cNvPr id="29" name="scenario-row-fill-1">
            <a:extLst>
              <a:ext uri="{FF2B5EF4-FFF2-40B4-BE49-F238E27FC236}">
                <a16:creationId xmlns:a16="http://schemas.microsoft.com/office/drawing/2014/main" id="{4FB6DAD2-93BC-4E07-8971-9D049A60D1EA}"/>
              </a:ext>
            </a:extLst>
          </p:cNvPr>
          <p:cNvSpPr>
            <a:spLocks noGrp="1"/>
          </p:cNvSpPr>
          <p:nvPr/>
        </p:nvSpPr>
        <p:spPr>
          <a:xfrm>
            <a:off x="7858125" y="2895600"/>
            <a:ext cx="3714750" cy="304800"/>
          </a:xfrm>
          <a:prstGeom prst="rect">
            <a:avLst/>
          </a:prstGeom>
          <a:solidFill>
            <a:srgbClr val="F3F0E8"/>
          </a:solidFill>
          <a:ln w="0">
            <a:solidFill>
              <a:srgbClr val="F3F0E8"/>
            </a:solidFill>
            <a:prstDash val="solid"/>
          </a:ln>
        </p:spPr>
        <p:txBody>
          <a:bodyPr/>
          <a:lstStyle/>
          <a:p>
            <a:endParaRPr lang="en-US"/>
          </a:p>
        </p:txBody>
      </p:sp>
      <p:sp>
        <p:nvSpPr>
          <p:cNvPr id="30" name="scenario-row-code-1">
            <a:extLst>
              <a:ext uri="{FF2B5EF4-FFF2-40B4-BE49-F238E27FC236}">
                <a16:creationId xmlns:a16="http://schemas.microsoft.com/office/drawing/2014/main" id="{48ED1F32-0350-4F69-A5A6-B6B7EB853E5E}"/>
              </a:ext>
            </a:extLst>
          </p:cNvPr>
          <p:cNvSpPr>
            <a:spLocks noGrp="1"/>
          </p:cNvSpPr>
          <p:nvPr/>
        </p:nvSpPr>
        <p:spPr>
          <a:xfrm>
            <a:off x="7962900" y="2914650"/>
            <a:ext cx="647700" cy="266700"/>
          </a:xfrm>
          <a:prstGeom prst="rect">
            <a:avLst/>
          </a:prstGeom>
          <a:noFill/>
          <a:ln w="0">
            <a:solidFill>
              <a:srgbClr val="FFFCF5"/>
            </a:solidFill>
            <a:prstDash val="solid"/>
          </a:ln>
        </p:spPr>
        <p:txBody>
          <a:bodyPr lIns="28575" tIns="19050" rIns="28575" bIns="19050" anchor="ctr">
            <a:normAutofit/>
          </a:bodyPr>
          <a:lstStyle/>
          <a:p>
            <a:pPr algn="l">
              <a:lnSpc>
                <a:spcPct val="100000"/>
              </a:lnSpc>
              <a:buNone/>
              <a:defRPr sz="1050" b="1">
                <a:solidFill>
                  <a:srgbClr val="5537D6"/>
                </a:solidFill>
                <a:latin typeface="Consolas"/>
                <a:ea typeface="Consolas"/>
                <a:cs typeface="Consolas"/>
              </a:defRPr>
            </a:pPr>
            <a:r>
              <a:rPr sz="1050" b="1">
                <a:solidFill>
                  <a:srgbClr val="5537D6"/>
                </a:solidFill>
                <a:latin typeface="Consolas"/>
                <a:ea typeface="Consolas"/>
                <a:cs typeface="Consolas"/>
              </a:rPr>
              <a:t>GRS-02</a:t>
            </a:r>
          </a:p>
        </p:txBody>
      </p:sp>
      <p:sp>
        <p:nvSpPr>
          <p:cNvPr id="31" name="scenario-row-label-1">
            <a:extLst>
              <a:ext uri="{FF2B5EF4-FFF2-40B4-BE49-F238E27FC236}">
                <a16:creationId xmlns:a16="http://schemas.microsoft.com/office/drawing/2014/main" id="{DCE7D38A-7B99-458A-A952-842298D1D5EE}"/>
              </a:ext>
            </a:extLst>
          </p:cNvPr>
          <p:cNvSpPr>
            <a:spLocks noGrp="1"/>
          </p:cNvSpPr>
          <p:nvPr/>
        </p:nvSpPr>
        <p:spPr>
          <a:xfrm>
            <a:off x="8629650" y="2914650"/>
            <a:ext cx="1771650" cy="266700"/>
          </a:xfrm>
          <a:prstGeom prst="rect">
            <a:avLst/>
          </a:prstGeom>
          <a:noFill/>
          <a:ln w="0">
            <a:solidFill>
              <a:srgbClr val="FFFCF5"/>
            </a:solidFill>
            <a:prstDash val="solid"/>
          </a:ln>
        </p:spPr>
        <p:txBody>
          <a:bodyPr lIns="28575" tIns="19050" rIns="28575" bIns="19050" anchor="ctr">
            <a:normAutofit/>
          </a:bodyPr>
          <a:lstStyle/>
          <a:p>
            <a:pPr algn="l">
              <a:lnSpc>
                <a:spcPct val="100000"/>
              </a:lnSpc>
              <a:buNone/>
              <a:defRPr sz="1200" b="0">
                <a:solidFill>
                  <a:srgbClr val="111111"/>
                </a:solidFill>
                <a:latin typeface="Arial"/>
                <a:ea typeface="Arial"/>
                <a:cs typeface="Arial"/>
              </a:defRPr>
            </a:pPr>
            <a:r>
              <a:rPr sz="1200" b="0">
                <a:solidFill>
                  <a:srgbClr val="111111"/>
                </a:solidFill>
                <a:latin typeface="Arial"/>
                <a:ea typeface="Arial"/>
                <a:cs typeface="Arial"/>
              </a:rPr>
              <a:t>Scale / recovery</a:t>
            </a:r>
          </a:p>
        </p:txBody>
      </p:sp>
      <p:sp>
        <p:nvSpPr>
          <p:cNvPr id="32" name="scenario-row-weight-1">
            <a:extLst>
              <a:ext uri="{FF2B5EF4-FFF2-40B4-BE49-F238E27FC236}">
                <a16:creationId xmlns:a16="http://schemas.microsoft.com/office/drawing/2014/main" id="{49CB506D-45AA-49FA-939F-E5F47BD50375}"/>
              </a:ext>
            </a:extLst>
          </p:cNvPr>
          <p:cNvSpPr>
            <a:spLocks noGrp="1"/>
          </p:cNvSpPr>
          <p:nvPr/>
        </p:nvSpPr>
        <p:spPr>
          <a:xfrm>
            <a:off x="10420350" y="2914650"/>
            <a:ext cx="419100" cy="266700"/>
          </a:xfrm>
          <a:prstGeom prst="rect">
            <a:avLst/>
          </a:prstGeom>
          <a:noFill/>
          <a:ln w="0">
            <a:solidFill>
              <a:srgbClr val="FFFCF5"/>
            </a:solidFill>
            <a:prstDash val="solid"/>
          </a:ln>
        </p:spPr>
        <p:txBody>
          <a:bodyPr lIns="28575" tIns="19050" rIns="28575" bIns="19050" anchor="ctr">
            <a:normAutofit/>
          </a:bodyPr>
          <a:lstStyle/>
          <a:p>
            <a:pPr algn="r">
              <a:lnSpc>
                <a:spcPct val="100000"/>
              </a:lnSpc>
              <a:buNone/>
              <a:defRPr sz="1200" b="1">
                <a:solidFill>
                  <a:srgbClr val="111111"/>
                </a:solidFill>
                <a:latin typeface="Arial"/>
                <a:ea typeface="Arial"/>
                <a:cs typeface="Arial"/>
              </a:defRPr>
            </a:pPr>
            <a:r>
              <a:rPr sz="1200" b="1">
                <a:solidFill>
                  <a:srgbClr val="111111"/>
                </a:solidFill>
                <a:latin typeface="Arial"/>
                <a:ea typeface="Arial"/>
                <a:cs typeface="Arial"/>
              </a:rPr>
              <a:t>8%</a:t>
            </a:r>
          </a:p>
        </p:txBody>
      </p:sp>
      <p:sp>
        <p:nvSpPr>
          <p:cNvPr id="33" name="scenario-row-state-1">
            <a:extLst>
              <a:ext uri="{FF2B5EF4-FFF2-40B4-BE49-F238E27FC236}">
                <a16:creationId xmlns:a16="http://schemas.microsoft.com/office/drawing/2014/main" id="{FF7D7F95-FA48-4377-9E9A-EF5BCDDEADBE}"/>
              </a:ext>
            </a:extLst>
          </p:cNvPr>
          <p:cNvSpPr>
            <a:spLocks noGrp="1"/>
          </p:cNvSpPr>
          <p:nvPr/>
        </p:nvSpPr>
        <p:spPr>
          <a:xfrm>
            <a:off x="10858500" y="2914650"/>
            <a:ext cx="609600" cy="266700"/>
          </a:xfrm>
          <a:prstGeom prst="rect">
            <a:avLst/>
          </a:prstGeom>
          <a:noFill/>
          <a:ln w="0">
            <a:solidFill>
              <a:srgbClr val="FFFCF5"/>
            </a:solidFill>
            <a:prstDash val="solid"/>
          </a:ln>
        </p:spPr>
        <p:txBody>
          <a:bodyPr lIns="0" tIns="0" rIns="0" bIns="0" anchor="ctr">
            <a:normAutofit/>
          </a:bodyPr>
          <a:lstStyle/>
          <a:p>
            <a:pPr algn="r">
              <a:lnSpc>
                <a:spcPct val="100000"/>
              </a:lnSpc>
              <a:buNone/>
              <a:defRPr sz="675" b="1">
                <a:solidFill>
                  <a:srgbClr val="686A66"/>
                </a:solidFill>
                <a:latin typeface="Consolas"/>
                <a:ea typeface="Consolas"/>
                <a:cs typeface="Consolas"/>
              </a:defRPr>
            </a:pPr>
            <a:r>
              <a:rPr sz="675" b="1">
                <a:solidFill>
                  <a:srgbClr val="686A66"/>
                </a:solidFill>
                <a:latin typeface="Consolas"/>
                <a:ea typeface="Consolas"/>
                <a:cs typeface="Consolas"/>
              </a:rPr>
              <a:t>UNKNOWN</a:t>
            </a:r>
          </a:p>
        </p:txBody>
      </p:sp>
      <p:sp>
        <p:nvSpPr>
          <p:cNvPr id="34" name="scenario-row-code-2">
            <a:extLst>
              <a:ext uri="{FF2B5EF4-FFF2-40B4-BE49-F238E27FC236}">
                <a16:creationId xmlns:a16="http://schemas.microsoft.com/office/drawing/2014/main" id="{9A2AECEE-3EAE-46AA-B204-8D1EAB04136B}"/>
              </a:ext>
            </a:extLst>
          </p:cNvPr>
          <p:cNvSpPr>
            <a:spLocks noGrp="1"/>
          </p:cNvSpPr>
          <p:nvPr/>
        </p:nvSpPr>
        <p:spPr>
          <a:xfrm>
            <a:off x="7962900" y="3219450"/>
            <a:ext cx="647700" cy="266700"/>
          </a:xfrm>
          <a:prstGeom prst="rect">
            <a:avLst/>
          </a:prstGeom>
          <a:noFill/>
          <a:ln w="0">
            <a:solidFill>
              <a:srgbClr val="FFFCF5"/>
            </a:solidFill>
            <a:prstDash val="solid"/>
          </a:ln>
        </p:spPr>
        <p:txBody>
          <a:bodyPr lIns="28575" tIns="19050" rIns="28575" bIns="19050" anchor="ctr">
            <a:normAutofit/>
          </a:bodyPr>
          <a:lstStyle/>
          <a:p>
            <a:pPr algn="l">
              <a:lnSpc>
                <a:spcPct val="100000"/>
              </a:lnSpc>
              <a:buNone/>
              <a:defRPr sz="1050" b="1">
                <a:solidFill>
                  <a:srgbClr val="5537D6"/>
                </a:solidFill>
                <a:latin typeface="Consolas"/>
                <a:ea typeface="Consolas"/>
                <a:cs typeface="Consolas"/>
              </a:defRPr>
            </a:pPr>
            <a:r>
              <a:rPr sz="1050" b="1">
                <a:solidFill>
                  <a:srgbClr val="5537D6"/>
                </a:solidFill>
                <a:latin typeface="Consolas"/>
                <a:ea typeface="Consolas"/>
                <a:cs typeface="Consolas"/>
              </a:rPr>
              <a:t>GRS-03</a:t>
            </a:r>
          </a:p>
        </p:txBody>
      </p:sp>
      <p:sp>
        <p:nvSpPr>
          <p:cNvPr id="35" name="scenario-row-label-2">
            <a:extLst>
              <a:ext uri="{FF2B5EF4-FFF2-40B4-BE49-F238E27FC236}">
                <a16:creationId xmlns:a16="http://schemas.microsoft.com/office/drawing/2014/main" id="{A5A4049B-5521-473D-BA2F-06BA865FD1A1}"/>
              </a:ext>
            </a:extLst>
          </p:cNvPr>
          <p:cNvSpPr>
            <a:spLocks noGrp="1"/>
          </p:cNvSpPr>
          <p:nvPr/>
        </p:nvSpPr>
        <p:spPr>
          <a:xfrm>
            <a:off x="8629650" y="3219450"/>
            <a:ext cx="1771650" cy="266700"/>
          </a:xfrm>
          <a:prstGeom prst="rect">
            <a:avLst/>
          </a:prstGeom>
          <a:noFill/>
          <a:ln w="0">
            <a:solidFill>
              <a:srgbClr val="FFFCF5"/>
            </a:solidFill>
            <a:prstDash val="solid"/>
          </a:ln>
        </p:spPr>
        <p:txBody>
          <a:bodyPr lIns="28575" tIns="19050" rIns="28575" bIns="19050" anchor="ctr">
            <a:normAutofit/>
          </a:bodyPr>
          <a:lstStyle/>
          <a:p>
            <a:pPr algn="l">
              <a:lnSpc>
                <a:spcPct val="100000"/>
              </a:lnSpc>
              <a:buNone/>
              <a:defRPr sz="1200" b="0">
                <a:solidFill>
                  <a:srgbClr val="111111"/>
                </a:solidFill>
                <a:latin typeface="Arial"/>
                <a:ea typeface="Arial"/>
                <a:cs typeface="Arial"/>
              </a:defRPr>
            </a:pPr>
            <a:r>
              <a:rPr sz="1200" b="0">
                <a:solidFill>
                  <a:srgbClr val="111111"/>
                </a:solidFill>
                <a:latin typeface="Arial"/>
                <a:ea typeface="Arial"/>
                <a:cs typeface="Arial"/>
              </a:rPr>
              <a:t>IAM / traceability</a:t>
            </a:r>
          </a:p>
        </p:txBody>
      </p:sp>
      <p:sp>
        <p:nvSpPr>
          <p:cNvPr id="36" name="scenario-row-weight-2">
            <a:extLst>
              <a:ext uri="{FF2B5EF4-FFF2-40B4-BE49-F238E27FC236}">
                <a16:creationId xmlns:a16="http://schemas.microsoft.com/office/drawing/2014/main" id="{4593799E-1EB7-40C3-BD42-07C12630215F}"/>
              </a:ext>
            </a:extLst>
          </p:cNvPr>
          <p:cNvSpPr>
            <a:spLocks noGrp="1"/>
          </p:cNvSpPr>
          <p:nvPr/>
        </p:nvSpPr>
        <p:spPr>
          <a:xfrm>
            <a:off x="10420350" y="3219450"/>
            <a:ext cx="419100" cy="266700"/>
          </a:xfrm>
          <a:prstGeom prst="rect">
            <a:avLst/>
          </a:prstGeom>
          <a:noFill/>
          <a:ln w="0">
            <a:solidFill>
              <a:srgbClr val="FFFCF5"/>
            </a:solidFill>
            <a:prstDash val="solid"/>
          </a:ln>
        </p:spPr>
        <p:txBody>
          <a:bodyPr lIns="28575" tIns="19050" rIns="28575" bIns="19050" anchor="ctr">
            <a:normAutofit/>
          </a:bodyPr>
          <a:lstStyle/>
          <a:p>
            <a:pPr algn="r">
              <a:lnSpc>
                <a:spcPct val="100000"/>
              </a:lnSpc>
              <a:buNone/>
              <a:defRPr sz="1200" b="1">
                <a:solidFill>
                  <a:srgbClr val="111111"/>
                </a:solidFill>
                <a:latin typeface="Arial"/>
                <a:ea typeface="Arial"/>
                <a:cs typeface="Arial"/>
              </a:defRPr>
            </a:pPr>
            <a:r>
              <a:rPr sz="1200" b="1">
                <a:solidFill>
                  <a:srgbClr val="111111"/>
                </a:solidFill>
                <a:latin typeface="Arial"/>
                <a:ea typeface="Arial"/>
                <a:cs typeface="Arial"/>
              </a:rPr>
              <a:t>8%</a:t>
            </a:r>
          </a:p>
        </p:txBody>
      </p:sp>
      <p:sp>
        <p:nvSpPr>
          <p:cNvPr id="37" name="scenario-row-state-2">
            <a:extLst>
              <a:ext uri="{FF2B5EF4-FFF2-40B4-BE49-F238E27FC236}">
                <a16:creationId xmlns:a16="http://schemas.microsoft.com/office/drawing/2014/main" id="{11348A6C-DBAD-403F-BF73-02CDD598CD68}"/>
              </a:ext>
            </a:extLst>
          </p:cNvPr>
          <p:cNvSpPr>
            <a:spLocks noGrp="1"/>
          </p:cNvSpPr>
          <p:nvPr/>
        </p:nvSpPr>
        <p:spPr>
          <a:xfrm>
            <a:off x="10858500" y="3219450"/>
            <a:ext cx="609600" cy="266700"/>
          </a:xfrm>
          <a:prstGeom prst="rect">
            <a:avLst/>
          </a:prstGeom>
          <a:noFill/>
          <a:ln w="0">
            <a:solidFill>
              <a:srgbClr val="FFFCF5"/>
            </a:solidFill>
            <a:prstDash val="solid"/>
          </a:ln>
        </p:spPr>
        <p:txBody>
          <a:bodyPr lIns="0" tIns="0" rIns="0" bIns="0" anchor="ctr">
            <a:normAutofit/>
          </a:bodyPr>
          <a:lstStyle/>
          <a:p>
            <a:pPr algn="r">
              <a:lnSpc>
                <a:spcPct val="100000"/>
              </a:lnSpc>
              <a:buNone/>
              <a:defRPr sz="675" b="1">
                <a:solidFill>
                  <a:srgbClr val="686A66"/>
                </a:solidFill>
                <a:latin typeface="Consolas"/>
                <a:ea typeface="Consolas"/>
                <a:cs typeface="Consolas"/>
              </a:defRPr>
            </a:pPr>
            <a:r>
              <a:rPr sz="675" b="1">
                <a:solidFill>
                  <a:srgbClr val="686A66"/>
                </a:solidFill>
                <a:latin typeface="Consolas"/>
                <a:ea typeface="Consolas"/>
                <a:cs typeface="Consolas"/>
              </a:rPr>
              <a:t>UNKNOWN</a:t>
            </a:r>
          </a:p>
        </p:txBody>
      </p:sp>
      <p:sp>
        <p:nvSpPr>
          <p:cNvPr id="38" name="scenario-row-fill-3">
            <a:extLst>
              <a:ext uri="{FF2B5EF4-FFF2-40B4-BE49-F238E27FC236}">
                <a16:creationId xmlns:a16="http://schemas.microsoft.com/office/drawing/2014/main" id="{C8B269AB-ED2B-4EA6-83E2-E3568BF8B61D}"/>
              </a:ext>
            </a:extLst>
          </p:cNvPr>
          <p:cNvSpPr>
            <a:spLocks noGrp="1"/>
          </p:cNvSpPr>
          <p:nvPr/>
        </p:nvSpPr>
        <p:spPr>
          <a:xfrm>
            <a:off x="7858125" y="3505200"/>
            <a:ext cx="3714750" cy="304800"/>
          </a:xfrm>
          <a:prstGeom prst="rect">
            <a:avLst/>
          </a:prstGeom>
          <a:solidFill>
            <a:srgbClr val="F3F0E8"/>
          </a:solidFill>
          <a:ln w="0">
            <a:solidFill>
              <a:srgbClr val="F3F0E8"/>
            </a:solidFill>
            <a:prstDash val="solid"/>
          </a:ln>
        </p:spPr>
        <p:txBody>
          <a:bodyPr/>
          <a:lstStyle/>
          <a:p>
            <a:endParaRPr lang="en-US"/>
          </a:p>
        </p:txBody>
      </p:sp>
      <p:sp>
        <p:nvSpPr>
          <p:cNvPr id="39" name="scenario-row-code-3">
            <a:extLst>
              <a:ext uri="{FF2B5EF4-FFF2-40B4-BE49-F238E27FC236}">
                <a16:creationId xmlns:a16="http://schemas.microsoft.com/office/drawing/2014/main" id="{720FB59E-FDD5-4DE8-B719-FE1BB59031DF}"/>
              </a:ext>
            </a:extLst>
          </p:cNvPr>
          <p:cNvSpPr>
            <a:spLocks noGrp="1"/>
          </p:cNvSpPr>
          <p:nvPr/>
        </p:nvSpPr>
        <p:spPr>
          <a:xfrm>
            <a:off x="7962900" y="3524250"/>
            <a:ext cx="647700" cy="266700"/>
          </a:xfrm>
          <a:prstGeom prst="rect">
            <a:avLst/>
          </a:prstGeom>
          <a:noFill/>
          <a:ln w="0">
            <a:solidFill>
              <a:srgbClr val="FFFCF5"/>
            </a:solidFill>
            <a:prstDash val="solid"/>
          </a:ln>
        </p:spPr>
        <p:txBody>
          <a:bodyPr lIns="28575" tIns="19050" rIns="28575" bIns="19050" anchor="ctr">
            <a:normAutofit/>
          </a:bodyPr>
          <a:lstStyle/>
          <a:p>
            <a:pPr algn="l">
              <a:lnSpc>
                <a:spcPct val="100000"/>
              </a:lnSpc>
              <a:buNone/>
              <a:defRPr sz="1050" b="1">
                <a:solidFill>
                  <a:srgbClr val="5537D6"/>
                </a:solidFill>
                <a:latin typeface="Consolas"/>
                <a:ea typeface="Consolas"/>
                <a:cs typeface="Consolas"/>
              </a:defRPr>
            </a:pPr>
            <a:r>
              <a:rPr sz="1050" b="1">
                <a:solidFill>
                  <a:srgbClr val="5537D6"/>
                </a:solidFill>
                <a:latin typeface="Consolas"/>
                <a:ea typeface="Consolas"/>
                <a:cs typeface="Consolas"/>
              </a:rPr>
              <a:t>GRS-04</a:t>
            </a:r>
          </a:p>
        </p:txBody>
      </p:sp>
      <p:sp>
        <p:nvSpPr>
          <p:cNvPr id="40" name="scenario-row-label-3">
            <a:extLst>
              <a:ext uri="{FF2B5EF4-FFF2-40B4-BE49-F238E27FC236}">
                <a16:creationId xmlns:a16="http://schemas.microsoft.com/office/drawing/2014/main" id="{0E2A0272-9F9A-4231-BC8B-6C909E6DAF5F}"/>
              </a:ext>
            </a:extLst>
          </p:cNvPr>
          <p:cNvSpPr>
            <a:spLocks noGrp="1"/>
          </p:cNvSpPr>
          <p:nvPr/>
        </p:nvSpPr>
        <p:spPr>
          <a:xfrm>
            <a:off x="8629650" y="3524250"/>
            <a:ext cx="1771650" cy="266700"/>
          </a:xfrm>
          <a:prstGeom prst="rect">
            <a:avLst/>
          </a:prstGeom>
          <a:noFill/>
          <a:ln w="0">
            <a:solidFill>
              <a:srgbClr val="FFFCF5"/>
            </a:solidFill>
            <a:prstDash val="solid"/>
          </a:ln>
        </p:spPr>
        <p:txBody>
          <a:bodyPr lIns="28575" tIns="19050" rIns="28575" bIns="19050" anchor="ctr">
            <a:normAutofit/>
          </a:bodyPr>
          <a:lstStyle/>
          <a:p>
            <a:pPr algn="l">
              <a:lnSpc>
                <a:spcPct val="100000"/>
              </a:lnSpc>
              <a:buNone/>
              <a:defRPr sz="1200" b="0">
                <a:solidFill>
                  <a:srgbClr val="111111"/>
                </a:solidFill>
                <a:latin typeface="Arial"/>
                <a:ea typeface="Arial"/>
                <a:cs typeface="Arial"/>
              </a:defRPr>
            </a:pPr>
            <a:r>
              <a:rPr sz="1200" b="0">
                <a:solidFill>
                  <a:srgbClr val="111111"/>
                </a:solidFill>
                <a:latin typeface="Arial"/>
                <a:ea typeface="Arial"/>
                <a:cs typeface="Arial"/>
              </a:rPr>
              <a:t>Reversibility</a:t>
            </a:r>
          </a:p>
        </p:txBody>
      </p:sp>
      <p:sp>
        <p:nvSpPr>
          <p:cNvPr id="41" name="scenario-row-weight-3">
            <a:extLst>
              <a:ext uri="{FF2B5EF4-FFF2-40B4-BE49-F238E27FC236}">
                <a16:creationId xmlns:a16="http://schemas.microsoft.com/office/drawing/2014/main" id="{F17382D3-DFF8-4EE0-81DD-0B08466D218B}"/>
              </a:ext>
            </a:extLst>
          </p:cNvPr>
          <p:cNvSpPr>
            <a:spLocks noGrp="1"/>
          </p:cNvSpPr>
          <p:nvPr/>
        </p:nvSpPr>
        <p:spPr>
          <a:xfrm>
            <a:off x="10420350" y="3524250"/>
            <a:ext cx="419100" cy="266700"/>
          </a:xfrm>
          <a:prstGeom prst="rect">
            <a:avLst/>
          </a:prstGeom>
          <a:noFill/>
          <a:ln w="0">
            <a:solidFill>
              <a:srgbClr val="FFFCF5"/>
            </a:solidFill>
            <a:prstDash val="solid"/>
          </a:ln>
        </p:spPr>
        <p:txBody>
          <a:bodyPr lIns="28575" tIns="19050" rIns="28575" bIns="19050" anchor="ctr">
            <a:normAutofit/>
          </a:bodyPr>
          <a:lstStyle/>
          <a:p>
            <a:pPr algn="r">
              <a:lnSpc>
                <a:spcPct val="100000"/>
              </a:lnSpc>
              <a:buNone/>
              <a:defRPr sz="1200" b="1">
                <a:solidFill>
                  <a:srgbClr val="111111"/>
                </a:solidFill>
                <a:latin typeface="Arial"/>
                <a:ea typeface="Arial"/>
                <a:cs typeface="Arial"/>
              </a:defRPr>
            </a:pPr>
            <a:r>
              <a:rPr sz="1200" b="1">
                <a:solidFill>
                  <a:srgbClr val="111111"/>
                </a:solidFill>
                <a:latin typeface="Arial"/>
                <a:ea typeface="Arial"/>
                <a:cs typeface="Arial"/>
              </a:rPr>
              <a:t>6%</a:t>
            </a:r>
          </a:p>
        </p:txBody>
      </p:sp>
      <p:sp>
        <p:nvSpPr>
          <p:cNvPr id="42" name="scenario-row-state-3">
            <a:extLst>
              <a:ext uri="{FF2B5EF4-FFF2-40B4-BE49-F238E27FC236}">
                <a16:creationId xmlns:a16="http://schemas.microsoft.com/office/drawing/2014/main" id="{15EFEA55-4782-4C0E-B84F-29C87BEF13D1}"/>
              </a:ext>
            </a:extLst>
          </p:cNvPr>
          <p:cNvSpPr>
            <a:spLocks noGrp="1"/>
          </p:cNvSpPr>
          <p:nvPr/>
        </p:nvSpPr>
        <p:spPr>
          <a:xfrm>
            <a:off x="10858500" y="3524250"/>
            <a:ext cx="609600" cy="266700"/>
          </a:xfrm>
          <a:prstGeom prst="rect">
            <a:avLst/>
          </a:prstGeom>
          <a:noFill/>
          <a:ln w="0">
            <a:solidFill>
              <a:srgbClr val="FFFCF5"/>
            </a:solidFill>
            <a:prstDash val="solid"/>
          </a:ln>
        </p:spPr>
        <p:txBody>
          <a:bodyPr lIns="0" tIns="0" rIns="0" bIns="0" anchor="ctr">
            <a:normAutofit/>
          </a:bodyPr>
          <a:lstStyle/>
          <a:p>
            <a:pPr algn="r">
              <a:lnSpc>
                <a:spcPct val="100000"/>
              </a:lnSpc>
              <a:buNone/>
              <a:defRPr sz="675" b="1">
                <a:solidFill>
                  <a:srgbClr val="686A66"/>
                </a:solidFill>
                <a:latin typeface="Consolas"/>
                <a:ea typeface="Consolas"/>
                <a:cs typeface="Consolas"/>
              </a:defRPr>
            </a:pPr>
            <a:r>
              <a:rPr sz="675" b="1">
                <a:solidFill>
                  <a:srgbClr val="686A66"/>
                </a:solidFill>
                <a:latin typeface="Consolas"/>
                <a:ea typeface="Consolas"/>
                <a:cs typeface="Consolas"/>
              </a:rPr>
              <a:t>UNKNOWN</a:t>
            </a:r>
          </a:p>
        </p:txBody>
      </p:sp>
      <p:sp>
        <p:nvSpPr>
          <p:cNvPr id="43" name="scenario-row-code-4">
            <a:extLst>
              <a:ext uri="{FF2B5EF4-FFF2-40B4-BE49-F238E27FC236}">
                <a16:creationId xmlns:a16="http://schemas.microsoft.com/office/drawing/2014/main" id="{7736A9DD-5C71-4E42-9374-245D7690575D}"/>
              </a:ext>
            </a:extLst>
          </p:cNvPr>
          <p:cNvSpPr>
            <a:spLocks noGrp="1"/>
          </p:cNvSpPr>
          <p:nvPr/>
        </p:nvSpPr>
        <p:spPr>
          <a:xfrm>
            <a:off x="7962900" y="3829050"/>
            <a:ext cx="647700" cy="266700"/>
          </a:xfrm>
          <a:prstGeom prst="rect">
            <a:avLst/>
          </a:prstGeom>
          <a:noFill/>
          <a:ln w="0">
            <a:solidFill>
              <a:srgbClr val="FFFCF5"/>
            </a:solidFill>
            <a:prstDash val="solid"/>
          </a:ln>
        </p:spPr>
        <p:txBody>
          <a:bodyPr lIns="28575" tIns="19050" rIns="28575" bIns="19050" anchor="ctr">
            <a:normAutofit/>
          </a:bodyPr>
          <a:lstStyle/>
          <a:p>
            <a:pPr algn="l">
              <a:lnSpc>
                <a:spcPct val="100000"/>
              </a:lnSpc>
              <a:buNone/>
              <a:defRPr sz="1050" b="1">
                <a:solidFill>
                  <a:srgbClr val="5537D6"/>
                </a:solidFill>
                <a:latin typeface="Consolas"/>
                <a:ea typeface="Consolas"/>
                <a:cs typeface="Consolas"/>
              </a:defRPr>
            </a:pPr>
            <a:r>
              <a:rPr sz="1050" b="1">
                <a:solidFill>
                  <a:srgbClr val="5537D6"/>
                </a:solidFill>
                <a:latin typeface="Consolas"/>
                <a:ea typeface="Consolas"/>
                <a:cs typeface="Consolas"/>
              </a:rPr>
              <a:t>GRS-05</a:t>
            </a:r>
          </a:p>
        </p:txBody>
      </p:sp>
      <p:sp>
        <p:nvSpPr>
          <p:cNvPr id="44" name="scenario-row-label-4">
            <a:extLst>
              <a:ext uri="{FF2B5EF4-FFF2-40B4-BE49-F238E27FC236}">
                <a16:creationId xmlns:a16="http://schemas.microsoft.com/office/drawing/2014/main" id="{4803509F-5C4C-45B5-8966-470C78E950D4}"/>
              </a:ext>
            </a:extLst>
          </p:cNvPr>
          <p:cNvSpPr>
            <a:spLocks noGrp="1"/>
          </p:cNvSpPr>
          <p:nvPr/>
        </p:nvSpPr>
        <p:spPr>
          <a:xfrm>
            <a:off x="8629650" y="3829050"/>
            <a:ext cx="1771650" cy="266700"/>
          </a:xfrm>
          <a:prstGeom prst="rect">
            <a:avLst/>
          </a:prstGeom>
          <a:noFill/>
          <a:ln w="0">
            <a:solidFill>
              <a:srgbClr val="FFFCF5"/>
            </a:solidFill>
            <a:prstDash val="solid"/>
          </a:ln>
        </p:spPr>
        <p:txBody>
          <a:bodyPr lIns="28575" tIns="19050" rIns="28575" bIns="19050" anchor="ctr">
            <a:normAutofit/>
          </a:bodyPr>
          <a:lstStyle/>
          <a:p>
            <a:pPr algn="l">
              <a:lnSpc>
                <a:spcPct val="100000"/>
              </a:lnSpc>
              <a:buNone/>
              <a:defRPr sz="1200" b="0">
                <a:solidFill>
                  <a:srgbClr val="111111"/>
                </a:solidFill>
                <a:latin typeface="Arial"/>
                <a:ea typeface="Arial"/>
                <a:cs typeface="Arial"/>
              </a:defRPr>
            </a:pPr>
            <a:r>
              <a:rPr sz="1200" b="0">
                <a:solidFill>
                  <a:srgbClr val="111111"/>
                </a:solidFill>
                <a:latin typeface="Arial"/>
                <a:ea typeface="Arial"/>
                <a:cs typeface="Arial"/>
              </a:rPr>
              <a:t>Fully allocated TCO</a:t>
            </a:r>
          </a:p>
        </p:txBody>
      </p:sp>
      <p:sp>
        <p:nvSpPr>
          <p:cNvPr id="45" name="scenario-row-weight-4">
            <a:extLst>
              <a:ext uri="{FF2B5EF4-FFF2-40B4-BE49-F238E27FC236}">
                <a16:creationId xmlns:a16="http://schemas.microsoft.com/office/drawing/2014/main" id="{066AD66D-E803-44EE-9602-58B024F4BC9F}"/>
              </a:ext>
            </a:extLst>
          </p:cNvPr>
          <p:cNvSpPr>
            <a:spLocks noGrp="1"/>
          </p:cNvSpPr>
          <p:nvPr/>
        </p:nvSpPr>
        <p:spPr>
          <a:xfrm>
            <a:off x="10420350" y="3829050"/>
            <a:ext cx="419100" cy="266700"/>
          </a:xfrm>
          <a:prstGeom prst="rect">
            <a:avLst/>
          </a:prstGeom>
          <a:noFill/>
          <a:ln w="0">
            <a:solidFill>
              <a:srgbClr val="FFFCF5"/>
            </a:solidFill>
            <a:prstDash val="solid"/>
          </a:ln>
        </p:spPr>
        <p:txBody>
          <a:bodyPr lIns="28575" tIns="19050" rIns="28575" bIns="19050" anchor="ctr">
            <a:normAutofit/>
          </a:bodyPr>
          <a:lstStyle/>
          <a:p>
            <a:pPr algn="r">
              <a:lnSpc>
                <a:spcPct val="100000"/>
              </a:lnSpc>
              <a:buNone/>
              <a:defRPr sz="1200" b="1">
                <a:solidFill>
                  <a:srgbClr val="111111"/>
                </a:solidFill>
                <a:latin typeface="Arial"/>
                <a:ea typeface="Arial"/>
                <a:cs typeface="Arial"/>
              </a:defRPr>
            </a:pPr>
            <a:r>
              <a:rPr sz="1200" b="1">
                <a:solidFill>
                  <a:srgbClr val="111111"/>
                </a:solidFill>
                <a:latin typeface="Arial"/>
                <a:ea typeface="Arial"/>
                <a:cs typeface="Arial"/>
              </a:rPr>
              <a:t>6%</a:t>
            </a:r>
          </a:p>
        </p:txBody>
      </p:sp>
      <p:sp>
        <p:nvSpPr>
          <p:cNvPr id="46" name="scenario-row-state-4">
            <a:extLst>
              <a:ext uri="{FF2B5EF4-FFF2-40B4-BE49-F238E27FC236}">
                <a16:creationId xmlns:a16="http://schemas.microsoft.com/office/drawing/2014/main" id="{0208D6F5-D235-4AB9-BFEC-3646E5FE0E18}"/>
              </a:ext>
            </a:extLst>
          </p:cNvPr>
          <p:cNvSpPr>
            <a:spLocks noGrp="1"/>
          </p:cNvSpPr>
          <p:nvPr/>
        </p:nvSpPr>
        <p:spPr>
          <a:xfrm>
            <a:off x="10858500" y="3829050"/>
            <a:ext cx="609600" cy="266700"/>
          </a:xfrm>
          <a:prstGeom prst="rect">
            <a:avLst/>
          </a:prstGeom>
          <a:noFill/>
          <a:ln w="0">
            <a:solidFill>
              <a:srgbClr val="FFFCF5"/>
            </a:solidFill>
            <a:prstDash val="solid"/>
          </a:ln>
        </p:spPr>
        <p:txBody>
          <a:bodyPr lIns="0" tIns="0" rIns="0" bIns="0" anchor="ctr">
            <a:normAutofit/>
          </a:bodyPr>
          <a:lstStyle/>
          <a:p>
            <a:pPr algn="r">
              <a:lnSpc>
                <a:spcPct val="100000"/>
              </a:lnSpc>
              <a:buNone/>
              <a:defRPr sz="675" b="1">
                <a:solidFill>
                  <a:srgbClr val="686A66"/>
                </a:solidFill>
                <a:latin typeface="Consolas"/>
                <a:ea typeface="Consolas"/>
                <a:cs typeface="Consolas"/>
              </a:defRPr>
            </a:pPr>
            <a:r>
              <a:rPr sz="675" b="1">
                <a:solidFill>
                  <a:srgbClr val="686A66"/>
                </a:solidFill>
                <a:latin typeface="Consolas"/>
                <a:ea typeface="Consolas"/>
                <a:cs typeface="Consolas"/>
              </a:rPr>
              <a:t>UNKNOWN</a:t>
            </a:r>
          </a:p>
        </p:txBody>
      </p:sp>
      <p:sp>
        <p:nvSpPr>
          <p:cNvPr id="47" name="scenario-row-fill-5">
            <a:extLst>
              <a:ext uri="{FF2B5EF4-FFF2-40B4-BE49-F238E27FC236}">
                <a16:creationId xmlns:a16="http://schemas.microsoft.com/office/drawing/2014/main" id="{74234030-2D1D-457F-AEF6-DA67D0D50C85}"/>
              </a:ext>
            </a:extLst>
          </p:cNvPr>
          <p:cNvSpPr>
            <a:spLocks noGrp="1"/>
          </p:cNvSpPr>
          <p:nvPr/>
        </p:nvSpPr>
        <p:spPr>
          <a:xfrm>
            <a:off x="7858125" y="4114800"/>
            <a:ext cx="3714750" cy="304800"/>
          </a:xfrm>
          <a:prstGeom prst="rect">
            <a:avLst/>
          </a:prstGeom>
          <a:solidFill>
            <a:srgbClr val="F3F0E8"/>
          </a:solidFill>
          <a:ln w="0">
            <a:solidFill>
              <a:srgbClr val="F3F0E8"/>
            </a:solidFill>
            <a:prstDash val="solid"/>
          </a:ln>
        </p:spPr>
        <p:txBody>
          <a:bodyPr/>
          <a:lstStyle/>
          <a:p>
            <a:endParaRPr lang="en-US"/>
          </a:p>
        </p:txBody>
      </p:sp>
      <p:sp>
        <p:nvSpPr>
          <p:cNvPr id="48" name="scenario-row-code-5">
            <a:extLst>
              <a:ext uri="{FF2B5EF4-FFF2-40B4-BE49-F238E27FC236}">
                <a16:creationId xmlns:a16="http://schemas.microsoft.com/office/drawing/2014/main" id="{E1432C09-6AE2-43A0-8B9C-28FA84C89D58}"/>
              </a:ext>
            </a:extLst>
          </p:cNvPr>
          <p:cNvSpPr>
            <a:spLocks noGrp="1"/>
          </p:cNvSpPr>
          <p:nvPr/>
        </p:nvSpPr>
        <p:spPr>
          <a:xfrm>
            <a:off x="7962900" y="4133850"/>
            <a:ext cx="647700" cy="266700"/>
          </a:xfrm>
          <a:prstGeom prst="rect">
            <a:avLst/>
          </a:prstGeom>
          <a:noFill/>
          <a:ln w="0">
            <a:solidFill>
              <a:srgbClr val="FFFCF5"/>
            </a:solidFill>
            <a:prstDash val="solid"/>
          </a:ln>
        </p:spPr>
        <p:txBody>
          <a:bodyPr lIns="28575" tIns="19050" rIns="28575" bIns="19050" anchor="ctr">
            <a:normAutofit/>
          </a:bodyPr>
          <a:lstStyle/>
          <a:p>
            <a:pPr algn="l">
              <a:lnSpc>
                <a:spcPct val="100000"/>
              </a:lnSpc>
              <a:buNone/>
              <a:defRPr sz="1050" b="1">
                <a:solidFill>
                  <a:srgbClr val="5537D6"/>
                </a:solidFill>
                <a:latin typeface="Consolas"/>
                <a:ea typeface="Consolas"/>
                <a:cs typeface="Consolas"/>
              </a:defRPr>
            </a:pPr>
            <a:r>
              <a:rPr sz="1050" b="1">
                <a:solidFill>
                  <a:srgbClr val="5537D6"/>
                </a:solidFill>
                <a:latin typeface="Consolas"/>
                <a:ea typeface="Consolas"/>
                <a:cs typeface="Consolas"/>
              </a:rPr>
              <a:t>GRS-06</a:t>
            </a:r>
          </a:p>
        </p:txBody>
      </p:sp>
      <p:sp>
        <p:nvSpPr>
          <p:cNvPr id="49" name="scenario-row-label-5">
            <a:extLst>
              <a:ext uri="{FF2B5EF4-FFF2-40B4-BE49-F238E27FC236}">
                <a16:creationId xmlns:a16="http://schemas.microsoft.com/office/drawing/2014/main" id="{9D640B39-167F-4759-B284-5F9FEF3B4520}"/>
              </a:ext>
            </a:extLst>
          </p:cNvPr>
          <p:cNvSpPr>
            <a:spLocks noGrp="1"/>
          </p:cNvSpPr>
          <p:nvPr/>
        </p:nvSpPr>
        <p:spPr>
          <a:xfrm>
            <a:off x="8629650" y="4133850"/>
            <a:ext cx="1771650" cy="266700"/>
          </a:xfrm>
          <a:prstGeom prst="rect">
            <a:avLst/>
          </a:prstGeom>
          <a:noFill/>
          <a:ln w="0">
            <a:solidFill>
              <a:srgbClr val="FFFCF5"/>
            </a:solidFill>
            <a:prstDash val="solid"/>
          </a:ln>
        </p:spPr>
        <p:txBody>
          <a:bodyPr lIns="28575" tIns="19050" rIns="28575" bIns="19050" anchor="ctr">
            <a:normAutofit/>
          </a:bodyPr>
          <a:lstStyle/>
          <a:p>
            <a:pPr algn="l">
              <a:lnSpc>
                <a:spcPct val="100000"/>
              </a:lnSpc>
              <a:buNone/>
              <a:defRPr sz="1200" b="0">
                <a:solidFill>
                  <a:srgbClr val="111111"/>
                </a:solidFill>
                <a:latin typeface="Arial"/>
                <a:ea typeface="Arial"/>
                <a:cs typeface="Arial"/>
              </a:defRPr>
            </a:pPr>
            <a:r>
              <a:rPr sz="1200" b="0">
                <a:solidFill>
                  <a:srgbClr val="111111"/>
                </a:solidFill>
                <a:latin typeface="Arial"/>
                <a:ea typeface="Arial"/>
                <a:cs typeface="Arial"/>
              </a:rPr>
              <a:t>CP operating duty</a:t>
            </a:r>
          </a:p>
        </p:txBody>
      </p:sp>
      <p:sp>
        <p:nvSpPr>
          <p:cNvPr id="50" name="scenario-row-weight-5">
            <a:extLst>
              <a:ext uri="{FF2B5EF4-FFF2-40B4-BE49-F238E27FC236}">
                <a16:creationId xmlns:a16="http://schemas.microsoft.com/office/drawing/2014/main" id="{E40A3421-2F84-4D01-832C-B437F4C6CE5C}"/>
              </a:ext>
            </a:extLst>
          </p:cNvPr>
          <p:cNvSpPr>
            <a:spLocks noGrp="1"/>
          </p:cNvSpPr>
          <p:nvPr/>
        </p:nvSpPr>
        <p:spPr>
          <a:xfrm>
            <a:off x="10420350" y="4133850"/>
            <a:ext cx="419100" cy="266700"/>
          </a:xfrm>
          <a:prstGeom prst="rect">
            <a:avLst/>
          </a:prstGeom>
          <a:noFill/>
          <a:ln w="0">
            <a:solidFill>
              <a:srgbClr val="FFFCF5"/>
            </a:solidFill>
            <a:prstDash val="solid"/>
          </a:ln>
        </p:spPr>
        <p:txBody>
          <a:bodyPr lIns="28575" tIns="19050" rIns="28575" bIns="19050" anchor="ctr">
            <a:normAutofit/>
          </a:bodyPr>
          <a:lstStyle/>
          <a:p>
            <a:pPr algn="r">
              <a:lnSpc>
                <a:spcPct val="100000"/>
              </a:lnSpc>
              <a:buNone/>
              <a:defRPr sz="1200" b="1">
                <a:solidFill>
                  <a:srgbClr val="111111"/>
                </a:solidFill>
                <a:latin typeface="Arial"/>
                <a:ea typeface="Arial"/>
                <a:cs typeface="Arial"/>
              </a:defRPr>
            </a:pPr>
            <a:r>
              <a:rPr sz="1200" b="1">
                <a:solidFill>
                  <a:srgbClr val="111111"/>
                </a:solidFill>
                <a:latin typeface="Arial"/>
                <a:ea typeface="Arial"/>
                <a:cs typeface="Arial"/>
              </a:rPr>
              <a:t>4%</a:t>
            </a:r>
          </a:p>
        </p:txBody>
      </p:sp>
      <p:sp>
        <p:nvSpPr>
          <p:cNvPr id="51" name="scenario-row-state-5">
            <a:extLst>
              <a:ext uri="{FF2B5EF4-FFF2-40B4-BE49-F238E27FC236}">
                <a16:creationId xmlns:a16="http://schemas.microsoft.com/office/drawing/2014/main" id="{1E20BC4F-0191-4F14-AB54-35EB09D035FD}"/>
              </a:ext>
            </a:extLst>
          </p:cNvPr>
          <p:cNvSpPr>
            <a:spLocks noGrp="1"/>
          </p:cNvSpPr>
          <p:nvPr/>
        </p:nvSpPr>
        <p:spPr>
          <a:xfrm>
            <a:off x="10858500" y="4133850"/>
            <a:ext cx="609600" cy="266700"/>
          </a:xfrm>
          <a:prstGeom prst="rect">
            <a:avLst/>
          </a:prstGeom>
          <a:noFill/>
          <a:ln w="0">
            <a:solidFill>
              <a:srgbClr val="FFFCF5"/>
            </a:solidFill>
            <a:prstDash val="solid"/>
          </a:ln>
        </p:spPr>
        <p:txBody>
          <a:bodyPr lIns="0" tIns="0" rIns="0" bIns="0" anchor="ctr">
            <a:normAutofit/>
          </a:bodyPr>
          <a:lstStyle/>
          <a:p>
            <a:pPr algn="r">
              <a:lnSpc>
                <a:spcPct val="100000"/>
              </a:lnSpc>
              <a:buNone/>
              <a:defRPr sz="675" b="1">
                <a:solidFill>
                  <a:srgbClr val="686A66"/>
                </a:solidFill>
                <a:latin typeface="Consolas"/>
                <a:ea typeface="Consolas"/>
                <a:cs typeface="Consolas"/>
              </a:defRPr>
            </a:pPr>
            <a:r>
              <a:rPr sz="675" b="1">
                <a:solidFill>
                  <a:srgbClr val="686A66"/>
                </a:solidFill>
                <a:latin typeface="Consolas"/>
                <a:ea typeface="Consolas"/>
                <a:cs typeface="Consolas"/>
              </a:rPr>
              <a:t>UNKNOWN</a:t>
            </a:r>
          </a:p>
        </p:txBody>
      </p:sp>
      <p:sp>
        <p:nvSpPr>
          <p:cNvPr id="52" name="scenario-envelope-label">
            <a:extLst>
              <a:ext uri="{FF2B5EF4-FFF2-40B4-BE49-F238E27FC236}">
                <a16:creationId xmlns:a16="http://schemas.microsoft.com/office/drawing/2014/main" id="{8ADFE0DC-3DA0-4821-8280-D2CC6E93CBA7}"/>
              </a:ext>
            </a:extLst>
          </p:cNvPr>
          <p:cNvSpPr>
            <a:spLocks noGrp="1"/>
          </p:cNvSpPr>
          <p:nvPr/>
        </p:nvSpPr>
        <p:spPr>
          <a:xfrm>
            <a:off x="7981950" y="4495800"/>
            <a:ext cx="3467100" cy="209550"/>
          </a:xfrm>
          <a:prstGeom prst="rect">
            <a:avLst/>
          </a:prstGeom>
          <a:noFill/>
          <a:ln w="0">
            <a:solidFill>
              <a:srgbClr val="FFFCF5"/>
            </a:solidFill>
            <a:prstDash val="solid"/>
          </a:ln>
        </p:spPr>
        <p:txBody>
          <a:bodyPr lIns="28575" tIns="19050" rIns="28575" bIns="19050" anchor="ctr">
            <a:normAutofit/>
          </a:bodyPr>
          <a:lstStyle/>
          <a:p>
            <a:pPr algn="l">
              <a:lnSpc>
                <a:spcPct val="100000"/>
              </a:lnSpc>
              <a:buNone/>
              <a:defRPr sz="1050" b="1">
                <a:solidFill>
                  <a:srgbClr val="5537D6"/>
                </a:solidFill>
                <a:latin typeface="Consolas"/>
                <a:ea typeface="Consolas"/>
                <a:cs typeface="Consolas"/>
              </a:defRPr>
            </a:pPr>
            <a:r>
              <a:rPr sz="1050" b="1">
                <a:solidFill>
                  <a:srgbClr val="5537D6"/>
                </a:solidFill>
                <a:latin typeface="Consolas"/>
                <a:ea typeface="Consolas"/>
                <a:cs typeface="Consolas"/>
              </a:rPr>
              <a:t>MECHANICAL ENVELOPES</a:t>
            </a:r>
          </a:p>
        </p:txBody>
      </p:sp>
      <p:sp>
        <p:nvSpPr>
          <p:cNvPr id="53" name="scenario-envelope-values">
            <a:extLst>
              <a:ext uri="{FF2B5EF4-FFF2-40B4-BE49-F238E27FC236}">
                <a16:creationId xmlns:a16="http://schemas.microsoft.com/office/drawing/2014/main" id="{4F762FFB-5812-4337-B844-7923F55B7703}"/>
              </a:ext>
            </a:extLst>
          </p:cNvPr>
          <p:cNvSpPr>
            <a:spLocks noGrp="1"/>
          </p:cNvSpPr>
          <p:nvPr/>
        </p:nvSpPr>
        <p:spPr>
          <a:xfrm>
            <a:off x="7981950" y="4724400"/>
            <a:ext cx="3467100" cy="704850"/>
          </a:xfrm>
          <a:prstGeom prst="rect">
            <a:avLst/>
          </a:prstGeom>
          <a:noFill/>
          <a:ln w="0">
            <a:solidFill>
              <a:srgbClr val="FFFCF5"/>
            </a:solidFill>
            <a:prstDash val="solid"/>
          </a:ln>
        </p:spPr>
        <p:txBody>
          <a:bodyPr lIns="28575" tIns="19050" rIns="28575" bIns="19050" anchor="t">
            <a:normAutofit/>
          </a:bodyPr>
          <a:lstStyle/>
          <a:p>
            <a:pPr algn="l">
              <a:lnSpc>
                <a:spcPct val="100000"/>
              </a:lnSpc>
              <a:buNone/>
              <a:defRPr sz="1425" b="1">
                <a:solidFill>
                  <a:srgbClr val="111111"/>
                </a:solidFill>
                <a:latin typeface="Consolas"/>
                <a:ea typeface="Consolas"/>
                <a:cs typeface="Consolas"/>
              </a:defRPr>
            </a:pPr>
            <a:r>
              <a:rPr sz="1425" b="1">
                <a:solidFill>
                  <a:srgbClr val="111111"/>
                </a:solidFill>
                <a:latin typeface="Consolas"/>
                <a:ea typeface="Consolas"/>
                <a:cs typeface="Consolas"/>
              </a:rPr>
              <a:t>Kong       55.8–95.8</a:t>
            </a:r>
          </a:p>
          <a:p>
            <a:pPr algn="l">
              <a:lnSpc>
                <a:spcPct val="100000"/>
              </a:lnSpc>
              <a:buNone/>
              <a:defRPr sz="1425" b="1">
                <a:solidFill>
                  <a:srgbClr val="111111"/>
                </a:solidFill>
                <a:latin typeface="Consolas"/>
                <a:ea typeface="Consolas"/>
                <a:cs typeface="Consolas"/>
              </a:defRPr>
            </a:pPr>
            <a:r>
              <a:rPr sz="1425" b="1">
                <a:solidFill>
                  <a:srgbClr val="111111"/>
                </a:solidFill>
                <a:latin typeface="Consolas"/>
                <a:ea typeface="Consolas"/>
                <a:cs typeface="Consolas"/>
              </a:rPr>
              <a:t>Apigee     51.3–91.3</a:t>
            </a:r>
          </a:p>
          <a:p>
            <a:pPr algn="l">
              <a:lnSpc>
                <a:spcPct val="100000"/>
              </a:lnSpc>
              <a:buNone/>
              <a:defRPr sz="1425" b="1">
                <a:solidFill>
                  <a:srgbClr val="111111"/>
                </a:solidFill>
                <a:latin typeface="Consolas"/>
                <a:ea typeface="Consolas"/>
                <a:cs typeface="Consolas"/>
              </a:defRPr>
            </a:pPr>
            <a:r>
              <a:rPr sz="1425" b="1">
                <a:solidFill>
                  <a:srgbClr val="111111"/>
                </a:solidFill>
                <a:latin typeface="Consolas"/>
                <a:ea typeface="Consolas"/>
                <a:cs typeface="Consolas"/>
              </a:rPr>
              <a:t>MuleSoft   46.2–86.2</a:t>
            </a:r>
          </a:p>
        </p:txBody>
      </p:sp>
      <p:sp>
        <p:nvSpPr>
          <p:cNvPr id="54" name="scenario-sensitivity">
            <a:extLst>
              <a:ext uri="{FF2B5EF4-FFF2-40B4-BE49-F238E27FC236}">
                <a16:creationId xmlns:a16="http://schemas.microsoft.com/office/drawing/2014/main" id="{81DE062C-1E49-4221-8945-ED4152556423}"/>
              </a:ext>
            </a:extLst>
          </p:cNvPr>
          <p:cNvSpPr>
            <a:spLocks noGrp="1"/>
          </p:cNvSpPr>
          <p:nvPr/>
        </p:nvSpPr>
        <p:spPr>
          <a:xfrm>
            <a:off x="7981950" y="5467350"/>
            <a:ext cx="3467100" cy="361950"/>
          </a:xfrm>
          <a:prstGeom prst="rect">
            <a:avLst/>
          </a:prstGeom>
          <a:noFill/>
          <a:ln w="0">
            <a:solidFill>
              <a:srgbClr val="FFFCF5"/>
            </a:solidFill>
            <a:prstDash val="solid"/>
          </a:ln>
        </p:spPr>
        <p:txBody>
          <a:bodyPr lIns="28575" tIns="19050" rIns="28575" bIns="19050" anchor="t">
            <a:normAutofit/>
          </a:bodyPr>
          <a:lstStyle/>
          <a:p>
            <a:pPr algn="l">
              <a:lnSpc>
                <a:spcPct val="100000"/>
              </a:lnSpc>
              <a:buNone/>
              <a:defRPr sz="1050" b="0">
                <a:solidFill>
                  <a:srgbClr val="686A66"/>
                </a:solidFill>
                <a:latin typeface="Arial"/>
                <a:ea typeface="Arial"/>
                <a:cs typeface="Arial"/>
              </a:defRPr>
            </a:pPr>
            <a:r>
              <a:rPr sz="1050" b="0">
                <a:solidFill>
                  <a:srgbClr val="686A66"/>
                </a:solidFill>
                <a:latin typeface="Arial"/>
                <a:ea typeface="Arial"/>
                <a:cs typeface="Arial"/>
              </a:rPr>
              <a:t>Every option can rank first · Apigee reverses Kong at +1.125 average GRS</a:t>
            </a:r>
          </a:p>
        </p:txBody>
      </p:sp>
      <p:sp>
        <p:nvSpPr>
          <p:cNvPr id="55" name="scenario-hold-band">
            <a:extLst>
              <a:ext uri="{FF2B5EF4-FFF2-40B4-BE49-F238E27FC236}">
                <a16:creationId xmlns:a16="http://schemas.microsoft.com/office/drawing/2014/main" id="{90BA302B-73C9-4B01-AD13-2B575B6BE167}"/>
              </a:ext>
            </a:extLst>
          </p:cNvPr>
          <p:cNvSpPr>
            <a:spLocks noGrp="1"/>
          </p:cNvSpPr>
          <p:nvPr/>
        </p:nvSpPr>
        <p:spPr>
          <a:xfrm>
            <a:off x="7848600" y="5867400"/>
            <a:ext cx="3733800" cy="304800"/>
          </a:xfrm>
          <a:prstGeom prst="rect">
            <a:avLst/>
          </a:prstGeom>
          <a:solidFill>
            <a:srgbClr val="FFC72C"/>
          </a:solidFill>
          <a:ln w="0">
            <a:solidFill>
              <a:srgbClr val="FFC72C"/>
            </a:solidFill>
            <a:prstDash val="solid"/>
          </a:ln>
        </p:spPr>
        <p:txBody>
          <a:bodyPr/>
          <a:lstStyle/>
          <a:p>
            <a:endParaRPr lang="en-US"/>
          </a:p>
        </p:txBody>
      </p:sp>
      <p:sp>
        <p:nvSpPr>
          <p:cNvPr id="56" name="scenario-hold-text">
            <a:extLst>
              <a:ext uri="{FF2B5EF4-FFF2-40B4-BE49-F238E27FC236}">
                <a16:creationId xmlns:a16="http://schemas.microsoft.com/office/drawing/2014/main" id="{FAD07EBB-6809-424B-8A6D-86FB03981C17}"/>
              </a:ext>
            </a:extLst>
          </p:cNvPr>
          <p:cNvSpPr>
            <a:spLocks noGrp="1"/>
          </p:cNvSpPr>
          <p:nvPr/>
        </p:nvSpPr>
        <p:spPr>
          <a:xfrm>
            <a:off x="7943850" y="5886450"/>
            <a:ext cx="3543300" cy="266700"/>
          </a:xfrm>
          <a:prstGeom prst="rect">
            <a:avLst/>
          </a:prstGeom>
          <a:noFill/>
          <a:ln w="0">
            <a:solidFill>
              <a:srgbClr val="FFFCF5"/>
            </a:solidFill>
            <a:prstDash val="solid"/>
          </a:ln>
        </p:spPr>
        <p:txBody>
          <a:bodyPr lIns="28575" tIns="19050" rIns="28575" bIns="19050" anchor="ctr">
            <a:normAutofit/>
          </a:bodyPr>
          <a:lstStyle/>
          <a:p>
            <a:pPr algn="ctr">
              <a:lnSpc>
                <a:spcPct val="100000"/>
              </a:lnSpc>
              <a:buNone/>
              <a:defRPr sz="1050" b="1">
                <a:solidFill>
                  <a:srgbClr val="111111"/>
                </a:solidFill>
                <a:latin typeface="Consolas"/>
                <a:ea typeface="Consolas"/>
                <a:cs typeface="Consolas"/>
              </a:defRPr>
            </a:pPr>
            <a:r>
              <a:rPr sz="1050" b="1">
                <a:solidFill>
                  <a:srgbClr val="111111"/>
                </a:solidFill>
                <a:latin typeface="Consolas"/>
                <a:ea typeface="Consolas"/>
                <a:cs typeface="Consolas"/>
              </a:rPr>
              <a:t>0% COMMON SCORE-CAPABLE EVIDENCE · HOLD</a:t>
            </a:r>
          </a:p>
        </p:txBody>
      </p:sp>
    </p:spTree>
    <p:extLst>
      <p:ext uri="{BB962C8B-B14F-4D97-AF65-F5344CB8AC3E}">
        <p14:creationId xmlns:p14="http://schemas.microsoft.com/office/powerpoint/2010/main" val="19229329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8878</Words>
  <Application>Microsoft Macintosh PowerPoint</Application>
  <PresentationFormat>Widescreen</PresentationFormat>
  <Paragraphs>1257</Paragraphs>
  <Slides>25</Slides>
  <Notes>25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Aptos</vt:lpstr>
      <vt:lpstr>Aptos Display</vt:lpstr>
      <vt:lpstr>Arial</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Kong Platform Journey — Guided Evaluation</dc:title>
  <dc:subject>Architecture, adoption, migration, and production-proof decision journey</dc:subject>
  <dc:creator>API Management Study</dc:creator>
  <cp:keywords/>
  <dc:description/>
  <cp:lastModifiedBy>Tom Wu</cp:lastModifiedBy>
  <cp:revision>2</cp:revision>
  <dcterms:created xsi:type="dcterms:W3CDTF">2026-08-22T17:09:01Z</dcterms:created>
  <dcterms:modified xsi:type="dcterms:W3CDTF">2026-08-22T17:11:21Z</dcterms:modified>
  <cp:category/>
</cp:coreProperties>
</file>